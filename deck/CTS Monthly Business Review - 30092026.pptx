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8"/>
  </p:notesMasterIdLst>
  <p:sldIdLst>
    <p:sldId id="256" r:id="rId5"/>
    <p:sldId id="257" r:id="rId6"/>
    <p:sldId id="258" r:id="rId7"/>
    <p:sldId id="259" r:id="rId8"/>
    <p:sldId id="260" r:id="rId9"/>
    <p:sldId id="289" r:id="rId10"/>
    <p:sldId id="290" r:id="rId11"/>
    <p:sldId id="292" r:id="rId12"/>
    <p:sldId id="293" r:id="rId13"/>
    <p:sldId id="294" r:id="rId14"/>
    <p:sldId id="261" r:id="rId15"/>
    <p:sldId id="295" r:id="rId16"/>
    <p:sldId id="296" r:id="rId17"/>
    <p:sldId id="297" r:id="rId18"/>
    <p:sldId id="298" r:id="rId19"/>
    <p:sldId id="299" r:id="rId20"/>
    <p:sldId id="262" r:id="rId21"/>
    <p:sldId id="300" r:id="rId22"/>
    <p:sldId id="263" r:id="rId23"/>
    <p:sldId id="264" r:id="rId24"/>
    <p:sldId id="265" r:id="rId25"/>
    <p:sldId id="266" r:id="rId26"/>
    <p:sldId id="267" r:id="rId27"/>
    <p:sldId id="268" r:id="rId28"/>
    <p:sldId id="301" r:id="rId55"/>
    <p:sldId id="303" r:id="rId57"/>
    <p:sldId id="302" r:id="rId56"/>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8" r:id="rId46"/>
    <p:sldId id="286" r:id="rId47"/>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5.xml"/><Relationship Id="rId56" Type="http://schemas.openxmlformats.org/officeDocument/2006/relationships/slide" Target="slides/slide27.xml"/><Relationship Id="rId57"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September across three years and against budget, taken from the Xero History tab.</a:t>
            </a:r>
          </a:p>
          <a:p>
            <a:endParaRPr/>
          </a:p>
          <a:p>
            <a:r>
              <a:t>Spend here is cost of sales plus overheads. September 2026 $604,363. Budget $520,765. September 2025 $408,939. September 2024 $419,910.</a:t>
            </a:r>
          </a:p>
          <a:p>
            <a:endParaRPr/>
          </a:p>
          <a:p>
            <a:r>
              <a:t>September was $83,599 or 16.1% over budget on spend.</a:t>
            </a:r>
          </a:p>
          <a:p>
            <a:endParaRPr/>
          </a:p>
          <a:p>
            <a:r>
              <a:t>Where that sits matters more than the total. Cost of sales was $374,130 against $289,192 budgeted, which is $84,938 over. Overheads were $230,233 against $231,573 budgeted, which is $1,340 under. So the entire overspend is cost of sales and the overheads landed on plan.</a:t>
            </a:r>
          </a:p>
          <a:p>
            <a:endParaRPr/>
          </a:p>
          <a:p>
            <a:r>
              <a:t>That is the better of the two outcomes. Cost of sales moves with revenue, and September billed $561,945 against a budget of $413,665, so some of the extra cost bought extra revenue. Overheads do not move with revenue, and those held.</a:t>
            </a:r>
          </a:p>
          <a:p>
            <a:endParaRPr/>
          </a:p>
          <a:p>
            <a:r>
              <a:t>Against the two earlier years, spend is up $195,425 or 47.8% on September 2025 and $184,453 or 43.9% on September 2024. Revenue over the same two years is up 57.7% and 27.6%, so spend has grown faster than revenue against FY25 and slower than revenue against FY26.</a:t>
            </a:r>
          </a:p>
          <a:p>
            <a:endParaRPr/>
          </a:p>
          <a:p>
            <a:r>
              <a:t>The red line is revenue. It sat above the spend bar in September 2024 and below it in both years since, which is the same thing as saying those two Septembers lost money.</a:t>
            </a:r>
          </a:p>
          <a:p>
            <a:endParaRPr/>
          </a:p>
          <a:p>
            <a:r>
              <a:t>FY25 comes from Xero, pulled on 22 October 2026. FY26 is the Actual FY26 tab and FY27 the P&amp;L FY27 tab. The month follows the reporting month on Setup, so in October this becomes October.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the first quarter across three years and against budget, taken from the Xero History tab.</a:t>
            </a:r>
          </a:p>
          <a:p>
            <a:endParaRPr/>
          </a:p>
          <a:p>
            <a:r>
              <a:t>Q1 2026 $1,633,668. Budget $1,773,409. Q1 2025 $1,313,986. Q1 2024 $1,347,094.</a:t>
            </a:r>
          </a:p>
          <a:p>
            <a:endParaRPr/>
          </a:p>
          <a:p>
            <a:r>
              <a:t>The quarter is $139,742 or 7.9% under budget on spend. That is the opposite of the month, where spend ran over.</a:t>
            </a:r>
          </a:p>
          <a:p>
            <a:endParaRPr/>
          </a:p>
          <a:p>
            <a:r>
              <a:t>The split is the point. Overheads have been $638,615, $646,721 and $641,508 across the three first quarters, a range of $8,106 on about $640,000. The overhead base has not moved in three years. Every bit of the movement in spend is cost of sales, which went $708,478, $667,265 and $992,160, up $324,895 or 48.7% on last year.</a:t>
            </a:r>
          </a:p>
          <a:p>
            <a:endParaRPr/>
          </a:p>
          <a:p>
            <a:r>
              <a:t>Cost of sales rising with revenue is what should happen. Revenue rose $395,878 over the same year, so cost of sales rose $324,895 to earn it, which is a contribution of about $71,000 on the extra revenue. That is a thin return on the extra work and it is why the quarter is still a loss.</a:t>
            </a:r>
          </a:p>
          <a:p>
            <a:endParaRPr/>
          </a:p>
          <a:p>
            <a:r>
              <a:t>The red line is revenue. In Q1 2024 it sat above the spend bar and the quarter made money. In Q1 2025 and Q1 2026 it sat below and both lost money. The budget line has revenue well clear of spend, which is how it was built to make $223,000.</a:t>
            </a:r>
          </a:p>
          <a:p>
            <a:endParaRPr/>
          </a:p>
          <a:p>
            <a:r>
              <a:t>FY25 comes from Xero, pulled 22 October 2026. The quarter is July to September, so it is fixed rather than following Setup.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September across three years, taken from the Xero History tab. Net profit is the pack's own figure and includes other income.</a:t>
            </a:r>
          </a:p>
          <a:p>
            <a:endParaRPr/>
          </a:p>
          <a:p>
            <a:r>
              <a:t>September 2026 a loss of $41,464. September 2025 a loss of $52,615. September 2024 a profit of $20,737.</a:t>
            </a:r>
          </a:p>
          <a:p>
            <a:endParaRPr/>
          </a:p>
          <a:p>
            <a:r>
              <a:t>This September is $11,152 better than the same month last year, and $62,201 worse than the September before that.</a:t>
            </a:r>
          </a:p>
          <a:p>
            <a:endParaRPr/>
          </a:p>
          <a:p>
            <a:r>
              <a:t>The thing worth drawing out is that the loss is not a revenue failure. September 2026 billed $561,945, which is the highest of the three Septembers, ahead of $356,323 last year and $440,243 the year before. The month earned more than either comparison and still finished below the line.</a:t>
            </a:r>
          </a:p>
          <a:p>
            <a:endParaRPr/>
          </a:p>
          <a:p>
            <a:r>
              <a:t>What changed is the cost of earning it. Cost of sales was $374,130 against $216,749 in September 2024 on revenue only $121,701 higher. The gross margin on the month was 33.4%, against 50.8% in September 2024.</a:t>
            </a:r>
          </a:p>
          <a:p>
            <a:endParaRPr/>
          </a:p>
          <a:p>
            <a:r>
              <a:t>So the question this chart puts to the board is about pricing and delivery cost on the work being won, not about the volume of work being won.</a:t>
            </a:r>
          </a:p>
          <a:p>
            <a:endParaRPr/>
          </a:p>
          <a:p>
            <a:r>
              <a:t>FY25 was pulled from Xero on 22 October 2026. FY26 is the Actual FY26 tab and FY27 the P&amp;L FY27 tab. The month follows the reporting month on Setup, so in October this becomes October. Only the first quarter of FY25 was pulled, so the FY25 bar is blank from October until the rest is pulled.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the first quarter across three years, taken from the Xero History tab. Net profit is the pack's own figure and includes other income.</a:t>
            </a:r>
          </a:p>
          <a:p>
            <a:endParaRPr/>
          </a:p>
          <a:p>
            <a:r>
              <a:t>Q1 2026 a loss of $5,808. Q1 2025 a loss of $85,404. Q1 2024 a profit of $34,595.</a:t>
            </a:r>
          </a:p>
          <a:p>
            <a:endParaRPr/>
          </a:p>
          <a:p>
            <a:r>
              <a:t>The quarter has improved $79,596 on last year and is within $5,808 of breaking even. On that reading the recovery is real and the direction is right.</a:t>
            </a:r>
          </a:p>
          <a:p>
            <a:endParaRPr/>
          </a:p>
          <a:p>
            <a:r>
              <a:t>Against the plan it reads differently. The budget had the first quarter at a $222,700 profit. Coming in at a $5,808 loss is $228,508 below it.</a:t>
            </a:r>
          </a:p>
          <a:p>
            <a:endParaRPr/>
          </a:p>
          <a:p>
            <a:r>
              <a:t>As with the month, this is not a revenue failure. The quarter billed $1,624,460, which is the highest first quarter of the three, ahead of $1,228,582 last year and $1,380,102 the year before. It earned more than either comparison and still finished below the line.</a:t>
            </a:r>
          </a:p>
          <a:p>
            <a:endParaRPr/>
          </a:p>
          <a:p>
            <a:r>
              <a:t>The cost of earning it is where the quarter went. Cost of sales was $992,160 against $708,478 in Q1 2024, which is $283,682 more on revenue $244,358 higher. Overheads were almost unchanged at $641,508 against $638,615. The overhead base is not the problem and has not been for three years. The margin on the work is.</a:t>
            </a:r>
          </a:p>
          <a:p>
            <a:endParaRPr/>
          </a:p>
          <a:p>
            <a:r>
              <a:t>FY25 was pulled from Xero on 22 October 2026. The quarter is July to September, so it is fixed rather than following Setup.</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Departmental performance for September 2026.</a:t>
            </a:r>
          </a:p>
          <a:p>
            <a:endParaRPr/>
          </a:p>
          <a:p>
            <a:r>
              <a:t>The pages that follow give the company result by department, the same result rolled up the way the P&amp;L groups the business, then a page for each of the five departments, and finally departmental revenue against budget and against the same month last year.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endParaRPr/>
          </a:p>
          <a:p>
            <a:r>
              <a:t>The five departments total a loss of $41,464, which is net profit for the month.</a:t>
            </a:r>
          </a:p>
          <a:p>
            <a:endParaRPr/>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Gross profit against the overhead charged to each department for September 2026, taken from section 7 of the Overhead Split tab. The bar above the line is what the department earned, the bar below is the overhead allocated to it, and the diamond is the result.</a:t>
            </a:r>
          </a:p>
          <a:p>
            <a:endParaRPr/>
          </a:p>
          <a:p>
            <a:r>
              <a:t>Support earned $101,290 and carries $72,283, leaving $29,007.</a:t>
            </a:r>
          </a:p>
          <a:p>
            <a:r>
              <a:t>Events earned $56,881 and carries $111,108, leaving a loss of $54,227.</a:t>
            </a:r>
          </a:p>
          <a:p>
            <a:r>
              <a:t>Video earned $5,813 and carries $12,659, leaving a loss of $6,846.</a:t>
            </a:r>
          </a:p>
          <a:p>
            <a:r>
              <a:t>Integration earned $23,756 and carries $13,285, leaving $10,471.</a:t>
            </a:r>
          </a:p>
          <a:p>
            <a:r>
              <a:t>Consulting earned $74 and carries $19,944, leaving a loss of $19,870.</a:t>
            </a:r>
          </a:p>
          <a:p>
            <a:endParaRPr/>
          </a:p>
          <a:p>
            <a:r>
              <a:t>The company earned $187,814 of gross profit against $229,278 of overhead. The $41,464 difference is the loss for the month. Put plainly, the business did not earn enough gross profit to carry its own overhead base.</a:t>
            </a:r>
          </a:p>
          <a:p>
            <a:endParaRPr/>
          </a:p>
          <a:p>
            <a:r>
              <a:t>Two things come out of the shape of this chart.</a:t>
            </a:r>
          </a:p>
          <a:p>
            <a:endParaRPr/>
          </a:p>
          <a:p>
            <a:r>
              <a:t>The first is Events. Its gross margin was 77.6%, the second highest of the five, and it still produced the largest loss on the page. It carries $111,108 of overhead, which is 48.5% of the company total, on $73,304 of revenue, which is 13.0% of the company total. No improvement in margin fixes that. Either Events carries more revenue or it carries less overhead, and the overhead keys are worth testing before the next budget.</a:t>
            </a:r>
          </a:p>
          <a:p>
            <a:endParaRPr/>
          </a:p>
          <a:p>
            <a:r>
              <a:t>The second is Integration. It brought in $234,858 of revenue, the second largest of the five, and converted it into $23,756 of gross profit at a 10.1% margin. It covers its overhead and returns $10,471, so it is not a loss maker, but it is doing the most work for the least return.</a:t>
            </a:r>
          </a:p>
          <a:p>
            <a:endParaRPr/>
          </a:p>
          <a:p>
            <a:r>
              <a:t>Support is the one department behaving as it should. A 41.7% margin on contract revenue, covering its allocated overhead, and returning $29,007.</a:t>
            </a:r>
          </a:p>
          <a:p>
            <a:endParaRPr/>
          </a:p>
          <a:p>
            <a:r>
              <a:t>The full table is on the next page.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endParaRPr/>
          </a:p>
          <a:p>
            <a:r>
              <a:t>The three total a loss of $41,464, which is net profit for the month,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$72,283, of which $13,101 is its own spending and $59,182 is its share of the office, allocated on the keys set in the pack.</a:t>
            </a:r>
          </a:p>
          <a:p>
            <a:endParaRPr/>
          </a:p>
          <a:p>
            <a:r>
              <a:t>That leaves $29,007 for the month.</a:t>
            </a:r>
          </a:p>
          <a:p>
            <a:endParaRPr/>
          </a:p>
          <a:p>
            <a:r>
              <a:t>Year to date it has billed $718,587 against a budget of $743,185.</a:t>
            </a:r>
          </a:p>
          <a:p>
            <a:endParaRPr/>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$111,108, of which $39,436 is its own spending and $71,672 is its share of the office.</a:t>
            </a:r>
          </a:p>
          <a:p>
            <a:endParaRPr/>
          </a:p>
          <a:p>
            <a:r>
              <a:t>That leaves a loss of $54,227 for the month.</a:t>
            </a:r>
          </a:p>
          <a:p>
            <a:endParaRPr/>
          </a:p>
          <a:p>
            <a:r>
              <a:t>Year to date it has billed $420,121 against a budget of $321,957.</a:t>
            </a:r>
          </a:p>
          <a:p>
            <a:endParaRPr/>
          </a:p>
          <a:p>
            <a:r>
              <a:t>On people, employment expense of $50,959, of which $35,665 is its own staff and $15,294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$12,659, of which $2,878 is its own spending and $9,782 is its share of the office.</a:t>
            </a:r>
          </a:p>
          <a:p>
            <a:endParaRPr/>
          </a:p>
          <a:p>
            <a:r>
              <a:t>That leaves a loss of $6,846 for the month.</a:t>
            </a:r>
          </a:p>
          <a:p>
            <a:endParaRPr/>
          </a:p>
          <a:p>
            <a:r>
              <a:t>Year to date it has billed $40,270 against a budget of $85,584.</a:t>
            </a:r>
          </a:p>
          <a:p>
            <a:endParaRPr/>
          </a:p>
          <a:p>
            <a:r>
              <a:t>On people, employment expense of $3,961, of which $2,660 is its own staff and $1,301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$13,285, of which $9,136 is its own spending and $4,148 is its share of the office.</a:t>
            </a:r>
          </a:p>
          <a:p>
            <a:endParaRPr/>
          </a:p>
          <a:p>
            <a:r>
              <a:t>That leaves $10,471 for the month.</a:t>
            </a:r>
          </a:p>
          <a:p>
            <a:endParaRPr/>
          </a:p>
          <a:p>
            <a:r>
              <a:t>Year to date it has billed $441,414 against a budget of $608,676.</a:t>
            </a:r>
          </a:p>
          <a:p>
            <a:endParaRPr/>
          </a:p>
          <a:p>
            <a:r>
              <a:t>On people, employment expense of $8,832, of which $8,563 is its own staff and $269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$19,944, of which $5,965 is its own spending and $13,979 is its share of the office.</a:t>
            </a:r>
          </a:p>
          <a:p>
            <a:endParaRPr/>
          </a:p>
          <a:p>
            <a:r>
              <a:t>That leaves a loss of $19,870 for the month.</a:t>
            </a:r>
          </a:p>
          <a:p>
            <a:endParaRPr/>
          </a:p>
          <a:p>
            <a:r>
              <a:t>Year to date it has billed $4,068 against a budget of $236,707.</a:t>
            </a:r>
          </a:p>
          <a:p>
            <a:endParaRPr/>
          </a:p>
          <a:p>
            <a:r>
              <a:t>On people, employment expense of $9,496, of which $5,545 is its own staff and $3,951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42</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The whole profit and loss by department for September 2026, taken from section 7 of the Overhead Split tab. Teal is what the department earned, red is what it cost, navy is what was left.</a:t>
            </a:r>
          </a:p>
          <a:p/>
          <a:p>
            <a:r>
              <a:t>Support earned $242,948, cost $213,942 and kept $29,007.</a:t>
            </a:r>
          </a:p>
          <a:p>
            <a:r>
              <a:t>Events earned $73,304, cost $127,531 and lost $54,227.</a:t>
            </a:r>
          </a:p>
          <a:p>
            <a:r>
              <a:t>Video earned $7,303, cost $14,149 and lost $6,846.</a:t>
            </a:r>
          </a:p>
          <a:p>
            <a:r>
              <a:t>Integration earned $234,858, cost $224,387 and kept $10,471.</a:t>
            </a:r>
          </a:p>
          <a:p>
            <a:r>
              <a:t>Consulting earned $3,531, cost $23,401 and lost $19,870.</a:t>
            </a:r>
          </a:p>
          <a:p/>
          <a:p>
            <a:r>
              <a:t>Across the five, $561,945 of revenue against $603,408 of cost, which is the $41,464 loss for the month.</a:t>
            </a:r>
          </a:p>
          <a:p/>
          <a:p>
            <a:r>
              <a:t>On the cost figure, because it does not appear on the department pages. Total cost is cost of sales plus overhead. For Support that is $141,659 of cost of sales plus $72,283 of overhead, giving $213,942. Cost of sales is not a line on those tables either, it is revenue less gross profit. Every department on this chart ties to the cent: revenue less total cost equals the result shown on the table, and the five results add to the $41,464 net loss on the P&amp;L.</a:t>
            </a:r>
          </a:p>
          <a:p/>
          <a:p>
            <a:r>
              <a:t>What the chart shows that the department pages cannot. Support and Integration have almost the same revenue, $242,948 and $234,858, and almost the same cost, $213,942 and $224,387. The results are $29,007 and $10,471. Integration is running nearly the same volume for a third of the return, because its gross margin is 10.1% against Support's 41.7%.</a:t>
            </a:r>
          </a:p>
          <a:p/>
          <a:p>
            <a:r>
              <a:t>Events is the opposite problem. It is the smallest cost base of the three large departments and the second largest loss, because $111,108 of the $127,531 it costs is allocated overhead rather than cost of sales.</a:t>
            </a:r>
          </a:p>
          <a:p/>
          <a:p>
            <a:r>
              <a:t>Video and Consulting are small on this chart because they are small. Between them they earned $10,834 and cost $37,550.</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Gross profit by department for September 2026 against September 2025, taken from the Actual FY26 and P&amp;L FY27 tabs.</a:t>
            </a:r>
          </a:p>
          <a:p/>
          <a:p>
            <a:r>
              <a:t>Support $101,290 against $94,701, up $6,589.</a:t>
            </a:r>
          </a:p>
          <a:p>
            <a:r>
              <a:t>Events $56,881 against $47,493, up $9,388.</a:t>
            </a:r>
          </a:p>
          <a:p>
            <a:r>
              <a:t>Video $5,813 against $12,625, down $6,812.</a:t>
            </a:r>
          </a:p>
          <a:p>
            <a:r>
              <a:t>Integration $23,756 against $5,363, up $18,394.</a:t>
            </a:r>
          </a:p>
          <a:p>
            <a:r>
              <a:t>Consulting $74 against $2,085, down $2,011.</a:t>
            </a:r>
          </a:p>
          <a:p>
            <a:r>
              <a:t>Company $187,814 against $162,267, up $25,548.</a:t>
            </a:r>
          </a:p>
          <a:p/>
          <a:p>
            <a:r>
              <a:t>Read it with the revenue beside it, because the two do not move together.</a:t>
            </a:r>
          </a:p>
          <a:p/>
          <a:p>
            <a:r>
              <a:t>Integration added $18,394 of gross profit, the largest increase of the five, and did it on revenue that rose from roughly $56k to $234,858. So the extra gross profit came at about a 10% margin, which is why Integration appears strong here and only returns $10,471 after overhead.</a:t>
            </a:r>
          </a:p>
          <a:p/>
          <a:p>
            <a:r>
              <a:t>Events added $9,388 of gross profit on revenue that barely moved, which is a genuine margin improvement rather than a volume one.</a:t>
            </a:r>
          </a:p>
          <a:p/>
          <a:p>
            <a:r>
              <a:t>Video went the other way. Gross profit more than halved because the department billed $7,303 against $20,025 last September. That is a volume problem, not a margin one: its margin is still 79.6%.</a:t>
            </a:r>
          </a:p>
          <a:p/>
          <a:p>
            <a:r>
              <a:t>Now the limitation, and it matters for how this page is read.</a:t>
            </a:r>
          </a:p>
          <a:p/>
          <a:p>
            <a:r>
              <a:t>This is gross profit, not the net result. Overhead was not allocated to departments before this financial year. The department pages in this deck print "not split last year" against Total Expenses and Net Profit/Loss for exactly that reason, and the pack has no department split of overhead for FY26 to work from. So the net result by department, which is the figure on the previous page, cannot be shown against last year.</a:t>
            </a:r>
          </a:p>
          <a:p/>
          <a:p>
            <a:r>
              <a:t>September 2024 by department cannot be shown either. The pack holds departmental detail for FY26 and FY27 only, and Xero's profit and loss is by account rather than by department, so it cannot be rebuilt reliably from there.</a:t>
            </a:r>
          </a:p>
          <a:p/>
          <a:p>
            <a:r>
              <a:t>If the board wants a three year net result by department, the overhead keys would have to be applied backwards to FY26 and FY25. That is a decision about method, not a calculation, and I have not done it.</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The result by department for September 2026 after the overhead charged to each one, taken from section 7 of the Overhead Split tab. Teal is above the line, red is below.</a:t>
            </a:r>
          </a:p>
          <a:p/>
          <a:p>
            <a:r>
              <a:t>Support $29,007. Integration $10,471. Video a loss of $6,846. Consulting a loss of $19,870. Events a loss of $54,227. The five add to the $41,464 loss for the month.</a:t>
            </a:r>
          </a:p>
          <a:p/>
          <a:p>
            <a:r>
              <a:t>Two of the five made a profit.</a:t>
            </a:r>
          </a:p>
          <a:p/>
          <a:p>
            <a:r>
              <a:t>The reason this page exists is that the gross profit page behind it shows all five departments above the line, and that is true: every department earned more than its direct cost. Support made $101,290 of gross profit, Events $56,881, Integration $23,756, Video $5,813 and even Consulting made $74. On gross profit nobody lost money.</a:t>
            </a:r>
          </a:p>
          <a:p/>
          <a:p>
            <a:r>
              <a:t>What puts three of them below the line is the overhead charged to them. $229,278 of it across the month, against $187,814 of gross profit earned. The company cannot cover its overhead base out of the margin it is making, and the departments where that bites hardest are the ones carrying overhead out of proportion to their revenue.</a:t>
            </a:r>
          </a:p>
          <a:p/>
          <a:p>
            <a:r>
              <a:t>Events is the clearest case. It carries $111,108 of overhead, 48.5% of the company total, on 13.0% of the revenue. Its margin is the second best of the five at 77.6% and it still posts the largest loss on the page.</a:t>
            </a:r>
          </a:p>
          <a:p/>
          <a:p>
            <a:r>
              <a:t>Consulting is the other kind of problem. It earned $74 of gross profit on $3,531 of revenue and carries $19,944 of overhead, so almost the whole of its loss is overhead on a department that is barely trading.</a:t>
            </a:r>
          </a:p>
          <a:p/>
          <a:p>
            <a:r>
              <a:t>Video's loss of $6,846 is the smallest and the least structural. It billed $7,303 against $20,025 in the same month last year, so it is a volume problem on a department with a 79.6% margin.</a:t>
            </a:r>
          </a:p>
          <a:p/>
          <a:p>
            <a:r>
              <a:t>Two points for the board. First, improving margin does not fix Events or Consulting, because their losses are overhead, not margin. Second, the overhead keys were set for FY27 and have not been tested since, which is the action already on the recommendations page.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8.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4.png"/><Relationship Id="rId4" Type="http://schemas.openxmlformats.org/officeDocument/2006/relationships/notesSlide" Target="../notesSlides/notesSlide4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4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5.png"/><Relationship Id="rId4" Type="http://schemas.openxmlformats.org/officeDocument/2006/relationships/notesSlide" Target="../notesSlides/notesSlide4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6.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7.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8.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9.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0.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1.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2.png"/><Relationship Id="rId4"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33.png"/><Relationship Id="rId4"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hyperlink" Target="https://corptechservices.sharepoint.com/:x:/s/CTSNASAccountsYBackup/IQA10LAzkaNEQq0FYhCYngMZAdN-NraOBffkpTyYU738ebI?e=dOV2Sx"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Scope of this review</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Profit and loss summary, revenue against budget, and the three year comparisons</a:t>
            </a:r>
            <a:endParaRPr lang="en-US" sz="1000"/>
          </a:p>
        </p:txBody>
      </p:sp>
      <p:sp>
        <p:nvSpPr>
          <p:cNvPr id="8" name="Shape 6"/>
          <p:cNvSpPr/>
          <p:nvPr/>
        </p:nvSpPr>
        <p:spPr>
          <a:xfrm>
            <a:off x="502920" y="1965960"/>
            <a:ext cx="384048" cy="384048"/>
          </a:xfrm>
          <a:prstGeom prst="rect">
            <a:avLst/>
          </a:prstGeom>
          <a:solidFill>
            <a:srgbClr val="242C39"/>
          </a:solidFill>
          <a:ln/>
        </p:spPr>
        <p:txBody>
          <a:bodyPr/>
          <a:lstStyle/>
          <a:p>
            <a:endParaRPr lang="en-AU"/>
          </a:p>
        </p:txBody>
      </p:sp>
      <p:sp>
        <p:nvSpPr>
          <p:cNvPr id="9" name="Text 7"/>
          <p:cNvSpPr txBox="1"/>
          <p:nvPr/>
        </p:nvSpPr>
        <p:spPr>
          <a:xfrm>
            <a:off x="502920" y="19659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1947672"/>
            <a:ext cx="7589520" cy="237744"/>
          </a:xfrm>
          <a:prstGeom prst="rect">
            <a:avLst/>
          </a:prstGeom>
          <a:noFill/>
          <a:ln/>
        </p:spPr>
        <p:txBody>
          <a:bodyPr wrap="square" lIns="0" tIns="0" rIns="0" bIns="0" rtlCol="0" anchor="ctr"/>
          <a:lstStyle/>
          <a:p>
            <a:pPr marL="0" indent="0">
              <a:buNone/>
            </a:pPr>
            <a:r>
              <a:rPr lang="en-US" sz="1300" b="1">
                <a:solidFill>
                  <a:srgbClr val="242C39"/>
                </a:solidFill>
              </a:rPr>
              <a:t>Departmental performance</a:t>
            </a:r>
            <a:endParaRPr lang="en-US" sz="1300"/>
          </a:p>
        </p:txBody>
      </p:sp>
      <p:sp>
        <p:nvSpPr>
          <p:cNvPr id="11" name="Text 9"/>
          <p:cNvSpPr txBox="1"/>
          <p:nvPr/>
        </p:nvSpPr>
        <p:spPr>
          <a:xfrm>
            <a:off x="1051560" y="2167128"/>
            <a:ext cx="7589520" cy="219456"/>
          </a:xfrm>
          <a:prstGeom prst="rect">
            <a:avLst/>
          </a:prstGeom>
          <a:noFill/>
          <a:ln/>
        </p:spPr>
        <p:txBody>
          <a:bodyPr wrap="square" lIns="0" tIns="0" rIns="0" bIns="0" rtlCol="0" anchor="ctr"/>
          <a:lstStyle/>
          <a:p>
            <a:pPr marL="0" indent="0">
              <a:buNone/>
            </a:pPr>
            <a:r>
              <a:rPr lang="en-US" sz="1000">
                <a:solidFill>
                  <a:srgbClr val="6B7585"/>
                </a:solidFill>
              </a:rPr>
              <a:t>Every department's result for September 2026 and how it was made</a:t>
            </a:r>
            <a:endParaRPr lang="en-US" sz="1000"/>
          </a:p>
        </p:txBody>
      </p:sp>
      <p:sp>
        <p:nvSpPr>
          <p:cNvPr id="12" name="Shape 10"/>
          <p:cNvSpPr/>
          <p:nvPr/>
        </p:nvSpPr>
        <p:spPr>
          <a:xfrm>
            <a:off x="502920" y="2514600"/>
            <a:ext cx="384048" cy="384048"/>
          </a:xfrm>
          <a:prstGeom prst="rect">
            <a:avLst/>
          </a:prstGeom>
          <a:solidFill>
            <a:srgbClr val="242C39"/>
          </a:solidFill>
          <a:ln/>
        </p:spPr>
        <p:txBody>
          <a:bodyPr/>
          <a:lstStyle/>
          <a:p>
            <a:endParaRPr lang="en-AU"/>
          </a:p>
        </p:txBody>
      </p:sp>
      <p:sp>
        <p:nvSpPr>
          <p:cNvPr id="13" name="Text 11"/>
          <p:cNvSpPr txBox="1"/>
          <p:nvPr/>
        </p:nvSpPr>
        <p:spPr>
          <a:xfrm>
            <a:off x="502920" y="25146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496312"/>
            <a:ext cx="7589520" cy="237744"/>
          </a:xfrm>
          <a:prstGeom prst="rect">
            <a:avLst/>
          </a:prstGeom>
          <a:noFill/>
          <a:ln/>
        </p:spPr>
        <p:txBody>
          <a:bodyPr wrap="square" lIns="0" tIns="0" rIns="0" bIns="0" rtlCol="0" anchor="ctr"/>
          <a:lstStyle/>
          <a:p>
            <a:pPr marL="0" indent="0">
              <a:buNone/>
            </a:pPr>
            <a:r>
              <a:rPr lang="en-US" sz="1300" b="1">
                <a:solidFill>
                  <a:srgbClr val="242C39"/>
                </a:solidFill>
              </a:rPr>
              <a:t>Operating expenditure</a:t>
            </a:r>
            <a:endParaRPr lang="en-US" sz="1300"/>
          </a:p>
        </p:txBody>
      </p:sp>
      <p:sp>
        <p:nvSpPr>
          <p:cNvPr id="15" name="Text 13"/>
          <p:cNvSpPr txBox="1"/>
          <p:nvPr/>
        </p:nvSpPr>
        <p:spPr>
          <a:xfrm>
            <a:off x="1051560" y="27157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6" name="Shape 14"/>
          <p:cNvSpPr/>
          <p:nvPr/>
        </p:nvSpPr>
        <p:spPr>
          <a:xfrm>
            <a:off x="502920" y="3063239"/>
            <a:ext cx="384048" cy="384048"/>
          </a:xfrm>
          <a:prstGeom prst="rect">
            <a:avLst/>
          </a:prstGeom>
          <a:solidFill>
            <a:srgbClr val="242C39"/>
          </a:solidFill>
          <a:ln/>
        </p:spPr>
        <p:txBody>
          <a:bodyPr/>
          <a:lstStyle/>
          <a:p>
            <a:endParaRPr lang="en-AU"/>
          </a:p>
        </p:txBody>
      </p:sp>
      <p:sp>
        <p:nvSpPr>
          <p:cNvPr id="17" name="Text 15"/>
          <p:cNvSpPr txBox="1"/>
          <p:nvPr/>
        </p:nvSpPr>
        <p:spPr>
          <a:xfrm>
            <a:off x="502920" y="3063239"/>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044951"/>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receivables</a:t>
            </a:r>
            <a:endParaRPr lang="en-US" sz="1300"/>
          </a:p>
        </p:txBody>
      </p:sp>
      <p:sp>
        <p:nvSpPr>
          <p:cNvPr id="19" name="Text 17"/>
          <p:cNvSpPr txBox="1"/>
          <p:nvPr/>
        </p:nvSpPr>
        <p:spPr>
          <a:xfrm>
            <a:off x="1051560" y="326440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20" name="Shape 18"/>
          <p:cNvSpPr/>
          <p:nvPr/>
        </p:nvSpPr>
        <p:spPr>
          <a:xfrm>
            <a:off x="502920" y="3611880"/>
            <a:ext cx="384048" cy="384048"/>
          </a:xfrm>
          <a:prstGeom prst="rect">
            <a:avLst/>
          </a:prstGeom>
          <a:solidFill>
            <a:srgbClr val="242C39"/>
          </a:solidFill>
          <a:ln/>
        </p:spPr>
        <p:txBody>
          <a:bodyPr/>
          <a:lstStyle/>
          <a:p>
            <a:endParaRPr lang="en-AU"/>
          </a:p>
        </p:txBody>
      </p:sp>
      <p:sp>
        <p:nvSpPr>
          <p:cNvPr id="21" name="Text 19"/>
          <p:cNvSpPr txBox="1"/>
          <p:nvPr/>
        </p:nvSpPr>
        <p:spPr>
          <a:xfrm>
            <a:off x="502920" y="36118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59359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23" name="Text 21"/>
          <p:cNvSpPr txBox="1"/>
          <p:nvPr/>
        </p:nvSpPr>
        <p:spPr>
          <a:xfrm>
            <a:off x="1051560" y="381304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
        <p:nvSpPr>
          <p:cNvPr id="24" name="Shape 22"/>
          <p:cNvSpPr/>
          <p:nvPr/>
        </p:nvSpPr>
        <p:spPr>
          <a:xfrm>
            <a:off x="502920" y="4160520"/>
            <a:ext cx="384048" cy="384048"/>
          </a:xfrm>
          <a:prstGeom prst="rect">
            <a:avLst/>
          </a:prstGeom>
          <a:solidFill>
            <a:srgbClr val="242C39"/>
          </a:solidFill>
          <a:ln/>
        </p:spPr>
        <p:txBody>
          <a:bodyPr/>
          <a:lstStyle/>
          <a:p>
            <a:endParaRPr lang="en-AU"/>
          </a:p>
        </p:txBody>
      </p:sp>
      <p:sp>
        <p:nvSpPr>
          <p:cNvPr id="27" name="Text 23"/>
          <p:cNvSpPr txBox="1"/>
          <p:nvPr/>
        </p:nvSpPr>
        <p:spPr>
          <a:xfrm>
            <a:off x="502920" y="41605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06</a:t>
            </a:r>
            <a:endParaRPr lang="en-US" sz="1100"/>
          </a:p>
        </p:txBody>
      </p:sp>
      <p:sp>
        <p:nvSpPr>
          <p:cNvPr id="28" name="Text 24"/>
          <p:cNvSpPr txBox="1"/>
          <p:nvPr/>
        </p:nvSpPr>
        <p:spPr>
          <a:xfrm>
            <a:off x="1051560" y="414223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9" name="Text 25"/>
          <p:cNvSpPr txBox="1"/>
          <p:nvPr/>
        </p:nvSpPr>
        <p:spPr>
          <a:xfrm>
            <a:off x="1051560" y="436168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EXECUTIVE SUMMARY</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Performance summary, September 2026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9750" y="1005840"/>
            <a:ext cx="7744498"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income</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image.png"/>
          <p:cNvPicPr>
            <a:picLocks noChangeAspect="1"/>
          </p:cNvPicPr>
          <p:nvPr/>
        </p:nvPicPr>
        <p:blipFill>
          <a:blip r:embed="rId3"/>
          <a:stretch>
            <a:fillRect/>
          </a:stretch>
        </p:blipFill>
        <p:spPr>
          <a:xfrm>
            <a:off x="808274" y="1005840"/>
            <a:ext cx="7527451"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by department</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1480"/>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1480"/>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prior years</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revenue,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three year history</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Year to date revenue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1003394" y="1005840"/>
            <a:ext cx="713721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cost and profit</a:t>
            </a:r>
            <a:endParaRPr lang="en-US" sz="2700" dirty="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month" descr="spend_month.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spend was $604k against a budget of $521k, $84k over.</a:t>
            </a:r>
            <a:endParaRPr lang="en-US" sz="850"/>
          </a:p>
          <a:p>
            <a:pPr marL="342900" indent="-342900">
              <a:lnSpc>
                <a:spcPts val="1050"/>
              </a:lnSpc>
              <a:spcAft>
                <a:spcPts val="400"/>
              </a:spcAft>
              <a:buSzPct val="100000"/>
              <a:buChar char="•"/>
            </a:pPr>
            <a:r>
              <a:rPr lang="en-US" sz="1000">
                <a:solidFill>
                  <a:srgbClr val="3A4453"/>
                </a:solidFill>
              </a:rPr>
              <a:t>All of the overspend is cost of sales: $374k against $289k budgeted.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Overheads came in at $230k against $232k budgeted, which is on plan.</a:t>
            </a:r>
            <a:endParaRPr lang="en-US" sz="850"/>
          </a:p>
          <a:p>
            <a:pPr marL="342900" indent="-342900">
              <a:lnSpc>
                <a:spcPts val="1050"/>
              </a:lnSpc>
              <a:spcAft>
                <a:spcPts val="400"/>
              </a:spcAft>
              <a:buSzPct val="100000"/>
              <a:buChar char="•"/>
            </a:pPr>
            <a:r>
              <a:rPr lang="en-US" sz="1000">
                <a:solidFill>
                  <a:srgbClr val="3A4453"/>
                </a:solidFill>
              </a:rPr>
              <a:t>Spend is up 48% on last September and 44% on the September before.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qtr" descr="spend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Quarter spend was $1,634k against a budget of $1,773k, $140k under.</a:t>
            </a:r>
            <a:endParaRPr lang="en-US" sz="850"/>
          </a:p>
          <a:p>
            <a:pPr marL="342900" indent="-342900">
              <a:lnSpc>
                <a:spcPts val="1050"/>
              </a:lnSpc>
              <a:spcAft>
                <a:spcPts val="400"/>
              </a:spcAft>
              <a:buSzPct val="100000"/>
              <a:buChar char="•"/>
            </a:pPr>
            <a:r>
              <a:rPr lang="en-US" sz="1000">
                <a:solidFill>
                  <a:srgbClr val="3A4453"/>
                </a:solidFill>
              </a:rPr>
              <a:t>Overheads have barely moved in three years: $639k, $647k and $642k.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the movement is cost of sales, up $325k on last year to $992k.</a:t>
            </a:r>
            <a:endParaRPr lang="en-US" sz="850"/>
          </a:p>
          <a:p>
            <a:pPr marL="342900" indent="-342900">
              <a:lnSpc>
                <a:spcPts val="1050"/>
              </a:lnSpc>
              <a:spcAft>
                <a:spcPts val="400"/>
              </a:spcAft>
              <a:buSzPct val="100000"/>
              <a:buChar char="•"/>
            </a:pPr>
            <a:r>
              <a:rPr lang="en-US" sz="1000">
                <a:solidFill>
                  <a:srgbClr val="3A4453"/>
                </a:solidFill>
              </a:rPr>
              <a:t>Revenue sat above spend in Q1 2024 and below it in both years since.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month" descr="profit_month.png"/>
          <p:cNvPicPr>
            <a:picLocks noChangeAspect="1"/>
          </p:cNvPicPr>
          <p:nvPr/>
        </p:nvPicPr>
        <p:blipFill>
          <a:blip r:embed="rId3"/>
          <a:stretch>
            <a:fillRect/>
          </a:stretch>
        </p:blipFill>
        <p:spPr>
          <a:xfrm>
            <a:off x="1155966" y="1005840"/>
            <a:ext cx="6832067"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net result, three year comparison</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lost $41k, against a $53k loss last September and a $21k profit the September before.</a:t>
            </a:r>
            <a:endParaRPr lang="en-US" sz="850"/>
          </a:p>
          <a:p>
            <a:pPr marL="342900" indent="-342900">
              <a:lnSpc>
                <a:spcPts val="1050"/>
              </a:lnSpc>
              <a:spcAft>
                <a:spcPts val="400"/>
              </a:spcAft>
              <a:buSzPct val="100000"/>
              <a:buChar char="•"/>
            </a:pPr>
            <a:r>
              <a:rPr lang="en-US" sz="1000">
                <a:solidFill>
                  <a:srgbClr val="3A4453"/>
                </a:solidFill>
              </a:rPr>
              <a:t>This September is $11k better than the same month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Three Septembers and only one above the line, which is FY25.</a:t>
            </a:r>
            <a:endParaRPr lang="en-US" sz="850"/>
          </a:p>
          <a:p>
            <a:pPr marL="342900" indent="-342900">
              <a:lnSpc>
                <a:spcPts val="1050"/>
              </a:lnSpc>
              <a:spcAft>
                <a:spcPts val="400"/>
              </a:spcAft>
              <a:buSzPct val="100000"/>
              <a:buChar char="•"/>
            </a:pPr>
            <a:r>
              <a:rPr lang="en-US" sz="1000">
                <a:solidFill>
                  <a:srgbClr val="3A4453"/>
                </a:solidFill>
              </a:rPr>
              <a:t>September revenue was the highest of the three at $562k, so the loss is a margin problem rather than a revenue problem.</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qtr" descr="profit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net result,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quarter lost $6k, against a $85k loss last year and a $35k profit the year before.</a:t>
            </a:r>
            <a:endParaRPr lang="en-US" sz="850"/>
          </a:p>
          <a:p>
            <a:pPr marL="342900" indent="-342900">
              <a:lnSpc>
                <a:spcPts val="1050"/>
              </a:lnSpc>
              <a:spcAft>
                <a:spcPts val="400"/>
              </a:spcAft>
              <a:buSzPct val="100000"/>
              <a:buChar char="•"/>
            </a:pPr>
            <a:r>
              <a:rPr lang="en-US" sz="1000">
                <a:solidFill>
                  <a:srgbClr val="3A4453"/>
                </a:solidFill>
              </a:rPr>
              <a:t>That is $80k better than last year and within $6k of breaking even.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15</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It is still $229k below the budget, which had the quarter at a $223k profit.</a:t>
            </a:r>
            <a:endParaRPr lang="en-US" sz="850"/>
          </a:p>
          <a:p>
            <a:pPr marL="342900" indent="-342900">
              <a:lnSpc>
                <a:spcPts val="1050"/>
              </a:lnSpc>
              <a:spcAft>
                <a:spcPts val="400"/>
              </a:spcAft>
              <a:buSzPct val="100000"/>
              <a:buChar char="•"/>
            </a:pPr>
            <a:r>
              <a:rPr lang="en-US" sz="1000">
                <a:solidFill>
                  <a:srgbClr val="3A4453"/>
                </a:solidFill>
              </a:rPr>
              <a:t>Quarter revenue was the highest of the three at $1,624k, so again the gap is margin.</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dot 3"/>
          <p:cNvSpPr/>
          <p:nvPr/>
        </p:nvSpPr>
        <p:spPr>
          <a:xfrm>
            <a:off x="7040880" y="2468880"/>
            <a:ext cx="2057400" cy="2057400"/>
          </a:xfrm>
          <a:prstGeom prst="ellipse">
            <a:avLst/>
          </a:prstGeom>
          <a:solidFill>
            <a:srgbClr val="6D71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ot 2"/>
          <p:cNvSpPr/>
          <p:nvPr/>
        </p:nvSpPr>
        <p:spPr>
          <a:xfrm>
            <a:off x="6629400" y="2057400"/>
            <a:ext cx="1554480" cy="1554480"/>
          </a:xfrm>
          <a:prstGeom prst="ellipse">
            <a:avLst/>
          </a:prstGeom>
          <a:solidFill>
            <a:srgbClr val="3FD0C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ot 0"/>
          <p:cNvSpPr/>
          <p:nvPr/>
        </p:nvSpPr>
        <p:spPr>
          <a:xfrm>
            <a:off x="5897880" y="91440"/>
            <a:ext cx="2240280" cy="2240280"/>
          </a:xfrm>
          <a:prstGeom prst="ellipse">
            <a:avLst/>
          </a:prstGeom>
          <a:solidFill>
            <a:srgbClr val="F3384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Departmental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Every department's result for September 2026 and how it was made</a:t>
            </a:r>
            <a:endParaRPr lang="en-US"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result in full, September 2026</a:t>
            </a:r>
            <a:endParaRPr lang="en-US" sz="2700" dirty="0"/>
          </a:p>
        </p:txBody>
      </p:sp>
      <p:pic>
        <p:nvPicPr>
          <p:cNvPr id="4" name="snip dept_result" descr="/home/user/Claude/deck/snips/dept_result.png"/>
          <p:cNvPicPr>
            <a:picLocks noChangeAspect="1"/>
          </p:cNvPicPr>
          <p:nvPr/>
        </p:nvPicPr>
        <p:blipFill>
          <a:blip r:embed="rId3"/>
          <a:stretch>
            <a:fillRect/>
          </a:stretch>
        </p:blipFill>
        <p:spPr>
          <a:xfrm>
            <a:off x="502920" y="1233554"/>
            <a:ext cx="8138160" cy="167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dept_mix" descr="dept_mix.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Gross profit against overhead,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profit of $188k did not cover overheads of $229k. That gap is the $41k loss.</a:t>
            </a:r>
            <a:endParaRPr lang="en-US" sz="850"/>
          </a:p>
          <a:p>
            <a:pPr marL="342900" indent="-342900">
              <a:lnSpc>
                <a:spcPts val="1050"/>
              </a:lnSpc>
              <a:spcAft>
                <a:spcPts val="400"/>
              </a:spcAft>
              <a:buSzPct val="100000"/>
              <a:buChar char="•"/>
            </a:pPr>
            <a:r>
              <a:rPr lang="en-US" sz="1000">
                <a:solidFill>
                  <a:srgbClr val="3A4453"/>
                </a:solidFill>
              </a:rPr>
              <a:t>Only Support and Integration covered the overhead charged to them.</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Events carries 48% of all overhead on 13% of revenue, so a 78% margin still ends in a $54k loss.</a:t>
            </a:r>
            <a:endParaRPr lang="en-US" sz="850"/>
          </a:p>
          <a:p>
            <a:pPr marL="342900" indent="-342900">
              <a:lnSpc>
                <a:spcPts val="1050"/>
              </a:lnSpc>
              <a:spcAft>
                <a:spcPts val="400"/>
              </a:spcAft>
              <a:buSzPct val="100000"/>
              <a:buChar char="•"/>
            </a:pPr>
            <a:r>
              <a:rPr lang="en-US" sz="1000">
                <a:solidFill>
                  <a:srgbClr val="3A4453"/>
                </a:solidFill>
              </a:rPr>
              <a:t>Consulting earned $74 of gross profit on $4k of revenue and carries $20k of overhead.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Results by reporting group, September 2026</a:t>
            </a:r>
            <a:endParaRPr lang="en-US" sz="2700" dirty="0"/>
          </a:p>
        </p:txBody>
      </p:sp>
      <p:pic>
        <p:nvPicPr>
          <p:cNvPr id="4" name="snip dept_three" descr="/home/user/Claude/deck/snips/dept_three.png"/>
          <p:cNvPicPr>
            <a:picLocks noChangeAspect="1"/>
          </p:cNvPicPr>
          <p:nvPr/>
        </p:nvPicPr>
        <p:blipFill>
          <a:blip r:embed="rId3"/>
          <a:stretch>
            <a:fillRect/>
          </a:stretch>
        </p:blipFill>
        <p:spPr>
          <a:xfrm>
            <a:off x="502920" y="1412723"/>
            <a:ext cx="8138160" cy="1316784"/>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September 2026</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pl" descr="dept_pl.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profit and loss,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Support earned $243k, cost $214k and kept $29k.</a:t>
            </a:r>
            <a:endParaRPr lang="en-US" sz="850"/>
          </a:p>
          <a:p>
            <a:pPr marL="342900" indent="-342900">
              <a:lnSpc>
                <a:spcPts val="1050"/>
              </a:lnSpc>
              <a:spcAft>
                <a:spcPts val="400"/>
              </a:spcAft>
              <a:buSzPct val="100000"/>
              <a:buChar char="•"/>
            </a:pPr>
            <a:r>
              <a:rPr lang="en-US" sz="1000">
                <a:solidFill>
                  <a:srgbClr val="3A4453"/>
                </a:solidFill>
              </a:rPr>
              <a:t>Events earned $73k, cost $128k and lost $54k.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Integration earned $235k, cost $224k and kept $10k, the most work for the least return.</a:t>
            </a:r>
            <a:endParaRPr lang="en-US" sz="850"/>
          </a:p>
          <a:p>
            <a:pPr marL="342900" indent="-342900">
              <a:lnSpc>
                <a:spcPts val="1050"/>
              </a:lnSpc>
              <a:spcAft>
                <a:spcPts val="400"/>
              </a:spcAft>
              <a:buSzPct val="100000"/>
              <a:buChar char="•"/>
            </a:pPr>
            <a:r>
              <a:rPr lang="en-US" sz="1000">
                <a:solidFill>
                  <a:srgbClr val="3A4453"/>
                </a:solidFill>
              </a:rPr>
              <a:t>Across all five, $562k earned against $603k of cost. That is the $41k loss.</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line" descr="dept_line.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 by department, above and below the line</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Two of the five made a profit. Support kept $29k and Integration $10k.</a:t>
            </a:r>
            <a:endParaRPr lang="en-US" sz="850"/>
          </a:p>
          <a:p>
            <a:pPr marL="342900" indent="-342900">
              <a:lnSpc>
                <a:spcPts val="1050"/>
              </a:lnSpc>
              <a:spcAft>
                <a:spcPts val="400"/>
              </a:spcAft>
              <a:buSzPct val="100000"/>
              <a:buChar char="•"/>
            </a:pPr>
            <a:r>
              <a:rPr lang="en-US" sz="1000">
                <a:solidFill>
                  <a:srgbClr val="3A4453"/>
                </a:solidFill>
              </a:rPr>
              <a:t>Events lost $54k, Consulting $20k and Video $7k.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five made a gross profit. It is the overhead charged to them that puts three below the line.</a:t>
            </a:r>
            <a:endParaRPr lang="en-US" sz="850"/>
          </a:p>
          <a:p>
            <a:pPr marL="342900" indent="-342900">
              <a:lnSpc>
                <a:spcPts val="1050"/>
              </a:lnSpc>
              <a:spcAft>
                <a:spcPts val="400"/>
              </a:spcAft>
              <a:buSzPct val="100000"/>
              <a:buChar char="•"/>
            </a:pPr>
            <a:r>
              <a:rPr lang="en-US" sz="1000">
                <a:solidFill>
                  <a:srgbClr val="3A4453"/>
                </a:solidFill>
              </a:rPr>
              <a:t>The five together are the $41k loss for the month.</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gp_yoy" descr="dept_gp_yoy.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Gross profit before overhead, year on year</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Company gross profit was $188k against $162k last September, up $26k.</a:t>
            </a:r>
            <a:endParaRPr lang="en-US" sz="850"/>
          </a:p>
          <a:p>
            <a:pPr marL="342900" indent="-342900">
              <a:lnSpc>
                <a:spcPts val="1050"/>
              </a:lnSpc>
              <a:spcAft>
                <a:spcPts val="400"/>
              </a:spcAft>
              <a:buSzPct val="100000"/>
              <a:buChar char="•"/>
            </a:pPr>
            <a:r>
              <a:rPr lang="en-US" sz="1000">
                <a:solidFill>
                  <a:srgbClr val="3A4453"/>
                </a:solidFill>
              </a:rPr>
              <a:t>Integration is up $18k, Events $9k and Support $7k.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Video fell from $13k to $6k and Consulting from $2k to almost nothing.</a:t>
            </a:r>
            <a:endParaRPr lang="en-US" sz="850"/>
          </a:p>
          <a:p>
            <a:pPr marL="342900" indent="-342900">
              <a:lnSpc>
                <a:spcPts val="1050"/>
              </a:lnSpc>
              <a:spcAft>
                <a:spcPts val="400"/>
              </a:spcAft>
              <a:buSzPct val="100000"/>
              <a:buChar char="•"/>
            </a:pPr>
            <a:r>
              <a:rPr lang="en-US" sz="1000">
                <a:solidFill>
                  <a:srgbClr val="3A4453"/>
                </a:solidFill>
              </a:rPr>
              <a:t>Gross profit only. Overhead was not split by department before this year, so the net result cannot go back.</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524393" y="1005840"/>
            <a:ext cx="809521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Departmental revenue against budget and prior year</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Operating expenditure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3"/>
          <a:stretch>
            <a:fillRect/>
          </a:stretch>
        </p:blipFill>
        <p:spPr>
          <a:xfrm>
            <a:off x="2640967" y="1005840"/>
            <a:ext cx="3862065"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3"/>
          <a:stretch>
            <a:fillRect/>
          </a:stretch>
        </p:blipFill>
        <p:spPr>
          <a:xfrm>
            <a:off x="2268220" y="1005840"/>
            <a:ext cx="4607559"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3"/>
          <a:stretch>
            <a:fillRect/>
          </a:stretch>
        </p:blipFill>
        <p:spPr>
          <a:xfrm>
            <a:off x="2786502" y="1005840"/>
            <a:ext cx="3570994"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Direct and indirect labour,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by function</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87228" y="1005840"/>
            <a:ext cx="7969542" cy="2130551"/>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receivables</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3"/>
          <a:stretch>
            <a:fillRect/>
          </a:stretch>
        </p:blipFill>
        <p:spPr>
          <a:xfrm>
            <a:off x="2647167" y="1005840"/>
            <a:ext cx="384966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by revenue,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3208" y="1005840"/>
            <a:ext cx="409758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Debtor days and collection performance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13522" y="1005840"/>
            <a:ext cx="291695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Aged receivables by customer</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percentage by department, September 2026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78554"/>
            <a:ext cx="8138160" cy="138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3"/>
          <a:stretch>
            <a:fillRect/>
          </a:stretch>
        </p:blipFill>
        <p:spPr>
          <a:xfrm>
            <a:off x="565963" y="1005840"/>
            <a:ext cx="801207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department,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3"/>
          <a:stretch>
            <a:fillRect/>
          </a:stretch>
        </p:blipFill>
        <p:spPr>
          <a:xfrm>
            <a:off x="603874" y="1005840"/>
            <a:ext cx="793625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reporting group, September 2026</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3"/>
          <a:stretch>
            <a:fillRect/>
          </a:stretch>
        </p:blipFill>
        <p:spPr>
          <a:xfrm>
            <a:off x="550168" y="1005840"/>
            <a:ext cx="804366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Full year revenue against budget</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RECOMMENDATIONS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Recommendations and agreed actions</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Target date</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41</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07</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t>Source documents</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600200" y="279806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600200" y="2395728"/>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34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27</TotalTime>
  <Words>12187</Words>
  <Application>Microsoft Office PowerPoint</Application>
  <PresentationFormat>On-screen Show (16:9)</PresentationFormat>
  <Paragraphs>895</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4</cp:revision>
  <cp:lastPrinted>2026-10-20T04:14:11Z</cp:lastPrinted>
  <dcterms:created xsi:type="dcterms:W3CDTF">2026-10-18T22:46:07Z</dcterms:created>
  <dcterms:modified xsi:type="dcterms:W3CDTF">2026-10-22T05:16:43Z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