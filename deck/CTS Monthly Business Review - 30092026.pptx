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89" r:id="rId44"/>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p>
            <a:r>
              <a:t>Actual revenue was $459,049 in July, $603,467 in August and $561,945 in September, $1,624,460 for the quarter.</a:t>
            </a:r>
          </a:p>
          <a:p/>
          <a:p>
            <a:r>
              <a:t>Budget for those months was $609,277, $973,168 and $413,665, being $1,996,110 for the quarter. The quarter is therefore $371,650 short of budget.</a:t>
            </a:r>
          </a:p>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p>
            <a:r>
              <a:t>By department for September: Support $242,948, Events $73,304, Video $7,303, Integration $234,858 and Consulting $3,531.</a:t>
            </a:r>
          </a:p>
          <a:p/>
          <a:p>
            <a:r>
              <a:t>Three things the mix shows that a total does not.</a:t>
            </a:r>
          </a:p>
          <a:p/>
          <a:p>
            <a:r>
              <a:t>Support is the base of the business and it barely moves: $235,403, $240,236 and $242,948 across the three months. That is recurring contract income behaving as recurring income should.</a:t>
            </a:r>
          </a:p>
          <a:p/>
          <a:p>
            <a:r>
              <a:t>Integration is the volatility. It billed $112,803 in July, $93,752 in August and $234,858 in September, and the September figure is a single installation completing. It is better read as timing than as growth, particularly as the margin retained on that work is 10.1%.</a:t>
            </a:r>
          </a:p>
          <a:p/>
          <a:p>
            <a:r>
              <a:t>Events moved from $241,371 in August to $73,304 in September, the largest single movement in the quarter, and the reason the company total fell while Integration rose.</a:t>
            </a:r>
          </a:p>
          <a:p/>
          <a:p>
            <a:r>
              <a:t>The chart lengthens by one column each month as the pack closes a month, so it will show the full year by June without being rebuilt.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33.xml"/><Relationship Id="rId4" Type="http://schemas.openxmlformats.org/officeDocument/2006/relationships/image" Target="../media/image23.png"/><Relationship Id="rId5"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3.png"/><Relationship Id="rId5"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1192271" y="1261872"/>
            <a:ext cx="6759456" cy="185956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income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 descr="rev_month.png"/>
          <p:cNvPicPr>
            <a:picLocks noChangeAspect="1"/>
          </p:cNvPicPr>
          <p:nvPr/>
        </p:nvPicPr>
        <p:blipFill>
          <a:blip r:embed="rId5"/>
          <a:stretch>
            <a:fillRect/>
          </a:stretch>
        </p:blipFill>
        <p:spPr>
          <a:xfrm>
            <a:off x="1655076" y="1115568"/>
            <a:ext cx="5833847"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and department</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5"/>
          <a:stretch>
            <a:fillRect/>
          </a:stretch>
        </p:blipFill>
        <p:spPr>
          <a:xfrm>
            <a:off x="1221933" y="1115568"/>
            <a:ext cx="6700133" cy="183698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cost and profit</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4"/>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Support,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Events,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899746" y="1115568"/>
            <a:ext cx="7344506"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Video, Sep 26</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Integration,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Consulting,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2234229" y="1115568"/>
            <a:ext cx="4675541"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and last year</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4617719" cy="2335216"/>
          </a:xfrm>
          <a:prstGeom prst="rect">
            <a:avLst/>
          </a:prstGeom>
        </p:spPr>
      </p:pic>
      <p:sp>
        <p:nvSpPr>
          <p:cNvPr id="6" name="commentary panel"/>
          <p:cNvSpPr/>
          <p:nvPr/>
        </p:nvSpPr>
        <p:spPr>
          <a:xfrm>
            <a:off x="5349239" y="1463040"/>
            <a:ext cx="3291840" cy="3154680"/>
          </a:xfrm>
          <a:prstGeom prst="rect">
            <a:avLst/>
          </a:prstGeom>
          <a:solidFill>
            <a:srgbClr val="E8F9F8"/>
          </a:solidFill>
          <a:ln/>
        </p:spPr>
        <p:txBody>
          <a:bodyPr/>
          <a:lstStyle/>
          <a:p>
            <a:endParaRPr lang="en-AU"/>
          </a:p>
        </p:txBody>
      </p:sp>
      <p:sp>
        <p:nvSpPr>
          <p:cNvPr id="7" name="Text 4"/>
          <p:cNvSpPr txBox="1"/>
          <p:nvPr/>
        </p:nvSpPr>
        <p:spPr>
          <a:xfrm>
            <a:off x="5532119" y="1627632"/>
            <a:ext cx="29260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532119" y="1901952"/>
            <a:ext cx="292608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349239" cy="2463947"/>
          </a:xfrm>
          <a:prstGeom prst="rect">
            <a:avLst/>
          </a:prstGeom>
        </p:spPr>
      </p:pic>
      <p:sp>
        <p:nvSpPr>
          <p:cNvPr id="6" name="commentary panel"/>
          <p:cNvSpPr/>
          <p:nvPr/>
        </p:nvSpPr>
        <p:spPr>
          <a:xfrm>
            <a:off x="6080759" y="1463040"/>
            <a:ext cx="2560320" cy="3154680"/>
          </a:xfrm>
          <a:prstGeom prst="rect">
            <a:avLst/>
          </a:prstGeom>
          <a:solidFill>
            <a:srgbClr val="E8F9F8"/>
          </a:solidFill>
          <a:ln/>
        </p:spPr>
        <p:txBody>
          <a:bodyPr/>
          <a:lstStyle/>
          <a:p>
            <a:endParaRPr lang="en-AU"/>
          </a:p>
        </p:txBody>
      </p:sp>
      <p:sp>
        <p:nvSpPr>
          <p:cNvPr id="7" name="Text 4"/>
          <p:cNvSpPr txBox="1"/>
          <p:nvPr/>
        </p:nvSpPr>
        <p:spPr>
          <a:xfrm>
            <a:off x="6263639" y="1627632"/>
            <a:ext cx="21945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263639" y="1901952"/>
            <a:ext cx="2194560" cy="2706623"/>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502920" y="1444752"/>
            <a:ext cx="4892039" cy="2912327"/>
          </a:xfrm>
          <a:prstGeom prst="rect">
            <a:avLst/>
          </a:prstGeom>
        </p:spPr>
      </p:pic>
      <p:sp>
        <p:nvSpPr>
          <p:cNvPr id="6" name="commentary panel"/>
          <p:cNvSpPr/>
          <p:nvPr/>
        </p:nvSpPr>
        <p:spPr>
          <a:xfrm>
            <a:off x="5623559" y="1463040"/>
            <a:ext cx="3017520" cy="3154680"/>
          </a:xfrm>
          <a:prstGeom prst="rect">
            <a:avLst/>
          </a:prstGeom>
          <a:solidFill>
            <a:srgbClr val="E8F9F8"/>
          </a:solidFill>
          <a:ln/>
        </p:spPr>
        <p:txBody>
          <a:bodyPr/>
          <a:lstStyle/>
          <a:p>
            <a:endParaRPr lang="en-AU"/>
          </a:p>
        </p:txBody>
      </p:sp>
      <p:sp>
        <p:nvSpPr>
          <p:cNvPr id="7" name="Text 4"/>
          <p:cNvSpPr txBox="1"/>
          <p:nvPr/>
        </p:nvSpPr>
        <p:spPr>
          <a:xfrm>
            <a:off x="5806439" y="1627632"/>
            <a:ext cx="26517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806439" y="1901952"/>
            <a:ext cx="2651760" cy="2706623"/>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916552" y="1389888"/>
            <a:ext cx="7310895" cy="1954470"/>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074919" cy="2564030"/>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257799" cy="2733809"/>
          </a:xfrm>
          <a:prstGeom prst="rect">
            <a:avLst/>
          </a:prstGeom>
        </p:spPr>
      </p:pic>
      <p:sp>
        <p:nvSpPr>
          <p:cNvPr id="6" name="commentary panel"/>
          <p:cNvSpPr/>
          <p:nvPr/>
        </p:nvSpPr>
        <p:spPr>
          <a:xfrm>
            <a:off x="5989319" y="1463040"/>
            <a:ext cx="2651760" cy="3154680"/>
          </a:xfrm>
          <a:prstGeom prst="rect">
            <a:avLst/>
          </a:prstGeom>
          <a:solidFill>
            <a:srgbClr val="E8F9F8"/>
          </a:solidFill>
          <a:ln/>
        </p:spPr>
        <p:txBody>
          <a:bodyPr/>
          <a:lstStyle/>
          <a:p>
            <a:endParaRPr lang="en-AU"/>
          </a:p>
        </p:txBody>
      </p:sp>
      <p:sp>
        <p:nvSpPr>
          <p:cNvPr id="7" name="Text 4"/>
          <p:cNvSpPr txBox="1"/>
          <p:nvPr/>
        </p:nvSpPr>
        <p:spPr>
          <a:xfrm>
            <a:off x="6172199" y="1627632"/>
            <a:ext cx="22860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172199" y="1901952"/>
            <a:ext cx="2286000" cy="2706623"/>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502920" y="1444752"/>
            <a:ext cx="4675306" cy="3136391"/>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074919" cy="2771278"/>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4800599" cy="2226875"/>
          </a:xfrm>
          <a:prstGeom prst="rect">
            <a:avLst/>
          </a:prstGeom>
        </p:spPr>
      </p:pic>
      <p:sp>
        <p:nvSpPr>
          <p:cNvPr id="6" name="commentary panel"/>
          <p:cNvSpPr/>
          <p:nvPr/>
        </p:nvSpPr>
        <p:spPr>
          <a:xfrm>
            <a:off x="5532119" y="1463040"/>
            <a:ext cx="3108960" cy="3154680"/>
          </a:xfrm>
          <a:prstGeom prst="rect">
            <a:avLst/>
          </a:prstGeom>
          <a:solidFill>
            <a:srgbClr val="E8F9F8"/>
          </a:solidFill>
          <a:ln/>
        </p:spPr>
        <p:txBody>
          <a:bodyPr/>
          <a:lstStyle/>
          <a:p>
            <a:endParaRPr lang="en-AU"/>
          </a:p>
        </p:txBody>
      </p:sp>
      <p:sp>
        <p:nvSpPr>
          <p:cNvPr id="7" name="Text 4"/>
          <p:cNvSpPr txBox="1"/>
          <p:nvPr/>
        </p:nvSpPr>
        <p:spPr>
          <a:xfrm>
            <a:off x="5714999" y="1627632"/>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714999" y="1901952"/>
            <a:ext cx="274320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4709159" cy="2198519"/>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