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8"/>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19"/>
    <p:sldId id="299" r:id="rId20"/>
    <p:sldId id="262" r:id="rId21"/>
    <p:sldId id="300" r:id="rId22"/>
    <p:sldId id="263" r:id="rId23"/>
    <p:sldId id="264" r:id="rId24"/>
    <p:sldId id="265" r:id="rId25"/>
    <p:sldId id="266" r:id="rId26"/>
    <p:sldId id="267" r:id="rId27"/>
    <p:sldId id="268" r:id="rId28"/>
    <p:sldId id="301" r:id="rId55"/>
    <p:sldId id="303" r:id="rId57"/>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8" r:id="rId46"/>
    <p:sldId id="286" r:id="rId47"/>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53" Type="http://schemas.microsoft.com/office/2016/11/relationships/changesInfo" Target="changesInfos/changesInfo1.xml"/><Relationship Id="rId54" Type="http://schemas.microsoft.com/office/2015/10/relationships/revisionInfo" Target="revisionInfo.xml"/><Relationship Id="rId55" Type="http://schemas.openxmlformats.org/officeDocument/2006/relationships/slide" Target="slides/slide25.xml"/><Relationship Id="rId57"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endParaRPr/>
          </a:p>
          <a:p>
            <a:r>
              <a:t>September 2026 a loss of $41,464. September 2025 a loss of $52,615. September 2024 a profit of $20,737.</a:t>
            </a:r>
          </a:p>
          <a:p>
            <a:endParaRPr/>
          </a:p>
          <a:p>
            <a:r>
              <a:t>This September is $11,152 better than the same month last year, and $62,201 worse than the September before that.</a:t>
            </a:r>
          </a:p>
          <a:p>
            <a:endParaRPr/>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endParaRPr/>
          </a:p>
          <a:p>
            <a:r>
              <a:t>What changed is the cost of earning it. Cost of sales was $374,130 against $216,749 in September 2024 on revenue only $121,701 higher. The gross margin on the month was 33.4%, against 50.8% in September 2024.</a:t>
            </a:r>
          </a:p>
          <a:p>
            <a:endParaRPr/>
          </a:p>
          <a:p>
            <a:r>
              <a:t>So the question this chart puts to the board is about pricing and delivery cost on the work being won, not about the volume of work being won.</a:t>
            </a:r>
          </a:p>
          <a:p>
            <a:endParaRPr/>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endParaRPr/>
          </a:p>
          <a:p>
            <a:r>
              <a:t>Q1 2026 a loss of $5,808. Q1 2025 a loss of $85,404. Q1 2024 a profit of $34,595.</a:t>
            </a:r>
          </a:p>
          <a:p>
            <a:endParaRPr/>
          </a:p>
          <a:p>
            <a:r>
              <a:t>The quarter has improved $79,596 on last year and is within $5,808 of breaking even. On that reading the recovery is real and the direction is right.</a:t>
            </a:r>
          </a:p>
          <a:p>
            <a:endParaRPr/>
          </a:p>
          <a:p>
            <a:r>
              <a:t>Against the plan it reads differently. The budget had the first quarter at a $222,700 profit. Coming in at a $5,808 loss is $228,508 below it.</a:t>
            </a:r>
          </a:p>
          <a:p>
            <a:endParaRPr/>
          </a:p>
          <a:p>
            <a:r>
              <a:t>As with the month, this is not a revenue failure. The quarter billed $1,624,460, which is the highest first quarter of the three, ahead of $1,228,582 last year and $1,380,102 the year before. It earned more than either comparison and still finished below the line.</a:t>
            </a:r>
          </a:p>
          <a:p>
            <a:endParaRPr/>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endParaRPr/>
          </a:p>
          <a:p>
            <a:r>
              <a:t>FY25 was pulled from Xero on 22 October 2026. The quarter is July to September, so it is fixed rather than following Setup.</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Departmental performance for September 2026.</a:t>
            </a:r>
          </a:p>
          <a:p>
            <a:endParaRPr/>
          </a:p>
          <a:p>
            <a:r>
              <a:t>The pages that follow give the company result by department, the same result rolled up the way the P&amp;L groups the business, then a page for each of the five departments, and finally departmental revenue against budget and against the same month last year.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Gross profit against the overhead charged to each department for September 2026, taken from section 7 of the Overhead Split tab. The bar above the line is what the department earned, the bar below is the overhead allocated to it, and the third bar is the result.</a:t>
            </a:r>
          </a:p>
          <a:p/>
          <a:p>
            <a:r>
              <a:t>Support earned $101,290 and carries $79,527, leaving $21,762.</a:t>
            </a:r>
          </a:p>
          <a:p>
            <a:r>
              <a:t>Events earned $56,881 and carries $103,146, leaving a loss of $46,265.</a:t>
            </a:r>
          </a:p>
          <a:p>
            <a:r>
              <a:t>Video earned $5,813 and carries $12,430, leaving a loss of $6,617.</a:t>
            </a:r>
          </a:p>
          <a:p>
            <a:r>
              <a:t>Integration earned $23,756 and carries $13,208, leaving $10,548.</a:t>
            </a:r>
          </a:p>
          <a:p>
            <a:r>
              <a:t>Consulting earned $74 and carries $20,966, leaving a loss of $20,892.</a:t>
            </a:r>
          </a:p>
          <a:p/>
          <a:p>
            <a:r>
              <a:t>The company earned $187,814 of gross profit against $229,278 of overhead. The $41,464 difference is the loss for the month. The business did not earn enough gross profit to carry its own overhead base.</a:t>
            </a:r>
          </a:p>
          <a:p/>
          <a:p>
            <a:r>
              <a:t>Events is still the clearest case. It carries 45.0% of all overhead on 13.0% of the revenue, against a gross margin of 77.6%, the second highest of the five. No improvement in margin fixes that.</a:t>
            </a:r>
          </a:p>
          <a:p/>
          <a:p>
            <a:r>
              <a:t>Integration is the other way round. It carries 5.8% of the overhead on 41.8% of the revenue, so it covers its allocation easily and still only returns $10,548, because its gross margin is 10.1%.</a:t>
            </a:r>
          </a:p>
          <a:p/>
          <a:p>
            <a:r>
              <a:t>Support is the one department behaving as it should. A 41.7% margin on contract revenue, covering its allocated overhead, and returning $21,762.</a:t>
            </a:r>
          </a:p>
          <a:p/>
          <a:p>
            <a:r>
              <a:t>The allocation behind these figures now matches the P&amp;L analysis. The Staff key is driven by a headcount of 49 Support, 18 Events, 3 Video, 1 Integration and 1 Consulting.</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result rolled up the way the P&amp;L groups the business, taken from section 8 of the Overhead Split tab. Production is Events and Video. Consulting is Integration and Consulting.</a:t>
            </a:r>
          </a:p>
          <a:p/>
          <a:p>
            <a:r>
              <a:t>Support: revenue $242,948, gross profit $101,290 at 41.7%, overhead $79,527, result $21,762.</a:t>
            </a:r>
          </a:p>
          <a:p>
            <a:r>
              <a:t>Production: revenue $80,607, gross profit $62,694 at 77.8%, overhead $115,577, result a loss of $52,882.</a:t>
            </a:r>
          </a:p>
          <a:p>
            <a:r>
              <a:t>Consulting: revenue $238,389, gross profit $23,830 at 10.0%, overhead $34,174, result a loss of $10,344.</a:t>
            </a:r>
          </a:p>
          <a:p/>
          <a:p>
            <a:r>
              <a:t>The three add to the $41,464 loss for the month.</a:t>
            </a:r>
          </a:p>
          <a:p/>
          <a:p>
            <a:r>
              <a:t>Set out this way the business has one group covering its costs and two that do not, and they fail for opposite reasons.</a:t>
            </a:r>
          </a:p>
          <a:p/>
          <a:p>
            <a:r>
              <a:t>Production earns a 77.8% margin, the best in the business, on $80,607 of revenue. That produces $62,694 of gross profit against $115,577 of overhead. The margin is not the problem. The revenue is too small for the cost base sitting on it.</a:t>
            </a:r>
          </a:p>
          <a:p/>
          <a:p>
            <a:r>
              <a:t>Consulting is the mirror image. It brought in $238,389, almost as much as Support, and converted it into $23,830 at a 10.0% margin. Its overhead is only $34,174 and it still loses $10,344, because there is almost no margin on the work.</a:t>
            </a:r>
          </a:p>
          <a:p/>
          <a:p>
            <a:r>
              <a:t>Support carries the business: 41.7% on $242,948, covering $79,527 of overhead and returning $21,762.</a:t>
            </a:r>
          </a:p>
          <a:p/>
          <a:p>
            <a:r>
              <a:t>The allocation behind these figures now matches the P&amp;L analysis.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42</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whole profit and loss by department for September 2026, taken from section 7 of the Overhead Split tab. Teal is what the department earned, red is what it cost, navy is what was left.</a:t>
            </a:r>
          </a:p>
          <a:p/>
          <a:p>
            <a:r>
              <a:t>Support earned $242,948, cost $221,186 and kept $21,762.</a:t>
            </a:r>
          </a:p>
          <a:p>
            <a:r>
              <a:t>Events earned $73,304, cost $119,569 and lost $46,265.</a:t>
            </a:r>
          </a:p>
          <a:p>
            <a:r>
              <a:t>Video earned $7,303, cost $13,920 and lost $6,617.</a:t>
            </a:r>
          </a:p>
          <a:p>
            <a:r>
              <a:t>Integration earned $234,858, cost $224,311 and kept $10,548.</a:t>
            </a:r>
          </a:p>
          <a:p>
            <a:r>
              <a:t>Consulting earned $3,531, cost $24,423 and lost $20,892.</a:t>
            </a:r>
          </a:p>
          <a:p/>
          <a:p>
            <a:r>
              <a:t>Across the five, $561,945 of revenue against $603,408 of cost, which is the $41,464 loss for the month.</a:t>
            </a:r>
          </a:p>
          <a:p/>
          <a:p>
            <a:r>
              <a:t>Total cost is cost of sales plus the overhead charged to the department. Cost of sales is not a line on the department pages either, it is revenue less gross profit.</a:t>
            </a:r>
          </a:p>
          <a:p/>
          <a:p>
            <a:r>
              <a:t>Support and Integration have almost the same revenue, $242,948 and $234,858, and almost the same cost, $221,186 and $224,311. The results are $21,762 and $10,548. Integration is running nearly the same volume for half the return, because its gross margin is 10.1% against Support's 41.7%.</a:t>
            </a:r>
          </a:p>
          <a:p/>
          <a:p>
            <a:r>
              <a:t>Events is the opposite problem. It is the smallest cost base of the three large departments and the second largest loss, because $103,146 of the $119,569 it costs is allocated overhead rather than cost of sales.</a:t>
            </a:r>
          </a:p>
          <a:p/>
          <a:p>
            <a:r>
              <a:t>The allocation behind these figures now matches the P&amp;L analysis.</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The result by department for September 2026 after the overhead charged to each one, taken from section 7 of the Overhead Split tab. Teal is above the line, red is below.</a:t>
            </a:r>
          </a:p>
          <a:p/>
          <a:p>
            <a:r>
              <a:t>Support $21,762. Integration $10,548. Video a loss of $6,617. Consulting a loss of $20,892. Events a loss of $46,265. The five add to the $41,464 loss for the month.</a:t>
            </a:r>
          </a:p>
          <a:p/>
          <a:p>
            <a:r>
              <a:t>Two of the five made a profit.</a:t>
            </a:r>
          </a:p>
          <a:p/>
          <a:p>
            <a:r>
              <a:t>Every department made a gross profit. Support $101,290, Events $56,881, Integration $23,756, Video $5,813, and Consulting $74. On gross profit nobody lost money. What puts three of them below the line is the overhead charged to them: $229,278 across the month against $187,814 of gross profit earned.</a:t>
            </a:r>
          </a:p>
          <a:p/>
          <a:p>
            <a:r>
              <a:t>Events is the clearest case. It carries 45.0% of all overhead on 13.0% of the revenue. Its margin is the second best of the five at 77.6% and it still posts the largest loss on the page. Improving margin does not fix that. Either Events carries more revenue or it carries less overhead.</a:t>
            </a:r>
          </a:p>
          <a:p/>
          <a:p>
            <a:r>
              <a:t>Consulting is a different problem. It earned $74 of gross profit on $3,531 of revenue and carries $20,966 of overhead, so almost the whole of its loss is overhead on a department that is barely trading.</a:t>
            </a:r>
          </a:p>
          <a:p/>
          <a:p>
            <a:r>
              <a:t>Integration is the one to watch and it is easy to miss. Its revenue went from $21,421 last September to $234,858 this September, close to eleven times. But that revenue carries a 10.1% margin against Support's 41.7%, so after $13,208 of overhead only $10,548 reached the line.</a:t>
            </a:r>
          </a:p>
          <a:p/>
          <a:p>
            <a:r>
              <a:t>Video's loss of $6,617 is the smallest and the least structural. It billed $7,303 against $20,025 in the same month last year, so it is a volume problem on a department with a 79.6% margin.</a:t>
            </a:r>
          </a:p>
          <a:p/>
          <a:p>
            <a:r>
              <a:t>The allocation behind these figures now matches the P&amp;L analysis. The Staff key is driven by a headcount of 49 Support, 18 Events, 3 Video, 1 Integration and 1 Consulting, which is the basis the analysis uses.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png"/><Relationship Id="rId5"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png"/><Relationship Id="rId5" Type="http://schemas.openxmlformats.org/officeDocument/2006/relationships/image" Target="../media/image3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png"/><Relationship Id="rId5"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png"/><Relationship Id="rId5" Type="http://schemas.openxmlformats.org/officeDocument/2006/relationships/image" Target="../media/image4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1.png"/><Relationship Id="rId5" Type="http://schemas.openxmlformats.org/officeDocument/2006/relationships/image" Target="../media/image4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png"/><Relationship Id="rId5" Type="http://schemas.openxmlformats.org/officeDocument/2006/relationships/image" Target="../media/image4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 Id="rId5"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notesSlide" Target="../notesSlides/notesSlide44.xml"/><Relationship Id="rId5" Type="http://schemas.openxmlformats.org/officeDocument/2006/relationships/image" Target="../media/image3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6.png"/><Relationship Id="rId4" Type="http://schemas.openxmlformats.org/officeDocument/2006/relationships/notesSlide" Target="../notesSlides/notesSlide46.xml"/><Relationship Id="rId5"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0.png"/><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2.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33.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s://corptechservices.sharepoint.com/:x:/s/CTSNASAccountsYBackup/IQA10LAzkaNEQq0FYhCYngMZAdN-NraOBffkpTyYU738ebI?e=dOV2Sx"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Profit and loss summary, revenue against budget, and the three year comparisons</a:t>
            </a:r>
            <a:endParaRPr lang="en-US" sz="1000"/>
          </a:p>
        </p:txBody>
      </p:sp>
      <p:sp>
        <p:nvSpPr>
          <p:cNvPr id="8" name="Shape 6"/>
          <p:cNvSpPr/>
          <p:nvPr/>
        </p:nvSpPr>
        <p:spPr>
          <a:xfrm>
            <a:off x="502920" y="1965960"/>
            <a:ext cx="384048" cy="384048"/>
          </a:xfrm>
          <a:prstGeom prst="rect">
            <a:avLst/>
          </a:prstGeom>
          <a:solidFill>
            <a:srgbClr val="242C39"/>
          </a:solidFill>
          <a:ln/>
        </p:spPr>
        <p:txBody>
          <a:bodyPr/>
          <a:lstStyle/>
          <a:p>
            <a:endParaRPr lang="en-AU"/>
          </a:p>
        </p:txBody>
      </p:sp>
      <p:sp>
        <p:nvSpPr>
          <p:cNvPr id="9" name="Text 7"/>
          <p:cNvSpPr txBox="1"/>
          <p:nvPr/>
        </p:nvSpPr>
        <p:spPr>
          <a:xfrm>
            <a:off x="502920" y="19659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1947672"/>
            <a:ext cx="7589520" cy="237744"/>
          </a:xfrm>
          <a:prstGeom prst="rect">
            <a:avLst/>
          </a:prstGeom>
          <a:noFill/>
          <a:ln/>
        </p:spPr>
        <p:txBody>
          <a:bodyPr wrap="square" lIns="0" tIns="0" rIns="0" bIns="0" rtlCol="0" anchor="ctr"/>
          <a:lstStyle/>
          <a:p>
            <a:pPr marL="0" indent="0">
              <a:buNone/>
            </a:pPr>
            <a:r>
              <a:rPr lang="en-US" sz="1300" b="1">
                <a:solidFill>
                  <a:srgbClr val="242C39"/>
                </a:solidFill>
              </a:rPr>
              <a:t>Departmental performance</a:t>
            </a:r>
            <a:endParaRPr lang="en-US" sz="1300"/>
          </a:p>
        </p:txBody>
      </p:sp>
      <p:sp>
        <p:nvSpPr>
          <p:cNvPr id="11" name="Text 9"/>
          <p:cNvSpPr txBox="1"/>
          <p:nvPr/>
        </p:nvSpPr>
        <p:spPr>
          <a:xfrm>
            <a:off x="1051560" y="2167128"/>
            <a:ext cx="7589520" cy="219456"/>
          </a:xfrm>
          <a:prstGeom prst="rect">
            <a:avLst/>
          </a:prstGeom>
          <a:noFill/>
          <a:ln/>
        </p:spPr>
        <p:txBody>
          <a:bodyPr wrap="square" lIns="0" tIns="0" rIns="0" bIns="0" rtlCol="0" anchor="ctr"/>
          <a:lstStyle/>
          <a:p>
            <a:pPr marL="0" indent="0">
              <a:buNone/>
            </a:pPr>
            <a:r>
              <a:rPr lang="en-US" sz="1000">
                <a:solidFill>
                  <a:srgbClr val="6B7585"/>
                </a:solidFill>
              </a:rPr>
              <a:t>Every department's result for September 2026 and how it was made</a:t>
            </a:r>
            <a:endParaRPr lang="en-US" sz="1000"/>
          </a:p>
        </p:txBody>
      </p:sp>
      <p:sp>
        <p:nvSpPr>
          <p:cNvPr id="12" name="Shape 10"/>
          <p:cNvSpPr/>
          <p:nvPr/>
        </p:nvSpPr>
        <p:spPr>
          <a:xfrm>
            <a:off x="502920" y="2514600"/>
            <a:ext cx="384048" cy="384048"/>
          </a:xfrm>
          <a:prstGeom prst="rect">
            <a:avLst/>
          </a:prstGeom>
          <a:solidFill>
            <a:srgbClr val="242C39"/>
          </a:solidFill>
          <a:ln/>
        </p:spPr>
        <p:txBody>
          <a:bodyPr/>
          <a:lstStyle/>
          <a:p>
            <a:endParaRPr lang="en-AU"/>
          </a:p>
        </p:txBody>
      </p:sp>
      <p:sp>
        <p:nvSpPr>
          <p:cNvPr id="13" name="Text 11"/>
          <p:cNvSpPr txBox="1"/>
          <p:nvPr/>
        </p:nvSpPr>
        <p:spPr>
          <a:xfrm>
            <a:off x="502920" y="25146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4963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5" name="Text 13"/>
          <p:cNvSpPr txBox="1"/>
          <p:nvPr/>
        </p:nvSpPr>
        <p:spPr>
          <a:xfrm>
            <a:off x="1051560" y="27157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6" name="Shape 14"/>
          <p:cNvSpPr/>
          <p:nvPr/>
        </p:nvSpPr>
        <p:spPr>
          <a:xfrm>
            <a:off x="502920" y="3063239"/>
            <a:ext cx="384048" cy="384048"/>
          </a:xfrm>
          <a:prstGeom prst="rect">
            <a:avLst/>
          </a:prstGeom>
          <a:solidFill>
            <a:srgbClr val="242C39"/>
          </a:solidFill>
          <a:ln/>
        </p:spPr>
        <p:txBody>
          <a:bodyPr/>
          <a:lstStyle/>
          <a:p>
            <a:endParaRPr lang="en-AU"/>
          </a:p>
        </p:txBody>
      </p:sp>
      <p:sp>
        <p:nvSpPr>
          <p:cNvPr id="17" name="Text 15"/>
          <p:cNvSpPr txBox="1"/>
          <p:nvPr/>
        </p:nvSpPr>
        <p:spPr>
          <a:xfrm>
            <a:off x="502920" y="3063239"/>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044951"/>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9" name="Text 17"/>
          <p:cNvSpPr txBox="1"/>
          <p:nvPr/>
        </p:nvSpPr>
        <p:spPr>
          <a:xfrm>
            <a:off x="1051560" y="326440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20" name="Shape 18"/>
          <p:cNvSpPr/>
          <p:nvPr/>
        </p:nvSpPr>
        <p:spPr>
          <a:xfrm>
            <a:off x="502920" y="3611880"/>
            <a:ext cx="384048" cy="384048"/>
          </a:xfrm>
          <a:prstGeom prst="rect">
            <a:avLst/>
          </a:prstGeom>
          <a:solidFill>
            <a:srgbClr val="242C39"/>
          </a:solidFill>
          <a:ln/>
        </p:spPr>
        <p:txBody>
          <a:bodyPr/>
          <a:lstStyle/>
          <a:p>
            <a:endParaRPr lang="en-AU"/>
          </a:p>
        </p:txBody>
      </p:sp>
      <p:sp>
        <p:nvSpPr>
          <p:cNvPr id="21" name="Text 19"/>
          <p:cNvSpPr txBox="1"/>
          <p:nvPr/>
        </p:nvSpPr>
        <p:spPr>
          <a:xfrm>
            <a:off x="502920" y="36118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59359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23" name="Text 21"/>
          <p:cNvSpPr txBox="1"/>
          <p:nvPr/>
        </p:nvSpPr>
        <p:spPr>
          <a:xfrm>
            <a:off x="1051560" y="381304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
        <p:nvSpPr>
          <p:cNvPr id="24" name="Shape 22"/>
          <p:cNvSpPr/>
          <p:nvPr/>
        </p:nvSpPr>
        <p:spPr>
          <a:xfrm>
            <a:off x="502920" y="4160520"/>
            <a:ext cx="384048" cy="384048"/>
          </a:xfrm>
          <a:prstGeom prst="rect">
            <a:avLst/>
          </a:prstGeom>
          <a:solidFill>
            <a:srgbClr val="242C39"/>
          </a:solidFill>
          <a:ln/>
        </p:spPr>
        <p:txBody>
          <a:bodyPr/>
          <a:lstStyle/>
          <a:p>
            <a:endParaRPr lang="en-AU"/>
          </a:p>
        </p:txBody>
      </p:sp>
      <p:sp>
        <p:nvSpPr>
          <p:cNvPr id="27" name="Text 23"/>
          <p:cNvSpPr txBox="1"/>
          <p:nvPr/>
        </p:nvSpPr>
        <p:spPr>
          <a:xfrm>
            <a:off x="502920" y="41605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06</a:t>
            </a:r>
            <a:endParaRPr lang="en-US" sz="1100"/>
          </a:p>
        </p:txBody>
      </p:sp>
      <p:sp>
        <p:nvSpPr>
          <p:cNvPr id="28" name="Text 24"/>
          <p:cNvSpPr txBox="1"/>
          <p:nvPr/>
        </p:nvSpPr>
        <p:spPr>
          <a:xfrm>
            <a:off x="1051560" y="414223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9" name="Text 25"/>
          <p:cNvSpPr txBox="1"/>
          <p:nvPr/>
        </p:nvSpPr>
        <p:spPr>
          <a:xfrm>
            <a:off x="1051560" y="436168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+$22k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$(46)k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+$11k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$(21)k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3"/>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15</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dot 3"/>
          <p:cNvSpPr/>
          <p:nvPr/>
        </p:nvSpPr>
        <p:spPr>
          <a:xfrm>
            <a:off x="7040880" y="2468880"/>
            <a:ext cx="2057400" cy="2057400"/>
          </a:xfrm>
          <a:prstGeom prst="ellipse">
            <a:avLst/>
          </a:prstGeom>
          <a:solidFill>
            <a:srgbClr val="6D71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ot 2"/>
          <p:cNvSpPr/>
          <p:nvPr/>
        </p:nvSpPr>
        <p:spPr>
          <a:xfrm>
            <a:off x="6629400" y="2057400"/>
            <a:ext cx="1554480" cy="1554480"/>
          </a:xfrm>
          <a:prstGeom prst="ellipse">
            <a:avLst/>
          </a:prstGeom>
          <a:solidFill>
            <a:srgbClr val="3FD0C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dot 0"/>
          <p:cNvSpPr/>
          <p:nvPr/>
        </p:nvSpPr>
        <p:spPr>
          <a:xfrm>
            <a:off x="5897880" y="91440"/>
            <a:ext cx="2240280" cy="2240280"/>
          </a:xfrm>
          <a:prstGeom prst="ellipse">
            <a:avLst/>
          </a:prstGeom>
          <a:solidFill>
            <a:srgbClr val="F338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Departmental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Every department's result for September 2026 and how it was made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7" name="snip dept_result" descr="dept_result.png"/>
          <p:cNvPicPr>
            <a:picLocks noChangeAspect="1"/>
          </p:cNvPicPr>
          <p:nvPr/>
        </p:nvPicPr>
        <p:blipFill>
          <a:blip r:embed="rId5"/>
          <a:stretch>
            <a:fillRect/>
          </a:stretch>
        </p:blipFill>
        <p:spPr>
          <a:xfrm>
            <a:off x="502920" y="1233554"/>
            <a:ext cx="8138160" cy="167512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in full,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$22k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$46k loss after $103k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$11k.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$21k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dept_mix" descr="dept_mix.png"/>
          <p:cNvPicPr>
            <a:picLocks noChangeAspect="1"/>
          </p:cNvPicPr>
          <p:nvPr/>
        </p:nvPicPr>
        <p:blipFill>
          <a:blip r:embed="rId5"/>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Gross profit against overhead,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profit of $188k did not cover overheads of $229k. That gap is the $41k loss.</a:t>
            </a:r>
            <a:endParaRPr lang="en-US" sz="850"/>
          </a:p>
          <a:p>
            <a:pPr marL="342900" indent="-342900">
              <a:lnSpc>
                <a:spcPts val="1050"/>
              </a:lnSpc>
              <a:spcAft>
                <a:spcPts val="400"/>
              </a:spcAft>
              <a:buSzPct val="100000"/>
              <a:buChar char="•"/>
            </a:pPr>
            <a:r>
              <a:rPr lang="en-US" sz="1000">
                <a:solidFill>
                  <a:srgbClr val="3A4453"/>
                </a:solidFill>
              </a:rPr>
              <a:t>Only Support and Integration covered the overhead charged to them.</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Events carries 45% of all overhead on 13% of revenue, so a 78% margin still ends in a $46k loss.</a:t>
            </a:r>
            <a:endParaRPr lang="en-US" sz="850"/>
          </a:p>
          <a:p>
            <a:pPr marL="342900" indent="-342900">
              <a:lnSpc>
                <a:spcPts val="1050"/>
              </a:lnSpc>
              <a:spcAft>
                <a:spcPts val="400"/>
              </a:spcAft>
              <a:buSzPct val="100000"/>
              <a:buChar char="•"/>
            </a:pPr>
            <a:r>
              <a:rPr lang="en-US" sz="1000">
                <a:solidFill>
                  <a:srgbClr val="3A4453"/>
                </a:solidFill>
              </a:rPr>
              <a:t>Consulting earned $74 of gross profit on $4k of revenue and carries $21k of overhead.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7" name="snip dept_three" descr="dept_three.png"/>
          <p:cNvPicPr>
            <a:picLocks noChangeAspect="1"/>
          </p:cNvPicPr>
          <p:nvPr/>
        </p:nvPicPr>
        <p:blipFill>
          <a:blip r:embed="rId5"/>
          <a:stretch>
            <a:fillRect/>
          </a:stretch>
        </p:blipFill>
        <p:spPr>
          <a:xfrm>
            <a:off x="502920" y="1609319"/>
            <a:ext cx="8138160" cy="1316784"/>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867911"/>
            <a:ext cx="3703320" cy="731520"/>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is the only group above the line, at $22k on $243k of revenue.</a:t>
            </a:r>
            <a:endParaRPr lang="en-US" sz="850"/>
          </a:p>
          <a:p>
            <a:pPr marL="342900" indent="-342900">
              <a:lnSpc>
                <a:spcPts val="1050"/>
              </a:lnSpc>
              <a:spcAft>
                <a:spcPts val="300"/>
              </a:spcAft>
              <a:buSzPct val="100000"/>
              <a:buChar char="•"/>
            </a:pPr>
            <a:r>
              <a:rPr lang="en-US" sz="1000">
                <a:solidFill>
                  <a:srgbClr val="3A4453"/>
                </a:solidFill>
              </a:rPr>
              <a:t>Production lost $53k. A 78% margin on $81k of revenue cannot carry $116k of overhead.</a:t>
            </a:r>
            <a:endParaRPr lang="en-US" sz="850"/>
          </a:p>
        </p:txBody>
      </p:sp>
      <p:sp>
        <p:nvSpPr>
          <p:cNvPr id="9" name="Text 5b"/>
          <p:cNvSpPr txBox="1"/>
          <p:nvPr/>
        </p:nvSpPr>
        <p:spPr>
          <a:xfrm>
            <a:off x="4663440" y="3867911"/>
            <a:ext cx="3703320" cy="731520"/>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Consulting lost $10k on $238k of revenue, because its margin is 10%.</a:t>
            </a:r>
            <a:endParaRPr lang="en-US" sz="850"/>
          </a:p>
          <a:p>
            <a:pPr marL="342900" indent="-342900">
              <a:lnSpc>
                <a:spcPts val="1050"/>
              </a:lnSpc>
              <a:spcAft>
                <a:spcPts val="300"/>
              </a:spcAft>
              <a:buSzPct val="100000"/>
              <a:buChar char="•"/>
            </a:pPr>
            <a:r>
              <a:rPr lang="en-US" sz="1000">
                <a:solidFill>
                  <a:srgbClr val="3A4453"/>
                </a:solidFill>
              </a:rPr>
              <a:t>The three groups are the $41k loss for the month.</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$80k of allocated overheads, Support recorded a $22k profit.</a:t>
            </a:r>
            <a:endParaRPr lang="en-US" sz="850"/>
          </a:p>
          <a:p>
            <a:pPr marL="342900" indent="-342900">
              <a:lnSpc>
                <a:spcPts val="1050"/>
              </a:lnSpc>
              <a:spcAft>
                <a:spcPts val="400"/>
              </a:spcAft>
              <a:buSzPct val="100000"/>
              <a:buChar char="•"/>
            </a:pPr>
            <a:r>
              <a:rPr lang="en-US" sz="1000">
                <a:solidFill>
                  <a:srgbClr val="3A4453"/>
                </a:solidFill>
              </a:rPr>
              <a:t>Its allocated office wages were $52k,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$46k loss after $103k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$64k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$12k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an $11k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$21k loss after approximately $21k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pl" descr="dept_pl.png"/>
          <p:cNvPicPr>
            <a:picLocks noChangeAspect="1"/>
          </p:cNvPicPr>
          <p:nvPr/>
        </p:nvPicPr>
        <p:blipFill>
          <a:blip r:embed="rId5"/>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profit and loss,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Support earned $243k, cost $221k and kept $22k.</a:t>
            </a:r>
            <a:endParaRPr lang="en-US" sz="850"/>
          </a:p>
          <a:p>
            <a:pPr marL="342900" indent="-342900">
              <a:lnSpc>
                <a:spcPts val="1050"/>
              </a:lnSpc>
              <a:spcAft>
                <a:spcPts val="400"/>
              </a:spcAft>
              <a:buSzPct val="100000"/>
              <a:buChar char="•"/>
            </a:pPr>
            <a:r>
              <a:rPr lang="en-US" sz="1000">
                <a:solidFill>
                  <a:srgbClr val="3A4453"/>
                </a:solidFill>
              </a:rPr>
              <a:t>Events earned $73k, cost $120k and lost $46k.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Integration earned $235k, cost $224k and kept $11k, the most work for the least return.</a:t>
            </a:r>
            <a:endParaRPr lang="en-US" sz="850"/>
          </a:p>
          <a:p>
            <a:pPr marL="342900" indent="-342900">
              <a:lnSpc>
                <a:spcPts val="1050"/>
              </a:lnSpc>
              <a:spcAft>
                <a:spcPts val="400"/>
              </a:spcAft>
              <a:buSzPct val="100000"/>
              <a:buChar char="•"/>
            </a:pPr>
            <a:r>
              <a:rPr lang="en-US" sz="1000">
                <a:solidFill>
                  <a:srgbClr val="3A4453"/>
                </a:solidFill>
              </a:rPr>
              <a:t>Across all five, $562k earned against $603k of cost. That is the $41k loss.</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line" descr="dept_line.png"/>
          <p:cNvPicPr>
            <a:picLocks noChangeAspect="1"/>
          </p:cNvPicPr>
          <p:nvPr/>
        </p:nvPicPr>
        <p:blipFill>
          <a:blip r:embed="rId5"/>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 by department, above and below the line</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Two of the five made a profit. Support kept $22k and Integration $11k.</a:t>
            </a:r>
            <a:endParaRPr lang="en-US" sz="850"/>
          </a:p>
          <a:p>
            <a:pPr marL="342900" indent="-342900">
              <a:lnSpc>
                <a:spcPts val="1050"/>
              </a:lnSpc>
              <a:spcAft>
                <a:spcPts val="400"/>
              </a:spcAft>
              <a:buSzPct val="100000"/>
              <a:buChar char="•"/>
            </a:pPr>
            <a:r>
              <a:rPr lang="en-US" sz="1000">
                <a:solidFill>
                  <a:srgbClr val="3A4453"/>
                </a:solidFill>
              </a:rPr>
              <a:t>Events lost $46k, Consulting $21k and Video $7k. Together the five are the $41k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five made a gross profit. It is the overhead charged to them that puts three below the line.</a:t>
            </a:r>
            <a:endParaRPr lang="en-US" sz="850"/>
          </a:p>
          <a:p>
            <a:pPr marL="342900" indent="-342900">
              <a:lnSpc>
                <a:spcPts val="1050"/>
              </a:lnSpc>
              <a:spcAft>
                <a:spcPts val="400"/>
              </a:spcAft>
              <a:buSzPct val="100000"/>
              <a:buChar char="•"/>
            </a:pPr>
            <a:r>
              <a:rPr lang="en-US" sz="1000">
                <a:solidFill>
                  <a:srgbClr val="3A4453"/>
                </a:solidFill>
              </a:rPr>
              <a:t>Integration billed eleven times last September, but a 10% margin left only $11k after overhead.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41</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07</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27</TotalTime>
  <Words>12187</Words>
  <Application>Microsoft Office PowerPoint</Application>
  <PresentationFormat>On-screen Show (16:9)</PresentationFormat>
  <Paragraphs>895</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4</cp:revision>
  <cp:lastPrinted>2026-10-20T04:14:11Z</cp:lastPrinted>
  <dcterms:created xsi:type="dcterms:W3CDTF">2026-10-18T22:46:07Z</dcterms:created>
  <dcterms:modified xsi:type="dcterms:W3CDTF">2026-10-22T05:16:43Z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