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89" r:id="rId44"/>
    <p:sldId id="290" r:id="rId45"/>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6.xml"/><Relationship Id="rId45" Type="http://schemas.openxmlformats.org/officeDocument/2006/relationships/slide" Target="slides/slide3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p>
            <a:r>
              <a:t>Actual revenue was $459,049 in July, $603,467 in August and $561,945 in September, $1,624,460 for the quarter.</a:t>
            </a:r>
          </a:p>
          <a:p/>
          <a:p>
            <a:r>
              <a:t>Budget for those months was $609,277, $973,168 and $413,665, being $1,996,110 for the quarter. The quarter is therefore $371,650 short of budget.</a:t>
            </a:r>
          </a:p>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p>
            <a:r>
              <a:t>By department for September: Support $242,948, Events $73,304, Video $7,303, Integration $234,858 and Consulting $3,531.</a:t>
            </a:r>
          </a:p>
          <a:p/>
          <a:p>
            <a:r>
              <a:t>Three things the mix shows that a total does not.</a:t>
            </a:r>
          </a:p>
          <a:p/>
          <a:p>
            <a:r>
              <a:t>Support is the base of the business and it barely moves: $235,403, $240,236 and $242,948 across the three months. That is recurring contract income behaving as recurring income should.</a:t>
            </a:r>
          </a:p>
          <a:p/>
          <a:p>
            <a:r>
              <a:t>Integration is the volatility. It billed $112,803 in July, $93,752 in August and $234,858 in September, and the September figure is a single installation completing. It is better read as timing than as growth, particularly as the margin retained on that work is 10.1%.</a:t>
            </a:r>
          </a:p>
          <a:p/>
          <a:p>
            <a:r>
              <a:t>Events moved from $241,371 in August to $73,304 in September, the largest single movement in the quarter, and the reason the company total fell while Integration rose.</a:t>
            </a:r>
          </a:p>
          <a:p/>
          <a:p>
            <a:r>
              <a:t>The chart lengthens by one column each month as the pack closes a month, so it will show the full year by June without being rebuilt.</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for the year to date, by department, taken from the Cost Analysis tab.</a:t>
            </a:r>
          </a:p>
          <a:p/>
          <a:p>
            <a:r>
              <a:t>Support $718,587 against a budget of $743,185, short by $24,597 or 3.3%.</a:t>
            </a:r>
          </a:p>
          <a:p>
            <a:r>
              <a:t>Events $420,121 against $321,957, ahead by $98,163 or 30.5%.</a:t>
            </a:r>
          </a:p>
          <a:p>
            <a:r>
              <a:t>Video $40,270 against $85,584, short by $45,313 or 52.9%.</a:t>
            </a:r>
          </a:p>
          <a:p>
            <a:r>
              <a:t>Integration $441,414 against $608,676, short by $167,263 or 27.5%.</a:t>
            </a:r>
          </a:p>
          <a:p>
            <a:r>
              <a:t>Consulting $4,068 against $236,707, short by $232,640 or 98.3%.</a:t>
            </a:r>
          </a:p>
          <a:p/>
          <a:p>
            <a:r>
              <a:t>The company is $371,650 short of budget on revenue, or 18.6%.</a:t>
            </a:r>
          </a:p>
          <a:p/>
          <a:p>
            <a:r>
              <a:t>Where the shortfall actually sits. Consulting accounts for $232,640 of it, which is almost two thirds. Integration adds $167,263 and Video $45,313. Events offsets $98,163 of the total and Support is within 3.3% of plan.</a:t>
            </a:r>
          </a:p>
          <a:p/>
          <a:p>
            <a:r>
              <a:t>That distribution matters for the reforecast. Support and Events are delivering close to or ahead of what was asked of them. The gap is concentrated in the three departments that were budgeted on a resourcing level which does not exist, and no amount of additional effort from Support or Events closes it.</a:t>
            </a:r>
          </a:p>
          <a:p/>
          <a:p>
            <a:r>
              <a:t>Consulting in particular was budgeted $236,707 for the quarter and has billed $4,068. That is not a performance variance, it is a plan built on capacity the business never had.</a:t>
            </a:r>
          </a:p>
          <a:p/>
          <a:p>
            <a:r>
              <a:t>Year to date is summed across the closed months rather than read from a stored total, so this chart follows the reporting month on Setup and will extend as the year goes 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33.xml"/><Relationship Id="rId4" Type="http://schemas.openxmlformats.org/officeDocument/2006/relationships/image" Target="../media/image23.png"/><Relationship Id="rId5"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 Id="rId5"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2.png"/><Relationship Id="rId4"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1192271" y="1261872"/>
            <a:ext cx="6759456" cy="185956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income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 descr="rev_month.png"/>
          <p:cNvPicPr>
            <a:picLocks noChangeAspect="1"/>
          </p:cNvPicPr>
          <p:nvPr/>
        </p:nvPicPr>
        <p:blipFill>
          <a:blip r:embed="rId5"/>
          <a:stretch>
            <a:fillRect/>
          </a:stretch>
        </p:blipFill>
        <p:spPr>
          <a:xfrm>
            <a:off x="1655076" y="1115568"/>
            <a:ext cx="5833847"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and department</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5"/>
          <a:stretch>
            <a:fillRect/>
          </a:stretch>
        </p:blipFill>
        <p:spPr>
          <a:xfrm>
            <a:off x="1221933" y="1115568"/>
            <a:ext cx="6700133" cy="183698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cost and profit</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Support,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899746" y="1115568"/>
            <a:ext cx="7344506"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2234229" y="1115568"/>
            <a:ext cx="4675541"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4617719" cy="2335216"/>
          </a:xfrm>
          <a:prstGeom prst="rect">
            <a:avLst/>
          </a:prstGeom>
        </p:spPr>
      </p:pic>
      <p:sp>
        <p:nvSpPr>
          <p:cNvPr id="6" name="commentary panel"/>
          <p:cNvSpPr/>
          <p:nvPr/>
        </p:nvSpPr>
        <p:spPr>
          <a:xfrm>
            <a:off x="5349239" y="1463040"/>
            <a:ext cx="3291840" cy="3154680"/>
          </a:xfrm>
          <a:prstGeom prst="rect">
            <a:avLst/>
          </a:prstGeom>
          <a:solidFill>
            <a:srgbClr val="E8F9F8"/>
          </a:solidFill>
          <a:ln/>
        </p:spPr>
        <p:txBody>
          <a:bodyPr/>
          <a:lstStyle/>
          <a:p>
            <a:endParaRPr lang="en-AU"/>
          </a:p>
        </p:txBody>
      </p:sp>
      <p:sp>
        <p:nvSpPr>
          <p:cNvPr id="7" name="Text 4"/>
          <p:cNvSpPr txBox="1"/>
          <p:nvPr/>
        </p:nvSpPr>
        <p:spPr>
          <a:xfrm>
            <a:off x="5532119" y="1627632"/>
            <a:ext cx="29260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532119" y="1901952"/>
            <a:ext cx="292608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349239" cy="2463947"/>
          </a:xfrm>
          <a:prstGeom prst="rect">
            <a:avLst/>
          </a:prstGeom>
        </p:spPr>
      </p:pic>
      <p:sp>
        <p:nvSpPr>
          <p:cNvPr id="6" name="commentary panel"/>
          <p:cNvSpPr/>
          <p:nvPr/>
        </p:nvSpPr>
        <p:spPr>
          <a:xfrm>
            <a:off x="6080759" y="1463040"/>
            <a:ext cx="2560320" cy="3154680"/>
          </a:xfrm>
          <a:prstGeom prst="rect">
            <a:avLst/>
          </a:prstGeom>
          <a:solidFill>
            <a:srgbClr val="E8F9F8"/>
          </a:solidFill>
          <a:ln/>
        </p:spPr>
        <p:txBody>
          <a:bodyPr/>
          <a:lstStyle/>
          <a:p>
            <a:endParaRPr lang="en-AU"/>
          </a:p>
        </p:txBody>
      </p:sp>
      <p:sp>
        <p:nvSpPr>
          <p:cNvPr id="7" name="Text 4"/>
          <p:cNvSpPr txBox="1"/>
          <p:nvPr/>
        </p:nvSpPr>
        <p:spPr>
          <a:xfrm>
            <a:off x="6263639" y="1627632"/>
            <a:ext cx="21945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263639" y="1901952"/>
            <a:ext cx="2194560" cy="2706623"/>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502920" y="1444752"/>
            <a:ext cx="4892039" cy="2912327"/>
          </a:xfrm>
          <a:prstGeom prst="rect">
            <a:avLst/>
          </a:prstGeom>
        </p:spPr>
      </p:pic>
      <p:sp>
        <p:nvSpPr>
          <p:cNvPr id="6" name="commentary panel"/>
          <p:cNvSpPr/>
          <p:nvPr/>
        </p:nvSpPr>
        <p:spPr>
          <a:xfrm>
            <a:off x="5623559" y="1463040"/>
            <a:ext cx="3017520" cy="3154680"/>
          </a:xfrm>
          <a:prstGeom prst="rect">
            <a:avLst/>
          </a:prstGeom>
          <a:solidFill>
            <a:srgbClr val="E8F9F8"/>
          </a:solidFill>
          <a:ln/>
        </p:spPr>
        <p:txBody>
          <a:bodyPr/>
          <a:lstStyle/>
          <a:p>
            <a:endParaRPr lang="en-AU"/>
          </a:p>
        </p:txBody>
      </p:sp>
      <p:sp>
        <p:nvSpPr>
          <p:cNvPr id="7" name="Text 4"/>
          <p:cNvSpPr txBox="1"/>
          <p:nvPr/>
        </p:nvSpPr>
        <p:spPr>
          <a:xfrm>
            <a:off x="5806439" y="1627632"/>
            <a:ext cx="26517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806439" y="1901952"/>
            <a:ext cx="2651760" cy="2706623"/>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916552" y="1389888"/>
            <a:ext cx="7310895" cy="1954470"/>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074919" cy="2564030"/>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257799" cy="2733809"/>
          </a:xfrm>
          <a:prstGeom prst="rect">
            <a:avLst/>
          </a:prstGeom>
        </p:spPr>
      </p:pic>
      <p:sp>
        <p:nvSpPr>
          <p:cNvPr id="6" name="commentary panel"/>
          <p:cNvSpPr/>
          <p:nvPr/>
        </p:nvSpPr>
        <p:spPr>
          <a:xfrm>
            <a:off x="5989319" y="1463040"/>
            <a:ext cx="2651760" cy="3154680"/>
          </a:xfrm>
          <a:prstGeom prst="rect">
            <a:avLst/>
          </a:prstGeom>
          <a:solidFill>
            <a:srgbClr val="E8F9F8"/>
          </a:solidFill>
          <a:ln/>
        </p:spPr>
        <p:txBody>
          <a:bodyPr/>
          <a:lstStyle/>
          <a:p>
            <a:endParaRPr lang="en-AU"/>
          </a:p>
        </p:txBody>
      </p:sp>
      <p:sp>
        <p:nvSpPr>
          <p:cNvPr id="7" name="Text 4"/>
          <p:cNvSpPr txBox="1"/>
          <p:nvPr/>
        </p:nvSpPr>
        <p:spPr>
          <a:xfrm>
            <a:off x="6172199" y="1627632"/>
            <a:ext cx="22860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172199" y="1901952"/>
            <a:ext cx="2286000" cy="2706623"/>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502920" y="1444752"/>
            <a:ext cx="4675306" cy="3136391"/>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074919" cy="2771278"/>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4800599" cy="2226875"/>
          </a:xfrm>
          <a:prstGeom prst="rect">
            <a:avLst/>
          </a:prstGeom>
        </p:spPr>
      </p:pic>
      <p:sp>
        <p:nvSpPr>
          <p:cNvPr id="6" name="commentary panel"/>
          <p:cNvSpPr/>
          <p:nvPr/>
        </p:nvSpPr>
        <p:spPr>
          <a:xfrm>
            <a:off x="5532119" y="1463040"/>
            <a:ext cx="3108960" cy="3154680"/>
          </a:xfrm>
          <a:prstGeom prst="rect">
            <a:avLst/>
          </a:prstGeom>
          <a:solidFill>
            <a:srgbClr val="E8F9F8"/>
          </a:solidFill>
          <a:ln/>
        </p:spPr>
        <p:txBody>
          <a:bodyPr/>
          <a:lstStyle/>
          <a:p>
            <a:endParaRPr lang="en-AU"/>
          </a:p>
        </p:txBody>
      </p:sp>
      <p:sp>
        <p:nvSpPr>
          <p:cNvPr id="7" name="Text 4"/>
          <p:cNvSpPr txBox="1"/>
          <p:nvPr/>
        </p:nvSpPr>
        <p:spPr>
          <a:xfrm>
            <a:off x="5714999" y="1627632"/>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714999" y="1901952"/>
            <a:ext cx="274320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4709159" cy="2198519"/>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ytd" descr="rev_ytd.png"/>
          <p:cNvPicPr>
            <a:picLocks noChangeAspect="1"/>
          </p:cNvPicPr>
          <p:nvPr/>
        </p:nvPicPr>
        <p:blipFill>
          <a:blip r:embed="rId3"/>
          <a:stretch>
            <a:fillRect/>
          </a:stretch>
        </p:blipFill>
        <p:spPr>
          <a:xfrm>
            <a:off x="1485585" y="1115568"/>
            <a:ext cx="6172828"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year to date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against a budget of $1,996k, $372k short.</a:t>
            </a:r>
            <a:endParaRPr lang="en-US" sz="850"/>
          </a:p>
          <a:p>
            <a:pPr marL="342900" indent="-342900">
              <a:lnSpc>
                <a:spcPts val="1050"/>
              </a:lnSpc>
              <a:spcAft>
                <a:spcPts val="400"/>
              </a:spcAft>
              <a:buSzPct val="100000"/>
              <a:buChar char="•"/>
            </a:pPr>
            <a:r>
              <a:rPr lang="en-US" sz="1000">
                <a:solidFill>
                  <a:srgbClr val="3A4453"/>
                </a:solidFill>
              </a:rPr>
              <a:t>Consulting is most of the gap: $4k billed against a $237k budget.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Integration is $167k short and Video $45k short, both for a third month.</a:t>
            </a:r>
            <a:endParaRPr lang="en-US" sz="850"/>
          </a:p>
          <a:p>
            <a:pPr marL="342900" indent="-342900">
              <a:lnSpc>
                <a:spcPts val="1050"/>
              </a:lnSpc>
              <a:spcAft>
                <a:spcPts val="400"/>
              </a:spcAft>
              <a:buSzPct val="100000"/>
              <a:buChar char="•"/>
            </a:pPr>
            <a:r>
              <a:rPr lang="en-US" sz="1000">
                <a:solidFill>
                  <a:srgbClr val="3A4453"/>
                </a:solidFill>
              </a:rPr>
              <a:t>Events is the only department ahead, $420k against a $322k budget.</a:t>
            </a:r>
            <a:endParaRPr lang="en-US" sz="850"/>
          </a:p>
          <a:p>
            <a:pPr marL="342900" indent="-342900">
              <a:lnSpc>
                <a:spcPts val="1050"/>
              </a:lnSpc>
              <a:spcAft>
                <a:spcPts val="400"/>
              </a:spcAft>
              <a:buSzPct val="100000"/>
              <a:buChar char="•"/>
            </a:pPr>
            <a:r>
              <a:rPr lang="en-US" sz="1000">
                <a:solidFill>
                  <a:srgbClr val="3A4453"/>
                </a:solidFill>
              </a:rPr>
              <a:t>Support is within $25k of its $743k budget, which is the contract base behaving as it should.</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