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5"/>
  </p:notesMasterIdLst>
  <p:sldIdLst>
    <p:sldId id="256" r:id="rId5"/>
    <p:sldId id="257" r:id="rId6"/>
    <p:sldId id="258" r:id="rId7"/>
    <p:sldId id="259" r:id="rId8"/>
    <p:sldId id="260" r:id="rId9"/>
    <p:sldId id="289" r:id="rId10"/>
    <p:sldId id="290" r:id="rId11"/>
    <p:sldId id="292" r:id="rId12"/>
    <p:sldId id="293" r:id="rId13"/>
    <p:sldId id="294" r:id="rId14"/>
    <p:sldId id="261" r:id="rId15"/>
    <p:sldId id="295" r:id="rId16"/>
    <p:sldId id="296" r:id="rId17"/>
    <p:sldId id="297" r:id="rId18"/>
    <p:sldId id="298" r:id="rId52"/>
    <p:sldId id="299" r:id="rId53"/>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8" r:id="rId43"/>
    <p:sldId id="286" r:id="rId44"/>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microsoft.com/office/2016/11/relationships/changesInfo" Target="changesInfos/changesInfo1.xml"/><Relationship Id="rId51" Type="http://schemas.microsoft.com/office/2015/10/relationships/revisionInfo" Target="revisionInfo.xml"/><Relationship Id="rId52" Type="http://schemas.openxmlformats.org/officeDocument/2006/relationships/slide" Target="slides/slide15.xml"/><Relationship Id="rId53"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September across three years and against budget, taken from the Xero History tab.</a:t>
            </a:r>
          </a:p>
          <a:p>
            <a:endParaRPr/>
          </a:p>
          <a:p>
            <a:r>
              <a:t>Spend here is cost of sales plus overheads. September 2026 $604,363. Budget $520,765. September 2025 $408,939. September 2024 $419,910.</a:t>
            </a:r>
          </a:p>
          <a:p>
            <a:endParaRPr/>
          </a:p>
          <a:p>
            <a:r>
              <a:t>September was $83,599 or 16.1% over budget on spend.</a:t>
            </a:r>
          </a:p>
          <a:p>
            <a:endParaRPr/>
          </a:p>
          <a:p>
            <a:r>
              <a:t>Where that sits matters more than the total. Cost of sales was $374,130 against $289,192 budgeted, which is $84,938 over. Overheads were $230,233 against $231,573 budgeted, which is $1,340 under. So the entire overspend is cost of sales and the overheads landed on plan.</a:t>
            </a:r>
          </a:p>
          <a:p>
            <a:endParaRPr/>
          </a:p>
          <a:p>
            <a:r>
              <a:t>That is the better of the two outcomes. Cost of sales moves with revenue, and September billed $561,945 against a budget of $413,665, so some of the extra cost bought extra revenue. Overheads do not move with revenue, and those held.</a:t>
            </a:r>
          </a:p>
          <a:p>
            <a:endParaRPr/>
          </a:p>
          <a:p>
            <a:r>
              <a:t>Against the two earlier years, spend is up $195,425 or 47.8% on September 2025 and $184,453 or 43.9% on September 2024. Revenue over the same two years is up 57.7% and 27.6%, so spend has grown faster than revenue against FY25 and slower than revenue against FY26.</a:t>
            </a:r>
          </a:p>
          <a:p>
            <a:endParaRPr/>
          </a:p>
          <a:p>
            <a:r>
              <a:t>The red line is revenue. It sat above the spend bar in September 2024 and below it in both years since, which is the same thing as saying those two Septembers lost money.</a:t>
            </a:r>
          </a:p>
          <a:p>
            <a:endParaRPr/>
          </a:p>
          <a:p>
            <a:r>
              <a:t>FY25 comes from Xero, pulled on 22 October 2026. FY26 is the Actual FY26 tab and FY27 the P&amp;L FY27 tab. The month follows the reporting month on Setup, so in October this becomes October.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the first quarter across three years and against budget, taken from the Xero History tab.</a:t>
            </a:r>
          </a:p>
          <a:p>
            <a:endParaRPr/>
          </a:p>
          <a:p>
            <a:r>
              <a:t>Q1 2026 $1,633,668. Budget $1,773,409. Q1 2025 $1,313,986. Q1 2024 $1,347,094.</a:t>
            </a:r>
          </a:p>
          <a:p>
            <a:endParaRPr/>
          </a:p>
          <a:p>
            <a:r>
              <a:t>The quarter is $139,742 or 7.9% under budget on spend. That is the opposite of the month, where spend ran over.</a:t>
            </a:r>
          </a:p>
          <a:p>
            <a:endParaRPr/>
          </a:p>
          <a:p>
            <a:r>
              <a:t>The split is the point. Overheads have been $638,615, $646,721 and $641,508 across the three first quarters, a range of $8,106 on about $640,000. The overhead base has not moved in three years. Every bit of the movement in spend is cost of sales, which went $708,478, $667,265 and $992,160, up $324,895 or 48.7% on last year.</a:t>
            </a:r>
          </a:p>
          <a:p>
            <a:endParaRPr/>
          </a:p>
          <a:p>
            <a:r>
              <a:t>Cost of sales rising with revenue is what should happen. Revenue rose $395,878 over the same year, so cost of sales rose $324,895 to earn it, which is a contribution of about $71,000 on the extra revenue. That is a thin return on the extra work and it is why the quarter is still a loss.</a:t>
            </a:r>
          </a:p>
          <a:p>
            <a:endParaRPr/>
          </a:p>
          <a:p>
            <a:r>
              <a:t>The red line is revenue. In Q1 2024 it sat above the spend bar and the quarter made money. In Q1 2025 and Q1 2026 it sat below and both lost money. The budget line has revenue well clear of spend, which is how it was built to make $223,000.</a:t>
            </a:r>
          </a:p>
          <a:p>
            <a:endParaRPr/>
          </a:p>
          <a:p>
            <a:r>
              <a:t>FY25 comes from Xero, pulled 22 October 2026. The quarter is July to September, so it is fixed rather than following Setup.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September across three years, taken from the Xero History tab. Net profit is the pack's own figure and includes other income.</a:t>
            </a:r>
          </a:p>
          <a:p/>
          <a:p>
            <a:r>
              <a:t>September 2026 a loss of $41,464. September 2025 a loss of $52,615. September 2024 a profit of $20,737.</a:t>
            </a:r>
          </a:p>
          <a:p/>
          <a:p>
            <a:r>
              <a:t>This September is $11,152 better than the same month last year, and $62,201 worse than the September before that.</a:t>
            </a:r>
          </a:p>
          <a:p/>
          <a:p>
            <a:r>
              <a:t>The thing worth drawing out is that the loss is not a revenue failure. September 2026 billed $561,945, which is the highest of the three Septembers, ahead of $356,323 last year and $440,243 the year before. The month earned more than either comparison and still finished below the line.</a:t>
            </a:r>
          </a:p>
          <a:p/>
          <a:p>
            <a:r>
              <a:t>What changed is the cost of earning it. Cost of sales was $374,130 against $216,749 in September 2024 on revenue only $121,701 higher. The gross margin on the month was 33.4%, against 50.8% in September 2024.</a:t>
            </a:r>
          </a:p>
          <a:p/>
          <a:p>
            <a:r>
              <a:t>So the question this chart puts to the board is about pricing and delivery cost on the work being won, not about the volume of work being won.</a:t>
            </a:r>
          </a:p>
          <a:p/>
          <a:p>
            <a:r>
              <a:t>FY25 was pulled from Xero on 22 October 2026. FY26 is the Actual FY26 tab and FY27 the P&amp;L FY27 tab. The month follows the reporting month on Setup, so in October this becomes October. Only the first quarter of FY25 was pulled, so the FY25 bar is blank from October until the rest is pulled.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endParaRPr/>
          </a:p>
          <a:p>
            <a:r>
              <a:t>The five departments total a loss of $41,464, which is net profit for the month.</a:t>
            </a:r>
          </a:p>
          <a:p>
            <a:endParaRPr/>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endParaRPr/>
          </a:p>
          <a:p>
            <a:r>
              <a:t>The three total a loss of $41,464, which is net profit for the month,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$72,283, of which $13,101 is its own spending and $59,182 is its share of the office, allocated on the keys set in the pack.</a:t>
            </a:r>
          </a:p>
          <a:p>
            <a:endParaRPr/>
          </a:p>
          <a:p>
            <a:r>
              <a:t>That leaves $29,007 for the month.</a:t>
            </a:r>
          </a:p>
          <a:p>
            <a:endParaRPr/>
          </a:p>
          <a:p>
            <a:r>
              <a:t>Year to date it has billed $718,587 against a budget of $743,185.</a:t>
            </a:r>
          </a:p>
          <a:p>
            <a:endParaRPr/>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$111,108, of which $39,436 is its own spending and $71,672 is its share of the office.</a:t>
            </a:r>
          </a:p>
          <a:p>
            <a:endParaRPr/>
          </a:p>
          <a:p>
            <a:r>
              <a:t>That leaves a loss of $54,227 for the month.</a:t>
            </a:r>
          </a:p>
          <a:p>
            <a:endParaRPr/>
          </a:p>
          <a:p>
            <a:r>
              <a:t>Year to date it has billed $420,121 against a budget of $321,957.</a:t>
            </a:r>
          </a:p>
          <a:p>
            <a:endParaRPr/>
          </a:p>
          <a:p>
            <a:r>
              <a:t>On people, employment expense of $50,959, of which $35,665 is its own staff and $15,294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$12,659, of which $2,878 is its own spending and $9,782 is its share of the office.</a:t>
            </a:r>
          </a:p>
          <a:p>
            <a:endParaRPr/>
          </a:p>
          <a:p>
            <a:r>
              <a:t>That leaves a loss of $6,846 for the month.</a:t>
            </a:r>
          </a:p>
          <a:p>
            <a:endParaRPr/>
          </a:p>
          <a:p>
            <a:r>
              <a:t>Year to date it has billed $40,270 against a budget of $85,584.</a:t>
            </a:r>
          </a:p>
          <a:p>
            <a:endParaRPr/>
          </a:p>
          <a:p>
            <a:r>
              <a:t>On people, employment expense of $3,961, of which $2,660 is its own staff and $1,301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$13,285, of which $9,136 is its own spending and $4,148 is its share of the office.</a:t>
            </a:r>
          </a:p>
          <a:p>
            <a:endParaRPr/>
          </a:p>
          <a:p>
            <a:r>
              <a:t>That leaves $10,471 for the month.</a:t>
            </a:r>
          </a:p>
          <a:p>
            <a:endParaRPr/>
          </a:p>
          <a:p>
            <a:r>
              <a:t>Year to date it has billed $441,414 against a budget of $608,676.</a:t>
            </a:r>
          </a:p>
          <a:p>
            <a:endParaRPr/>
          </a:p>
          <a:p>
            <a:r>
              <a:t>On people, employment expense of $8,832, of which $8,563 is its own staff and $269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$19,944, of which $5,965 is its own spending and $13,979 is its share of the office.</a:t>
            </a:r>
          </a:p>
          <a:p>
            <a:endParaRPr/>
          </a:p>
          <a:p>
            <a:r>
              <a:t>That leaves a loss of $19,870 for the month.</a:t>
            </a:r>
          </a:p>
          <a:p>
            <a:endParaRPr/>
          </a:p>
          <a:p>
            <a:r>
              <a:t>Year to date it has billed $4,068 against a budget of $236,707.</a:t>
            </a:r>
          </a:p>
          <a:p>
            <a:endParaRPr/>
          </a:p>
          <a:p>
            <a:r>
              <a:t>On people, employment expense of $9,496, of which $5,545 is its own staff and $3,951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39</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the first quarter across three years, taken from the Xero History tab. Net profit is the pack's own figure and includes other income.</a:t>
            </a:r>
          </a:p>
          <a:p/>
          <a:p>
            <a:r>
              <a:t>Q1 2026 a loss of $5,808. Q1 2025 a loss of $85,404. Q1 2024 a profit of $34,595.</a:t>
            </a:r>
          </a:p>
          <a:p/>
          <a:p>
            <a:r>
              <a:t>The quarter has improved $79,596 on last year and is within $5,808 of breaking even. On that reading the recovery is real and the direction is right.</a:t>
            </a:r>
          </a:p>
          <a:p/>
          <a:p>
            <a:r>
              <a:t>Against the plan it reads differently. The budget had the first quarter at a $222,700 profit. Coming in at a $5,808 loss is $228,508 below it.</a:t>
            </a:r>
          </a:p>
          <a:p/>
          <a:p>
            <a:r>
              <a:t>As with the month, this is not a revenue failure. The quarter billed $1,624,460, which is the highest first quarter of the three, ahead of $1,228,582 last year and $1,380,102 the year before. It earned more than either comparison and still finished below the line.</a:t>
            </a:r>
          </a:p>
          <a:p/>
          <a:p>
            <a:r>
              <a:t>The cost of earning it is where the quarter went. Cost of sales was $992,160 against $708,478 in Q1 2024, which is $283,682 more on revenue $244,358 higher. Overheads were almost unchanged at $641,508 against $638,615. The overhead base is not the problem and has not been for three years. The margin on the work is.</a:t>
            </a:r>
          </a:p>
          <a:p/>
          <a:p>
            <a:r>
              <a:t>FY25 was pulled from Xero on 22 October 2026. The quarter is July to September, so it is fixed rather than following Setup.</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Departmental performance for September 2026.</a:t>
            </a:r>
          </a:p>
          <a:p/>
          <a:p>
            <a:r>
              <a:t>The pages that follow give the company result by department, the same result rolled up the way the P&amp;L groups the business, then a page for each of the five departments, and finally departmental revenue against budget and against the same month last year.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 Id="rId5"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notesSlide" Target="../notesSlides/notesSlide4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9.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2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8.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9.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0.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1.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corptechservices.sharepoint.com/:x:/s/CTSNASAccountsYBackup/IQA10LAzkaNEQq0FYhCYngMZAdN-NraOBffkpTyYU738ebI?e=dOV2Sx"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Scope of this review</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Profit and loss summary, revenue against budget, and the three year comparisons</a:t>
            </a:r>
            <a:endParaRPr lang="en-US" sz="1000"/>
          </a:p>
        </p:txBody>
      </p:sp>
      <p:sp>
        <p:nvSpPr>
          <p:cNvPr id="8" name="Shape 6"/>
          <p:cNvSpPr/>
          <p:nvPr/>
        </p:nvSpPr>
        <p:spPr>
          <a:xfrm>
            <a:off x="502920" y="1965960"/>
            <a:ext cx="384048" cy="384048"/>
          </a:xfrm>
          <a:prstGeom prst="rect">
            <a:avLst/>
          </a:prstGeom>
          <a:solidFill>
            <a:srgbClr val="242C39"/>
          </a:solidFill>
          <a:ln/>
        </p:spPr>
        <p:txBody>
          <a:bodyPr/>
          <a:lstStyle/>
          <a:p>
            <a:endParaRPr lang="en-AU"/>
          </a:p>
        </p:txBody>
      </p:sp>
      <p:sp>
        <p:nvSpPr>
          <p:cNvPr id="9" name="Text 7"/>
          <p:cNvSpPr txBox="1"/>
          <p:nvPr/>
        </p:nvSpPr>
        <p:spPr>
          <a:xfrm>
            <a:off x="502920" y="19659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1947672"/>
            <a:ext cx="7589520" cy="237744"/>
          </a:xfrm>
          <a:prstGeom prst="rect">
            <a:avLst/>
          </a:prstGeom>
          <a:noFill/>
          <a:ln/>
        </p:spPr>
        <p:txBody>
          <a:bodyPr wrap="square" lIns="0" tIns="0" rIns="0" bIns="0" rtlCol="0" anchor="ctr"/>
          <a:lstStyle/>
          <a:p>
            <a:pPr marL="0" indent="0">
              <a:buNone/>
            </a:pPr>
            <a:r>
              <a:rPr lang="en-US" sz="1300" b="1">
                <a:solidFill>
                  <a:srgbClr val="242C39"/>
                </a:solidFill>
              </a:rPr>
              <a:t>Departmental performance</a:t>
            </a:r>
            <a:endParaRPr lang="en-US" sz="1300"/>
          </a:p>
        </p:txBody>
      </p:sp>
      <p:sp>
        <p:nvSpPr>
          <p:cNvPr id="11" name="Text 9"/>
          <p:cNvSpPr txBox="1"/>
          <p:nvPr/>
        </p:nvSpPr>
        <p:spPr>
          <a:xfrm>
            <a:off x="1051560" y="2167128"/>
            <a:ext cx="7589520" cy="219456"/>
          </a:xfrm>
          <a:prstGeom prst="rect">
            <a:avLst/>
          </a:prstGeom>
          <a:noFill/>
          <a:ln/>
        </p:spPr>
        <p:txBody>
          <a:bodyPr wrap="square" lIns="0" tIns="0" rIns="0" bIns="0" rtlCol="0" anchor="ctr"/>
          <a:lstStyle/>
          <a:p>
            <a:pPr marL="0" indent="0">
              <a:buNone/>
            </a:pPr>
            <a:r>
              <a:rPr lang="en-US" sz="1000">
                <a:solidFill>
                  <a:srgbClr val="6B7585"/>
                </a:solidFill>
              </a:rPr>
              <a:t>Every department's result for September 2026 and how it was made</a:t>
            </a:r>
            <a:endParaRPr lang="en-US" sz="1000"/>
          </a:p>
        </p:txBody>
      </p:sp>
      <p:sp>
        <p:nvSpPr>
          <p:cNvPr id="12" name="Shape 10"/>
          <p:cNvSpPr/>
          <p:nvPr/>
        </p:nvSpPr>
        <p:spPr>
          <a:xfrm>
            <a:off x="502920" y="2514600"/>
            <a:ext cx="384048" cy="384048"/>
          </a:xfrm>
          <a:prstGeom prst="rect">
            <a:avLst/>
          </a:prstGeom>
          <a:solidFill>
            <a:srgbClr val="242C39"/>
          </a:solidFill>
          <a:ln/>
        </p:spPr>
        <p:txBody>
          <a:bodyPr/>
          <a:lstStyle/>
          <a:p>
            <a:endParaRPr lang="en-AU"/>
          </a:p>
        </p:txBody>
      </p:sp>
      <p:sp>
        <p:nvSpPr>
          <p:cNvPr id="13" name="Text 11"/>
          <p:cNvSpPr txBox="1"/>
          <p:nvPr/>
        </p:nvSpPr>
        <p:spPr>
          <a:xfrm>
            <a:off x="502920" y="25146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496312"/>
            <a:ext cx="7589520" cy="237744"/>
          </a:xfrm>
          <a:prstGeom prst="rect">
            <a:avLst/>
          </a:prstGeom>
          <a:noFill/>
          <a:ln/>
        </p:spPr>
        <p:txBody>
          <a:bodyPr wrap="square" lIns="0" tIns="0" rIns="0" bIns="0" rtlCol="0" anchor="ctr"/>
          <a:lstStyle/>
          <a:p>
            <a:pPr marL="0" indent="0">
              <a:buNone/>
            </a:pPr>
            <a:r>
              <a:rPr lang="en-US" sz="1300" b="1">
                <a:solidFill>
                  <a:srgbClr val="242C39"/>
                </a:solidFill>
              </a:rPr>
              <a:t>Operating expenditure</a:t>
            </a:r>
            <a:endParaRPr lang="en-US" sz="1300"/>
          </a:p>
        </p:txBody>
      </p:sp>
      <p:sp>
        <p:nvSpPr>
          <p:cNvPr id="15" name="Text 13"/>
          <p:cNvSpPr txBox="1"/>
          <p:nvPr/>
        </p:nvSpPr>
        <p:spPr>
          <a:xfrm>
            <a:off x="1051560" y="27157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6" name="Shape 14"/>
          <p:cNvSpPr/>
          <p:nvPr/>
        </p:nvSpPr>
        <p:spPr>
          <a:xfrm>
            <a:off x="502920" y="3063239"/>
            <a:ext cx="384048" cy="384048"/>
          </a:xfrm>
          <a:prstGeom prst="rect">
            <a:avLst/>
          </a:prstGeom>
          <a:solidFill>
            <a:srgbClr val="242C39"/>
          </a:solidFill>
          <a:ln/>
        </p:spPr>
        <p:txBody>
          <a:bodyPr/>
          <a:lstStyle/>
          <a:p>
            <a:endParaRPr lang="en-AU"/>
          </a:p>
        </p:txBody>
      </p:sp>
      <p:sp>
        <p:nvSpPr>
          <p:cNvPr id="17" name="Text 15"/>
          <p:cNvSpPr txBox="1"/>
          <p:nvPr/>
        </p:nvSpPr>
        <p:spPr>
          <a:xfrm>
            <a:off x="502920" y="3063239"/>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044951"/>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receivables</a:t>
            </a:r>
            <a:endParaRPr lang="en-US" sz="1300"/>
          </a:p>
        </p:txBody>
      </p:sp>
      <p:sp>
        <p:nvSpPr>
          <p:cNvPr id="19" name="Text 17"/>
          <p:cNvSpPr txBox="1"/>
          <p:nvPr/>
        </p:nvSpPr>
        <p:spPr>
          <a:xfrm>
            <a:off x="1051560" y="326440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20" name="Shape 18"/>
          <p:cNvSpPr/>
          <p:nvPr/>
        </p:nvSpPr>
        <p:spPr>
          <a:xfrm>
            <a:off x="502920" y="3611880"/>
            <a:ext cx="384048" cy="384048"/>
          </a:xfrm>
          <a:prstGeom prst="rect">
            <a:avLst/>
          </a:prstGeom>
          <a:solidFill>
            <a:srgbClr val="242C39"/>
          </a:solidFill>
          <a:ln/>
        </p:spPr>
        <p:txBody>
          <a:bodyPr/>
          <a:lstStyle/>
          <a:p>
            <a:endParaRPr lang="en-AU"/>
          </a:p>
        </p:txBody>
      </p:sp>
      <p:sp>
        <p:nvSpPr>
          <p:cNvPr id="21" name="Text 19"/>
          <p:cNvSpPr txBox="1"/>
          <p:nvPr/>
        </p:nvSpPr>
        <p:spPr>
          <a:xfrm>
            <a:off x="502920" y="36118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59359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23" name="Text 21"/>
          <p:cNvSpPr txBox="1"/>
          <p:nvPr/>
        </p:nvSpPr>
        <p:spPr>
          <a:xfrm>
            <a:off x="1051560" y="381304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
        <p:nvSpPr>
          <p:cNvPr id="20" name="Shape 22"/>
          <p:cNvSpPr/>
          <p:nvPr/>
        </p:nvSpPr>
        <p:spPr>
          <a:xfrm>
            <a:off x="502920" y="4160520"/>
            <a:ext cx="384048" cy="384048"/>
          </a:xfrm>
          <a:prstGeom prst="rect">
            <a:avLst/>
          </a:prstGeom>
          <a:solidFill>
            <a:srgbClr val="242C39"/>
          </a:solidFill>
          <a:ln/>
        </p:spPr>
        <p:txBody>
          <a:bodyPr/>
          <a:lstStyle/>
          <a:p>
            <a:endParaRPr lang="en-AU"/>
          </a:p>
        </p:txBody>
      </p:sp>
      <p:sp>
        <p:nvSpPr>
          <p:cNvPr id="21" name="Text 23"/>
          <p:cNvSpPr txBox="1"/>
          <p:nvPr/>
        </p:nvSpPr>
        <p:spPr>
          <a:xfrm>
            <a:off x="502920" y="41605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06</a:t>
            </a:r>
            <a:endParaRPr lang="en-US" sz="1100"/>
          </a:p>
        </p:txBody>
      </p:sp>
      <p:sp>
        <p:nvSpPr>
          <p:cNvPr id="22" name="Text 24"/>
          <p:cNvSpPr txBox="1"/>
          <p:nvPr/>
        </p:nvSpPr>
        <p:spPr>
          <a:xfrm>
            <a:off x="1051560" y="414223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5"/>
          <p:cNvSpPr txBox="1"/>
          <p:nvPr/>
        </p:nvSpPr>
        <p:spPr>
          <a:xfrm>
            <a:off x="1051560" y="436168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EXECUTIVE SUMMARY</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Performance summary, September 2026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9750" y="1005840"/>
            <a:ext cx="7744498"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income</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image.png"/>
          <p:cNvPicPr>
            <a:picLocks noChangeAspect="1"/>
          </p:cNvPicPr>
          <p:nvPr/>
        </p:nvPicPr>
        <p:blipFill>
          <a:blip r:embed="rId3"/>
          <a:stretch>
            <a:fillRect/>
          </a:stretch>
        </p:blipFill>
        <p:spPr>
          <a:xfrm>
            <a:off x="808274" y="1005840"/>
            <a:ext cx="7527451"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by department</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1480"/>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1480"/>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prior years</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revenue,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three year history</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Year to date revenue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1003394" y="1005840"/>
            <a:ext cx="713721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cost and profit</a:t>
            </a:r>
            <a:endParaRPr lang="en-US" sz="2700" dirty="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month" descr="spend_month.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spend was $604k against a budget of $521k, $84k over.</a:t>
            </a:r>
            <a:endParaRPr lang="en-US" sz="850"/>
          </a:p>
          <a:p>
            <a:pPr marL="342900" indent="-342900">
              <a:lnSpc>
                <a:spcPts val="1050"/>
              </a:lnSpc>
              <a:spcAft>
                <a:spcPts val="400"/>
              </a:spcAft>
              <a:buSzPct val="100000"/>
              <a:buChar char="•"/>
            </a:pPr>
            <a:r>
              <a:rPr lang="en-US" sz="1000">
                <a:solidFill>
                  <a:srgbClr val="3A4453"/>
                </a:solidFill>
              </a:rPr>
              <a:t>All of the overspend is cost of sales: $374k against $289k budgeted.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Overheads came in at $230k against $232k budgeted, which is on plan.</a:t>
            </a:r>
            <a:endParaRPr lang="en-US" sz="850"/>
          </a:p>
          <a:p>
            <a:pPr marL="342900" indent="-342900">
              <a:lnSpc>
                <a:spcPts val="1050"/>
              </a:lnSpc>
              <a:spcAft>
                <a:spcPts val="400"/>
              </a:spcAft>
              <a:buSzPct val="100000"/>
              <a:buChar char="•"/>
            </a:pPr>
            <a:r>
              <a:rPr lang="en-US" sz="1000">
                <a:solidFill>
                  <a:srgbClr val="3A4453"/>
                </a:solidFill>
              </a:rPr>
              <a:t>Spend is up 48% on last September and 44% on the September before.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qtr" descr="spend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Quarter spend was $1,634k against a budget of $1,773k, $140k under.</a:t>
            </a:r>
            <a:endParaRPr lang="en-US" sz="850"/>
          </a:p>
          <a:p>
            <a:pPr marL="342900" indent="-342900">
              <a:lnSpc>
                <a:spcPts val="1050"/>
              </a:lnSpc>
              <a:spcAft>
                <a:spcPts val="400"/>
              </a:spcAft>
              <a:buSzPct val="100000"/>
              <a:buChar char="•"/>
            </a:pPr>
            <a:r>
              <a:rPr lang="en-US" sz="1000">
                <a:solidFill>
                  <a:srgbClr val="3A4453"/>
                </a:solidFill>
              </a:rPr>
              <a:t>Overheads have barely moved in three years: $639k, $647k and $642k.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the movement is cost of sales, up $325k on last year to $992k.</a:t>
            </a:r>
            <a:endParaRPr lang="en-US" sz="850"/>
          </a:p>
          <a:p>
            <a:pPr marL="342900" indent="-342900">
              <a:lnSpc>
                <a:spcPts val="1050"/>
              </a:lnSpc>
              <a:spcAft>
                <a:spcPts val="400"/>
              </a:spcAft>
              <a:buSzPct val="100000"/>
              <a:buChar char="•"/>
            </a:pPr>
            <a:r>
              <a:rPr lang="en-US" sz="1000">
                <a:solidFill>
                  <a:srgbClr val="3A4453"/>
                </a:solidFill>
              </a:rPr>
              <a:t>Revenue sat above spend in Q1 2024 and below it in both years since.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month" descr="profit_month.png"/>
          <p:cNvPicPr>
            <a:picLocks noChangeAspect="1"/>
          </p:cNvPicPr>
          <p:nvPr/>
        </p:nvPicPr>
        <p:blipFill>
          <a:blip r:embed="rId5"/>
          <a:stretch>
            <a:fillRect/>
          </a:stretch>
        </p:blipFill>
        <p:spPr>
          <a:xfrm>
            <a:off x="1155966" y="1005840"/>
            <a:ext cx="6832067"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net result, three year comparison</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lost $41k, against a $53k loss last September and a $21k profit the September before.</a:t>
            </a:r>
            <a:endParaRPr lang="en-US" sz="850"/>
          </a:p>
          <a:p>
            <a:pPr marL="342900" indent="-342900">
              <a:lnSpc>
                <a:spcPts val="1050"/>
              </a:lnSpc>
              <a:spcAft>
                <a:spcPts val="400"/>
              </a:spcAft>
              <a:buSzPct val="100000"/>
              <a:buChar char="•"/>
            </a:pPr>
            <a:r>
              <a:rPr lang="en-US" sz="1000">
                <a:solidFill>
                  <a:srgbClr val="3A4453"/>
                </a:solidFill>
              </a:rPr>
              <a:t>This September is $11k better than the same month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Three Septembers and only one above the line, which is FY25.</a:t>
            </a:r>
            <a:endParaRPr lang="en-US" sz="850"/>
          </a:p>
          <a:p>
            <a:pPr marL="342900" indent="-342900">
              <a:lnSpc>
                <a:spcPts val="1050"/>
              </a:lnSpc>
              <a:spcAft>
                <a:spcPts val="400"/>
              </a:spcAft>
              <a:buSzPct val="100000"/>
              <a:buChar char="•"/>
            </a:pPr>
            <a:r>
              <a:rPr lang="en-US" sz="1000">
                <a:solidFill>
                  <a:srgbClr val="3A4453"/>
                </a:solidFill>
              </a:rPr>
              <a:t>September revenue was the highest of the three at $562k, so the loss is a margin problem rather than a revenue problem.</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profit_qtr" descr="profit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net result,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quarter lost $6k, against a $85k loss last year and a $35k profit the year before.</a:t>
            </a:r>
            <a:endParaRPr lang="en-US" sz="850"/>
          </a:p>
          <a:p>
            <a:pPr marL="342900" indent="-342900">
              <a:lnSpc>
                <a:spcPts val="1050"/>
              </a:lnSpc>
              <a:spcAft>
                <a:spcPts val="400"/>
              </a:spcAft>
              <a:buSzPct val="100000"/>
              <a:buChar char="•"/>
            </a:pPr>
            <a:r>
              <a:rPr lang="en-US" sz="1000">
                <a:solidFill>
                  <a:srgbClr val="3A4453"/>
                </a:solidFill>
              </a:rPr>
              <a:t>That is $80k better than last year and within $6k of breaking even.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It is still $229k below the budget, which had the quarter at a $223k profit.</a:t>
            </a:r>
            <a:endParaRPr lang="en-US" sz="850"/>
          </a:p>
          <a:p>
            <a:pPr marL="342900" indent="-342900">
              <a:lnSpc>
                <a:spcPts val="1050"/>
              </a:lnSpc>
              <a:spcAft>
                <a:spcPts val="400"/>
              </a:spcAft>
              <a:buSzPct val="100000"/>
              <a:buChar char="•"/>
            </a:pPr>
            <a:r>
              <a:rPr lang="en-US" sz="1000">
                <a:solidFill>
                  <a:srgbClr val="3A4453"/>
                </a:solidFill>
              </a:rPr>
              <a:t>Quarter revenue was the highest of the three at $1,624k, so again the gap is margin.</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 name="dot 4"/>
          <p:cNvSpPr/>
          <p:nvPr/>
        </p:nvSpPr>
        <p:spPr>
          <a:xfrm>
            <a:off x="5897880" y="3154680"/>
            <a:ext cx="1371600" cy="1371600"/>
          </a:xfrm>
          <a:prstGeom prst="ellipse">
            <a:avLst/>
          </a:prstGeom>
          <a:solidFill>
            <a:srgbClr val="8F4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t 3"/>
          <p:cNvSpPr/>
          <p:nvPr/>
        </p:nvSpPr>
        <p:spPr>
          <a:xfrm>
            <a:off x="7040880" y="2468880"/>
            <a:ext cx="2057400" cy="2057400"/>
          </a:xfrm>
          <a:prstGeom prst="ellipse">
            <a:avLst/>
          </a:prstGeom>
          <a:solidFill>
            <a:srgbClr val="6D7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t 2"/>
          <p:cNvSpPr/>
          <p:nvPr/>
        </p:nvSpPr>
        <p:spPr>
          <a:xfrm>
            <a:off x="6629400" y="2057400"/>
            <a:ext cx="1554480" cy="1554480"/>
          </a:xfrm>
          <a:prstGeom prst="ellipse">
            <a:avLst/>
          </a:prstGeom>
          <a:solidFill>
            <a:srgbClr val="3FD0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t 1"/>
          <p:cNvSpPr/>
          <p:nvPr/>
        </p:nvSpPr>
        <p:spPr>
          <a:xfrm>
            <a:off x="7132320" y="868680"/>
            <a:ext cx="1874519" cy="1874519"/>
          </a:xfrm>
          <a:prstGeom prst="ellipse">
            <a:avLst/>
          </a:prstGeom>
          <a:solidFill>
            <a:srgbClr val="005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ot 0"/>
          <p:cNvSpPr/>
          <p:nvPr/>
        </p:nvSpPr>
        <p:spPr>
          <a:xfrm>
            <a:off x="5897880" y="91440"/>
            <a:ext cx="2240280" cy="2240280"/>
          </a:xfrm>
          <a:prstGeom prst="ellipse">
            <a:avLst/>
          </a:prstGeom>
          <a:solidFill>
            <a:srgbClr val="F338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Departmental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Every department's result for September 2026 and how it was made</a:t>
            </a:r>
            <a:endParaRPr lang="en-US"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result, September 2026</a:t>
            </a:r>
            <a:endParaRPr lang="en-US" sz="2700" dirty="0"/>
          </a:p>
        </p:txBody>
      </p:sp>
      <p:pic>
        <p:nvPicPr>
          <p:cNvPr id="4" name="snip dept_result" descr="/home/user/Claude/deck/snips/dept_result.png"/>
          <p:cNvPicPr>
            <a:picLocks noChangeAspect="1"/>
          </p:cNvPicPr>
          <p:nvPr/>
        </p:nvPicPr>
        <p:blipFill>
          <a:blip r:embed="rId3"/>
          <a:stretch>
            <a:fillRect/>
          </a:stretch>
        </p:blipFill>
        <p:spPr>
          <a:xfrm>
            <a:off x="502920" y="1233554"/>
            <a:ext cx="8138160" cy="167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Results by reporting group, September 2026</a:t>
            </a:r>
            <a:endParaRPr lang="en-US" sz="2700" dirty="0"/>
          </a:p>
        </p:txBody>
      </p:sp>
      <p:pic>
        <p:nvPicPr>
          <p:cNvPr id="4" name="snip dept_three" descr="/home/user/Claude/deck/snips/dept_three.png"/>
          <p:cNvPicPr>
            <a:picLocks noChangeAspect="1"/>
          </p:cNvPicPr>
          <p:nvPr/>
        </p:nvPicPr>
        <p:blipFill>
          <a:blip r:embed="rId3"/>
          <a:stretch>
            <a:fillRect/>
          </a:stretch>
        </p:blipFill>
        <p:spPr>
          <a:xfrm>
            <a:off x="502920" y="1412723"/>
            <a:ext cx="8138160" cy="1316784"/>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September 2026</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524393" y="1005840"/>
            <a:ext cx="809521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Departmental revenue against budget and prior year</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Operating expenditure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3"/>
          <a:stretch>
            <a:fillRect/>
          </a:stretch>
        </p:blipFill>
        <p:spPr>
          <a:xfrm>
            <a:off x="2640967" y="1005840"/>
            <a:ext cx="3862065"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3"/>
          <a:stretch>
            <a:fillRect/>
          </a:stretch>
        </p:blipFill>
        <p:spPr>
          <a:xfrm>
            <a:off x="2268220" y="1005840"/>
            <a:ext cx="4607559"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3"/>
          <a:stretch>
            <a:fillRect/>
          </a:stretch>
        </p:blipFill>
        <p:spPr>
          <a:xfrm>
            <a:off x="2786502" y="1005840"/>
            <a:ext cx="3570994"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Direct and indirect labour,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by function</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87228" y="1005840"/>
            <a:ext cx="7969542" cy="2130551"/>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receivables</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3"/>
          <a:stretch>
            <a:fillRect/>
          </a:stretch>
        </p:blipFill>
        <p:spPr>
          <a:xfrm>
            <a:off x="2647167" y="1005840"/>
            <a:ext cx="384966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by revenue,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3208" y="1005840"/>
            <a:ext cx="409758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Debtor days and collection performance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13522" y="1005840"/>
            <a:ext cx="291695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Aged receivables by customer</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percentage by department, September 2026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78554"/>
            <a:ext cx="8138160" cy="138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3"/>
          <a:stretch>
            <a:fillRect/>
          </a:stretch>
        </p:blipFill>
        <p:spPr>
          <a:xfrm>
            <a:off x="565963" y="1005840"/>
            <a:ext cx="801207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department,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3"/>
          <a:stretch>
            <a:fillRect/>
          </a:stretch>
        </p:blipFill>
        <p:spPr>
          <a:xfrm>
            <a:off x="603874" y="1005840"/>
            <a:ext cx="793625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reporting group, September 2026</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3"/>
          <a:stretch>
            <a:fillRect/>
          </a:stretch>
        </p:blipFill>
        <p:spPr>
          <a:xfrm>
            <a:off x="550168" y="1005840"/>
            <a:ext cx="804366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Full year revenue against budget</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RECOMMENDATIONS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Recommendations and agreed actions</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Target date</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38</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07</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t>Source documents</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600200" y="279806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600200" y="2395728"/>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34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7EF5184D-7A02-4F38-A067-CB9CBB93537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22</TotalTime>
  <Words>11353</Words>
  <Application>Microsoft Office PowerPoint</Application>
  <PresentationFormat>On-screen Show (16:9)</PresentationFormat>
  <Paragraphs>839</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3</cp:revision>
  <cp:lastPrinted>2026-10-20T04:14:11Z</cp:lastPrinted>
  <dcterms:created xsi:type="dcterms:W3CDTF">2026-10-18T22:46:07Z</dcterms:created>
  <dcterms:modified xsi:type="dcterms:W3CDTF">2026-10-22T03:16:23Z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