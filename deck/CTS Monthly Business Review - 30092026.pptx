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2"/>
  </p:notesMasterIdLst>
  <p:sldIdLst>
    <p:sldId id="256" r:id="rId5"/>
    <p:sldId id="257" r:id="rId6"/>
    <p:sldId id="258" r:id="rId7"/>
    <p:sldId id="259" r:id="rId8"/>
    <p:sldId id="260" r:id="rId9"/>
    <p:sldId id="289" r:id="rId10"/>
    <p:sldId id="290" r:id="rId11"/>
    <p:sldId id="292" r:id="rId12"/>
    <p:sldId id="293" r:id="rId13"/>
    <p:sldId id="294" r:id="rId14"/>
    <p:sldId id="261" r:id="rId15"/>
    <p:sldId id="295" r:id="rId49"/>
    <p:sldId id="296" r:id="rId50"/>
    <p:sldId id="297" r:id="rId51"/>
    <p:sldId id="298" r:id="rId52"/>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8" r:id="rId40"/>
    <p:sldId id="286" r:id="rId41"/>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8" d="100"/>
          <a:sy n="138" d="100"/>
        </p:scale>
        <p:origin x="834"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microsoft.com/office/2016/11/relationships/changesInfo" Target="changesInfos/changesInfo1.xml"/><Relationship Id="rId48" Type="http://schemas.microsoft.com/office/2015/10/relationships/revisionInfo" Target="revisionInfo.xml"/><Relationship Id="rId49" Type="http://schemas.openxmlformats.org/officeDocument/2006/relationships/slide" Target="slides/slide12.xml"/><Relationship Id="rId50" Type="http://schemas.openxmlformats.org/officeDocument/2006/relationships/slide" Target="slides/slide13.xml"/><Relationship Id="rId51" Type="http://schemas.openxmlformats.org/officeDocument/2006/relationships/slide" Target="slides/slide14.xml"/><Relationship Id="rId52" Type="http://schemas.openxmlformats.org/officeDocument/2006/relationships/slide" Target="slides/slide1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endParaRPr/>
          </a:p>
          <a:p>
            <a:r>
              <a:t>Revenue for the month was $561,945 against a budget of $413,665, exceeding budget by $148,280. EBITDA was a loss of $32,437 against a budgeted loss of $107,100.</a:t>
            </a:r>
          </a:p>
          <a:p>
            <a:endParaRPr/>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endParaRPr/>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endParaRPr/>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endParaRPr/>
          </a:p>
          <a:p>
            <a:r>
              <a:t>For the company, revenue of $562k against a $414k budget, a gross margin of 33.4% against 45.5% in September last year, overheads of $230k against a $232k budget, and EBITDA of a $32k loss against a budgeted $107k loss.</a:t>
            </a:r>
          </a:p>
          <a:p>
            <a:endParaRPr/>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endParaRPr/>
          </a:p>
          <a:p>
            <a:r>
              <a:t>Revenue of $561,945 against a budget of $413,665, exceeding budget by $148,280 and 58% above the $356,323 recorded in September last year.</a:t>
            </a:r>
          </a:p>
          <a:p>
            <a:endParaRPr/>
          </a:p>
          <a:p>
            <a:r>
              <a:t>Gross profit of $187,814 at 33.4%, against a budgeted 30.1% and 45.5% in September last year. The budgeted margin for September was unusually low, so exceeding it reflects the budget rather than an improvement in delivery.</a:t>
            </a:r>
          </a:p>
          <a:p>
            <a:endParaRPr/>
          </a:p>
          <a:p>
            <a:r>
              <a:t>Overheads of $230,233 against a budget of $231,573.</a:t>
            </a:r>
          </a:p>
          <a:p>
            <a:endParaRPr/>
          </a:p>
          <a:p>
            <a:r>
              <a:t>EBITDA a loss of $32,437 against a budgeted loss of $107,100, and a net loss of $41,464 after depreciation and amortisation of $9,982.</a:t>
            </a:r>
          </a:p>
          <a:p>
            <a:endParaRPr/>
          </a:p>
          <a:p>
            <a:r>
              <a:t>Year to date, revenue of $1,624,460 against $1,996,110, behind budget by $371,650, with EBITDA of $5,774 against $222,700.</a:t>
            </a:r>
          </a:p>
          <a:p>
            <a:endParaRPr/>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month and department for the closed quarter, with the budget for the same months, taken from the Cost Analysis tab.</a:t>
            </a:r>
          </a:p>
          <a:p>
            <a:endParaRPr/>
          </a:p>
          <a:p>
            <a:r>
              <a:t>Actual revenue was $459,049 in July, $603,467 in August and $561,945 in September, $1,624,460 for the quarter.</a:t>
            </a:r>
          </a:p>
          <a:p>
            <a:endParaRPr/>
          </a:p>
          <a:p>
            <a:r>
              <a:t>Budget for those months was $609,277, $973,168 and $413,665, being $1,996,110 for the quarter. The quarter is therefore $371,650 short of budget.</a:t>
            </a:r>
          </a:p>
          <a:p>
            <a:endParaRPr/>
          </a:p>
          <a:p>
            <a:r>
              <a:t>The monthly picture is not what the quarter total suggests. July came in $150,228 under budget and August $369,701 under, while September came in $148,280 above. Two thirds of the quarter's shortfall sits in August alone, where the budget asked for $973,168, more than the business has ever billed in a month.</a:t>
            </a:r>
          </a:p>
          <a:p>
            <a:endParaRPr/>
          </a:p>
          <a:p>
            <a:r>
              <a:t>By department for September: Support $242,948, Events $73,304, Video $7,303, Integration $234,858 and Consulting $3,531.</a:t>
            </a:r>
          </a:p>
          <a:p>
            <a:endParaRPr/>
          </a:p>
          <a:p>
            <a:r>
              <a:t>Three things the mix shows that a total does not.</a:t>
            </a:r>
          </a:p>
          <a:p>
            <a:endParaRPr/>
          </a:p>
          <a:p>
            <a:r>
              <a:t>Support is the base of the business and it barely moves: $235,403, $240,236 and $242,948 across the three months. That is recurring contract income behaving as recurring income should.</a:t>
            </a:r>
          </a:p>
          <a:p>
            <a:endParaRPr/>
          </a:p>
          <a:p>
            <a:r>
              <a:t>Integration is the volatility. It billed $112,803 in July, $93,752 in August and $234,858 in September, and the September figure is a single installation completing. It is better read as timing than as growth, particularly as the margin retained on that work is 10.1%.</a:t>
            </a:r>
          </a:p>
          <a:p>
            <a:endParaRPr/>
          </a:p>
          <a:p>
            <a:r>
              <a:t>Events moved from $241,371 in August to $73,304 in September, the largest single movement in the quarter, and the reason the company total fell while Integration rose.</a:t>
            </a:r>
          </a:p>
          <a:p>
            <a:endParaRPr/>
          </a:p>
          <a:p>
            <a:r>
              <a:t>The chart lengthens by one column each month as the pack closes a month, so it will show the full year by June without being rebuilt.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against budget month by month, and revenue for the month across three years. Both taken from the Cost Analysis tab.</a:t>
            </a:r>
          </a:p>
          <a:p>
            <a:endParaRPr/>
          </a:p>
          <a:p>
            <a:r>
              <a:t>Against budget, month by month. July billed $459,049 against $609,277, short by $150,228. August billed $603,467 against $973,168, short by $369,702. September billed $561,945 against $413,665, ahead by $148,280. Year to date $1,624,460 against $1,996,110, short by $371,650 or 18.6%.</a:t>
            </a:r>
          </a:p>
          <a:p>
            <a:endParaRPr/>
          </a:p>
          <a:p>
            <a:r>
              <a:t>August is where the year to date shortfall sits. It was budgeted as the second largest month of the FY27 budget and came in $369,702 under. September went the other way and recovered $148,280 of it.</a:t>
            </a:r>
          </a:p>
          <a:p>
            <a:endParaRPr/>
          </a:p>
          <a:p>
            <a:r>
              <a:t>Against the same month in earlier years. September 2026 $561,945, September 2025 $356,323, September 2024 $440,243. September 2026 is $205,621 or 57.7% ahead of last year and $121,701 or 27.6% ahead of the year before. September 2025 was itself 19.1% below September 2024.</a:t>
            </a:r>
          </a:p>
          <a:p>
            <a:endParaRPr/>
          </a:p>
          <a:p>
            <a:r>
              <a:t>The 57.7% figure flatters the result because FY26 was the weakest of the three years. Against FY25 the same month is 27.6% ahead, which is about 13% a year over two years, and that is the number to carry into the reforecast.</a:t>
            </a:r>
          </a:p>
          <a:p>
            <a:endParaRPr/>
          </a:p>
          <a:p>
            <a:r>
              <a:t>The two charts sit together because they answer the same question from two sides. The month is ahead of where it was a year ago and ahead of its own budget. The year to date is behind budget, and that is an August problem rather than a September one.</a:t>
            </a:r>
          </a:p>
          <a:p>
            <a:endParaRPr/>
          </a:p>
          <a:p>
            <a:r>
              <a:t>Xero holds the last three financial years, so September 2024 is the earliest September available for the comparison.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quarter across three years, taken from the Xero History tab.</a:t>
            </a:r>
          </a:p>
          <a:p>
            <a:endParaRPr/>
          </a:p>
          <a:p>
            <a:r>
              <a:t>First quarter: FY25 $1,380,102, FY26 $1,228,582, FY27 $1,624,460.</a:t>
            </a:r>
          </a:p>
          <a:p>
            <a:r>
              <a:t>Second quarter: FY25 $2,276,986, FY26 $1,894,997.</a:t>
            </a:r>
          </a:p>
          <a:p>
            <a:r>
              <a:t>Third quarter: FY25 $1,873,339, FY26 $1,303,789.</a:t>
            </a:r>
          </a:p>
          <a:p>
            <a:r>
              <a:t>Fourth quarter: FY25 $1,469,930, FY26 $1,685,818.</a:t>
            </a:r>
          </a:p>
          <a:p>
            <a:endParaRPr/>
          </a:p>
          <a:p>
            <a:r>
              <a:t>Three things come out of this that the single quarter comparison could not show.</a:t>
            </a:r>
          </a:p>
          <a:p>
            <a:endParaRPr/>
          </a:p>
          <a:p>
            <a:r>
              <a:t>The first is that the quarter just closed is the smallest quarter of the year in both completed years, and FY27 has made it the largest first quarter of the three. That is a genuinely good result and it is worth saying so.</a:t>
            </a:r>
          </a:p>
          <a:p>
            <a:endParaRPr/>
          </a:p>
          <a:p>
            <a:r>
              <a:t>The second is where FY26 actually lost its year. It was the third quarter, January to March, which fell $569,550 or 30.4% below the same quarter of FY25. The first quarter of FY26 was 11.0% below and the second 16.8% below, but the third is where the damage was done. The fourth quarter was the one quarter FY26 beat FY25, by $215,888 or 14.7%.</a:t>
            </a:r>
          </a:p>
          <a:p>
            <a:endParaRPr/>
          </a:p>
          <a:p>
            <a:r>
              <a:t>The third is what is immediately ahead. The second quarter has carried 32.5% of FY25 and 31.0% of FY26, which makes it the quarter the year is won or lost in. October alone was the largest month of both completed years. The FY27 budget has October at $950,416, and the first quarter has run 18.6% behind budget on revenue. A second quarter that behaves like FY26's rather than FY25's would widen the full year gap by around $380,000 on its own.</a:t>
            </a:r>
          </a:p>
          <a:p>
            <a:endParaRPr/>
          </a:p>
          <a:p>
            <a:r>
              <a:t>FY27 shows one quarter because one quarter has closed. The chart fills in as each quarter closes.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Thirty six months of revenue, taken from the new Xero History tab.</a:t>
            </a:r>
          </a:p>
          <a:p>
            <a:endParaRPr/>
          </a:p>
          <a:p>
            <a:r>
              <a:t>FY25 totalled $7,000,357 and FY26 $6,113,186, a fall of $887,171 or 12.7%. FY27 stands at $1,624,460 after three months.</a:t>
            </a:r>
          </a:p>
          <a:p>
            <a:endParaRPr/>
          </a:p>
          <a:p>
            <a:r>
              <a:t>The fall in FY26 was not confined to one half. The first half was $533,509 or 14.6% below FY25 and the second half $353,662 or 10.6% below.</a:t>
            </a:r>
          </a:p>
          <a:p>
            <a:endParaRPr/>
          </a:p>
          <a:p>
            <a:r>
              <a:t>Two features of the shape are worth the board's attention.</a:t>
            </a:r>
          </a:p>
          <a:p>
            <a:endParaRPr/>
          </a:p>
          <a:p>
            <a:r>
              <a:t>The first is October. It was the largest month of FY25 at $948,991 and the largest month of FY26 at $1,035,562, and the FY27 budget repeats that pattern with $950,416. October is a quarter of the way to a seven figure month on its own, and if it behaves like the rest of FY27 rather than like its own history, the full year gap against budget widens materially. There is no second October in the year to recover it.</a:t>
            </a:r>
          </a:p>
          <a:p>
            <a:endParaRPr/>
          </a:p>
          <a:p>
            <a:r>
              <a:t>The second is January. FY25 billed $918,289 in January and FY26 billed $268,631, a swing of $649,658 in a single month. January is the month most exposed to how much work carries over the Christmas shutdown, and it is the month least able to be recovered once it is gone.</a:t>
            </a:r>
          </a:p>
          <a:p>
            <a:endParaRPr/>
          </a:p>
          <a:p>
            <a:r>
              <a:t>On the source and how it is maintained. FY25 was pulled from Xero on 22 October 2026 as total income by month on the accrual basis, and is held on the tab as figures, because the pack has no FY25 tab to reference. FY26 and FY27 are references to the Actual FY26 and P&amp;L FY27 tabs, so they follow the pack rather than duplicating it, and FY27 shows closed months only. Four months were checked against Xero directly and agree to the cent, apart from one cent of rounding on September 2025.</a:t>
            </a:r>
          </a:p>
          <a:p>
            <a:endParaRPr/>
          </a:p>
          <a:p>
            <a:r>
              <a:t>Xero serves the last three financial years. FY23 and FY24 cannot be pulled, which is why the history begins in July 2024.</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year to date on a cumulative basis, three years against the FY27 budget, taken from the Xero History tab.</a:t>
            </a:r>
          </a:p>
          <a:p>
            <a:endParaRPr/>
          </a:p>
          <a:p>
            <a:r>
              <a:t>At September: FY27 $1,624,460, FY26 $1,228,582, FY25 $1,380,102, and the FY27 budget $1,996,110.</a:t>
            </a:r>
          </a:p>
          <a:p>
            <a:endParaRPr/>
          </a:p>
          <a:p>
            <a:r>
              <a:t>The year is ahead of both completed years at this point. It is $371,650 or 18.6% behind the budget set for it.</a:t>
            </a:r>
          </a:p>
          <a:p>
            <a:endParaRPr/>
          </a:p>
          <a:p>
            <a:r>
              <a:t>Where that gap came from, month by month. July was $150,228 behind budget. August was $369,702 behind, which is where almost all of it opened. September was $148,280 ahead of budget, which closed part of it back. August was budgeted at $973,168, the second largest month of the FY27 budget, and billed $603,467.</a:t>
            </a:r>
          </a:p>
          <a:p>
            <a:endParaRPr/>
          </a:p>
          <a:p>
            <a:r>
              <a:t>What the two completed lines show is where a year gets lost. FY25 and FY26 track each other almost exactly from July to November. They separate in December and January. December was $395,542 behind and January $649,658 behind, $1,045,200 across the two months, against a full year gap of $887,171. Every other month of FY26 combined was ahead of FY25.</a:t>
            </a:r>
          </a:p>
          <a:p>
            <a:endParaRPr/>
          </a:p>
          <a:p>
            <a:r>
              <a:t>That matters now because FY27 is about to enter the same two months, and the budget has December at $344,970 and January at $353,969, both well below what FY25 billed in them.</a:t>
            </a:r>
          </a:p>
          <a:p>
            <a:endParaRPr/>
          </a:p>
          <a:p>
            <a:r>
              <a:t>The last point is the budget itself. The full year FY27 budget is $6,304,601. FY25 actually billed $7,000,357. The plan for this year is $695,756 or 9.9% below what the business delivered two years ago, and $191,415 or 3.1% above FY26. Being 18.6% behind that budget is the gap against a plan that was already set below the FY25 result.</a:t>
            </a:r>
          </a:p>
          <a:p>
            <a:endParaRPr/>
          </a:p>
          <a:p>
            <a:r>
              <a:t>The FY27 line stops at September because the months beyond it hold budget rather than actuals. The budget line runs the full year because a budget is set for the whole year.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endParaRPr/>
          </a:p>
          <a:p>
            <a:r>
              <a:t>The quarter produced $5,774 of EBITDA against a budget of $222,700, a shortfall of $216,927 or 97.4%.</a:t>
            </a:r>
          </a:p>
          <a:p>
            <a:endParaRPr/>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endParaRPr/>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endParaRPr/>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endParaRPr/>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endParaRPr/>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endParaRPr/>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endParaRPr/>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endParaRPr/>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endParaRPr/>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endParaRPr/>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endParaRPr/>
          </a:p>
          <a:p>
            <a:r>
              <a:t>The five departments total a loss of $41,464, which is net profit for the month.</a:t>
            </a:r>
          </a:p>
          <a:p>
            <a:endParaRPr/>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endParaRPr/>
          </a:p>
          <a:p>
            <a:r>
              <a:t>Production is the parent of Events and Video. Consulting is the parent of Integration and Consulting. Support has no sub-departments. Admin is not a trading department and its costs are allocated across the three.</a:t>
            </a:r>
          </a:p>
          <a:p>
            <a:endParaRPr/>
          </a:p>
          <a:p>
            <a:r>
              <a:t>Support: revenue $242,948 against a $248,017 budget. Gross profit $101,290 at 41.7%. All overhead $72,283. Result $29,007.</a:t>
            </a:r>
          </a:p>
          <a:p>
            <a:r>
              <a:t>Production: revenue $80,607 against $83,326. Gross profit $62,694 at 77.8%. All overhead $123,767. Result a loss of $61,073.</a:t>
            </a:r>
          </a:p>
          <a:p>
            <a:r>
              <a:t>Consulting: revenue $238,389 against $82,322. Gross profit $23,830 at 10.0%. All overhead $33,229. Result a loss of $9,398.</a:t>
            </a:r>
          </a:p>
          <a:p>
            <a:endParaRPr/>
          </a:p>
          <a:p>
            <a:r>
              <a:t>The three total a loss of $41,464, which is net profit for the month, and the check row on the tab reconciles it to the five department view.</a:t>
            </a:r>
          </a:p>
          <a:p>
            <a:endParaRPr/>
          </a:p>
          <a:p>
            <a:r>
              <a:t>The grouping shows something the five departments did not. Production, being Events and Video together, retains 77.8% of what it sells, the strongest margin in the business. It records a loss only because it carries $123,767 of running costs against $80,607 of sales. That is a volume position rather than a pricing one, and it presents the clearest growth case in the pack.</a:t>
            </a:r>
          </a:p>
          <a:p>
            <a:endParaRPr/>
          </a:p>
          <a:p>
            <a:r>
              <a:t>The Consulting group is the opposite. It sold $156,068 more than plan and retains 10.0%, because almost all of that was resold equipment through Integration. Additional sales of that kind would not improve the result.</a:t>
            </a:r>
          </a:p>
          <a:p>
            <a:endParaRPr/>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endParaRPr/>
          </a:p>
          <a:p>
            <a:r>
              <a:t>Revenue $242,948 against a budget of $248,017, behind by $5,068. September last year was $231,214.</a:t>
            </a:r>
          </a:p>
          <a:p>
            <a:endParaRPr/>
          </a:p>
          <a:p>
            <a:r>
              <a:t>After direct costs of $141,659 it retained $101,290, being 41.7% of revenue.</a:t>
            </a:r>
          </a:p>
          <a:p>
            <a:endParaRPr/>
          </a:p>
          <a:p>
            <a:r>
              <a:t>Overheads charged to it were $72,283, of which $13,101 is its own spending and $59,182 is its share of the office, allocated on the keys set in the pack.</a:t>
            </a:r>
          </a:p>
          <a:p>
            <a:endParaRPr/>
          </a:p>
          <a:p>
            <a:r>
              <a:t>That leaves $29,007 for the month.</a:t>
            </a:r>
          </a:p>
          <a:p>
            <a:endParaRPr/>
          </a:p>
          <a:p>
            <a:r>
              <a:t>Year to date it has billed $718,587 against a budget of $743,185.</a:t>
            </a:r>
          </a:p>
          <a:p>
            <a:endParaRPr/>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endParaRPr/>
          </a:p>
          <a:p>
            <a:r>
              <a:t>Revenue $73,304 against a budget of $65,828, ahead by $7,476. September last year was $75,333.</a:t>
            </a:r>
          </a:p>
          <a:p>
            <a:endParaRPr/>
          </a:p>
          <a:p>
            <a:r>
              <a:t>After direct costs of $16,423 it retained $56,881, being 77.6% of revenue.</a:t>
            </a:r>
          </a:p>
          <a:p>
            <a:endParaRPr/>
          </a:p>
          <a:p>
            <a:r>
              <a:t>Overheads charged to it were $111,108, of which $39,436 is its own spending and $71,672 is its share of the office.</a:t>
            </a:r>
          </a:p>
          <a:p>
            <a:endParaRPr/>
          </a:p>
          <a:p>
            <a:r>
              <a:t>That leaves a loss of $54,227 for the month.</a:t>
            </a:r>
          </a:p>
          <a:p>
            <a:endParaRPr/>
          </a:p>
          <a:p>
            <a:r>
              <a:t>Year to date it has billed $420,121 against a budget of $321,957.</a:t>
            </a:r>
          </a:p>
          <a:p>
            <a:endParaRPr/>
          </a:p>
          <a:p>
            <a:r>
              <a:t>On people, employment expense of $50,959, of which $35,665 is its own staff and $15,294 its share of office wages. It recorded 241 billable hours and 249 non-billable, with 333 hours of leave.</a:t>
            </a:r>
          </a:p>
          <a:p>
            <a:endParaRPr/>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endParaRPr/>
          </a:p>
          <a:p>
            <a:r>
              <a:t>Revenue $7,303 against a budget of $17,498, behind by $10,196. September last year was $20,025.</a:t>
            </a:r>
          </a:p>
          <a:p>
            <a:endParaRPr/>
          </a:p>
          <a:p>
            <a:r>
              <a:t>After direct costs of $1,489 it retained $5,813, being 79.6% of revenue.</a:t>
            </a:r>
          </a:p>
          <a:p>
            <a:endParaRPr/>
          </a:p>
          <a:p>
            <a:r>
              <a:t>Overheads charged to it were $12,659, of which $2,878 is its own spending and $9,782 is its share of the office.</a:t>
            </a:r>
          </a:p>
          <a:p>
            <a:endParaRPr/>
          </a:p>
          <a:p>
            <a:r>
              <a:t>That leaves a loss of $6,846 for the month.</a:t>
            </a:r>
          </a:p>
          <a:p>
            <a:endParaRPr/>
          </a:p>
          <a:p>
            <a:r>
              <a:t>Year to date it has billed $40,270 against a budget of $85,584.</a:t>
            </a:r>
          </a:p>
          <a:p>
            <a:endParaRPr/>
          </a:p>
          <a:p>
            <a:r>
              <a:t>On people, employment expense of $3,961, of which $2,660 is its own staff and $1,301 its share of office wages. It recorded 25 billable hours and 8 non-billable, with no leave.</a:t>
            </a:r>
          </a:p>
          <a:p>
            <a:endParaRPr/>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endParaRPr/>
          </a:p>
          <a:p>
            <a:r>
              <a:t>Revenue $234,858 against a budget of $59,272, ahead by $175,586. September last year was $21,421.</a:t>
            </a:r>
          </a:p>
          <a:p>
            <a:endParaRPr/>
          </a:p>
          <a:p>
            <a:r>
              <a:t>After direct costs of $211,102 it retained $23,756, being 10.1% of revenue.</a:t>
            </a:r>
          </a:p>
          <a:p>
            <a:endParaRPr/>
          </a:p>
          <a:p>
            <a:r>
              <a:t>Overheads charged to it were $13,285, of which $9,136 is its own spending and $4,148 is its share of the office.</a:t>
            </a:r>
          </a:p>
          <a:p>
            <a:endParaRPr/>
          </a:p>
          <a:p>
            <a:r>
              <a:t>That leaves $10,471 for the month.</a:t>
            </a:r>
          </a:p>
          <a:p>
            <a:endParaRPr/>
          </a:p>
          <a:p>
            <a:r>
              <a:t>Year to date it has billed $441,414 against a budget of $608,676.</a:t>
            </a:r>
          </a:p>
          <a:p>
            <a:endParaRPr/>
          </a:p>
          <a:p>
            <a:r>
              <a:t>On people, employment expense of $8,832, of which $8,563 is its own staff and $269 its share of office wages. It recorded 10 billable hours and no non-billable time.</a:t>
            </a:r>
          </a:p>
          <a:p>
            <a:endParaRPr/>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endParaRPr/>
          </a:p>
          <a:p>
            <a:r>
              <a:t>Revenue $3,531 against a budget of $23,050, behind by $19,519. September last year was $8,330.</a:t>
            </a:r>
          </a:p>
          <a:p>
            <a:endParaRPr/>
          </a:p>
          <a:p>
            <a:r>
              <a:t>After direct costs of $3,457 it retained $74, being 2.1% of revenue.</a:t>
            </a:r>
          </a:p>
          <a:p>
            <a:endParaRPr/>
          </a:p>
          <a:p>
            <a:r>
              <a:t>Overheads charged to it were $19,944, of which $5,965 is its own spending and $13,979 is its share of the office.</a:t>
            </a:r>
          </a:p>
          <a:p>
            <a:endParaRPr/>
          </a:p>
          <a:p>
            <a:r>
              <a:t>That leaves a loss of $19,870 for the month.</a:t>
            </a:r>
          </a:p>
          <a:p>
            <a:endParaRPr/>
          </a:p>
          <a:p>
            <a:r>
              <a:t>Year to date it has billed $4,068 against a budget of $236,707.</a:t>
            </a:r>
          </a:p>
          <a:p>
            <a:endParaRPr/>
          </a:p>
          <a:p>
            <a:r>
              <a:t>On people, employment expense of $9,496, of which $5,545 is its own staff and $3,951 its share of office wages. It recorded 31 billable hours and 84 non-billable, with 53 hours of leave.</a:t>
            </a:r>
          </a:p>
          <a:p>
            <a:endParaRPr/>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endParaRPr/>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endParaRPr/>
          </a:p>
          <a:p>
            <a:r>
              <a:t>Company revenue of $561,945 against a $413,665 budget and $356,323 in September last year.</a:t>
            </a:r>
          </a:p>
          <a:p>
            <a:endParaRPr/>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endParaRPr/>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endParaRPr/>
          </a:p>
          <a:p>
            <a:r>
              <a:t>The concentration is the point. Wages for staff on jobs and wages for everyone else make up the bulk of the cost base, and the second group is largely fixed within the year, which is why a quieter month passes straight to the result.</a:t>
            </a:r>
          </a:p>
          <a:p>
            <a:endParaRPr/>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endParaRPr/>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endParaRPr/>
          </a:p>
          <a:p>
            <a:r>
              <a:t>Rent and outgoings are fixed by the lease. IT support is the next largest and the only item that moves with activity.</a:t>
            </a:r>
          </a:p>
          <a:p>
            <a:endParaRPr/>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endParaRPr/>
          </a:p>
          <a:p>
            <a:r>
              <a:t>Sub-contract labour $117,012. Service hires $23,704. Direct salaries $314,763. Direct wages $111,018. Direct superannuation $54,240.</a:t>
            </a:r>
          </a:p>
          <a:p>
            <a:endParaRPr/>
          </a:p>
          <a:p>
            <a:r>
              <a:t>The majority is permanent payroll. Contractors are the only labour cost that rises and falls with the work.</a:t>
            </a:r>
          </a:p>
          <a:p>
            <a:endParaRPr/>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endParaRPr/>
          </a:p>
          <a:p>
            <a:r>
              <a:t>Departmental staff is the employment expense on each department's own cost centre: Support $8,980, Events $35,665, Video $2,660, Integration $8,563, Consulting $5,545.</a:t>
            </a:r>
          </a:p>
          <a:p>
            <a:endParaRPr/>
          </a:p>
          <a:p>
            <a:r>
              <a:t>Office staff is the admin employment pot of $63,077, allocated across the departments on their share of full time equivalent: Support $42,262, Events $15,294, Video $1,301, Integration $269, Consulting $3,951.</a:t>
            </a:r>
          </a:p>
          <a:p>
            <a:endParaRPr/>
          </a:p>
          <a:p>
            <a:r>
              <a:t>Full time equivalent is rolling twelve month worked hours on that cost centre divided by 2,024 hours, being 253 working days at eight hours. That is the method set out in the training material.</a:t>
            </a:r>
          </a:p>
          <a:p>
            <a:endParaRPr/>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endParaRPr/>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endParaRPr/>
          </a:p>
          <a:p>
            <a:r>
              <a:t>The ten together represent $1,240,100, or 76.3% of total revenue. Every other customer accounts for the remaining $384,360. The three highlighted customers are 48.7% of the year between them.</a:t>
            </a:r>
          </a:p>
          <a:p>
            <a:endParaRPr/>
          </a:p>
          <a:p>
            <a:r>
              <a:t>The distinction that matters is contracted work against one-off projects. Deloitte Services is contracted support that renews monthly. Aware Super is a fit-out that has now completed. Treating the two as the same kind of income is how a forecast goes wrong.</a:t>
            </a:r>
          </a:p>
          <a:p>
            <a:endParaRPr/>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endParaRPr/>
          </a:p>
          <a:p>
            <a:r>
              <a:t>Receivables are $833,320. Over the last three months the business sold $1,624,460, which across 92 days is $17,657 of sales a day. On that basis customers are taking 47.2 days to pay.</a:t>
            </a:r>
          </a:p>
          <a:p>
            <a:endParaRPr/>
          </a:p>
          <a:p>
            <a:r>
              <a:t>The target is 30 days, so the book is 17.2 days over. Collected on time, receivables would be $529,715 rather than $833,320, leaving $303,605 of cash in the book that should already be with the business.</a:t>
            </a:r>
          </a:p>
          <a:p>
            <a:endParaRPr/>
          </a:p>
          <a:p>
            <a:r>
              <a:t>Set against the result, the quarter produced $5,774 of EBITDA while $303,605 remains uncollected. Collection is worth considerably more this quarter than any trading improvement available in the time, and it requires no additional cost.</a:t>
            </a:r>
          </a:p>
          <a:p>
            <a:endParaRPr/>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endParaRPr/>
          </a:p>
          <a:p>
            <a:r>
              <a:t>Aware Super: $277,395, 33.3% of the total.</a:t>
            </a:r>
          </a:p>
          <a:p>
            <a:r>
              <a:t>Deloitte Services P/L for Deloitte Services Trust: $131,575, 15.8%.</a:t>
            </a:r>
          </a:p>
          <a:p>
            <a:r>
              <a:t>Ventia: $94,701, 11.4%.</a:t>
            </a:r>
          </a:p>
          <a:p>
            <a:r>
              <a:t>Downer EDI Limited: $39,664, 4.8%.</a:t>
            </a:r>
          </a:p>
          <a:p>
            <a:r>
              <a:t>Generation-e Productivity Solutions: $39,106, 4.7%.</a:t>
            </a:r>
          </a:p>
          <a:p>
            <a:endParaRPr/>
          </a:p>
          <a:p>
            <a:r>
              <a:t>The ageing profile is current $588,782 at 70.7%, under one month $133,177 at 16.0%, one month $86,553 at 10.4%, and three months $24,809 at 3.0%. Overdue in total $244,538, or 29.3% of the book.</a:t>
            </a:r>
          </a:p>
          <a:p>
            <a:endParaRPr/>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endParaRPr/>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endParaRPr/>
          </a:p>
          <a:p>
            <a:r>
              <a:t>Support 91.2% against an 88.0% target, 3.2 points over. Production 30.2% against 67.0%, 36.8 points under. Consulting 23.0% against 50.0%, 27.0 points under. The company 71.8% against 80.9%, 9.0 points under.</a:t>
            </a:r>
          </a:p>
          <a:p>
            <a:endParaRPr/>
          </a:p>
          <a:p>
            <a:r>
              <a:t>Support has exceeded its target in all three closed months, by 1.4, 5.8 and 3.2 points.</a:t>
            </a:r>
          </a:p>
          <a:p>
            <a:endParaRPr/>
          </a:p>
          <a:p>
            <a:r>
              <a:t>Leave explains the Production position: 333 hours out of 882 available, being 37.7% of the month. Across the company, leave accounted for 17.8% of available hours against 7.5% in August.</a:t>
            </a:r>
          </a:p>
          <a:p>
            <a:endParaRPr/>
          </a:p>
          <a:p>
            <a:r>
              <a:t>The report shows three person groups rather than five, because it groups by the department a person belongs to and nobody is assigned to Video or Integration. Their work is carried out by Production and Consulting staff.</a:t>
            </a:r>
          </a:p>
          <a:p>
            <a:endParaRPr/>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endParaRPr/>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endParaRPr/>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endParaRPr/>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endParaRPr/>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endParaRPr/>
          </a:p>
          <a:p>
            <a:r>
              <a:t>Across the five departments, 2,437 hours on jobs out of 2,789 worked.</a:t>
            </a:r>
          </a:p>
          <a:p>
            <a:endParaRPr/>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endParaRPr/>
          </a:p>
          <a:p>
            <a:r>
              <a:t>Events is the clearest operational position on this slide: 333 hours of leave on a small team removes most of the month's capacity.</a:t>
            </a:r>
          </a:p>
          <a:p>
            <a:endParaRPr/>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endParaRPr/>
          </a:p>
          <a:p>
            <a:r>
              <a:t>Production is Events and Video together. Consulting is Integration and Consulting together. Support stands alone.</a:t>
            </a:r>
          </a:p>
          <a:p>
            <a:endParaRPr/>
          </a:p>
          <a:p>
            <a:r>
              <a:t>Each bar is scaled to its own total, as Support works considerably more hours than the other two groups combined.</a:t>
            </a:r>
          </a:p>
          <a:p>
            <a:endParaRPr/>
          </a:p>
          <a:p>
            <a:r>
              <a:t>The pattern underlies much of this pack. Support is almost entirely billable and is the only group covering its costs. Production and Consulting each spend around half their paid hours, or more, on work that cannot be invoiced, and both record losses.</a:t>
            </a:r>
          </a:p>
          <a:p>
            <a:endParaRPr/>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endParaRPr/>
          </a:p>
          <a:p>
            <a:r>
              <a:t>First quarter actual of $1,624,460 against a budget of $1,996,110, behind by $371,650.</a:t>
            </a:r>
          </a:p>
          <a:p>
            <a:endParaRPr/>
          </a:p>
          <a:p>
            <a:r>
              <a:t>The nine months from October remain at the budget set before the year began. October is budgeted at $950,416, which is higher than any month the business has delivered.</a:t>
            </a:r>
          </a:p>
          <a:p>
            <a:endParaRPr/>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endParaRPr/>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endParaRPr/>
          </a:p>
          <a:p>
            <a:r>
              <a:t>The first two carry the most weight: reforecasting on margin rather than revenue, and reviewing the overhead keys. Most of the pack follows from those two figures.</a:t>
            </a:r>
          </a:p>
          <a:p>
            <a:endParaRPr/>
          </a:p>
          <a:p>
            <a:r>
              <a:t>The Consulting position has now run for three months with running costs against almost no fee income, and would benefit from a decision this quarter.</a:t>
            </a:r>
          </a:p>
          <a:p>
            <a:endParaRPr/>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36</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Spend for September across three years and against budget, taken from the Xero History tab.</a:t>
            </a:r>
          </a:p>
          <a:p/>
          <a:p>
            <a:r>
              <a:t>Spend here is cost of sales plus overheads. September 2026 $604,363. Budget $520,765. September 2025 $408,939. September 2024 $419,910.</a:t>
            </a:r>
          </a:p>
          <a:p/>
          <a:p>
            <a:r>
              <a:t>September was $83,599 or 16.1% over budget on spend.</a:t>
            </a:r>
          </a:p>
          <a:p/>
          <a:p>
            <a:r>
              <a:t>Where that sits matters more than the total. Cost of sales was $374,130 against $289,192 budgeted, which is $84,938 over. Overheads were $230,233 against $231,573 budgeted, which is $1,340 under. So the entire overspend is cost of sales and the overheads landed on plan.</a:t>
            </a:r>
          </a:p>
          <a:p/>
          <a:p>
            <a:r>
              <a:t>That is the better of the two outcomes. Cost of sales moves with revenue, and September billed $561,945 against a budget of $413,665, so some of the extra cost bought extra revenue. Overheads do not move with revenue, and those held.</a:t>
            </a:r>
          </a:p>
          <a:p/>
          <a:p>
            <a:r>
              <a:t>Against the two earlier years, spend is up $195,425 or 47.8% on September 2025 and $184,453 or 43.9% on September 2024. Revenue over the same two years is up 57.7% and 27.6%, so spend has grown faster than revenue against FY25 and slower than revenue against FY26.</a:t>
            </a:r>
          </a:p>
          <a:p/>
          <a:p>
            <a:r>
              <a:t>The red line is revenue. It sat above the spend bar in September 2024 and below it in both years since, which is the same thing as saying those two Septembers lost money.</a:t>
            </a:r>
          </a:p>
          <a:p/>
          <a:p>
            <a:r>
              <a:t>FY25 comes from Xero, pulled on 22 October 2026. FY26 is the Actual FY26 tab and FY27 the P&amp;L FY27 tab. The month follows the reporting month on Setup, so in October this becomes October.</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Spend for the first quarter across three years and against budget, taken from the Xero History tab.</a:t>
            </a:r>
          </a:p>
          <a:p/>
          <a:p>
            <a:r>
              <a:t>Q1 2026 $1,633,668. Budget $1,773,409. Q1 2025 $1,313,986. Q1 2024 $1,347,094.</a:t>
            </a:r>
          </a:p>
          <a:p/>
          <a:p>
            <a:r>
              <a:t>The quarter is $139,742 or 7.9% under budget on spend. That is the opposite of the month, where spend ran over.</a:t>
            </a:r>
          </a:p>
          <a:p/>
          <a:p>
            <a:r>
              <a:t>The split is the point. Overheads have been $638,615, $646,721 and $641,508 across the three first quarters, a range of $8,106 on about $640,000. The overhead base has not moved in three years. Every bit of the movement in spend is cost of sales, which went $708,478, $667,265 and $992,160, up $324,895 or 48.7% on last year.</a:t>
            </a:r>
          </a:p>
          <a:p/>
          <a:p>
            <a:r>
              <a:t>Cost of sales rising with revenue is what should happen. Revenue rose $395,878 over the same year, so cost of sales rose $324,895 to earn it, which is a contribution of about $71,000 on the extra revenue. That is a thin return on the extra work and it is why the quarter is still a loss.</a:t>
            </a:r>
          </a:p>
          <a:p/>
          <a:p>
            <a:r>
              <a:t>The red line is revenue. In Q1 2024 it sat above the spend bar and the quarter made money. In Q1 2025 and Q1 2026 it sat below and both lost money. The budget line has revenue well clear of spend, which is how it was built to make $223,000.</a:t>
            </a:r>
          </a:p>
          <a:p/>
          <a:p>
            <a:r>
              <a:t>FY25 comes from Xero, pulled 22 October 2026. The quarter is July to September, so it is fixed rather than following Setup.</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Net profit and net loss for September across three years, taken from the Xero History tab. Net profit is the pack's own figure and includes other income.</a:t>
            </a:r>
          </a:p>
          <a:p/>
          <a:p>
            <a:r>
              <a:t>September 2026 a loss of $41,464. September 2025 a loss of $52,615. September 2024 a profit of $20,737.</a:t>
            </a:r>
          </a:p>
          <a:p/>
          <a:p>
            <a:r>
              <a:t>This September is $11,152 better than the same month last year, and $62,201 worse than the September before that.</a:t>
            </a:r>
          </a:p>
          <a:p/>
          <a:p>
            <a:r>
              <a:t>The thing worth drawing out is that the loss is not a revenue failure. September 2026 billed $561,945, which is the highest of the three Septembers, ahead of $356,323 last year and $440,243 the year before. The month earned more than either comparison and still finished below the line.</a:t>
            </a:r>
          </a:p>
          <a:p/>
          <a:p>
            <a:r>
              <a:t>What changed is the cost of earning it. Cost of sales was $374,130 against $216,749 in September 2024 on revenue only $121,701 higher. The gross margin on the month was 33.4%, against 50.8% in September 2024.</a:t>
            </a:r>
          </a:p>
          <a:p/>
          <a:p>
            <a:r>
              <a:t>So the question this chart puts to the board is about pricing and delivery cost on the work being won, not about the volume of work being won.</a:t>
            </a:r>
          </a:p>
          <a:p/>
          <a:p>
            <a:r>
              <a:t>FY25 was pulled from Xero on 22 October 2026. FY26 is the Actual FY26 tab and FY27 the P&amp;L FY27 tab. The month follows the reporting month on Setup, so in October this becomes October. Only the first quarter of FY25 was pulled, so the FY25 bar is blank from October until the rest is pulled.</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Net profit and net loss for the first quarter across three years, taken from the Xero History tab. Net profit is the pack's own figure and includes other income.</a:t>
            </a:r>
          </a:p>
          <a:p/>
          <a:p>
            <a:r>
              <a:t>Q1 2026 a loss of $5,808. Q1 2025 a loss of $85,404. Q1 2024 a profit of $34,595.</a:t>
            </a:r>
          </a:p>
          <a:p/>
          <a:p>
            <a:r>
              <a:t>The quarter has improved $79,596 on last year and is within $5,808 of breaking even. On that reading the recovery is real and the direction is right.</a:t>
            </a:r>
          </a:p>
          <a:p/>
          <a:p>
            <a:r>
              <a:t>Against the plan it reads differently. The budget had the first quarter at a $222,700 profit. Coming in at a $5,808 loss is $228,508 below it.</a:t>
            </a:r>
          </a:p>
          <a:p/>
          <a:p>
            <a:r>
              <a:t>As with the month, this is not a revenue failure. The quarter billed $1,624,460, which is the highest first quarter of the three, ahead of $1,228,582 last year and $1,380,102 the year before. It earned more than either comparison and still finished below the line.</a:t>
            </a:r>
          </a:p>
          <a:p/>
          <a:p>
            <a:r>
              <a:t>The cost of earning it is where the quarter went. Cost of sales was $992,160 against $708,478 in Q1 2024, which is $283,682 more on revenue $244,358 higher. Overheads were almost unchanged at $641,508 against $638,615. The overhead base is not the problem and has not been for three years. The margin on the work is.</a:t>
            </a:r>
          </a:p>
          <a:p/>
          <a:p>
            <a:r>
              <a:t>FY25 was pulled from Xero on 22 October 2026. The quarter is July to September, so it is fixed rather than following Setup.</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2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3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png"/><Relationship Id="rId5" Type="http://schemas.openxmlformats.org/officeDocument/2006/relationships/image" Target="../media/image3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1.png"/><Relationship Id="rId5" Type="http://schemas.openxmlformats.org/officeDocument/2006/relationships/image" Target="../media/image3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1.png"/><Relationship Id="rId4" Type="http://schemas.openxmlformats.org/officeDocument/2006/relationships/notesSlide" Target="../notesSlides/notesSlide3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2.png"/><Relationship Id="rId4" Type="http://schemas.openxmlformats.org/officeDocument/2006/relationships/notesSlide" Target="../notesSlides/notesSlide3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3.png"/><Relationship Id="rId4" Type="http://schemas.openxmlformats.org/officeDocument/2006/relationships/notesSlide" Target="../notesSlides/notesSlide40.xml"/><Relationship Id="rId5" Type="http://schemas.openxmlformats.org/officeDocument/2006/relationships/image" Target="../media/image4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5.png"/><Relationship Id="rId4" Type="http://schemas.openxmlformats.org/officeDocument/2006/relationships/notesSlide" Target="../notesSlides/notesSlide4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1.png"/><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3.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4.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7.png"/><Relationship Id="rId4" Type="http://schemas.openxmlformats.org/officeDocument/2006/relationships/image" Target="../media/image1.png"/><Relationship Id="rId5" Type="http://schemas.openxmlformats.org/officeDocument/2006/relationships/image" Target="../media/image3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8.png"/><Relationship Id="rId4" Type="http://schemas.openxmlformats.org/officeDocument/2006/relationships/image" Target="../media/image1.png"/><Relationship Id="rId5" Type="http://schemas.openxmlformats.org/officeDocument/2006/relationships/image" Target="../media/image3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9.png"/><Relationship Id="rId4" Type="http://schemas.openxmlformats.org/officeDocument/2006/relationships/image" Target="../media/image1.png"/><Relationship Id="rId5" Type="http://schemas.openxmlformats.org/officeDocument/2006/relationships/image" Target="../media/image3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image" Target="../media/image3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1.png"/><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2.png"/><Relationship Id="rId4" Type="http://schemas.openxmlformats.org/officeDocument/2006/relationships/image" Target="../media/image1.png"/><Relationship Id="rId5" Type="http://schemas.openxmlformats.org/officeDocument/2006/relationships/image" Target="../media/image3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3.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24.pn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5.png"/><Relationship Id="rId4"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26.png"/><Relationship Id="rId4" Type="http://schemas.openxmlformats.org/officeDocument/2006/relationships/image" Target="../media/image1.png"/><Relationship Id="rId5" Type="http://schemas.openxmlformats.org/officeDocument/2006/relationships/image" Target="../media/image3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7.png"/><Relationship Id="rId4" Type="http://schemas.openxmlformats.org/officeDocument/2006/relationships/image" Target="../media/image1.png"/><Relationship Id="rId5" Type="http://schemas.openxmlformats.org/officeDocument/2006/relationships/image" Target="../media/image3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8.png"/><Relationship Id="rId4" Type="http://schemas.openxmlformats.org/officeDocument/2006/relationships/image" Target="../media/image1.png"/><Relationship Id="rId5" Type="http://schemas.openxmlformats.org/officeDocument/2006/relationships/image" Target="../media/image4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https://corptechservices.sharepoint.com/:x:/s/CTSNASAccountsYBackup/IQA10LAzkaNEQq0FYhCYngMZAdN-NraOBffkpTyYU738ebI?e=dOV2Sx"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3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What we will cover</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P&amp;L summary, the three months to date, and every department against budget</a:t>
            </a:r>
            <a:endParaRPr lang="en-US" sz="1000"/>
          </a:p>
        </p:txBody>
      </p:sp>
      <p:sp>
        <p:nvSpPr>
          <p:cNvPr id="8" name="Shape 6"/>
          <p:cNvSpPr/>
          <p:nvPr/>
        </p:nvSpPr>
        <p:spPr>
          <a:xfrm>
            <a:off x="502920" y="2057400"/>
            <a:ext cx="384048" cy="384048"/>
          </a:xfrm>
          <a:prstGeom prst="rect">
            <a:avLst/>
          </a:prstGeom>
          <a:solidFill>
            <a:srgbClr val="242C39"/>
          </a:solidFill>
          <a:ln/>
        </p:spPr>
        <p:txBody>
          <a:bodyPr/>
          <a:lstStyle/>
          <a:p>
            <a:endParaRPr lang="en-AU"/>
          </a:p>
        </p:txBody>
      </p:sp>
      <p:sp>
        <p:nvSpPr>
          <p:cNvPr id="9" name="Text 7"/>
          <p:cNvSpPr txBox="1"/>
          <p:nvPr/>
        </p:nvSpPr>
        <p:spPr>
          <a:xfrm>
            <a:off x="502920" y="20574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marL="0" indent="0">
              <a:buNone/>
            </a:pPr>
            <a:r>
              <a:rPr lang="en-US" sz="1300" b="1">
                <a:solidFill>
                  <a:srgbClr val="242C39"/>
                </a:solidFill>
              </a:rPr>
              <a:t>What we spend</a:t>
            </a:r>
            <a:endParaRPr lang="en-US" sz="130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2" name="Shape 10"/>
          <p:cNvSpPr/>
          <p:nvPr/>
        </p:nvSpPr>
        <p:spPr>
          <a:xfrm>
            <a:off x="502920" y="2697480"/>
            <a:ext cx="384048" cy="384048"/>
          </a:xfrm>
          <a:prstGeom prst="rect">
            <a:avLst/>
          </a:prstGeom>
          <a:solidFill>
            <a:srgbClr val="242C39"/>
          </a:solidFill>
          <a:ln/>
        </p:spPr>
        <p:txBody>
          <a:bodyPr/>
          <a:lstStyle/>
          <a:p>
            <a:endParaRPr lang="en-AU"/>
          </a:p>
        </p:txBody>
      </p:sp>
      <p:sp>
        <p:nvSpPr>
          <p:cNvPr id="13" name="Text 11"/>
          <p:cNvSpPr txBox="1"/>
          <p:nvPr/>
        </p:nvSpPr>
        <p:spPr>
          <a:xfrm>
            <a:off x="502920" y="26974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cash</a:t>
            </a:r>
            <a:endParaRPr lang="en-US" sz="130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16" name="Shape 14"/>
          <p:cNvSpPr/>
          <p:nvPr/>
        </p:nvSpPr>
        <p:spPr>
          <a:xfrm>
            <a:off x="502920" y="3337560"/>
            <a:ext cx="384048" cy="384048"/>
          </a:xfrm>
          <a:prstGeom prst="rect">
            <a:avLst/>
          </a:prstGeom>
          <a:solidFill>
            <a:srgbClr val="242C39"/>
          </a:solidFill>
          <a:ln/>
        </p:spPr>
        <p:txBody>
          <a:bodyPr/>
          <a:lstStyle/>
          <a:p>
            <a:endParaRPr lang="en-AU"/>
          </a:p>
        </p:txBody>
      </p:sp>
      <p:sp>
        <p:nvSpPr>
          <p:cNvPr id="17" name="Text 15"/>
          <p:cNvSpPr txBox="1"/>
          <p:nvPr/>
        </p:nvSpPr>
        <p:spPr>
          <a:xfrm>
            <a:off x="502920" y="33375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0" name="Shape 18"/>
          <p:cNvSpPr/>
          <p:nvPr/>
        </p:nvSpPr>
        <p:spPr>
          <a:xfrm>
            <a:off x="502920" y="3977640"/>
            <a:ext cx="384048" cy="384048"/>
          </a:xfrm>
          <a:prstGeom prst="rect">
            <a:avLst/>
          </a:prstGeom>
          <a:solidFill>
            <a:srgbClr val="242C39"/>
          </a:solidFill>
          <a:ln/>
        </p:spPr>
        <p:txBody>
          <a:bodyPr/>
          <a:lstStyle/>
          <a:p>
            <a:endParaRPr lang="en-AU"/>
          </a:p>
        </p:txBody>
      </p:sp>
      <p:sp>
        <p:nvSpPr>
          <p:cNvPr id="21" name="Text 19"/>
          <p:cNvSpPr txBox="1"/>
          <p:nvPr/>
        </p:nvSpPr>
        <p:spPr>
          <a:xfrm>
            <a:off x="502920" y="397764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a:t>
            </a:fld>
            <a:endParaRPr lang="en-US"/>
          </a:p>
        </p:txBody>
      </p:sp>
      <p:pic>
        <p:nvPicPr>
          <p:cNvPr id="26"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INTRODUCTION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Where the business stands, Sep 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+$29k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$(54)k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+$10k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$(20)k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58"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59"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60"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61"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62"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63"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64"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pic>
        <p:nvPicPr>
          <p:cNvPr id="57"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3"/>
          <a:stretch>
            <a:fillRect/>
          </a:stretch>
        </p:blipFill>
        <p:spPr>
          <a:xfrm>
            <a:off x="693698" y="1005840"/>
            <a:ext cx="7756603" cy="213388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P&amp;L summary, income</a:t>
            </a:r>
            <a:endParaRPr lang="en-US" sz="2700" dirty="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10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4" name="Text 5b"/>
          <p:cNvSpPr txBox="1"/>
          <p:nvPr/>
        </p:nvSpPr>
        <p:spPr>
          <a:xfrm>
            <a:off x="466344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10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1000">
                <a:solidFill>
                  <a:srgbClr val="3A4453"/>
                </a:solidFill>
              </a:rPr>
              <a:t>Year-to-date EBITDA is $6k against a $223k budget. Our forecast should place greater focus on gross margin and profitability.</a:t>
            </a:r>
            <a:endParaRPr lang="en-US" sz="850"/>
          </a:p>
        </p:txBody>
      </p:sp>
      <p:pic>
        <p:nvPicPr>
          <p:cNvPr id="27"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rev_month" descr="image.png"/>
          <p:cNvPicPr>
            <a:picLocks noChangeAspect="1"/>
          </p:cNvPicPr>
          <p:nvPr/>
        </p:nvPicPr>
        <p:blipFill>
          <a:blip r:embed="rId5"/>
          <a:stretch>
            <a:fillRect/>
          </a:stretch>
        </p:blipFill>
        <p:spPr>
          <a:xfrm>
            <a:off x="504052" y="1005840"/>
            <a:ext cx="8135894" cy="230276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Revenue by month and department</a:t>
            </a:r>
            <a:endParaRPr lang="en-US" sz="2700" dirty="0"/>
          </a:p>
        </p:txBody>
      </p:sp>
      <p:sp>
        <p:nvSpPr>
          <p:cNvPr id="6" name="commentary panel"/>
          <p:cNvSpPr/>
          <p:nvPr/>
        </p:nvSpPr>
        <p:spPr>
          <a:xfrm>
            <a:off x="502920" y="3400043"/>
            <a:ext cx="8138160" cy="1226820"/>
          </a:xfrm>
          <a:prstGeom prst="rect">
            <a:avLst/>
          </a:prstGeom>
          <a:solidFill>
            <a:srgbClr val="E8F9F8"/>
          </a:solidFill>
          <a:ln/>
        </p:spPr>
        <p:txBody>
          <a:bodyPr/>
          <a:lstStyle/>
          <a:p>
            <a:endParaRPr lang="en-AU"/>
          </a:p>
        </p:txBody>
      </p:sp>
      <p:sp>
        <p:nvSpPr>
          <p:cNvPr id="7" name="Text 4"/>
          <p:cNvSpPr txBox="1"/>
          <p:nvPr/>
        </p:nvSpPr>
        <p:spPr>
          <a:xfrm>
            <a:off x="685800" y="347319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646931"/>
            <a:ext cx="3703320" cy="95250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Revenue was $459k in July, $603k in August and $562k in September, $1,624k for the quarter.</a:t>
            </a:r>
            <a:endParaRPr lang="en-US" sz="850"/>
          </a:p>
          <a:p>
            <a:pPr marL="342900" indent="-342900">
              <a:lnSpc>
                <a:spcPts val="1050"/>
              </a:lnSpc>
              <a:spcAft>
                <a:spcPts val="400"/>
              </a:spcAft>
              <a:buSzPct val="100000"/>
              <a:buChar char="•"/>
            </a:pPr>
            <a:r>
              <a:rPr lang="en-US" sz="1000">
                <a:solidFill>
                  <a:srgbClr val="3A4453"/>
                </a:solidFill>
              </a:rPr>
              <a:t>Budget for the same three months was $1,996k, so the quarter is $372k short.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6</a:t>
            </a:fld>
            <a:endParaRPr lang="en-US"/>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646931"/>
            <a:ext cx="3703320" cy="95250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July and August were both well under budget. September came in $148k above it.</a:t>
            </a:r>
            <a:endParaRPr lang="en-US" sz="850"/>
          </a:p>
          <a:p>
            <a:pPr marL="342900" indent="-342900">
              <a:lnSpc>
                <a:spcPts val="1050"/>
              </a:lnSpc>
              <a:spcAft>
                <a:spcPts val="400"/>
              </a:spcAft>
              <a:buSzPct val="100000"/>
              <a:buChar char="•"/>
            </a:pPr>
            <a:r>
              <a:rPr lang="en-US" sz="1000">
                <a:solidFill>
                  <a:srgbClr val="3A4453"/>
                </a:solidFill>
              </a:rPr>
              <a:t>Support is the steady base at $235k, $240k and $243k.</a:t>
            </a:r>
            <a:endParaRPr lang="en-US" sz="850"/>
          </a:p>
          <a:p>
            <a:pPr marL="342900" indent="-342900">
              <a:lnSpc>
                <a:spcPts val="1050"/>
              </a:lnSpc>
              <a:spcAft>
                <a:spcPts val="400"/>
              </a:spcAft>
              <a:buSzPct val="100000"/>
              <a:buChar char="•"/>
            </a:pPr>
            <a:r>
              <a:rPr lang="en-US" sz="1000">
                <a:solidFill>
                  <a:srgbClr val="3A4453"/>
                </a:solidFill>
              </a:rPr>
              <a:t>September's movement is Integration at $235k against $94k in August, on project completion.</a:t>
            </a:r>
            <a:endParaRPr lang="en-US" sz="85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snip rev_years" descr="rev_years.png"/>
          <p:cNvPicPr>
            <a:picLocks noChangeAspect="1"/>
          </p:cNvPicPr>
          <p:nvPr/>
        </p:nvPicPr>
        <p:blipFill>
          <a:blip r:embed="rId3"/>
          <a:stretch>
            <a:fillRect/>
          </a:stretch>
        </p:blipFill>
        <p:spPr>
          <a:xfrm>
            <a:off x="4663440" y="1042453"/>
            <a:ext cx="3977640" cy="2452462"/>
          </a:xfrm>
          <a:prstGeom prst="rect">
            <a:avLst/>
          </a:prstGeom>
        </p:spPr>
      </p:pic>
      <p:pic>
        <p:nvPicPr>
          <p:cNvPr id="27" name="snip rev_month_budget" descr="rev_ytd.png"/>
          <p:cNvPicPr>
            <a:picLocks noChangeAspect="1"/>
          </p:cNvPicPr>
          <p:nvPr/>
        </p:nvPicPr>
        <p:blipFill>
          <a:blip r:embed="rId4"/>
          <a:stretch>
            <a:fillRect/>
          </a:stretch>
        </p:blipFill>
        <p:spPr>
          <a:xfrm>
            <a:off x="502920" y="1042453"/>
            <a:ext cx="3977640" cy="245246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Revenue, against budget and year on year</a:t>
            </a:r>
            <a:endParaRPr lang="en-US" sz="2700" dirty="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billed $562k against a $414k budget, $148k ahead of it, and against $356k last September.</a:t>
            </a:r>
            <a:endParaRPr lang="en-US" sz="850"/>
          </a:p>
          <a:p>
            <a:pPr marL="342900" indent="-342900">
              <a:lnSpc>
                <a:spcPts val="1050"/>
              </a:lnSpc>
              <a:spcAft>
                <a:spcPts val="400"/>
              </a:spcAft>
              <a:buSzPct val="100000"/>
              <a:buChar char="•"/>
            </a:pPr>
            <a:r>
              <a:rPr lang="en-US" sz="1000">
                <a:solidFill>
                  <a:srgbClr val="3A4453"/>
                </a:solidFill>
              </a:rPr>
              <a:t>Year to date is $1,624k against $1,996k, short by $372k or 19%.</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7</a:t>
            </a:fld>
            <a:endParaRPr lang="en-US"/>
          </a:p>
        </p:txBody>
      </p:sp>
      <p:sp>
        <p:nvSpPr>
          <p:cNvPr id="4"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Almost all of that shortfall is August, which billed $603k against a $973k budget.</a:t>
            </a:r>
            <a:endParaRPr lang="en-US" sz="850"/>
          </a:p>
          <a:p>
            <a:pPr marL="342900" indent="-342900">
              <a:lnSpc>
                <a:spcPts val="1050"/>
              </a:lnSpc>
              <a:spcAft>
                <a:spcPts val="400"/>
              </a:spcAft>
              <a:buSzPct val="100000"/>
              <a:buChar char="•"/>
            </a:pPr>
            <a:r>
              <a:rPr lang="en-US" sz="1000">
                <a:solidFill>
                  <a:srgbClr val="3A4453"/>
                </a:solidFill>
              </a:rPr>
              <a:t>Against FY25 rather than the weak FY26, September is 28% ahead. That is the steadier read on growth.</a:t>
            </a:r>
            <a:endParaRPr lang="en-US" sz="850"/>
          </a:p>
        </p:txBody>
      </p:sp>
      <p:pic>
        <p:nvPicPr>
          <p:cNvPr id="26" name="cts logo" descr="image.png"/>
          <p:cNvPicPr>
            <a:picLocks noChangeAspect="1"/>
          </p:cNvPicPr>
          <p:nvPr/>
        </p:nvPicPr>
        <p:blipFill>
          <a:blip r:embed="rId5"/>
          <a:stretch>
            <a:fillRect/>
          </a:stretch>
        </p:blipFill>
        <p:spPr>
          <a:xfrm>
            <a:off x="7680959" y="182880"/>
            <a:ext cx="960120" cy="5396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rev_q1" descr="image.png"/>
          <p:cNvPicPr>
            <a:picLocks noChangeAspect="1"/>
          </p:cNvPicPr>
          <p:nvPr/>
        </p:nvPicPr>
        <p:blipFill>
          <a:blip r:embed="rId5"/>
          <a:stretch>
            <a:fillRect/>
          </a:stretch>
        </p:blipFill>
        <p:spPr>
          <a:xfrm>
            <a:off x="502920" y="1007468"/>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Revenue by quarter, year on year</a:t>
            </a:r>
            <a:endParaRPr lang="en-US" sz="2700" dirty="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first quarter was $1,624k, the strongest of the three years.</a:t>
            </a:r>
            <a:endParaRPr lang="en-US" sz="850"/>
          </a:p>
          <a:p>
            <a:pPr marL="342900" indent="-342900">
              <a:lnSpc>
                <a:spcPts val="1050"/>
              </a:lnSpc>
              <a:spcAft>
                <a:spcPts val="400"/>
              </a:spcAft>
              <a:buSzPct val="100000"/>
              <a:buChar char="•"/>
            </a:pPr>
            <a:r>
              <a:rPr lang="en-US" sz="1000">
                <a:solidFill>
                  <a:srgbClr val="3A4453"/>
                </a:solidFill>
              </a:rPr>
              <a:t>It is also the smallest quarter of the year. The second quarter carries about 32% of revenue.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8</a:t>
            </a:fld>
            <a:endParaRPr lang="en-US"/>
          </a:p>
        </p:txBody>
      </p:sp>
      <p:sp>
        <p:nvSpPr>
          <p:cNvPr id="4"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the third quarter: $1,304k against $1,873k, down 30%.</a:t>
            </a:r>
            <a:endParaRPr lang="en-US" sz="850"/>
          </a:p>
          <a:p>
            <a:pPr marL="342900" indent="-342900">
              <a:lnSpc>
                <a:spcPts val="1050"/>
              </a:lnSpc>
              <a:spcAft>
                <a:spcPts val="400"/>
              </a:spcAft>
              <a:buSzPct val="100000"/>
              <a:buChar char="•"/>
            </a:pPr>
            <a:r>
              <a:rPr lang="en-US" sz="1000">
                <a:solidFill>
                  <a:srgbClr val="3A4453"/>
                </a:solidFill>
              </a:rPr>
              <a:t>The second quarter is next and it decides the year. FY25 billed $2,277k in it, FY26 $1,895k.</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xero_hist" descr="image.png"/>
          <p:cNvPicPr>
            <a:picLocks noChangeAspect="1"/>
          </p:cNvPicPr>
          <p:nvPr/>
        </p:nvPicPr>
        <p:blipFill>
          <a:blip r:embed="rId5"/>
          <a:stretch>
            <a:fillRect/>
          </a:stretch>
        </p:blipFill>
        <p:spPr>
          <a:xfrm>
            <a:off x="502920" y="1007468"/>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Three years of revenue by month</a:t>
            </a:r>
            <a:endParaRPr lang="en-US" sz="2700" dirty="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Thirty six months of revenue, from July 2024 through to September 2026.</a:t>
            </a:r>
            <a:endParaRPr lang="en-US" sz="850"/>
          </a:p>
          <a:p>
            <a:pPr marL="342900" indent="-342900">
              <a:lnSpc>
                <a:spcPts val="1050"/>
              </a:lnSpc>
              <a:spcAft>
                <a:spcPts val="400"/>
              </a:spcAft>
              <a:buSzPct val="100000"/>
              <a:buChar char="•"/>
            </a:pPr>
            <a:r>
              <a:rPr lang="en-US" sz="1000">
                <a:solidFill>
                  <a:srgbClr val="3A4453"/>
                </a:solidFill>
              </a:rPr>
              <a:t>FY26 was the softer year at $6,113k against $7,000k, and it was down in both halves.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largest single swing is January: $918k in FY25 against $269k in FY26.</a:t>
            </a:r>
            <a:endParaRPr lang="en-US" sz="850"/>
          </a:p>
          <a:p>
            <a:pPr marL="342900" indent="-342900">
              <a:lnSpc>
                <a:spcPts val="1050"/>
              </a:lnSpc>
              <a:spcAft>
                <a:spcPts val="400"/>
              </a:spcAft>
              <a:buSzPct val="100000"/>
              <a:buChar char="•"/>
            </a:pPr>
            <a:r>
              <a:rPr lang="en-US" sz="1000">
                <a:solidFill>
                  <a:srgbClr val="3A4453"/>
                </a:solidFill>
              </a:rPr>
              <a:t>October carries the year. It was $949k in FY25 and $1,036k in FY26, and FY27 has it budgeted at $950k.</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xero_cum" descr="image.png"/>
          <p:cNvPicPr>
            <a:picLocks noChangeAspect="1"/>
          </p:cNvPicPr>
          <p:nvPr/>
        </p:nvPicPr>
        <p:blipFill>
          <a:blip r:embed="rId5"/>
          <a:stretch>
            <a:fillRect/>
          </a:stretch>
        </p:blipFill>
        <p:spPr>
          <a:xfrm>
            <a:off x="502920" y="1007468"/>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Revenue year to date, against budget</a:t>
            </a:r>
            <a:endParaRPr lang="en-US" sz="2700" dirty="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 to date revenue is $1,624k, ahead of both completed years at this point in the year.</a:t>
            </a:r>
            <a:endParaRPr lang="en-US" sz="850"/>
          </a:p>
          <a:p>
            <a:pPr marL="342900" indent="-342900">
              <a:lnSpc>
                <a:spcPts val="1050"/>
              </a:lnSpc>
              <a:spcAft>
                <a:spcPts val="400"/>
              </a:spcAft>
              <a:buSzPct val="100000"/>
              <a:buChar char="•"/>
            </a:pPr>
            <a:r>
              <a:rPr lang="en-US" sz="1000">
                <a:solidFill>
                  <a:srgbClr val="3A4453"/>
                </a:solidFill>
              </a:rPr>
              <a:t>It is $372k or 19% behind budget. Almost all of that opened in August, and September closed $148k of it back.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10</a:t>
            </a:fld>
            <a:endParaRPr lang="en-US"/>
          </a:p>
        </p:txBody>
      </p:sp>
      <p:sp>
        <p:nvSpPr>
          <p:cNvPr id="4"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December and January, $1,045k behind FY25 across those two months.</a:t>
            </a:r>
            <a:endParaRPr lang="en-US" sz="850"/>
          </a:p>
          <a:p>
            <a:pPr marL="342900" indent="-342900">
              <a:lnSpc>
                <a:spcPts val="1050"/>
              </a:lnSpc>
              <a:spcAft>
                <a:spcPts val="400"/>
              </a:spcAft>
              <a:buSzPct val="100000"/>
              <a:buChar char="•"/>
            </a:pPr>
            <a:r>
              <a:rPr lang="en-US" sz="1000">
                <a:solidFill>
                  <a:srgbClr val="3A4453"/>
                </a:solidFill>
              </a:rPr>
              <a:t>The full year budget of $6,305k is itself 10% below what FY25 actually billed.</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7" name="snip pl_result" descr="pl_result.png"/>
          <p:cNvPicPr>
            <a:picLocks noChangeAspect="1"/>
          </p:cNvPicPr>
          <p:nvPr/>
        </p:nvPicPr>
        <p:blipFill>
          <a:blip r:embed="rId3"/>
          <a:stretch>
            <a:fillRect/>
          </a:stretch>
        </p:blipFill>
        <p:spPr>
          <a:xfrm>
            <a:off x="988472" y="1005840"/>
            <a:ext cx="7167054" cy="196499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P&amp;L summary, cost and profit</a:t>
            </a:r>
            <a:endParaRPr lang="en-US" sz="2700" dirty="0"/>
          </a:p>
        </p:txBody>
      </p:sp>
      <p:sp>
        <p:nvSpPr>
          <p:cNvPr id="6" name="commentary panel"/>
          <p:cNvSpPr/>
          <p:nvPr/>
        </p:nvSpPr>
        <p:spPr>
          <a:xfrm>
            <a:off x="502920" y="3062278"/>
            <a:ext cx="8138160" cy="1564585"/>
          </a:xfrm>
          <a:prstGeom prst="rect">
            <a:avLst/>
          </a:prstGeom>
          <a:solidFill>
            <a:srgbClr val="E8F9F8"/>
          </a:solidFill>
          <a:ln/>
        </p:spPr>
        <p:txBody>
          <a:bodyPr/>
          <a:lstStyle/>
          <a:p>
            <a:endParaRPr lang="en-AU"/>
          </a:p>
        </p:txBody>
      </p:sp>
      <p:sp>
        <p:nvSpPr>
          <p:cNvPr id="7" name="Text 4"/>
          <p:cNvSpPr txBox="1"/>
          <p:nvPr/>
        </p:nvSpPr>
        <p:spPr>
          <a:xfrm>
            <a:off x="685800" y="313543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9166"/>
            <a:ext cx="3703320" cy="1290265"/>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10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1000">
                <a:solidFill>
                  <a:srgbClr val="3A4453"/>
                </a:solidFill>
              </a:rPr>
              <a:t>To achieve the $397k annual target, the remaining nine months would need to deliver approximately $391k, compared with the original $175k budget.</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9166"/>
            <a:ext cx="3703320" cy="1290265"/>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1000">
                <a:solidFill>
                  <a:srgbClr val="3A4453"/>
                </a:solidFill>
              </a:rPr>
              <a:t>Revenue reached 81% of the year-to-date budget, while gross profit reached only 69%. Improving gross margin is a priority.</a:t>
            </a:r>
            <a:endParaRPr lang="en-US" sz="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spend_month" descr="spend_month.png"/>
          <p:cNvPicPr>
            <a:picLocks noChangeAspect="1"/>
          </p:cNvPicPr>
          <p:nvPr/>
        </p:nvPicPr>
        <p:blipFill>
          <a:blip r:embed="rId3"/>
          <a:stretch>
            <a:fillRect/>
          </a:stretch>
        </p:blipFill>
        <p:spPr>
          <a:xfrm>
            <a:off x="522419" y="1005840"/>
            <a:ext cx="8099161" cy="2525689"/>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Spend for the month, against budget</a:t>
            </a:r>
            <a:endParaRPr lang="en-US" sz="2700" dirty="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spend was $604k against a budget of $521k, $84k over.</a:t>
            </a:r>
            <a:endParaRPr lang="en-US" sz="850"/>
          </a:p>
          <a:p>
            <a:pPr marL="342900" indent="-342900">
              <a:lnSpc>
                <a:spcPts val="1050"/>
              </a:lnSpc>
              <a:spcAft>
                <a:spcPts val="400"/>
              </a:spcAft>
              <a:buSzPct val="100000"/>
              <a:buChar char="•"/>
            </a:pPr>
            <a:r>
              <a:rPr lang="en-US" sz="1000">
                <a:solidFill>
                  <a:srgbClr val="3A4453"/>
                </a:solidFill>
              </a:rPr>
              <a:t>All of the overspend is cost of sales: $374k against $289k budgeted.</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Overheads came in at $230k against $232k budgeted, which is on plan.</a:t>
            </a:r>
            <a:endParaRPr lang="en-US" sz="850"/>
          </a:p>
          <a:p>
            <a:pPr marL="342900" indent="-342900">
              <a:lnSpc>
                <a:spcPts val="1050"/>
              </a:lnSpc>
              <a:spcAft>
                <a:spcPts val="400"/>
              </a:spcAft>
              <a:buSzPct val="100000"/>
              <a:buChar char="•"/>
            </a:pPr>
            <a:r>
              <a:rPr lang="en-US" sz="1000">
                <a:solidFill>
                  <a:srgbClr val="3A4453"/>
                </a:solidFill>
              </a:rPr>
              <a:t>Spend is up 48% on last September and 44% on the September before.</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spend_qtr" descr="spend_qtr.png"/>
          <p:cNvPicPr>
            <a:picLocks noChangeAspect="1"/>
          </p:cNvPicPr>
          <p:nvPr/>
        </p:nvPicPr>
        <p:blipFill>
          <a:blip r:embed="rId3"/>
          <a:stretch>
            <a:fillRect/>
          </a:stretch>
        </p:blipFill>
        <p:spPr>
          <a:xfrm>
            <a:off x="522419" y="1005840"/>
            <a:ext cx="8099161" cy="2525689"/>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Spend for the quarter, against budget</a:t>
            </a:r>
            <a:endParaRPr lang="en-US" sz="2700" dirty="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Quarter spend was $1,634k against a budget of $1,773k, $140k under.</a:t>
            </a:r>
            <a:endParaRPr lang="en-US" sz="850"/>
          </a:p>
          <a:p>
            <a:pPr marL="342900" indent="-342900">
              <a:lnSpc>
                <a:spcPts val="1050"/>
              </a:lnSpc>
              <a:spcAft>
                <a:spcPts val="400"/>
              </a:spcAft>
              <a:buSzPct val="100000"/>
              <a:buChar char="•"/>
            </a:pPr>
            <a:r>
              <a:rPr lang="en-US" sz="1000">
                <a:solidFill>
                  <a:srgbClr val="3A4453"/>
                </a:solidFill>
              </a:rPr>
              <a:t>Overheads have barely moved in three years: $639k, $647k and $642k.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All the movement is cost of sales, up $325k on last year to $992k.</a:t>
            </a:r>
            <a:endParaRPr lang="en-US" sz="850"/>
          </a:p>
          <a:p>
            <a:pPr marL="342900" indent="-342900">
              <a:lnSpc>
                <a:spcPts val="1050"/>
              </a:lnSpc>
              <a:spcAft>
                <a:spcPts val="400"/>
              </a:spcAft>
              <a:buSzPct val="100000"/>
              <a:buChar char="•"/>
            </a:pPr>
            <a:r>
              <a:rPr lang="en-US" sz="1000">
                <a:solidFill>
                  <a:srgbClr val="3A4453"/>
                </a:solidFill>
              </a:rPr>
              <a:t>Revenue sat above spend in Q1 2024 and below it in both years since.</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profit_month" descr="profit_month.png"/>
          <p:cNvPicPr>
            <a:picLocks noChangeAspect="1"/>
          </p:cNvPicPr>
          <p:nvPr/>
        </p:nvPicPr>
        <p:blipFill>
          <a:blip r:embed="rId5"/>
          <a:stretch>
            <a:fillRect/>
          </a:stretch>
        </p:blipFill>
        <p:spPr>
          <a:xfrm>
            <a:off x="793198" y="1005840"/>
            <a:ext cx="7557602" cy="2356806"/>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Net profit and net loss, the month</a:t>
            </a:r>
            <a:endParaRPr lang="en-US" sz="2700" dirty="0"/>
          </a:p>
        </p:txBody>
      </p:sp>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700974"/>
            <a:ext cx="3703320" cy="898457"/>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lost $41k, against a $53k loss last September and a $21k profit the September before.</a:t>
            </a:r>
            <a:endParaRPr lang="en-US" sz="850"/>
          </a:p>
          <a:p>
            <a:pPr marL="342900" indent="-342900">
              <a:lnSpc>
                <a:spcPts val="1050"/>
              </a:lnSpc>
              <a:spcAft>
                <a:spcPts val="400"/>
              </a:spcAft>
              <a:buSzPct val="100000"/>
              <a:buChar char="•"/>
            </a:pPr>
            <a:r>
              <a:rPr lang="en-US" sz="1000">
                <a:solidFill>
                  <a:srgbClr val="3A4453"/>
                </a:solidFill>
              </a:rPr>
              <a:t>This September is $11k better than the same month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700974"/>
            <a:ext cx="3703320" cy="898457"/>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Three Septembers and only one above the line, which is FY25.</a:t>
            </a:r>
            <a:endParaRPr lang="en-US" sz="850"/>
          </a:p>
          <a:p>
            <a:pPr marL="342900" indent="-342900">
              <a:lnSpc>
                <a:spcPts val="1050"/>
              </a:lnSpc>
              <a:spcAft>
                <a:spcPts val="400"/>
              </a:spcAft>
              <a:buSzPct val="100000"/>
              <a:buChar char="•"/>
            </a:pPr>
            <a:r>
              <a:rPr lang="en-US" sz="1000">
                <a:solidFill>
                  <a:srgbClr val="3A4453"/>
                </a:solidFill>
              </a:rPr>
              <a:t>September revenue was the highest of the three at $562k, so the loss is a margin problem rather than a revenue problem.</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profit_qtr" descr="profit_qtr.png"/>
          <p:cNvPicPr>
            <a:picLocks noChangeAspect="1"/>
          </p:cNvPicPr>
          <p:nvPr/>
        </p:nvPicPr>
        <p:blipFill>
          <a:blip r:embed="rId3"/>
          <a:stretch>
            <a:fillRect/>
          </a:stretch>
        </p:blipFill>
        <p:spPr>
          <a:xfrm>
            <a:off x="522419" y="1005840"/>
            <a:ext cx="8099161" cy="2525689"/>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Net profit and net loss, the quarter</a:t>
            </a:r>
            <a:endParaRPr lang="en-US" sz="2700" dirty="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quarter lost $6k, against a $85k loss last year and a $35k profit the year before.</a:t>
            </a:r>
            <a:endParaRPr lang="en-US" sz="850"/>
          </a:p>
          <a:p>
            <a:pPr marL="342900" indent="-342900">
              <a:lnSpc>
                <a:spcPts val="1050"/>
              </a:lnSpc>
              <a:spcAft>
                <a:spcPts val="400"/>
              </a:spcAft>
              <a:buSzPct val="100000"/>
              <a:buChar char="•"/>
            </a:pPr>
            <a:r>
              <a:rPr lang="en-US" sz="1000">
                <a:solidFill>
                  <a:srgbClr val="3A4453"/>
                </a:solidFill>
              </a:rPr>
              <a:t>That is $80k better than last year and within $6k of breaking even.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It is still $229k below the budget, which had the quarter at a $223k profit.</a:t>
            </a:r>
            <a:endParaRPr lang="en-US" sz="850"/>
          </a:p>
          <a:p>
            <a:pPr marL="342900" indent="-342900">
              <a:lnSpc>
                <a:spcPts val="1050"/>
              </a:lnSpc>
              <a:spcAft>
                <a:spcPts val="400"/>
              </a:spcAft>
              <a:buSzPct val="100000"/>
              <a:buChar char="•"/>
            </a:pPr>
            <a:r>
              <a:rPr lang="en-US" sz="1000">
                <a:solidFill>
                  <a:srgbClr val="3A4453"/>
                </a:solidFill>
              </a:rPr>
              <a:t>Quarter revenue was the highest of the three at $1,624k, so again the gap is margin.</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Department result, Sep 26</a:t>
            </a:r>
            <a:endParaRPr lang="en-US" sz="2700" dirty="0"/>
          </a:p>
        </p:txBody>
      </p:sp>
      <p:pic>
        <p:nvPicPr>
          <p:cNvPr id="4" name="snip dept_result" descr="/home/user/Claude/deck/snips/dept_result.png"/>
          <p:cNvPicPr>
            <a:picLocks noChangeAspect="1"/>
          </p:cNvPicPr>
          <p:nvPr/>
        </p:nvPicPr>
        <p:blipFill>
          <a:blip r:embed="rId3"/>
          <a:stretch>
            <a:fillRect/>
          </a:stretch>
        </p:blipFill>
        <p:spPr>
          <a:xfrm>
            <a:off x="502920" y="1346681"/>
            <a:ext cx="8138160" cy="1675122"/>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Support generated a $29k profit on $243k revenue after its allocated overheads.</a:t>
            </a:r>
            <a:endParaRPr lang="en-US" sz="850"/>
          </a:p>
          <a:p>
            <a:pPr marL="342900" indent="-342900">
              <a:lnSpc>
                <a:spcPts val="1050"/>
              </a:lnSpc>
              <a:spcAft>
                <a:spcPts val="300"/>
              </a:spcAft>
              <a:buSzPct val="100000"/>
              <a:buChar char="•"/>
            </a:pPr>
            <a:r>
              <a:rPr lang="en-US" sz="1000">
                <a:solidFill>
                  <a:srgbClr val="3A4453"/>
                </a:solidFill>
              </a:rPr>
              <a:t>Events achieved a 78% gross margin, but recorded a $54k loss after $111k in allocated overheads and $73k revenue.</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Integration delivered $235k revenue against a $59k budget. A 10% gross margin limited the final profit to $10k.</a:t>
            </a:r>
            <a:endParaRPr lang="en-US" sz="850"/>
          </a:p>
          <a:p>
            <a:pPr marL="342900" indent="-342900">
              <a:lnSpc>
                <a:spcPts val="1050"/>
              </a:lnSpc>
              <a:spcAft>
                <a:spcPts val="300"/>
              </a:spcAft>
              <a:buSzPct val="100000"/>
              <a:buChar char="•"/>
            </a:pPr>
            <a:r>
              <a:rPr lang="en-US" sz="1000">
                <a:solidFill>
                  <a:srgbClr val="3A4453"/>
                </a:solidFill>
              </a:rPr>
              <a:t>Consulting generated $4k revenue against approximately $20k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The three departments, Sep 26</a:t>
            </a:r>
            <a:endParaRPr lang="en-US" sz="2700" dirty="0"/>
          </a:p>
        </p:txBody>
      </p:sp>
      <p:pic>
        <p:nvPicPr>
          <p:cNvPr id="4" name="snip dept_three" descr="/home/user/Claude/deck/snips/dept_three.png"/>
          <p:cNvPicPr>
            <a:picLocks noChangeAspect="1"/>
          </p:cNvPicPr>
          <p:nvPr/>
        </p:nvPicPr>
        <p:blipFill>
          <a:blip r:embed="rId3"/>
          <a:stretch>
            <a:fillRect/>
          </a:stretch>
        </p:blipFill>
        <p:spPr>
          <a:xfrm>
            <a:off x="502920" y="1525850"/>
            <a:ext cx="8138160" cy="1316784"/>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1000">
                <a:solidFill>
                  <a:srgbClr val="3A4453"/>
                </a:solidFill>
              </a:rPr>
              <a:t>Support generated $29k profit on $243k revenue and is the only major group covering its allocated overheads.</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a 78% gross margin on $81k revenue, but recorded a $61k loss after $124k of overheads.</a:t>
            </a:r>
            <a:endParaRPr lang="en-US" sz="850"/>
          </a:p>
          <a:p>
            <a:pPr marL="342900" indent="-342900">
              <a:lnSpc>
                <a:spcPts val="1050"/>
              </a:lnSpc>
              <a:spcAft>
                <a:spcPts val="300"/>
              </a:spcAft>
              <a:buSzPct val="100000"/>
              <a:buChar char="•"/>
            </a:pPr>
            <a:r>
              <a:rPr lang="en-US" sz="1000">
                <a:solidFill>
                  <a:srgbClr val="3A4453"/>
                </a:solidFill>
              </a:rPr>
              <a:t>The combined Consulting group generated $238k revenue against an $82k budget. Its 10% gross margin contributed to a $9k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7" name="snip dept_Support" descr="dept_Support.png"/>
          <p:cNvPicPr>
            <a:picLocks noChangeAspect="1"/>
          </p:cNvPicPr>
          <p:nvPr/>
        </p:nvPicPr>
        <p:blipFill>
          <a:blip r:embed="rId3"/>
          <a:stretch>
            <a:fillRect/>
          </a:stretch>
        </p:blipFill>
        <p:spPr>
          <a:xfrm>
            <a:off x="968754" y="1005840"/>
            <a:ext cx="7206491" cy="213388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Support, Sep 26</a:t>
            </a:r>
            <a:endParaRPr lang="en-US" sz="2700" dirty="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1000">
                <a:solidFill>
                  <a:srgbClr val="3A4453"/>
                </a:solidFill>
              </a:rPr>
              <a:t>Gross margin was 41.7%, compared with 41.0% in September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After $72k of allocated overheads, Support recorded a $29k profit.</a:t>
            </a:r>
            <a:endParaRPr lang="en-US" sz="850"/>
          </a:p>
          <a:p>
            <a:pPr marL="342900" indent="-342900">
              <a:lnSpc>
                <a:spcPts val="1050"/>
              </a:lnSpc>
              <a:spcAft>
                <a:spcPts val="400"/>
              </a:spcAft>
              <a:buSzPct val="100000"/>
              <a:buChar char="•"/>
            </a:pPr>
            <a:r>
              <a:rPr lang="en-US" sz="1000">
                <a:solidFill>
                  <a:srgbClr val="3A4453"/>
                </a:solidFill>
              </a:rPr>
              <a:t>Its allocated office wages were $42k, reflecting the established allocation method.</a:t>
            </a:r>
            <a:endParaRPr lang="en-US" sz="850"/>
          </a:p>
          <a:p>
            <a:pPr marL="342900" indent="-342900">
              <a:lnSpc>
                <a:spcPts val="1050"/>
              </a:lnSpc>
              <a:spcAft>
                <a:spcPts val="400"/>
              </a:spcAft>
              <a:buSzPct val="100000"/>
              <a:buChar char="•"/>
            </a:pPr>
            <a:r>
              <a:rPr lang="en-US" sz="1000">
                <a:solidFill>
                  <a:srgbClr val="3A4453"/>
                </a:solidFill>
              </a:rPr>
              <a:t>Chargeable utilisation reached 91.2%, above the 88% target and the strongest result across the groups.</a:t>
            </a:r>
            <a:endParaRPr lang="en-US" sz="85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7" name="snip dept_Events" descr="dept_Events.png"/>
          <p:cNvPicPr>
            <a:picLocks noChangeAspect="1"/>
          </p:cNvPicPr>
          <p:nvPr/>
        </p:nvPicPr>
        <p:blipFill>
          <a:blip r:embed="rId3"/>
          <a:stretch>
            <a:fillRect/>
          </a:stretch>
        </p:blipFill>
        <p:spPr>
          <a:xfrm>
            <a:off x="968754" y="1005840"/>
            <a:ext cx="7206491" cy="213388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Events,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10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1000">
                <a:solidFill>
                  <a:srgbClr val="3A4453"/>
                </a:solidFill>
              </a:rPr>
              <a:t>Despite this, Events recorded a $54k loss after $111k of allocated overheads.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Approximately $72k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1000">
                <a:solidFill>
                  <a:srgbClr val="3A4453"/>
                </a:solidFill>
              </a:rPr>
              <a:t>The team recorded 333 hours of leave and 241 billable hours, highlighting reduced available delivery capacity.</a:t>
            </a:r>
            <a:endParaRPr lang="en-US" sz="9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7" name="snip dept_Video" descr="dept_Video.png"/>
          <p:cNvPicPr>
            <a:picLocks noChangeAspect="1"/>
          </p:cNvPicPr>
          <p:nvPr/>
        </p:nvPicPr>
        <p:blipFill>
          <a:blip r:embed="rId3"/>
          <a:stretch>
            <a:fillRect/>
          </a:stretch>
        </p:blipFill>
        <p:spPr>
          <a:xfrm>
            <a:off x="683582" y="1005840"/>
            <a:ext cx="7776835" cy="230276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Video, Sep 26</a:t>
            </a:r>
            <a:endParaRPr lang="en-US" sz="2700"/>
          </a:p>
        </p:txBody>
      </p:sp>
      <p:sp>
        <p:nvSpPr>
          <p:cNvPr id="6" name="commentary panel"/>
          <p:cNvSpPr/>
          <p:nvPr/>
        </p:nvSpPr>
        <p:spPr>
          <a:xfrm>
            <a:off x="502920" y="3400043"/>
            <a:ext cx="8138160" cy="1226820"/>
          </a:xfrm>
          <a:prstGeom prst="rect">
            <a:avLst/>
          </a:prstGeom>
          <a:solidFill>
            <a:srgbClr val="E8F9F8"/>
          </a:solidFill>
          <a:ln/>
        </p:spPr>
        <p:txBody>
          <a:bodyPr/>
          <a:lstStyle/>
          <a:p>
            <a:endParaRPr lang="en-AU"/>
          </a:p>
        </p:txBody>
      </p:sp>
      <p:sp>
        <p:nvSpPr>
          <p:cNvPr id="7" name="Text 4"/>
          <p:cNvSpPr txBox="1"/>
          <p:nvPr/>
        </p:nvSpPr>
        <p:spPr>
          <a:xfrm>
            <a:off x="685800" y="347319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646931"/>
            <a:ext cx="3703320" cy="952500"/>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100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1000">
                <a:solidFill>
                  <a:srgbClr val="3A4453"/>
                </a:solidFill>
              </a:rPr>
              <a:t>However, this produced only $6k in gross profit against approximately $13k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646931"/>
            <a:ext cx="3703320" cy="952500"/>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1000">
                <a:solidFill>
                  <a:srgbClr val="3A4453"/>
                </a:solidFill>
              </a:rPr>
              <a:t>Only 24.5 billable hours were recorded for September, indicating limited activity.</a:t>
            </a:r>
            <a:endParaRPr lang="en-US" sz="95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7" name="snip dept_Integration" descr="dept_Integration.png"/>
          <p:cNvPicPr>
            <a:picLocks noChangeAspect="1"/>
          </p:cNvPicPr>
          <p:nvPr/>
        </p:nvPicPr>
        <p:blipFill>
          <a:blip r:embed="rId3"/>
          <a:stretch>
            <a:fillRect/>
          </a:stretch>
        </p:blipFill>
        <p:spPr>
          <a:xfrm>
            <a:off x="968754" y="1005840"/>
            <a:ext cx="7206491" cy="213388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Integration,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10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1000">
                <a:solidFill>
                  <a:srgbClr val="3A4453"/>
                </a:solidFill>
              </a:rPr>
              <a:t>This resulted in approximately $24k gross profit, despite the strong revenue result.</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After $13k of overheads, Integration reported a $10k profit.</a:t>
            </a:r>
            <a:endParaRPr lang="en-US" sz="900"/>
          </a:p>
          <a:p>
            <a:pPr marL="342900" indent="-342900">
              <a:lnSpc>
                <a:spcPts val="1150"/>
              </a:lnSpc>
              <a:spcAft>
                <a:spcPts val="400"/>
              </a:spcAft>
              <a:buSzPct val="100000"/>
              <a:buChar char="•"/>
            </a:pPr>
            <a:r>
              <a:rPr lang="en-US" sz="1000">
                <a:solidFill>
                  <a:srgbClr val="3A4453"/>
                </a:solidFill>
              </a:rPr>
              <a:t>Only 10 billable hours were recorded, indicating that the revenue was mainly driven by equipment supply rather than labour delivery.</a:t>
            </a:r>
            <a:endParaRPr lang="en-US" sz="9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7" name="snip dept_Consulting" descr="dept_Consulting.png"/>
          <p:cNvPicPr>
            <a:picLocks noChangeAspect="1"/>
          </p:cNvPicPr>
          <p:nvPr/>
        </p:nvPicPr>
        <p:blipFill>
          <a:blip r:embed="rId3"/>
          <a:stretch>
            <a:fillRect/>
          </a:stretch>
        </p:blipFill>
        <p:spPr>
          <a:xfrm>
            <a:off x="968754" y="1005840"/>
            <a:ext cx="7206491" cy="213388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Consulting,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1000">
                <a:solidFill>
                  <a:srgbClr val="3A4453"/>
                </a:solidFill>
              </a:rPr>
              <a:t>The department recorded a $20k loss after approximately $20k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100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1000">
                <a:solidFill>
                  <a:srgbClr val="3A4453"/>
                </a:solidFill>
              </a:rPr>
              <a:t>Management should review the department's future structure, capacity and commercial viability, including whether to rebuild or combine its activities.</a:t>
            </a:r>
            <a:endParaRPr lang="en-US" sz="95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7" name="snip rev_by_dept" descr="image.png"/>
          <p:cNvPicPr>
            <a:picLocks noChangeAspect="1"/>
          </p:cNvPicPr>
          <p:nvPr/>
        </p:nvPicPr>
        <p:blipFill>
          <a:blip r:embed="rId5"/>
          <a:stretch>
            <a:fillRect/>
          </a:stretch>
        </p:blipFill>
        <p:spPr>
          <a:xfrm>
            <a:off x="518066" y="1005840"/>
            <a:ext cx="8107866" cy="213388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Revenue against budget and last year</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1000">
                <a:solidFill>
                  <a:srgbClr val="3A4453"/>
                </a:solidFill>
              </a:rPr>
              <a:t>Support recorded $243k revenue against a $248k budget, remaining broadly in line with recurring contracts.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100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1000">
                <a:solidFill>
                  <a:srgbClr val="3A4453"/>
                </a:solidFill>
              </a:rPr>
              <a:t>Total revenue increased 58% against September last year, although the gross margin percentage declined.</a:t>
            </a:r>
            <a:endParaRPr lang="en-US" sz="85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What we spend</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7" name="snip cost_dist" descr="cost_dist.png"/>
          <p:cNvPicPr>
            <a:picLocks noChangeAspect="1"/>
          </p:cNvPicPr>
          <p:nvPr/>
        </p:nvPicPr>
        <p:blipFill>
          <a:blip r:embed="rId5"/>
          <a:stretch>
            <a:fillRect/>
          </a:stretch>
        </p:blipFill>
        <p:spPr>
          <a:xfrm>
            <a:off x="2632893" y="1005840"/>
            <a:ext cx="3878213" cy="196499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Operating cost distribution, year to date</a:t>
            </a:r>
            <a:endParaRPr lang="en-US" sz="2700"/>
          </a:p>
        </p:txBody>
      </p:sp>
      <p:sp>
        <p:nvSpPr>
          <p:cNvPr id="6" name="commentary panel"/>
          <p:cNvSpPr/>
          <p:nvPr/>
        </p:nvSpPr>
        <p:spPr>
          <a:xfrm>
            <a:off x="502920" y="3062278"/>
            <a:ext cx="8138160" cy="1564585"/>
          </a:xfrm>
          <a:prstGeom prst="rect">
            <a:avLst/>
          </a:prstGeom>
          <a:solidFill>
            <a:srgbClr val="E8F9F8"/>
          </a:solidFill>
          <a:ln/>
        </p:spPr>
        <p:txBody>
          <a:bodyPr/>
          <a:lstStyle/>
          <a:p>
            <a:endParaRPr lang="en-AU"/>
          </a:p>
        </p:txBody>
      </p:sp>
      <p:sp>
        <p:nvSpPr>
          <p:cNvPr id="7" name="Text 4"/>
          <p:cNvSpPr txBox="1"/>
          <p:nvPr/>
        </p:nvSpPr>
        <p:spPr>
          <a:xfrm>
            <a:off x="685800" y="313543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9166"/>
            <a:ext cx="3703320" cy="1290265"/>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1000">
                <a:solidFill>
                  <a:srgbClr val="3A4453"/>
                </a:solidFill>
              </a:rPr>
              <a:t>Labour is the largest cost category and has a major impact on profitability.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309166"/>
            <a:ext cx="3703320" cy="1290265"/>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100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1000">
                <a:solidFill>
                  <a:srgbClr val="3A4453"/>
                </a:solidFill>
              </a:rPr>
              <a:t>Material cost reductions would require a review of staffing capacity, utilisation and premises costs, while maintaining service delivery.</a:t>
            </a:r>
            <a:endParaRPr lang="en-US" sz="85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7" name="snip other_opex" descr="other_opex.png"/>
          <p:cNvPicPr>
            <a:picLocks noChangeAspect="1"/>
          </p:cNvPicPr>
          <p:nvPr/>
        </p:nvPicPr>
        <p:blipFill>
          <a:blip r:embed="rId5"/>
          <a:stretch>
            <a:fillRect/>
          </a:stretch>
        </p:blipFill>
        <p:spPr>
          <a:xfrm>
            <a:off x="2264619" y="1005840"/>
            <a:ext cx="4614760" cy="213388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Other operating expenses, year to date</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1000">
                <a:solidFill>
                  <a:srgbClr val="3A4453"/>
                </a:solidFill>
              </a:rPr>
              <a:t>IT network support is the next largest cost at approximately $40k.</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10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1000">
                <a:solidFill>
                  <a:srgbClr val="3A4453"/>
                </a:solidFill>
              </a:rPr>
              <a:t>Any substantial saving in this category would require a review of premises and lease commitments.</a:t>
            </a:r>
            <a:endParaRPr lang="en-US" sz="9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7" name="snip labour_mix" descr="labour_mix.png"/>
          <p:cNvPicPr>
            <a:picLocks noChangeAspect="1"/>
          </p:cNvPicPr>
          <p:nvPr/>
        </p:nvPicPr>
        <p:blipFill>
          <a:blip r:embed="rId5"/>
          <a:stretch>
            <a:fillRect/>
          </a:stretch>
        </p:blipFill>
        <p:spPr>
          <a:xfrm>
            <a:off x="2783712" y="1005840"/>
            <a:ext cx="3576575" cy="213388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Labour mix, year to date</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1000">
                <a:solidFill>
                  <a:srgbClr val="3A4453"/>
                </a:solidFill>
              </a:rPr>
              <a:t>Employee salaries, wages and superannuation account for most direct labour costs.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100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1000">
                <a:solidFill>
                  <a:srgbClr val="3A4453"/>
                </a:solidFill>
              </a:rPr>
              <a:t>Improving the proportion of working hours that can be billed is important for protecting margins.</a:t>
            </a:r>
            <a:endParaRPr lang="en-US" sz="85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Employment expense, office and departmental</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502920" y="1096428"/>
            <a:ext cx="8138160" cy="2175628"/>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1000">
                <a:solidFill>
                  <a:srgbClr val="3A4453"/>
                </a:solidFill>
              </a:rPr>
              <a:t>Support received approximately 67% of the allocation under the rolling-hours methodology.</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100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Customers and cash</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7" name="snip top10" descr="top10.png"/>
          <p:cNvPicPr>
            <a:picLocks noChangeAspect="1"/>
          </p:cNvPicPr>
          <p:nvPr/>
        </p:nvPicPr>
        <p:blipFill>
          <a:blip r:embed="rId5"/>
          <a:stretch>
            <a:fillRect/>
          </a:stretch>
        </p:blipFill>
        <p:spPr>
          <a:xfrm>
            <a:off x="2639119" y="1005840"/>
            <a:ext cx="3865761" cy="196499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Top ten customers, year to date</a:t>
            </a:r>
            <a:endParaRPr lang="en-US" sz="2700"/>
          </a:p>
        </p:txBody>
      </p:sp>
      <p:sp>
        <p:nvSpPr>
          <p:cNvPr id="6" name="commentary panel"/>
          <p:cNvSpPr/>
          <p:nvPr/>
        </p:nvSpPr>
        <p:spPr>
          <a:xfrm>
            <a:off x="502920" y="3062278"/>
            <a:ext cx="8138160" cy="1564585"/>
          </a:xfrm>
          <a:prstGeom prst="rect">
            <a:avLst/>
          </a:prstGeom>
          <a:solidFill>
            <a:srgbClr val="E8F9F8"/>
          </a:solidFill>
          <a:ln/>
        </p:spPr>
        <p:txBody>
          <a:bodyPr/>
          <a:lstStyle/>
          <a:p>
            <a:endParaRPr lang="en-AU"/>
          </a:p>
        </p:txBody>
      </p:sp>
      <p:sp>
        <p:nvSpPr>
          <p:cNvPr id="7" name="Text 4"/>
          <p:cNvSpPr txBox="1"/>
          <p:nvPr/>
        </p:nvSpPr>
        <p:spPr>
          <a:xfrm>
            <a:off x="685800" y="313543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9166"/>
            <a:ext cx="3703320" cy="1290265"/>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10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1000">
                <a:solidFill>
                  <a:srgbClr val="3A4453"/>
                </a:solidFill>
              </a:rPr>
              <a:t>Deloitte Services represents approximately 25% of revenue at $402k, creating significant customer concentration risk.</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309166"/>
            <a:ext cx="3703320" cy="1290265"/>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1000">
                <a:solidFill>
                  <a:srgbClr val="3A4453"/>
                </a:solidFill>
              </a:rPr>
              <a:t>Revenue drops considerably beyond the largest customers, highlighting the importance of growing the wider customer base.</a:t>
            </a:r>
            <a:endParaRPr lang="en-US" sz="9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7" name="snip dso_calc" descr="image.png"/>
          <p:cNvPicPr>
            <a:picLocks noChangeAspect="1"/>
          </p:cNvPicPr>
          <p:nvPr/>
        </p:nvPicPr>
        <p:blipFill>
          <a:blip r:embed="rId3"/>
          <a:stretch>
            <a:fillRect/>
          </a:stretch>
        </p:blipFill>
        <p:spPr>
          <a:xfrm>
            <a:off x="2520006" y="1005840"/>
            <a:ext cx="4103987" cy="213388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How long customers take to pay</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7" name="snip dso_who" descr="image.png"/>
          <p:cNvPicPr>
            <a:picLocks noChangeAspect="1"/>
          </p:cNvPicPr>
          <p:nvPr/>
        </p:nvPicPr>
        <p:blipFill>
          <a:blip r:embed="rId3"/>
          <a:stretch>
            <a:fillRect/>
          </a:stretch>
        </p:blipFill>
        <p:spPr>
          <a:xfrm>
            <a:off x="3107424" y="1005840"/>
            <a:ext cx="2929151" cy="196499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Who owes us the most</a:t>
            </a:r>
            <a:endParaRPr lang="en-US" sz="2700"/>
          </a:p>
        </p:txBody>
      </p:sp>
      <p:sp>
        <p:nvSpPr>
          <p:cNvPr id="6" name="commentary panel"/>
          <p:cNvSpPr/>
          <p:nvPr/>
        </p:nvSpPr>
        <p:spPr>
          <a:xfrm>
            <a:off x="502920" y="3062278"/>
            <a:ext cx="8138160" cy="1564585"/>
          </a:xfrm>
          <a:prstGeom prst="rect">
            <a:avLst/>
          </a:prstGeom>
          <a:solidFill>
            <a:srgbClr val="E8F9F8"/>
          </a:solidFill>
          <a:ln/>
        </p:spPr>
        <p:txBody>
          <a:bodyPr/>
          <a:lstStyle/>
          <a:p>
            <a:endParaRPr lang="en-AU"/>
          </a:p>
        </p:txBody>
      </p:sp>
      <p:sp>
        <p:nvSpPr>
          <p:cNvPr id="7" name="Text 4"/>
          <p:cNvSpPr txBox="1"/>
          <p:nvPr/>
        </p:nvSpPr>
        <p:spPr>
          <a:xfrm>
            <a:off x="685800" y="313543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9166"/>
            <a:ext cx="3703320" cy="1290265"/>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1000">
                <a:solidFill>
                  <a:srgbClr val="3A4453"/>
                </a:solidFill>
              </a:rPr>
              <a:t>Together with Deloitte Services P/L for Deloitte Services Trust at $132k, the two account for approximately 49% of receivables.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309166"/>
            <a:ext cx="3703320" cy="1290265"/>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100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1000">
                <a:solidFill>
                  <a:srgbClr val="3A4453"/>
                </a:solidFill>
              </a:rPr>
              <a:t>A targeted collections plan with clear owners and follow-up dates is likely to be more effective than a broad reminder process alone.</a:t>
            </a:r>
            <a:endParaRPr lang="en-US" sz="95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Chargeable per cent, Sep 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491681"/>
            <a:ext cx="8138160" cy="1385122"/>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1000">
                <a:solidFill>
                  <a:srgbClr val="3A4453"/>
                </a:solidFill>
              </a:rPr>
              <a:t>Support achieved 91.2% against an 88.0% target, exceeding the target by 3.2 percentage points.</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100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7" name="snip util_chart" descr="util_chart.png"/>
          <p:cNvPicPr>
            <a:picLocks noChangeAspect="1"/>
          </p:cNvPicPr>
          <p:nvPr/>
        </p:nvPicPr>
        <p:blipFill>
          <a:blip r:embed="rId5"/>
          <a:stretch>
            <a:fillRect/>
          </a:stretch>
        </p:blipFill>
        <p:spPr>
          <a:xfrm>
            <a:off x="559702" y="1005840"/>
            <a:ext cx="8024594" cy="213388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How each department spent its hours,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supporting its positive financial result.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100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1000">
                <a:solidFill>
                  <a:srgbClr val="3A4453"/>
                </a:solidFill>
              </a:rPr>
              <a:t>The non-billable and leave portions highlight opportunities to improve workforce planning and billable utilisation.</a:t>
            </a:r>
            <a:endParaRPr lang="en-US" sz="85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7" name="snip util_three" descr="util_three.png"/>
          <p:cNvPicPr>
            <a:picLocks noChangeAspect="1"/>
          </p:cNvPicPr>
          <p:nvPr/>
        </p:nvPicPr>
        <p:blipFill>
          <a:blip r:embed="rId5"/>
          <a:stretch>
            <a:fillRect/>
          </a:stretch>
        </p:blipFill>
        <p:spPr>
          <a:xfrm>
            <a:off x="587282" y="1005840"/>
            <a:ext cx="7969434" cy="196499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Hours, the three departments, Sep 26</a:t>
            </a:r>
            <a:endParaRPr lang="en-US" sz="2700"/>
          </a:p>
        </p:txBody>
      </p:sp>
      <p:sp>
        <p:nvSpPr>
          <p:cNvPr id="6" name="commentary panel"/>
          <p:cNvSpPr/>
          <p:nvPr/>
        </p:nvSpPr>
        <p:spPr>
          <a:xfrm>
            <a:off x="502920" y="3062278"/>
            <a:ext cx="8138160" cy="1564585"/>
          </a:xfrm>
          <a:prstGeom prst="rect">
            <a:avLst/>
          </a:prstGeom>
          <a:solidFill>
            <a:srgbClr val="E8F9F8"/>
          </a:solidFill>
          <a:ln/>
        </p:spPr>
        <p:txBody>
          <a:bodyPr/>
          <a:lstStyle/>
          <a:p>
            <a:endParaRPr lang="en-AU"/>
          </a:p>
        </p:txBody>
      </p:sp>
      <p:sp>
        <p:nvSpPr>
          <p:cNvPr id="7" name="Text 4"/>
          <p:cNvSpPr txBox="1"/>
          <p:nvPr/>
        </p:nvSpPr>
        <p:spPr>
          <a:xfrm>
            <a:off x="685800" y="313543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9166"/>
            <a:ext cx="3703320" cy="1290265"/>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1000">
                <a:solidFill>
                  <a:srgbClr val="3A4453"/>
                </a:solidFill>
              </a:rPr>
              <a:t>Production recorded 265 billable hours, 257 non-billable hours and 333 hours of leave.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309166"/>
            <a:ext cx="3703320" cy="1290265"/>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1000">
                <a:solidFill>
                  <a:srgbClr val="3A4453"/>
                </a:solidFill>
              </a:rPr>
              <a:t>Each bar is scaled separately, as Support has substantially more recorded hours than the other groups.</a:t>
            </a:r>
            <a:endParaRPr lang="en-US" sz="85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7" name="snip income_month" descr="income_month.png"/>
          <p:cNvPicPr>
            <a:picLocks noChangeAspect="1"/>
          </p:cNvPicPr>
          <p:nvPr/>
        </p:nvPicPr>
        <p:blipFill>
          <a:blip r:embed="rId5"/>
          <a:stretch>
            <a:fillRect/>
          </a:stretch>
        </p:blipFill>
        <p:spPr>
          <a:xfrm>
            <a:off x="543882" y="1005840"/>
            <a:ext cx="8056234" cy="213388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Revenue by month against budget</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10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1000">
                <a:solidFill>
                  <a:srgbClr val="3A4453"/>
                </a:solidFill>
              </a:rPr>
              <a:t>October revenue is budgeted at $950k, well above the highest actual month recorded so far this year.</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1000">
                <a:solidFill>
                  <a:srgbClr val="3A4453"/>
                </a:solidFill>
              </a:rPr>
              <a:t>Recommend preparing an updated rolling forecast using actual delivery capacity and achievable gross margins.</a:t>
            </a:r>
            <a:endParaRPr lang="en-US" sz="90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SUMMARY AND ACTIONS</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What we agreed</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Suggested by</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35</a:t>
            </a:fld>
            <a:endParaRPr lang="en-US"/>
          </a:p>
        </p:txBody>
      </p:sp>
      <p:pic>
        <p:nvPicPr>
          <p:cNvPr id="32"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8"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9"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06</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463040" y="1874520"/>
            <a:ext cx="5943600" cy="502920"/>
          </a:xfrm>
          <a:prstGeom prst="rect">
            <a:avLst/>
          </a:prstGeom>
          <a:noFill/>
          <a:ln/>
        </p:spPr>
        <p:txBody>
          <a:bodyPr wrap="square" lIns="0" tIns="0" rIns="0" bIns="0" rtlCol="0" anchor="ctr"/>
          <a:lstStyle/>
          <a:p>
            <a:pPr marL="0" indent="0">
              <a:buNone/>
            </a:pPr>
            <a:r>
              <a:rPr lang="en-US" sz="2300" b="1"/>
              <a:t>Links </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463040" y="280949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463040" y="2269305"/>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3"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4"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3400" b="1">
                <a:solidFill>
                  <a:srgbClr val="FFFFFF"/>
                </a:solidFill>
              </a:rPr>
              <a:t>cts</a:t>
            </a:r>
            <a:endParaRPr lang="en-US" sz="340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0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7EF5184D-7A02-4F38-A067-CB9CBB93537D}">
  <ds:schemaRefs>
    <ds:schemaRef ds:uri="http://schemas.microsoft.com/sharepoint/v3/contenttype/forms"/>
  </ds:schemaRefs>
</ds:datastoreItem>
</file>

<file path=customXml/itemProps2.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otalTime>0</TotalTime>
  <Words>10220</Words>
  <Application>Microsoft Office PowerPoint</Application>
  <PresentationFormat>On-screen Show (16:9)</PresentationFormat>
  <Paragraphs>772</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lastModifiedBy>Danica Nelson</cp:lastModifiedBy>
  <cp:revision>2</cp:revision>
  <cp:lastPrinted>2026-10-20T04:14:11Z</cp:lastPrinted>
  <dcterms:created xsi:type="dcterms:W3CDTF">2026-10-18T22:46:07Z</dcterms:created>
  <dcterms:modified xsi:type="dcterms:W3CDTF">2026-10-22T02:01:31Z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