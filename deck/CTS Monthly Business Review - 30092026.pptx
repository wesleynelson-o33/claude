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720840" y="3246120"/>
            <a:ext cx="1874519" cy="1874519"/>
          </a:xfrm>
          <a:prstGeom prst="ellipse">
            <a:avLst/>
          </a:prstGeom>
          <a:solidFill>
            <a:srgbClr val="F33844">
              <a:alpha val="55000"/>
            </a:srgbClr>
          </a:solidFill>
          <a:ln/>
        </p:spPr>
        <p:txBody>
          <a:bodyPr/>
          <a:lstStyle/>
          <a:p>
            <a:endParaRPr lang="en-AU"/>
          </a:p>
        </p:txBody>
      </p:sp>
      <p:sp>
        <p:nvSpPr>
          <p:cNvPr id="2" name="dot 1"/>
          <p:cNvSpPr/>
          <p:nvPr/>
        </p:nvSpPr>
        <p:spPr>
          <a:xfrm>
            <a:off x="7360920" y="1234440"/>
            <a:ext cx="1554480" cy="1554480"/>
          </a:xfrm>
          <a:prstGeom prst="ellipse">
            <a:avLst/>
          </a:prstGeom>
          <a:solidFill>
            <a:srgbClr val="6D71FF">
              <a:alpha val="55000"/>
            </a:srgbClr>
          </a:solidFill>
          <a:ln/>
        </p:spPr>
        <p:txBody>
          <a:bodyPr/>
          <a:lstStyle/>
          <a:p>
            <a:endParaRPr lang="en-AU"/>
          </a:p>
        </p:txBody>
      </p:sp>
      <p:sp>
        <p:nvSpPr>
          <p:cNvPr id="2" name="dot 0"/>
          <p:cNvSpPr/>
          <p:nvPr/>
        </p:nvSpPr>
        <p:spPr>
          <a:xfrm>
            <a:off x="6035040" y="22402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pic>
        <p:nvPicPr>
          <p:cNvPr id="4" name="snip pl_result" descr="/home/user/Claude/deck/snips/pl_result.png"/>
          <p:cNvPicPr>
            <a:picLocks noChangeAspect="1"/>
          </p:cNvPicPr>
          <p:nvPr/>
        </p:nvPicPr>
        <p:blipFill>
          <a:blip r:embed="rId3"/>
          <a:stretch>
            <a:fillRect/>
          </a:stretch>
        </p:blipFill>
        <p:spPr>
          <a:xfrm>
            <a:off x="694851" y="1444752"/>
            <a:ext cx="5193979"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8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8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80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8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800">
                <a:solidFill>
                  <a:srgbClr val="3A4453"/>
                </a:solidFill>
              </a:rPr>
              <a:t>Revenue reached 81% of the year-to-date budget, while gross profit reached only 69%. Improving gross margin is a priority.</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pic>
        <p:nvPicPr>
          <p:cNvPr id="4" name="snip dept_Support" descr="/home/user/Claude/deck/snips/dept_Support.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850">
                <a:solidFill>
                  <a:srgbClr val="3A4453"/>
                </a:solidFill>
              </a:rPr>
              <a:t>Gross margin was 41.7%, compared with 41.0% in September last year.</a:t>
            </a:r>
            <a:endParaRPr lang="en-US" sz="850"/>
          </a:p>
          <a:p>
            <a:pPr marL="342900" indent="-342900">
              <a:lnSpc>
                <a:spcPts val="1050"/>
              </a:lnSpc>
              <a:spcAft>
                <a:spcPts val="400"/>
              </a:spcAft>
              <a:buSzPct val="100000"/>
              <a:buChar char="•"/>
            </a:pPr>
            <a:r>
              <a:rPr lang="en-US" sz="85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85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850">
                <a:solidFill>
                  <a:srgbClr val="3A4453"/>
                </a:solidFill>
              </a:rPr>
              <a:t>Chargeable utilisation reached 91.2%, above the 88% target and the strongest result across the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pic>
        <p:nvPicPr>
          <p:cNvPr id="4" name="snip dept_Events" descr="/home/user/Claude/deck/snips/dept_Events.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9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9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9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900">
                <a:solidFill>
                  <a:srgbClr val="3A4453"/>
                </a:solidFill>
              </a:rPr>
              <a:t>The team recorded 333 hours of leave and 241 billable hours, highlighting reduced available delivery capacity.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pic>
        <p:nvPicPr>
          <p:cNvPr id="4" name="snip dept_Video" descr="/home/user/Claude/deck/snips/dept_Video.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95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95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95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950">
                <a:solidFill>
                  <a:srgbClr val="3A4453"/>
                </a:solidFill>
              </a:rPr>
              <a:t>Only 24.5 billable hours were recorded for September, indicating limited activity.</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pic>
        <p:nvPicPr>
          <p:cNvPr id="4" name="snip dept_Integration" descr="/home/user/Claude/deck/snips/dept_Integration.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9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9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9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900">
                <a:solidFill>
                  <a:srgbClr val="3A4453"/>
                </a:solidFill>
              </a:rPr>
              <a:t>Only 10 billable hours were recorded, indicating that the revenue was mainly driven by equipment supply rather than labour delivery.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pic>
        <p:nvPicPr>
          <p:cNvPr id="4" name="snip dept_Consulting" descr="/home/user/Claude/deck/snips/dept_Consulting.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9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950">
                <a:solidFill>
                  <a:srgbClr val="3A4453"/>
                </a:solidFill>
              </a:rPr>
              <a:t>The department recorded a $20k loss after approximately $20k of overheads.</a:t>
            </a:r>
            <a:endParaRPr lang="en-US" sz="950"/>
          </a:p>
          <a:p>
            <a:pPr marL="342900" indent="-342900">
              <a:lnSpc>
                <a:spcPts val="1200"/>
              </a:lnSpc>
              <a:spcAft>
                <a:spcPts val="400"/>
              </a:spcAft>
              <a:buSzPct val="100000"/>
              <a:buChar char="•"/>
            </a:pPr>
            <a:r>
              <a:rPr lang="en-US" sz="9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9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950">
                <a:solidFill>
                  <a:srgbClr val="3A4453"/>
                </a:solidFill>
              </a:rPr>
              <a:t>Management should review the department's future structure, capacity and commercial viability, including whether to rebuild or combine its activities.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pic>
        <p:nvPicPr>
          <p:cNvPr id="4" name="snip rev_by_dept" descr="/home/user/Claude/deck/snips/rev_by_dept.png"/>
          <p:cNvPicPr>
            <a:picLocks noChangeAspect="1"/>
          </p:cNvPicPr>
          <p:nvPr/>
        </p:nvPicPr>
        <p:blipFill>
          <a:blip r:embed="rId3"/>
          <a:stretch>
            <a:fillRect/>
          </a:stretch>
        </p:blipFill>
        <p:spPr>
          <a:xfrm>
            <a:off x="502920" y="1444752"/>
            <a:ext cx="5577840" cy="239296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850">
                <a:solidFill>
                  <a:srgbClr val="3A4453"/>
                </a:solidFill>
              </a:rPr>
              <a:t>Support recorded $243k revenue against a $248k budget, remaining broadly in line with recurring contracts.</a:t>
            </a:r>
            <a:endParaRPr lang="en-US" sz="850"/>
          </a:p>
          <a:p>
            <a:pPr marL="342900" indent="-342900">
              <a:lnSpc>
                <a:spcPts val="1050"/>
              </a:lnSpc>
              <a:spcAft>
                <a:spcPts val="400"/>
              </a:spcAft>
              <a:buSzPct val="100000"/>
              <a:buChar char="•"/>
            </a:pPr>
            <a:r>
              <a:rPr lang="en-US" sz="8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8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850">
                <a:solidFill>
                  <a:srgbClr val="3A4453"/>
                </a:solidFill>
              </a:rPr>
              <a:t>Total revenue increased 58% against September last year, although the gross margin percentage declined.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543800" y="2971800"/>
            <a:ext cx="2057400" cy="2057400"/>
          </a:xfrm>
          <a:prstGeom prst="ellipse">
            <a:avLst/>
          </a:prstGeom>
          <a:solidFill>
            <a:srgbClr val="F33844">
              <a:alpha val="55000"/>
            </a:srgbClr>
          </a:solidFill>
          <a:ln/>
        </p:spPr>
        <p:txBody>
          <a:bodyPr/>
          <a:lstStyle/>
          <a:p>
            <a:endParaRPr lang="en-AU"/>
          </a:p>
        </p:txBody>
      </p:sp>
      <p:sp>
        <p:nvSpPr>
          <p:cNvPr id="2" name="dot 1"/>
          <p:cNvSpPr/>
          <p:nvPr/>
        </p:nvSpPr>
        <p:spPr>
          <a:xfrm>
            <a:off x="6126480" y="1508760"/>
            <a:ext cx="2240280" cy="2240280"/>
          </a:xfrm>
          <a:prstGeom prst="ellipse">
            <a:avLst/>
          </a:prstGeom>
          <a:solidFill>
            <a:srgbClr val="3FD0C9">
              <a:alpha val="55000"/>
            </a:srgbClr>
          </a:solidFill>
          <a:ln/>
        </p:spPr>
        <p:txBody>
          <a:bodyPr/>
          <a:lstStyle/>
          <a:p>
            <a:endParaRPr lang="en-AU"/>
          </a:p>
        </p:txBody>
      </p:sp>
      <p:sp>
        <p:nvSpPr>
          <p:cNvPr id="2" name="dot 0"/>
          <p:cNvSpPr/>
          <p:nvPr/>
        </p:nvSpPr>
        <p:spPr>
          <a:xfrm>
            <a:off x="6629400" y="274320"/>
            <a:ext cx="1463040" cy="1463040"/>
          </a:xfrm>
          <a:prstGeom prst="ellipse">
            <a:avLst/>
          </a:prstGeom>
          <a:solidFill>
            <a:srgbClr val="6D71FF">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822960"/>
            <a:ext cx="960120" cy="960120"/>
          </a:xfrm>
          <a:prstGeom prst="ellipse">
            <a:avLst/>
          </a:prstGeom>
          <a:solidFill>
            <a:srgbClr val="6D71FF">
              <a:alpha val="55000"/>
            </a:srgbClr>
          </a:solidFill>
          <a:ln/>
        </p:spPr>
        <p:txBody>
          <a:bodyPr/>
          <a:lstStyle/>
          <a:p>
            <a:endParaRPr lang="en-AU"/>
          </a:p>
        </p:txBody>
      </p:sp>
      <p:sp>
        <p:nvSpPr>
          <p:cNvPr id="2" name="dot 1"/>
          <p:cNvSpPr/>
          <p:nvPr/>
        </p:nvSpPr>
        <p:spPr>
          <a:xfrm>
            <a:off x="7635240" y="685800"/>
            <a:ext cx="1234440" cy="1234440"/>
          </a:xfrm>
          <a:prstGeom prst="ellipse">
            <a:avLst/>
          </a:prstGeom>
          <a:solidFill>
            <a:srgbClr val="3FD0C9">
              <a:alpha val="55000"/>
            </a:srgbClr>
          </a:solidFill>
          <a:ln/>
        </p:spPr>
        <p:txBody>
          <a:bodyPr/>
          <a:lstStyle/>
          <a:p>
            <a:endParaRPr lang="en-AU"/>
          </a:p>
        </p:txBody>
      </p:sp>
      <p:sp>
        <p:nvSpPr>
          <p:cNvPr id="2" name="dot 0"/>
          <p:cNvSpPr/>
          <p:nvPr/>
        </p:nvSpPr>
        <p:spPr>
          <a:xfrm>
            <a:off x="6263640" y="1965960"/>
            <a:ext cx="2697480" cy="2697480"/>
          </a:xfrm>
          <a:prstGeom prst="ellipse">
            <a:avLst/>
          </a:prstGeom>
          <a:solidFill>
            <a:srgbClr val="F33844">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8183879" y="3337560"/>
            <a:ext cx="1508760" cy="1508760"/>
          </a:xfrm>
          <a:prstGeom prst="ellipse">
            <a:avLst/>
          </a:prstGeom>
          <a:solidFill>
            <a:srgbClr val="F33844">
              <a:alpha val="55000"/>
            </a:srgbClr>
          </a:solidFill>
          <a:ln/>
        </p:spPr>
        <p:txBody>
          <a:bodyPr/>
          <a:lstStyle/>
          <a:p>
            <a:endParaRPr lang="en-AU"/>
          </a:p>
        </p:txBody>
      </p:sp>
      <p:sp>
        <p:nvSpPr>
          <p:cNvPr id="2" name="dot 1"/>
          <p:cNvSpPr/>
          <p:nvPr/>
        </p:nvSpPr>
        <p:spPr>
          <a:xfrm>
            <a:off x="6903720" y="2743200"/>
            <a:ext cx="1965960" cy="1965960"/>
          </a:xfrm>
          <a:prstGeom prst="ellipse">
            <a:avLst/>
          </a:prstGeom>
          <a:solidFill>
            <a:srgbClr val="6D71FF">
              <a:alpha val="55000"/>
            </a:srgbClr>
          </a:solidFill>
          <a:ln/>
        </p:spPr>
        <p:txBody>
          <a:bodyPr/>
          <a:lstStyle/>
          <a:p>
            <a:endParaRPr lang="en-AU"/>
          </a:p>
        </p:txBody>
      </p:sp>
      <p:sp>
        <p:nvSpPr>
          <p:cNvPr id="2" name="dot 0"/>
          <p:cNvSpPr/>
          <p:nvPr/>
        </p:nvSpPr>
        <p:spPr>
          <a:xfrm>
            <a:off x="5623560" y="3063240"/>
            <a:ext cx="1600200" cy="160020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629400" y="2880360"/>
            <a:ext cx="1691640" cy="1691640"/>
          </a:xfrm>
          <a:prstGeom prst="ellipse">
            <a:avLst/>
          </a:prstGeom>
          <a:solidFill>
            <a:srgbClr val="3FD0C9">
              <a:alpha val="55000"/>
            </a:srgbClr>
          </a:solidFill>
          <a:ln/>
        </p:spPr>
        <p:txBody>
          <a:bodyPr/>
          <a:lstStyle/>
          <a:p>
            <a:endParaRPr lang="en-AU"/>
          </a:p>
        </p:txBody>
      </p:sp>
      <p:sp>
        <p:nvSpPr>
          <p:cNvPr id="2" name="dot 1"/>
          <p:cNvSpPr/>
          <p:nvPr/>
        </p:nvSpPr>
        <p:spPr>
          <a:xfrm>
            <a:off x="7818120" y="1783080"/>
            <a:ext cx="2148840" cy="2148840"/>
          </a:xfrm>
          <a:prstGeom prst="ellipse">
            <a:avLst/>
          </a:prstGeom>
          <a:solidFill>
            <a:srgbClr val="F33844">
              <a:alpha val="55000"/>
            </a:srgbClr>
          </a:solidFill>
          <a:ln/>
        </p:spPr>
        <p:txBody>
          <a:bodyPr/>
          <a:lstStyle/>
          <a:p>
            <a:endParaRPr lang="en-AU"/>
          </a:p>
        </p:txBody>
      </p:sp>
      <p:sp>
        <p:nvSpPr>
          <p:cNvPr id="2" name="dot 0"/>
          <p:cNvSpPr/>
          <p:nvPr/>
        </p:nvSpPr>
        <p:spPr>
          <a:xfrm>
            <a:off x="6355080" y="1051560"/>
            <a:ext cx="1783080" cy="1783080"/>
          </a:xfrm>
          <a:prstGeom prst="ellipse">
            <a:avLst/>
          </a:prstGeom>
          <a:solidFill>
            <a:srgbClr val="6D71FF">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7178040" y="30632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635240" y="1691640"/>
            <a:ext cx="1874519" cy="1874519"/>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903720" y="502920"/>
            <a:ext cx="1417320" cy="141732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440680" y="2697480"/>
            <a:ext cx="2011680" cy="2011680"/>
          </a:xfrm>
          <a:prstGeom prst="ellipse">
            <a:avLst/>
          </a:prstGeom>
          <a:solidFill>
            <a:srgbClr val="6D71FF">
              <a:alpha val="82000"/>
            </a:srgbClr>
          </a:solidFill>
          <a:ln/>
        </p:spPr>
        <p:txBody>
          <a:bodyPr/>
          <a:lstStyle/>
          <a:p>
            <a:endParaRPr lang="en-AU"/>
          </a:p>
        </p:txBody>
      </p:sp>
      <p:sp>
        <p:nvSpPr>
          <p:cNvPr id="2" name="dot 1"/>
          <p:cNvSpPr/>
          <p:nvPr/>
        </p:nvSpPr>
        <p:spPr>
          <a:xfrm>
            <a:off x="6035040" y="1417320"/>
            <a:ext cx="2377440" cy="2377440"/>
          </a:xfrm>
          <a:prstGeom prst="ellipse">
            <a:avLst/>
          </a:prstGeom>
          <a:solidFill>
            <a:srgbClr val="3FD0C9">
              <a:alpha val="82000"/>
            </a:srgbClr>
          </a:solidFill>
          <a:ln/>
        </p:spPr>
        <p:txBody>
          <a:bodyPr/>
          <a:lstStyle/>
          <a:p>
            <a:endParaRPr lang="en-AU"/>
          </a:p>
        </p:txBody>
      </p:sp>
      <p:sp>
        <p:nvSpPr>
          <p:cNvPr id="2" name="dot 0"/>
          <p:cNvSpPr/>
          <p:nvPr/>
        </p:nvSpPr>
        <p:spPr>
          <a:xfrm>
            <a:off x="4892040" y="411480"/>
            <a:ext cx="1920240" cy="192024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