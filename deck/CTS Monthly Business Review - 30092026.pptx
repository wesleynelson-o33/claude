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502920" y="1115568"/>
            <a:ext cx="8138160" cy="22312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456543"/>
            <a:ext cx="8138160" cy="1170320"/>
          </a:xfrm>
          <a:prstGeom prst="rect">
            <a:avLst/>
          </a:prstGeom>
          <a:solidFill>
            <a:srgbClr val="E8F9F8"/>
          </a:solidFill>
          <a:ln/>
        </p:spPr>
        <p:txBody>
          <a:bodyPr/>
          <a:lstStyle/>
          <a:p>
            <a:endParaRPr lang="en-AU"/>
          </a:p>
        </p:txBody>
      </p:sp>
      <p:sp>
        <p:nvSpPr>
          <p:cNvPr id="7" name="Text 4"/>
          <p:cNvSpPr txBox="1"/>
          <p:nvPr/>
        </p:nvSpPr>
        <p:spPr>
          <a:xfrm>
            <a:off x="685800" y="35296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3431"/>
            <a:ext cx="3703320" cy="896000"/>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65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650">
                <a:solidFill>
                  <a:srgbClr val="3A4453"/>
                </a:solidFill>
              </a:rPr>
              <a:t>The first quarter accounted for 56% of the full-year EBITDA budget, making the current shortfall significant.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703431"/>
            <a:ext cx="3703320" cy="896000"/>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65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65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65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7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7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7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7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7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700">
                <a:solidFill>
                  <a:srgbClr val="3A4453"/>
                </a:solidFill>
              </a:rPr>
              <a:t>Gross margin was 77.6%, a strong result compared with other departments.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7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7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7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700">
                <a:solidFill>
                  <a:srgbClr val="3A4453"/>
                </a:solidFill>
              </a:rPr>
              <a:t>Gross margin was 79.6%, the highest of the departments.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70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7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700">
                <a:solidFill>
                  <a:srgbClr val="3A4453"/>
                </a:solidFill>
              </a:rPr>
              <a:t>Only 24.5 billable hours were recorded for September, indicating limited activity.</a:t>
            </a:r>
            <a:endParaRPr lang="en-US" sz="9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700">
                <a:solidFill>
                  <a:srgbClr val="3A4453"/>
                </a:solidFill>
              </a:rPr>
              <a:t>Gross margin was 10.1%, reflecting the high equipment and supplier costs associated with the work.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7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7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7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75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7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7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75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1566715" y="1115568"/>
            <a:ext cx="6010568" cy="257860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803903"/>
            <a:ext cx="8138160" cy="822960"/>
          </a:xfrm>
          <a:prstGeom prst="rect">
            <a:avLst/>
          </a:prstGeom>
          <a:solidFill>
            <a:srgbClr val="E8F9F8"/>
          </a:solidFill>
          <a:ln/>
        </p:spPr>
        <p:txBody>
          <a:bodyPr/>
          <a:lstStyle/>
          <a:p>
            <a:endParaRPr lang="en-AU"/>
          </a:p>
        </p:txBody>
      </p:sp>
      <p:sp>
        <p:nvSpPr>
          <p:cNvPr id="7" name="Text 4"/>
          <p:cNvSpPr txBox="1"/>
          <p:nvPr/>
        </p:nvSpPr>
        <p:spPr>
          <a:xfrm>
            <a:off x="685800" y="387705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4050791"/>
            <a:ext cx="3703320" cy="548640"/>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6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65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4050791"/>
            <a:ext cx="3703320" cy="548640"/>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6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6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65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