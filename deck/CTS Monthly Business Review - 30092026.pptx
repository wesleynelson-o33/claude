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90" r:id="rId45"/>
    <p:sldId id="291" r:id="rId46"/>
    <p:sldId id="292" r:id="rId47"/>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35.xml"/><Relationship Id="rId47" Type="http://schemas.openxmlformats.org/officeDocument/2006/relationships/slide" Target="slides/slide3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for each closed month, taken from the Cost Analysis tab.</a:t>
            </a:r>
          </a:p>
          <a:p/>
          <a:p>
            <a:r>
              <a:t>July: $459,049 against a budget of $609,277, short by $150,228 or 24.7%.</a:t>
            </a:r>
          </a:p>
          <a:p>
            <a:r>
              <a:t>August: $603,467 against $973,168, short by $369,701 or 38.0%.</a:t>
            </a:r>
          </a:p>
          <a:p>
            <a:r>
              <a:t>September: $561,945 against $413,665, ahead by $148,280 or 35.8%.</a:t>
            </a:r>
          </a:p>
          <a:p/>
          <a:p>
            <a:r>
              <a:t>Year to date: $1,624,460 against $1,996,110, short by $371,650 or 18.6%.</a:t>
            </a:r>
          </a:p>
          <a:p/>
          <a:p>
            <a:r>
              <a:t>The monthly shape matters more than the quarter total. Two thirds of the shortfall is August alone, where the budget asked for $973,168. That is more than the business has billed in any month on record, so the variance reflects the plan as much as the trading.</a:t>
            </a:r>
          </a:p>
          <a:p/>
          <a:p>
            <a:r>
              <a:t>September is the only month ahead of budget, and that came from a single Integration installation completing at a 10.1% gross margin, so it added revenue without adding much profit.</a:t>
            </a:r>
          </a:p>
          <a:p/>
          <a:p>
            <a:r>
              <a:t>Read alongside the previous page, which shows which department billed each month, the two slides together explain the quarter: a steady Support base, one large project landing in September, and a budget that front-loaded the year.</a:t>
            </a:r>
          </a:p>
          <a:p/>
          <a:p>
            <a:r>
              <a:t>The chart takes the closed months only and lengthens as the year goes on. The year to date pair sits on the table beneath it rather than on the chart, because a column five times the height of the others would flatten the months.</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FY27 against FY26, taken from the Cost Analysis tab.</a:t>
            </a:r>
          </a:p>
          <a:p/>
          <a:p>
            <a:r>
              <a:t>FY27: July $459,049, August $603,467, September $561,945.</a:t>
            </a:r>
          </a:p>
          <a:p>
            <a:r>
              <a:t>FY26: July $320,808, August $551,451, September $356,323.</a:t>
            </a:r>
          </a:p>
          <a:p/>
          <a:p>
            <a:r>
              <a:t>FY27 is ahead in each of the three closed months, and ahead by $395,878 or 32.2% for the quarter.</a:t>
            </a:r>
          </a:p>
          <a:p/>
          <a:p>
            <a:r>
              <a:t>The FY27 line stops at September because the months beyond it hold budget rather than actuals, and charting those would show a plan as though it were a result.</a:t>
            </a:r>
          </a:p>
          <a:p/>
          <a:p>
            <a:r>
              <a:t>What FY26's full year shows is worth noting. Its largest month was October at $1,035,562, and its second half ran well below that. The FY27 budget repeats the same shape, with October budgeted at $950,416. If October behaves like the rest of FY27 rather than like FY26's October, the full year gap widens again.</a:t>
            </a:r>
          </a:p>
          <a:p/>
          <a:p>
            <a:r>
              <a:t>On the five year comparison that was asked for. The pack holds two years of actual revenue: FY27 on the P&amp;L FY27 tab and FY26 on the Actual FY26 tab. FY23, FY24 and FY25 are not in the pack and are not in any file I hold. The columns are in place on the tab, shaded, waiting for a paste, and both charts read whichever year columns carry figures, so nothing has to be rebuilt once the exports arrive.</a:t>
            </a:r>
          </a:p>
          <a:p/>
          <a:p>
            <a:r>
              <a:t>What is needed is one Xero profit and loss for each of FY23, FY24 and FY25, set to monthly columns, total income by month. Those three figures per year are all the charts use.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First quarter revenue year on year, taken from the Cost Analysis tab.</a:t>
            </a:r>
          </a:p>
          <a:p/>
          <a:p>
            <a:r>
              <a:t>FY27 first quarter $1,624,460 against FY26 at $1,228,582, which is $395,878 or 32.2% ahead.</a:t>
            </a:r>
          </a:p>
          <a:p/>
          <a:p>
            <a:r>
              <a:t>By department for the FY27 quarter: Support $718,587, Integration $441,414, Events $420,121, Video $40,270 and Consulting $4,068.</a:t>
            </a:r>
          </a:p>
          <a:p/>
          <a:p>
            <a:r>
              <a:t>The growth is genuine on revenue and it is worth saying so, because the rest of this pack is about the shortfall against budget. The business is billing a third more than it did a year ago.</a:t>
            </a:r>
          </a:p>
          <a:p/>
          <a:p>
            <a:r>
              <a:t>What it did not do is reach the result. The margin delivered on that revenue was 38.9% for the quarter, and the first quarter still produced only $5,774 of EBITDA. Revenue growth at this margin does not reach the bottom line.</a:t>
            </a:r>
          </a:p>
          <a:p/>
          <a:p>
            <a:r>
              <a:t>Only FY26 and FY27 are in the pack. The chart shows the years that carry figures, so FY23, FY24 and FY25 will appear as soon as one Xero profit and loss by month is pasted for each of them.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notesSlide" Target="../notesSlides/notesSlide34.xml"/><Relationship Id="rId5" Type="http://schemas.openxmlformats.org/officeDocument/2006/relationships/image" Target="../media/image3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4.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5.png"/><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_budget" descr="rev_ytd.png"/>
          <p:cNvPicPr>
            <a:picLocks noChangeAspect="1"/>
          </p:cNvPicPr>
          <p:nvPr/>
        </p:nvPicPr>
        <p:blipFill>
          <a:blip r:embed="rId5"/>
          <a:stretch>
            <a:fillRect/>
          </a:stretch>
        </p:blipFill>
        <p:spPr>
          <a:xfrm>
            <a:off x="1296646" y="1115568"/>
            <a:ext cx="6550706" cy="2228790"/>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month by month</a:t>
            </a:r>
            <a:endParaRPr lang="en-US" sz="2700"/>
          </a:p>
        </p:txBody>
      </p:sp>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billed $459k against a $609k budget, $150k short.</a:t>
            </a:r>
            <a:endParaRPr lang="en-US" sz="850"/>
          </a:p>
          <a:p>
            <a:pPr marL="342900" indent="-342900">
              <a:lnSpc>
                <a:spcPts val="1050"/>
              </a:lnSpc>
              <a:spcAft>
                <a:spcPts val="400"/>
              </a:spcAft>
              <a:buSzPct val="100000"/>
              <a:buChar char="•"/>
            </a:pPr>
            <a:r>
              <a:rPr lang="en-US" sz="1000">
                <a:solidFill>
                  <a:srgbClr val="3A4453"/>
                </a:solidFill>
              </a:rPr>
              <a:t>August billed $603k against a $973k budget, $370k short.</a:t>
            </a:r>
            <a:endParaRPr lang="en-US" sz="850"/>
          </a:p>
          <a:p>
            <a:pPr marL="342900" indent="-342900">
              <a:lnSpc>
                <a:spcPts val="1050"/>
              </a:lnSpc>
              <a:spcAft>
                <a:spcPts val="400"/>
              </a:spcAft>
              <a:buSzPct val="100000"/>
              <a:buChar char="•"/>
            </a:pPr>
            <a:r>
              <a:rPr lang="en-US" sz="1000">
                <a:solidFill>
                  <a:srgbClr val="3A4453"/>
                </a:solidFill>
              </a:rPr>
              <a:t>September billed $562k against a $414k budget, $148k ahead.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$1,624k against $1,996k, a shortfall of $372k or 18.6%.</a:t>
            </a:r>
            <a:endParaRPr lang="en-US" sz="850"/>
          </a:p>
          <a:p>
            <a:pPr marL="342900" indent="-342900">
              <a:lnSpc>
                <a:spcPts val="1050"/>
              </a:lnSpc>
              <a:spcAft>
                <a:spcPts val="400"/>
              </a:spcAft>
              <a:buSzPct val="100000"/>
              <a:buChar char="•"/>
            </a:pPr>
            <a:r>
              <a:rPr lang="en-US" sz="1000">
                <a:solidFill>
                  <a:srgbClr val="3A4453"/>
                </a:solidFill>
              </a:rPr>
              <a:t>Two thirds of the shortfall is August alone, where the budget asked for more than the business has ever billed in a month.</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years" descr="rev_years.png"/>
          <p:cNvPicPr>
            <a:picLocks noChangeAspect="1"/>
          </p:cNvPicPr>
          <p:nvPr/>
        </p:nvPicPr>
        <p:blipFill>
          <a:blip r:embed="rId3"/>
          <a:stretch>
            <a:fillRect/>
          </a:stretch>
        </p:blipFill>
        <p:spPr>
          <a:xfrm>
            <a:off x="1376065" y="1115568"/>
            <a:ext cx="6391868"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year on year</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FY27 is ahead of FY26 in all three closed months: $459k against $321k, $603k against $551k, $562k against $356k.</a:t>
            </a:r>
            <a:endParaRPr lang="en-US" sz="850"/>
          </a:p>
          <a:p>
            <a:pPr marL="342900" indent="-342900">
              <a:lnSpc>
                <a:spcPts val="1050"/>
              </a:lnSpc>
              <a:spcAft>
                <a:spcPts val="400"/>
              </a:spcAft>
              <a:buSzPct val="100000"/>
              <a:buChar char="•"/>
            </a:pPr>
            <a:r>
              <a:rPr lang="en-US" sz="1000">
                <a:solidFill>
                  <a:srgbClr val="3A4453"/>
                </a:solidFill>
              </a:rPr>
              <a:t>The quarter is $1,624k against $1,229k, up 32%.</a:t>
            </a:r>
            <a:endParaRPr lang="en-US" sz="850"/>
          </a:p>
          <a:p>
            <a:pPr marL="342900" indent="-342900">
              <a:lnSpc>
                <a:spcPts val="1050"/>
              </a:lnSpc>
              <a:spcAft>
                <a:spcPts val="400"/>
              </a:spcAft>
              <a:buSzPct val="100000"/>
              <a:buChar char="•"/>
            </a:pPr>
            <a:r>
              <a:rPr lang="en-US" sz="1000">
                <a:solidFill>
                  <a:srgbClr val="3A4453"/>
                </a:solidFill>
              </a:rPr>
              <a:t>FY26's own shape is the warning. Its largest month was October at $1,036k, and the FY27 budget repeats that pattern.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Only FY26 and FY27 are in the pack. FY23, FY24 and FY25 need one Xero export each.</a:t>
            </a:r>
            <a:endParaRPr lang="en-US" sz="850"/>
          </a:p>
          <a:p>
            <a:pPr marL="342900" indent="-342900">
              <a:lnSpc>
                <a:spcPts val="1050"/>
              </a:lnSpc>
              <a:spcAft>
                <a:spcPts val="400"/>
              </a:spcAft>
              <a:buSzPct val="100000"/>
              <a:buChar char="•"/>
            </a:pPr>
            <a:r>
              <a:rPr lang="en-US" sz="1000">
                <a:solidFill>
                  <a:srgbClr val="3A4453"/>
                </a:solidFill>
              </a:rPr>
              <a:t>The chart reads whichever years have figures, so pasting a year in is all that is needed.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q1" descr="rev_q1.png"/>
          <p:cNvPicPr>
            <a:picLocks noChangeAspect="1"/>
          </p:cNvPicPr>
          <p:nvPr/>
        </p:nvPicPr>
        <p:blipFill>
          <a:blip r:embed="rId3"/>
          <a:stretch>
            <a:fillRect/>
          </a:stretch>
        </p:blipFill>
        <p:spPr>
          <a:xfrm>
            <a:off x="1734604" y="1115568"/>
            <a:ext cx="5674791"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First quarter revenue,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First quarter revenue is $1,624k against $1,229k last year, up $396k or 32%.</a:t>
            </a:r>
            <a:endParaRPr lang="en-US" sz="850"/>
          </a:p>
          <a:p>
            <a:pPr marL="342900" indent="-342900">
              <a:lnSpc>
                <a:spcPts val="1050"/>
              </a:lnSpc>
              <a:spcAft>
                <a:spcPts val="400"/>
              </a:spcAft>
              <a:buSzPct val="100000"/>
              <a:buChar char="•"/>
            </a:pPr>
            <a:r>
              <a:rPr lang="en-US" sz="1000">
                <a:solidFill>
                  <a:srgbClr val="3A4453"/>
                </a:solidFill>
              </a:rPr>
              <a:t>Support contributed $719k of that, Integration $441k and Events $420k.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growth is real on revenue. It did not reach the result, because the margin delivered on it was 38.9%.</a:t>
            </a:r>
            <a:endParaRPr lang="en-US" sz="850"/>
          </a:p>
          <a:p>
            <a:pPr marL="342900" indent="-342900">
              <a:lnSpc>
                <a:spcPts val="1050"/>
              </a:lnSpc>
              <a:spcAft>
                <a:spcPts val="400"/>
              </a:spcAft>
              <a:buSzPct val="100000"/>
              <a:buChar char="•"/>
            </a:pPr>
            <a:r>
              <a:rPr lang="en-US" sz="1000">
                <a:solidFill>
                  <a:srgbClr val="3A4453"/>
                </a:solidFill>
              </a:rPr>
              <a:t>FY23 to FY25 are not in the pack. One Xero profit and loss by month for each year is all that is needed.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