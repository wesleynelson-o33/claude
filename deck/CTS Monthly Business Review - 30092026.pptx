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89" r:id="rId44"/>
    <p:sldId id="290" r:id="rId45"/>
    <p:sldId id="291" r:id="rId46"/>
    <p:sldId id="292" r:id="rId47"/>
    <p:sldId id="293" r:id="rId48"/>
    <p:sldId id="294" r:id="rId4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5.xml"/><Relationship Id="rId34" Type="http://schemas.openxmlformats.org/officeDocument/2006/relationships/slide" Target="slides/slide36.xml"/><Relationship Id="rId35" Type="http://schemas.openxmlformats.org/officeDocument/2006/relationships/slide" Target="slides/slide37.xml"/><Relationship Id="rId36" Type="http://schemas.openxmlformats.org/officeDocument/2006/relationships/slide" Target="slides/slide38.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6.xml"/><Relationship Id="rId45" Type="http://schemas.openxmlformats.org/officeDocument/2006/relationships/slide" Target="slides/slide7.xml"/><Relationship Id="rId46" Type="http://schemas.openxmlformats.org/officeDocument/2006/relationships/slide" Target="slides/slide8.xml"/><Relationship Id="rId47" Type="http://schemas.openxmlformats.org/officeDocument/2006/relationships/slide" Target="slides/slide9.xml"/><Relationship Id="rId48" Type="http://schemas.openxmlformats.org/officeDocument/2006/relationships/slide" Target="slides/slide10.xml"/><Relationship Id="rId49"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p>
            <a:r>
              <a:t>Actual revenue was $459,049 in July, $603,467 in August and $561,945 in September, $1,624,460 for the quarter.</a:t>
            </a:r>
          </a:p>
          <a:p/>
          <a:p>
            <a:r>
              <a:t>Budget for those months was $609,277, $973,168 and $413,665, being $1,996,110 for the quarter. The quarter is therefore $371,650 short of budget.</a:t>
            </a:r>
          </a:p>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p>
            <a:r>
              <a:t>By department for September: Support $242,948, Events $73,304, Video $7,303, Integration $234,858 and Consulting $3,531.</a:t>
            </a:r>
          </a:p>
          <a:p/>
          <a:p>
            <a:r>
              <a:t>Three things the mix shows that a total does not.</a:t>
            </a:r>
          </a:p>
          <a:p/>
          <a:p>
            <a:r>
              <a:t>Support is the base of the business and it barely moves: $235,403, $240,236 and $242,948 across the three months. That is recurring contract income behaving as recurring income should.</a:t>
            </a:r>
          </a:p>
          <a:p/>
          <a:p>
            <a:r>
              <a:t>Integration is the volatility. It billed $112,803 in July, $93,752 in August and $234,858 in September, and the September figure is a single installation completing. It is better read as timing than as growth, particularly as the margin retained on that work is 10.1%.</a:t>
            </a:r>
          </a:p>
          <a:p/>
          <a:p>
            <a:r>
              <a:t>Events moved from $241,371 in August to $73,304 in September, the largest single movement in the quarter, and the reason the company total fell while Integration rose.</a:t>
            </a:r>
          </a:p>
          <a:p/>
          <a:p>
            <a:r>
              <a:t>The chart lengthens by one column each month as the pack closes a month, so it will show the full year by June without being rebuilt.</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for each closed month, taken from the Cost Analysis tab.</a:t>
            </a:r>
          </a:p>
          <a:p/>
          <a:p>
            <a:r>
              <a:t>July: $459,049 against a budget of $609,277, short by $150,228 or 24.7%.</a:t>
            </a:r>
          </a:p>
          <a:p>
            <a:r>
              <a:t>August: $603,467 against $973,168, short by $369,701 or 38.0%.</a:t>
            </a:r>
          </a:p>
          <a:p>
            <a:r>
              <a:t>September: $561,945 against $413,665, ahead by $148,280 or 35.8%.</a:t>
            </a:r>
          </a:p>
          <a:p/>
          <a:p>
            <a:r>
              <a:t>Year to date: $1,624,460 against $1,996,110, short by $371,650 or 18.6%.</a:t>
            </a:r>
          </a:p>
          <a:p/>
          <a:p>
            <a:r>
              <a:t>The monthly shape matters more than the quarter total. Two thirds of the shortfall is August alone, where the budget asked for $973,168. That is more than the business has billed in any month on record, so the variance reflects the plan as much as the trading.</a:t>
            </a:r>
          </a:p>
          <a:p/>
          <a:p>
            <a:r>
              <a:t>September is the only month ahead of budget, and that came from a single Integration installation completing at a 10.1% gross margin, so it added revenue without adding much profit.</a:t>
            </a:r>
          </a:p>
          <a:p/>
          <a:p>
            <a:r>
              <a:t>Read alongside the previous page, which shows which department billed each month, the two slides together explain the quarter: a steady Support base, one large project landing in September, and a budget that front-loaded the year.</a:t>
            </a:r>
          </a:p>
          <a:p/>
          <a:p>
            <a:r>
              <a:t>The chart takes the closed months only and lengthens as the year goes on. The year to date pair sits on the table beneath it rather than on the chart, because a column five times the height of the others would flatten the months.</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for September across three years, taken from the Xero History tab and the Cost Analysis tab.</a:t>
            </a:r>
          </a:p>
          <a:p/>
          <a:p>
            <a:r>
              <a:t>September 2026 $561,945. September 2025 $356,323. September 2024 $440,243.</a:t>
            </a:r>
          </a:p>
          <a:p/>
          <a:p>
            <a:r>
              <a:t>September 2026 is $205,621 or 57.7% ahead of September 2025, and $121,701 or 27.6% ahead of September 2024. September 2025 was itself $83,920 or 19.1% below September 2024.</a:t>
            </a:r>
          </a:p>
          <a:p/>
          <a:p>
            <a:r>
              <a:t>The 57.7% headline is flattering because the year it is measured against was the weakest of the three. FY26 was a down year across the board, and part of what FY27 has done is recover ground rather than break new ground. Against FY25 the same month is 27.6% ahead, which over two years is about 13% a year, and that is the number worth carrying into the reforecast.</a:t>
            </a:r>
          </a:p>
          <a:p/>
          <a:p>
            <a:r>
              <a:t>On the source. FY25 was pulled from Xero on 22 October 2026 as total income by month on the accrual basis, and sits on its own Xero History tab in the pack. FY26 and FY27 are references to the pack's own actuals tabs. Three months were checked against Xero directly and agree: July 2025, August 2025 and September 2025 on the FY26 side, and September 2026 on the FY27 side.</a:t>
            </a:r>
          </a:p>
          <a:p/>
          <a:p>
            <a:r>
              <a:t>A five year comparison was asked for and cannot be produced. Xero only serves the last three financial years, and a request for September 2022 is refused by the API. FY23 and FY24 would have to come from an older copy of the pack or from a saved export. The columns for them are in place on the Cost Analysis tab and the chart reads whichever years carry figures.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p>
            <a:r>
              <a:t>First quarter: FY25 $1,380,102, FY26 $1,228,582, FY27 $1,624,460.</a:t>
            </a:r>
          </a:p>
          <a:p>
            <a:r>
              <a:t>Second quarter: FY25 $2,276,986, FY26 $1,894,997.</a:t>
            </a:r>
          </a:p>
          <a:p>
            <a:r>
              <a:t>Third quarter: FY25 $1,873,339, FY26 $1,303,789.</a:t>
            </a:r>
          </a:p>
          <a:p>
            <a:r>
              <a:t>Fourth quarter: FY25 $1,469,930, FY26 $1,685,818.</a:t>
            </a:r>
          </a:p>
          <a:p/>
          <a:p>
            <a:r>
              <a:t>Three things come out of this that the single quarter comparison could not show.</a:t>
            </a:r>
          </a:p>
          <a:p/>
          <a:p>
            <a:r>
              <a:t>The first is that the quarter just closed is the smallest quarter of the year in both completed years, and FY27 has made it the largest first quarter of the three. That is a genuinely good result and it is worth saying so.</a:t>
            </a:r>
          </a:p>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p>
            <a:r>
              <a:t>FY27 shows one quarter because one quarter has closed. The chart fills in as each quarter closes.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p>
            <a:r>
              <a:t>FY25 totalled $7,000,357 and FY26 $6,113,186, a fall of $887,171 or 12.7%. FY27 stands at $1,624,460 after three months.</a:t>
            </a:r>
          </a:p>
          <a:p/>
          <a:p>
            <a:r>
              <a:t>The fall in FY26 was not confined to one half. The first half was $533,509 or 14.6% below FY25 and the second half $353,662 or 10.6% below.</a:t>
            </a:r>
          </a:p>
          <a:p/>
          <a:p>
            <a:r>
              <a:t>Two features of the shape are worth the board's attention.</a:t>
            </a:r>
          </a:p>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p>
            <a:r>
              <a:t>Xero serves the last three financial years. FY23 and FY24 cannot be pulled, which is why the history begins in July 2024.</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p>
            <a:r>
              <a:t>At September: FY27 $1,624,460, FY26 $1,228,582, FY25 $1,380,102, and the FY27 budget $1,996,110.</a:t>
            </a:r>
          </a:p>
          <a:p/>
          <a:p>
            <a:r>
              <a:t>The year is ahead of both completed years at this point. It is $371,650 or 18.6% behind the budget set for it.</a:t>
            </a:r>
          </a:p>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p>
            <a:r>
              <a:t>That matters now because FY27 is about to enter the same two months, and the budget has December at $344,970 and January at $353,969, both well below what FY25 billed in them.</a:t>
            </a:r>
          </a:p>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33.xml"/><Relationship Id="rId4" Type="http://schemas.openxmlformats.org/officeDocument/2006/relationships/image" Target="../media/image23.png"/><Relationship Id="rId5"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2.png"/><Relationship Id="rId4" Type="http://schemas.openxmlformats.org/officeDocument/2006/relationships/notesSlide" Target="../notesSlides/notesSlide34.xml"/><Relationship Id="rId5" Type="http://schemas.openxmlformats.org/officeDocument/2006/relationships/image" Target="../media/image3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4.png"/><Relationship Id="rId4" Type="http://schemas.openxmlformats.org/officeDocument/2006/relationships/notesSlide" Target="../notesSlides/notesSlide35.xml"/><Relationship Id="rId5"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5.png"/><Relationship Id="rId4" Type="http://schemas.openxmlformats.org/officeDocument/2006/relationships/notesSlide" Target="../notesSlides/notesSlide36.xml"/><Relationship Id="rId5" Type="http://schemas.openxmlformats.org/officeDocument/2006/relationships/image" Target="../media/image37.png"/><Relationship Id="rId6" Type="http://schemas.openxmlformats.org/officeDocument/2006/relationships/image" Target="../media/image3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8.png"/><Relationship Id="rId4" Type="http://schemas.openxmlformats.org/officeDocument/2006/relationships/notesSlide" Target="../notesSlides/notesSlide3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40.png"/><Relationship Id="rId4" Type="http://schemas.openxmlformats.org/officeDocument/2006/relationships/notesSlide" Target="../notesSlides/notesSlide38.xml"/><Relationship Id="rId5" Type="http://schemas.openxmlformats.org/officeDocument/2006/relationships/image" Target="../media/image4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3.png"/><Relationship Id="rId5" Type="http://schemas.openxmlformats.org/officeDocument/2006/relationships/image" Target="../media/image2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3.png"/><Relationship Id="rId5"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 Id="rId4"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1192271" y="1261872"/>
            <a:ext cx="6759456" cy="185956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income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month" descr="rev_month.png"/>
          <p:cNvPicPr>
            <a:picLocks noChangeAspect="1"/>
          </p:cNvPicPr>
          <p:nvPr/>
        </p:nvPicPr>
        <p:blipFill>
          <a:blip r:embed="rId5"/>
          <a:stretch>
            <a:fillRect/>
          </a:stretch>
        </p:blipFill>
        <p:spPr>
          <a:xfrm>
            <a:off x="1655076" y="1115568"/>
            <a:ext cx="5833847"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and department</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month_budget" descr="rev_ytd.png"/>
          <p:cNvPicPr>
            <a:picLocks noChangeAspect="1"/>
          </p:cNvPicPr>
          <p:nvPr/>
        </p:nvPicPr>
        <p:blipFill>
          <a:blip r:embed="rId5"/>
          <a:stretch>
            <a:fillRect/>
          </a:stretch>
        </p:blipFill>
        <p:spPr>
          <a:xfrm>
            <a:off x="1296646" y="1115568"/>
            <a:ext cx="6550706" cy="2228790"/>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month by month</a:t>
            </a:r>
            <a:endParaRPr lang="en-US" sz="2700"/>
          </a:p>
        </p:txBody>
      </p:sp>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00974"/>
            <a:ext cx="3703320" cy="898457"/>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billed $459k against a $609k budget, $150k short.</a:t>
            </a:r>
            <a:endParaRPr lang="en-US" sz="850"/>
          </a:p>
          <a:p>
            <a:pPr marL="342900" indent="-342900">
              <a:lnSpc>
                <a:spcPts val="1050"/>
              </a:lnSpc>
              <a:spcAft>
                <a:spcPts val="400"/>
              </a:spcAft>
              <a:buSzPct val="100000"/>
              <a:buChar char="•"/>
            </a:pPr>
            <a:r>
              <a:rPr lang="en-US" sz="1000">
                <a:solidFill>
                  <a:srgbClr val="3A4453"/>
                </a:solidFill>
              </a:rPr>
              <a:t>August billed $603k against a $973k budget, $370k short.</a:t>
            </a:r>
            <a:endParaRPr lang="en-US" sz="850"/>
          </a:p>
          <a:p>
            <a:pPr marL="342900" indent="-342900">
              <a:lnSpc>
                <a:spcPts val="1050"/>
              </a:lnSpc>
              <a:spcAft>
                <a:spcPts val="400"/>
              </a:spcAft>
              <a:buSzPct val="100000"/>
              <a:buChar char="•"/>
            </a:pPr>
            <a:r>
              <a:rPr lang="en-US" sz="1000">
                <a:solidFill>
                  <a:srgbClr val="3A4453"/>
                </a:solidFill>
              </a:rPr>
              <a:t>September billed $562k against a $414k budget, $148k ahead.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700974"/>
            <a:ext cx="3703320" cy="898457"/>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$1,624k against $1,996k, a shortfall of $372k or 18.6%.</a:t>
            </a:r>
            <a:endParaRPr lang="en-US" sz="850"/>
          </a:p>
          <a:p>
            <a:pPr marL="342900" indent="-342900">
              <a:lnSpc>
                <a:spcPts val="1050"/>
              </a:lnSpc>
              <a:spcAft>
                <a:spcPts val="400"/>
              </a:spcAft>
              <a:buSzPct val="100000"/>
              <a:buChar char="•"/>
            </a:pPr>
            <a:r>
              <a:rPr lang="en-US" sz="1000">
                <a:solidFill>
                  <a:srgbClr val="3A4453"/>
                </a:solidFill>
              </a:rPr>
              <a:t>Two thirds of the shortfall is August alone, where the budget asked for more than the business has ever billed in a month.</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years" descr="rev_years.png"/>
          <p:cNvPicPr>
            <a:picLocks noChangeAspect="1"/>
          </p:cNvPicPr>
          <p:nvPr/>
        </p:nvPicPr>
        <p:blipFill>
          <a:blip r:embed="rId5"/>
          <a:stretch>
            <a:fillRect/>
          </a:stretch>
        </p:blipFill>
        <p:spPr>
          <a:xfrm>
            <a:off x="1734604" y="1115568"/>
            <a:ext cx="5674791"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for the month, year on year</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revenue was $562k, against $356k last September and $440k the September before that.</a:t>
            </a:r>
            <a:endParaRPr lang="en-US" sz="850"/>
          </a:p>
          <a:p>
            <a:pPr marL="342900" indent="-342900">
              <a:lnSpc>
                <a:spcPts val="1050"/>
              </a:lnSpc>
              <a:spcAft>
                <a:spcPts val="400"/>
              </a:spcAft>
              <a:buSzPct val="100000"/>
              <a:buChar char="•"/>
            </a:pPr>
            <a:r>
              <a:rPr lang="en-US" sz="1000">
                <a:solidFill>
                  <a:srgbClr val="3A4453"/>
                </a:solidFill>
              </a:rPr>
              <a:t>The three year shape is a dip and a recovery. September fell 19% between FY25 and FY26, then rose 58% into FY27.</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Measured against FY25 rather than the weak FY26, September is 28% ahead, which is the steadier read on growth.</a:t>
            </a:r>
            <a:endParaRPr lang="en-US" sz="850"/>
          </a:p>
          <a:p>
            <a:pPr marL="342900" indent="-342900">
              <a:lnSpc>
                <a:spcPts val="1050"/>
              </a:lnSpc>
              <a:spcAft>
                <a:spcPts val="400"/>
              </a:spcAft>
              <a:buSzPct val="100000"/>
              <a:buChar char="•"/>
            </a:pPr>
            <a:r>
              <a:rPr lang="en-US" sz="1000">
                <a:solidFill>
                  <a:srgbClr val="3A4453"/>
                </a:solidFill>
              </a:rPr>
              <a:t>Xero holds the last three financial years, so September 2024 is the earliest month available for this comparison.</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q1" descr="xero_qtr.png"/>
          <p:cNvPicPr>
            <a:picLocks noChangeAspect="1"/>
          </p:cNvPicPr>
          <p:nvPr/>
        </p:nvPicPr>
        <p:blipFill>
          <a:blip r:embed="rId6"/>
          <a:stretch>
            <a:fillRect/>
          </a:stretch>
        </p:blipFill>
        <p:spPr>
          <a:xfrm>
            <a:off x="1362886" y="1115568"/>
            <a:ext cx="6418226"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quarter, year on year</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xero_hist" descr="xero_hist.png"/>
          <p:cNvPicPr>
            <a:picLocks noChangeAspect="1"/>
          </p:cNvPicPr>
          <p:nvPr/>
        </p:nvPicPr>
        <p:blipFill>
          <a:blip r:embed="rId3"/>
          <a:stretch>
            <a:fillRect/>
          </a:stretch>
        </p:blipFill>
        <p:spPr>
          <a:xfrm>
            <a:off x="1362886" y="1115568"/>
            <a:ext cx="6418226"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Three years of revenue by month</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xero_cum" descr="xero_cum.png"/>
          <p:cNvPicPr>
            <a:picLocks noChangeAspect="1"/>
          </p:cNvPicPr>
          <p:nvPr/>
        </p:nvPicPr>
        <p:blipFill>
          <a:blip r:embed="rId5"/>
          <a:stretch>
            <a:fillRect/>
          </a:stretch>
        </p:blipFill>
        <p:spPr>
          <a:xfrm>
            <a:off x="1362886" y="1115568"/>
            <a:ext cx="6418226"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year to date, against budget</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5"/>
          <a:stretch>
            <a:fillRect/>
          </a:stretch>
        </p:blipFill>
        <p:spPr>
          <a:xfrm>
            <a:off x="1221933" y="1115568"/>
            <a:ext cx="6700133" cy="183698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cost and profit</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4"/>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Support,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Events,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899746" y="1115568"/>
            <a:ext cx="7344506"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Video, Sep 26</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Integration,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Consulting,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2234229" y="1115568"/>
            <a:ext cx="4675541"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and last year</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4617719" cy="2335216"/>
          </a:xfrm>
          <a:prstGeom prst="rect">
            <a:avLst/>
          </a:prstGeom>
        </p:spPr>
      </p:pic>
      <p:sp>
        <p:nvSpPr>
          <p:cNvPr id="6" name="commentary panel"/>
          <p:cNvSpPr/>
          <p:nvPr/>
        </p:nvSpPr>
        <p:spPr>
          <a:xfrm>
            <a:off x="5349239" y="1463040"/>
            <a:ext cx="3291840" cy="3154680"/>
          </a:xfrm>
          <a:prstGeom prst="rect">
            <a:avLst/>
          </a:prstGeom>
          <a:solidFill>
            <a:srgbClr val="E8F9F8"/>
          </a:solidFill>
          <a:ln/>
        </p:spPr>
        <p:txBody>
          <a:bodyPr/>
          <a:lstStyle/>
          <a:p>
            <a:endParaRPr lang="en-AU"/>
          </a:p>
        </p:txBody>
      </p:sp>
      <p:sp>
        <p:nvSpPr>
          <p:cNvPr id="7" name="Text 4"/>
          <p:cNvSpPr txBox="1"/>
          <p:nvPr/>
        </p:nvSpPr>
        <p:spPr>
          <a:xfrm>
            <a:off x="5532119" y="1627632"/>
            <a:ext cx="29260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532119" y="1901952"/>
            <a:ext cx="292608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349239" cy="2463947"/>
          </a:xfrm>
          <a:prstGeom prst="rect">
            <a:avLst/>
          </a:prstGeom>
        </p:spPr>
      </p:pic>
      <p:sp>
        <p:nvSpPr>
          <p:cNvPr id="6" name="commentary panel"/>
          <p:cNvSpPr/>
          <p:nvPr/>
        </p:nvSpPr>
        <p:spPr>
          <a:xfrm>
            <a:off x="6080759" y="1463040"/>
            <a:ext cx="2560320" cy="3154680"/>
          </a:xfrm>
          <a:prstGeom prst="rect">
            <a:avLst/>
          </a:prstGeom>
          <a:solidFill>
            <a:srgbClr val="E8F9F8"/>
          </a:solidFill>
          <a:ln/>
        </p:spPr>
        <p:txBody>
          <a:bodyPr/>
          <a:lstStyle/>
          <a:p>
            <a:endParaRPr lang="en-AU"/>
          </a:p>
        </p:txBody>
      </p:sp>
      <p:sp>
        <p:nvSpPr>
          <p:cNvPr id="7" name="Text 4"/>
          <p:cNvSpPr txBox="1"/>
          <p:nvPr/>
        </p:nvSpPr>
        <p:spPr>
          <a:xfrm>
            <a:off x="6263639" y="1627632"/>
            <a:ext cx="21945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263639" y="1901952"/>
            <a:ext cx="2194560" cy="2706623"/>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502920" y="1444752"/>
            <a:ext cx="4892039" cy="2912327"/>
          </a:xfrm>
          <a:prstGeom prst="rect">
            <a:avLst/>
          </a:prstGeom>
        </p:spPr>
      </p:pic>
      <p:sp>
        <p:nvSpPr>
          <p:cNvPr id="6" name="commentary panel"/>
          <p:cNvSpPr/>
          <p:nvPr/>
        </p:nvSpPr>
        <p:spPr>
          <a:xfrm>
            <a:off x="5623559" y="1463040"/>
            <a:ext cx="3017520" cy="3154680"/>
          </a:xfrm>
          <a:prstGeom prst="rect">
            <a:avLst/>
          </a:prstGeom>
          <a:solidFill>
            <a:srgbClr val="E8F9F8"/>
          </a:solidFill>
          <a:ln/>
        </p:spPr>
        <p:txBody>
          <a:bodyPr/>
          <a:lstStyle/>
          <a:p>
            <a:endParaRPr lang="en-AU"/>
          </a:p>
        </p:txBody>
      </p:sp>
      <p:sp>
        <p:nvSpPr>
          <p:cNvPr id="7" name="Text 4"/>
          <p:cNvSpPr txBox="1"/>
          <p:nvPr/>
        </p:nvSpPr>
        <p:spPr>
          <a:xfrm>
            <a:off x="5806439" y="1627632"/>
            <a:ext cx="26517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806439" y="1901952"/>
            <a:ext cx="2651760" cy="2706623"/>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916552" y="1389888"/>
            <a:ext cx="7310895" cy="1954470"/>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074919" cy="2564030"/>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257799" cy="2733809"/>
          </a:xfrm>
          <a:prstGeom prst="rect">
            <a:avLst/>
          </a:prstGeom>
        </p:spPr>
      </p:pic>
      <p:sp>
        <p:nvSpPr>
          <p:cNvPr id="6" name="commentary panel"/>
          <p:cNvSpPr/>
          <p:nvPr/>
        </p:nvSpPr>
        <p:spPr>
          <a:xfrm>
            <a:off x="5989319" y="1463040"/>
            <a:ext cx="2651760" cy="3154680"/>
          </a:xfrm>
          <a:prstGeom prst="rect">
            <a:avLst/>
          </a:prstGeom>
          <a:solidFill>
            <a:srgbClr val="E8F9F8"/>
          </a:solidFill>
          <a:ln/>
        </p:spPr>
        <p:txBody>
          <a:bodyPr/>
          <a:lstStyle/>
          <a:p>
            <a:endParaRPr lang="en-AU"/>
          </a:p>
        </p:txBody>
      </p:sp>
      <p:sp>
        <p:nvSpPr>
          <p:cNvPr id="7" name="Text 4"/>
          <p:cNvSpPr txBox="1"/>
          <p:nvPr/>
        </p:nvSpPr>
        <p:spPr>
          <a:xfrm>
            <a:off x="6172199" y="1627632"/>
            <a:ext cx="22860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172199" y="1901952"/>
            <a:ext cx="2286000" cy="2706623"/>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502920" y="1444752"/>
            <a:ext cx="4675306" cy="3136391"/>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074919" cy="2771278"/>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4800599" cy="2226875"/>
          </a:xfrm>
          <a:prstGeom prst="rect">
            <a:avLst/>
          </a:prstGeom>
        </p:spPr>
      </p:pic>
      <p:sp>
        <p:nvSpPr>
          <p:cNvPr id="6" name="commentary panel"/>
          <p:cNvSpPr/>
          <p:nvPr/>
        </p:nvSpPr>
        <p:spPr>
          <a:xfrm>
            <a:off x="5532119" y="1463040"/>
            <a:ext cx="3108960" cy="3154680"/>
          </a:xfrm>
          <a:prstGeom prst="rect">
            <a:avLst/>
          </a:prstGeom>
          <a:solidFill>
            <a:srgbClr val="E8F9F8"/>
          </a:solidFill>
          <a:ln/>
        </p:spPr>
        <p:txBody>
          <a:bodyPr/>
          <a:lstStyle/>
          <a:p>
            <a:endParaRPr lang="en-AU"/>
          </a:p>
        </p:txBody>
      </p:sp>
      <p:sp>
        <p:nvSpPr>
          <p:cNvPr id="7" name="Text 4"/>
          <p:cNvSpPr txBox="1"/>
          <p:nvPr/>
        </p:nvSpPr>
        <p:spPr>
          <a:xfrm>
            <a:off x="5714999" y="1627632"/>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714999" y="1901952"/>
            <a:ext cx="274320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4709159" cy="2198519"/>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3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