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8"/>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19"/>
    <p:sldId id="299" r:id="rId20"/>
    <p:sldId id="262" r:id="rId21"/>
    <p:sldId id="300" r:id="rId22"/>
    <p:sldId id="263" r:id="rId23"/>
    <p:sldId id="264" r:id="rId24"/>
    <p:sldId id="265" r:id="rId25"/>
    <p:sldId id="266" r:id="rId26"/>
    <p:sldId id="267" r:id="rId27"/>
    <p:sldId id="268" r:id="rId28"/>
    <p:sldId id="301" r:id="rId55"/>
    <p:sldId id="303" r:id="rId57"/>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8" r:id="rId46"/>
    <p:sldId id="286" r:id="rId47"/>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5.xml"/><Relationship Id="rId57"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$21k after allocated overheads. Events generated $73k at 77.6% and a loss of $46k. Video generated $7k at 79.6% and a loss of $7k. Integration generated $235k at 10.1% and $11k. Consulting generated $4k at 2.1% and a loss of $21k.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and Integration are the only departments covering their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endParaRPr/>
          </a:p>
          <a:p>
            <a:r>
              <a:t>September 2026 a loss of $41,464. September 2025 a loss of $52,615. September 2024 a profit of $20,737.</a:t>
            </a:r>
          </a:p>
          <a:p>
            <a:endParaRPr/>
          </a:p>
          <a:p>
            <a:r>
              <a:t>This September is $11,152 better than the same month last year, and $62,201 worse than the September before that.</a:t>
            </a:r>
          </a:p>
          <a:p>
            <a:endParaRPr/>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endParaRPr/>
          </a:p>
          <a:p>
            <a:r>
              <a:t>What changed is the cost of earning it. Cost of sales was $374,130 against $216,749 in September 2024 on revenue only $121,701 higher. The gross margin on the month was 33.4%, against 50.8% in September 2024.</a:t>
            </a:r>
          </a:p>
          <a:p>
            <a:endParaRPr/>
          </a:p>
          <a:p>
            <a:r>
              <a:t>So the question this chart puts to the board is about pricing and delivery cost on the work being won, not about the volume of work being won.</a:t>
            </a:r>
          </a:p>
          <a:p>
            <a:endParaRPr/>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endParaRPr/>
          </a:p>
          <a:p>
            <a:r>
              <a:t>Q1 2026 a loss of $5,808. Q1 2025 a loss of $85,404. Q1 2024 a profit of $34,595.</a:t>
            </a:r>
          </a:p>
          <a:p>
            <a:endParaRPr/>
          </a:p>
          <a:p>
            <a:r>
              <a:t>The quarter has improved $79,596 on last year and is within $5,808 of breaking even. On that reading the recovery is real and the direction is right.</a:t>
            </a:r>
          </a:p>
          <a:p>
            <a:endParaRPr/>
          </a:p>
          <a:p>
            <a:r>
              <a:t>Against the plan it reads differently. The budget had the first quarter at a $222,700 profit. Coming in at a $5,808 loss is $228,508 below it.</a:t>
            </a:r>
          </a:p>
          <a:p>
            <a:endParaRPr/>
          </a:p>
          <a:p>
            <a:r>
              <a:t>As with the month, this is not a revenue failure. The quarter billed $1,624,460, which is the highest first quarter of the three, ahead of $1,228,582 last year and $1,380,102 the year before. It earned more than either comparison and still finished below the line.</a:t>
            </a:r>
          </a:p>
          <a:p>
            <a:endParaRPr/>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endParaRPr/>
          </a:p>
          <a:p>
            <a:r>
              <a:t>FY25 was pulled from Xero on 22 October 2026. The quarter is July to September, so it is fixed rather than following Setup.</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Departmental performance for September 2026.</a:t>
            </a:r>
          </a:p>
          <a:p>
            <a:endParaRPr/>
          </a:p>
          <a:p>
            <a:r>
              <a:t>The pages that follow give the company result by department, the same result rolled up the way the P&amp;L groups the business, then a page for each of the five departments, and finally departmental revenue against budget and against the same month last year.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$80,458, of which $67,357 is allocated admin. Result $20,832.</a:t>
            </a:r>
          </a:p>
          <a:p>
            <a:r>
              <a:t>Events: revenue $73,304 against $65,828. Gross profit $56,881 at 77.6%. Overhead $103,377, of which $63,941 is allocated admin. Result a loss of $46,496.</a:t>
            </a:r>
          </a:p>
          <a:p>
            <a:r>
              <a:t>Video: revenue $7,303 against $17,498. Gross profit $5,813 at 79.6%. Overhead $12,440, of which $9,562 is allocated admin. Result a loss of $6,626.</a:t>
            </a:r>
          </a:p>
          <a:p>
            <a:r>
              <a:t>Integration: revenue $234,858 against $59,272. Gross profit $23,756 at 10.1%. Overhead $13,193, of which $4,056 is allocated admin. Result $10,563.</a:t>
            </a:r>
          </a:p>
          <a:p>
            <a:r>
              <a:t>Consulting: revenue $3,531 against $23,050. Gross profit $74 at 2.1%. Overhead $20,766, of which $14,801 is allocated admin. Result a loss of $20,692.</a:t>
            </a:r>
          </a:p>
          <a:p>
            <a:endParaRPr/>
          </a:p>
          <a:p>
            <a:r>
              <a:t>The five departments total a loss of $42,419. Net profit for the month is a loss of $41,464, after $955 of other income that sits outside the departments.</a:t>
            </a:r>
          </a:p>
          <a:p>
            <a:endParaRPr/>
          </a:p>
          <a:p>
            <a:r>
              <a:t>Two observations. Integration sold $175,586 more than planned and it produced very little profit, because the margin retained on resold equipment is 10.1%. And Events carries $63,941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Gross profit against the overhead charged to each department for September 2026, taken from section 7 of the Overhead Split tab. The bar above the line is what the department earned, the bar below is the overhead allocated to it, and the third bar is the result.</a:t>
            </a:r>
          </a:p>
          <a:p>
            <a:endParaRPr/>
          </a:p>
          <a:p>
            <a:r>
              <a:t>Support earned $101,290 and carries $80,458, leaving $20,832.</a:t>
            </a:r>
          </a:p>
          <a:p>
            <a:r>
              <a:t>Events earned $56,881 and carries $103,377, leaving a loss of $46,496.</a:t>
            </a:r>
          </a:p>
          <a:p>
            <a:r>
              <a:t>Video earned $5,813 and carries $12,440, leaving a loss of $6,626.</a:t>
            </a:r>
          </a:p>
          <a:p>
            <a:r>
              <a:t>Integration earned $23,756 and carries $13,193, leaving $10,563.</a:t>
            </a:r>
          </a:p>
          <a:p>
            <a:r>
              <a:t>Consulting earned $74 and carries $20,766, leaving a loss of $20,692.</a:t>
            </a:r>
          </a:p>
          <a:p>
            <a:endParaRPr/>
          </a:p>
          <a:p>
            <a:r>
              <a:t>The company earned $187,814 of gross profit against $230,233 of overhead. The $42,419 difference is the loss for the month before other income. Put plainly, the business did not earn enough gross profit to carry its own overhead base.</a:t>
            </a:r>
          </a:p>
          <a:p>
            <a:endParaRPr/>
          </a:p>
          <a:p>
            <a:r>
              <a:t>Two things come out of the shape of this chart.</a:t>
            </a:r>
          </a:p>
          <a:p>
            <a:endParaRPr/>
          </a:p>
          <a:p>
            <a:r>
              <a:t>The first is Events. Its gross margin was 77.6%, the second highest of the five, and it still produced the largest loss on the page. It carries $103,377 of overhead, which is 44.9% of the company total, on $73,304 of revenue, which is 13.0% of the company total. No improvement in margin fixes that. Either Events carries more revenue or it carries less overhead, and the overhead keys are worth testing before the next budget.</a:t>
            </a:r>
          </a:p>
          <a:p>
            <a:endParaRPr/>
          </a:p>
          <a:p>
            <a:r>
              <a:t>The second is Integration. It brought in $234,858 of revenue, the second largest of the five, and converted it into $23,756 of gross profit at a 10.1% margin. It covers its overhead and returns $10,563, so it is not a loss maker, but it is doing the most work for the least return.</a:t>
            </a:r>
          </a:p>
          <a:p>
            <a:endParaRPr/>
          </a:p>
          <a:p>
            <a:r>
              <a:t>Support is the one department behaving as it should. A 41.7% margin on contract revenue, covering its allocated overhead, and returning $20,832.</a:t>
            </a:r>
          </a:p>
          <a:p>
            <a:endParaRPr/>
          </a:p>
          <a:p>
            <a:r>
              <a:t>The full table is on the next page.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$80,458. Result $20,832.</a:t>
            </a:r>
          </a:p>
          <a:p>
            <a:r>
              <a:t>Production: revenue $80,607 against $83,326. Gross profit $62,694 at 77.8%. All overhead $115,817. Result a loss of $53,122.</a:t>
            </a:r>
          </a:p>
          <a:p>
            <a:r>
              <a:t>Consulting: revenue $238,389 against $82,322. Gross profit $23,830 at 10.0%. All overhead $33,959. Result a loss of $10,129.</a:t>
            </a:r>
          </a:p>
          <a:p>
            <a:endParaRPr/>
          </a:p>
          <a:p>
            <a:r>
              <a:t>The three total a loss of $42,419, the company result before other income,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$115,817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$80,458, of which $13,101 is its own spending and $67,357 is its share of the office, allocated on the keys set in the pack.</a:t>
            </a:r>
          </a:p>
          <a:p>
            <a:endParaRPr/>
          </a:p>
          <a:p>
            <a:r>
              <a:t>That leaves $20,832 for the month.</a:t>
            </a:r>
          </a:p>
          <a:p>
            <a:endParaRPr/>
          </a:p>
          <a:p>
            <a:r>
              <a:t>Year to date it has billed $718,587 against a budget of $743,185.</a:t>
            </a:r>
          </a:p>
          <a:p>
            <a:endParaRPr/>
          </a:p>
          <a:p>
            <a:r>
              <a:t>On people, employment expense of $51,785, of which $8,980 is its own staff and $42,805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$103,377, of which $39,436 is its own spending and $63,941 is its share of the office.</a:t>
            </a:r>
          </a:p>
          <a:p>
            <a:endParaRPr/>
          </a:p>
          <a:p>
            <a:r>
              <a:t>That leaves a loss of $46,496 for the month.</a:t>
            </a:r>
          </a:p>
          <a:p>
            <a:endParaRPr/>
          </a:p>
          <a:p>
            <a:r>
              <a:t>Year to date it has billed $420,121 against a budget of $321,957.</a:t>
            </a:r>
          </a:p>
          <a:p>
            <a:endParaRPr/>
          </a:p>
          <a:p>
            <a:r>
              <a:t>On people, employment expense of $51,550, of which $35,665 is its own staff and $15,885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$12,440, of which $2,878 is its own spending and $9,562 is its share of the office.</a:t>
            </a:r>
          </a:p>
          <a:p>
            <a:endParaRPr/>
          </a:p>
          <a:p>
            <a:r>
              <a:t>That leaves a loss of $6,626 for the month.</a:t>
            </a:r>
          </a:p>
          <a:p>
            <a:endParaRPr/>
          </a:p>
          <a:p>
            <a:r>
              <a:t>Year to date it has billed $40,270 against a budget of $85,584.</a:t>
            </a:r>
          </a:p>
          <a:p>
            <a:endParaRPr/>
          </a:p>
          <a:p>
            <a:r>
              <a:t>On people, employment expense of $5,294, of which $2,660 is its own staff and $2,634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$13,193, of which $9,136 is its own spending and $4,056 is its share of the office.</a:t>
            </a:r>
          </a:p>
          <a:p>
            <a:endParaRPr/>
          </a:p>
          <a:p>
            <a:r>
              <a:t>That leaves $10,563 for the month.</a:t>
            </a:r>
          </a:p>
          <a:p>
            <a:endParaRPr/>
          </a:p>
          <a:p>
            <a:r>
              <a:t>Year to date it has billed $441,414 against a budget of $608,676.</a:t>
            </a:r>
          </a:p>
          <a:p>
            <a:endParaRPr/>
          </a:p>
          <a:p>
            <a:r>
              <a:t>On people, employment expense of $9,440, of which $8,563 is its own staff and $877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$20,766, of which $5,965 is its own spending and $14,801 is its share of the office.</a:t>
            </a:r>
          </a:p>
          <a:p>
            <a:endParaRPr/>
          </a:p>
          <a:p>
            <a:r>
              <a:t>That leaves a loss of $20,692 for the month.</a:t>
            </a:r>
          </a:p>
          <a:p>
            <a:endParaRPr/>
          </a:p>
          <a:p>
            <a:r>
              <a:t>Year to date it has billed $4,068 against a budget of $236,707.</a:t>
            </a:r>
          </a:p>
          <a:p>
            <a:endParaRPr/>
          </a:p>
          <a:p>
            <a:r>
              <a:t>On people, employment expense of $6,422, of which $5,545 is its own staff and $877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42</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whole profit and loss by department for September 2026, taken from section 7 of the Overhead Split tab. Teal is what the department earned, red is what it cost, navy is what was left.</a:t>
            </a:r>
          </a:p>
          <a:p/>
          <a:p>
            <a:r>
              <a:t>Support earned $242,948, cost $222,117 and kept $20,832.</a:t>
            </a:r>
          </a:p>
          <a:p>
            <a:r>
              <a:t>Events earned $73,304, cost $119,800 and lost $46,496.</a:t>
            </a:r>
          </a:p>
          <a:p>
            <a:r>
              <a:t>Video earned $7,303, cost $13,929 and lost $6,626.</a:t>
            </a:r>
          </a:p>
          <a:p>
            <a:r>
              <a:t>Integration earned $234,858, cost $224,295 and kept $10,563.</a:t>
            </a:r>
          </a:p>
          <a:p>
            <a:r>
              <a:t>Consulting earned $3,531, cost $24,223 and lost $20,692.</a:t>
            </a:r>
          </a:p>
          <a:p/>
          <a:p>
            <a:r>
              <a:t>Across the five, $561,945 of revenue against $604,364 of cost, which is the $42,419 loss for the month before other income.</a:t>
            </a:r>
          </a:p>
          <a:p/>
          <a:p>
            <a:r>
              <a:t>On the cost figure, because it does not appear on the department pages. Total cost is cost of sales plus overhead. For Support that is $141,659 of cost of sales plus $80,458 of overhead, giving $222,117. Cost of sales is not a line on those tables either, it is revenue less gross profit. Every department on this chart ties to the cent: revenue less total cost equals the result shown on the table, and the five results add to the $42,419 loss before other income, which is the $41,464 net loss on the P&amp;L once the $955 of other income is added.</a:t>
            </a:r>
          </a:p>
          <a:p/>
          <a:p>
            <a:r>
              <a:t>What the chart shows that the department pages cannot. Support and Integration have almost the same revenue, $242,948 and $234,858, and almost the same cost, $222,117 and $224,295. The results are $20,832 and $10,563. Integration is running nearly the same volume for a third of the return, because its gross margin is 10.1% against Support's 41.7%.</a:t>
            </a:r>
          </a:p>
          <a:p/>
          <a:p>
            <a:r>
              <a:t>Events is the opposite problem. It is the smallest cost base of the three large departments and the largest loss, because $103,377 of the $119,800 it costs is allocated overhead rather than cost of sales.</a:t>
            </a:r>
          </a:p>
          <a:p/>
          <a:p>
            <a:r>
              <a:t>Video and Consulting are small on this chart because they are small. Between them they earned $10,834 and cost $38,152.</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result by department for September 2026 after the overhead charged to each one, taken from section 7 of the Overhead Split tab. Teal is above the line, red is below.</a:t>
            </a:r>
          </a:p>
          <a:p/>
          <a:p>
            <a:r>
              <a:t>Support $20,832. Integration $10,563. Video a loss of $6,626. Consulting a loss of $20,692. Events a loss of $46,496. The five add to the $42,419 loss for the month before other income.</a:t>
            </a:r>
          </a:p>
          <a:p/>
          <a:p>
            <a:r>
              <a:t>Two of the five made a profit.</a:t>
            </a:r>
          </a:p>
          <a:p/>
          <a:p>
            <a:r>
              <a:t>Every department made a gross profit. Support $101,290, Events $56,881, Integration $23,756, Video $5,813, and Consulting $74. On gross profit nobody lost money. What puts three of them below the line is the overhead charged to them: $230,233 across the month against $187,814 of gross profit earned. The company cannot cover its overhead base out of the margin it is making.</a:t>
            </a:r>
          </a:p>
          <a:p/>
          <a:p>
            <a:r>
              <a:t>Events is the clearest case. It carries $103,377 of overhead, 44.9% of the company total, on 13.0% of the revenue. Its margin is the second best of the five at 77.6% and it still posts the largest loss on the page. Improving margin does not fix that. Either Events carries more revenue or it carries less overhead.</a:t>
            </a:r>
          </a:p>
          <a:p/>
          <a:p>
            <a:r>
              <a:t>Consulting is a different problem. It earned $74 of gross profit on $3,531 of revenue and carries $20,766 of overhead, so almost the whole of its loss is overhead on a department that is barely trading.</a:t>
            </a:r>
          </a:p>
          <a:p/>
          <a:p>
            <a:r>
              <a:t>Integration is the one to watch and it is easy to miss. Its revenue went from $21,421 last September to $234,858 this September, close to eleven times. Its gross profit rose from $5,363 to $23,756, the largest increase of the five. But that revenue carries a 10.1% margin against Support's 41.7%, so after $13,193 of overhead only $10,563 reached the line. Integration is now running the second largest revenue in the business for the smallest return on it.</a:t>
            </a:r>
          </a:p>
          <a:p/>
          <a:p>
            <a:r>
              <a:t>Video's loss of $6,626 is the smallest and the least structural. It billed $7,303 against $20,025 in the same month last year, so it is a volume problem on a department with a 79.6% margin.</a:t>
            </a:r>
          </a:p>
          <a:p/>
          <a:p>
            <a:r>
              <a:t>Two points for the board. Improving margin does not fix Events or Consulting, because their losses are overhead rather than margin. And the overhead keys were set for FY27 and have not been tested since, which is the action already on the recommendations page.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png"/><Relationship Id="rId5"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png"/><Relationship Id="rId5"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png"/><Relationship Id="rId5"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png"/><Relationship Id="rId5" Type="http://schemas.openxmlformats.org/officeDocument/2006/relationships/image" Target="../media/image4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1.png"/><Relationship Id="rId5" Type="http://schemas.openxmlformats.org/officeDocument/2006/relationships/image" Target="../media/image4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png"/><Relationship Id="rId5" Type="http://schemas.openxmlformats.org/officeDocument/2006/relationships/image" Target="../media/image4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 Id="rId5"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notesSlide" Target="../notesSlides/notesSlide44.xml"/><Relationship Id="rId5" Type="http://schemas.openxmlformats.org/officeDocument/2006/relationships/image" Target="../media/image3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46.xml"/><Relationship Id="rId5"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0.png"/><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2.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3.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s://corptechservices.sharepoint.com/:x:/s/CTSNASAccountsYBackup/IQA10LAzkaNEQq0FYhCYngMZAdN-NraOBffkpTyYU738ebI?e=dOV2Sx"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Profit and loss summary, revenue against budget, and the three year comparisons</a:t>
            </a:r>
            <a:endParaRPr lang="en-US" sz="1000"/>
          </a:p>
        </p:txBody>
      </p:sp>
      <p:sp>
        <p:nvSpPr>
          <p:cNvPr id="8" name="Shape 6"/>
          <p:cNvSpPr/>
          <p:nvPr/>
        </p:nvSpPr>
        <p:spPr>
          <a:xfrm>
            <a:off x="502920" y="1965960"/>
            <a:ext cx="384048" cy="384048"/>
          </a:xfrm>
          <a:prstGeom prst="rect">
            <a:avLst/>
          </a:prstGeom>
          <a:solidFill>
            <a:srgbClr val="242C39"/>
          </a:solidFill>
          <a:ln/>
        </p:spPr>
        <p:txBody>
          <a:bodyPr/>
          <a:lstStyle/>
          <a:p>
            <a:endParaRPr lang="en-AU"/>
          </a:p>
        </p:txBody>
      </p:sp>
      <p:sp>
        <p:nvSpPr>
          <p:cNvPr id="9" name="Text 7"/>
          <p:cNvSpPr txBox="1"/>
          <p:nvPr/>
        </p:nvSpPr>
        <p:spPr>
          <a:xfrm>
            <a:off x="502920" y="19659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1947672"/>
            <a:ext cx="7589520" cy="237744"/>
          </a:xfrm>
          <a:prstGeom prst="rect">
            <a:avLst/>
          </a:prstGeom>
          <a:noFill/>
          <a:ln/>
        </p:spPr>
        <p:txBody>
          <a:bodyPr wrap="square" lIns="0" tIns="0" rIns="0" bIns="0" rtlCol="0" anchor="ctr"/>
          <a:lstStyle/>
          <a:p>
            <a:pPr marL="0" indent="0">
              <a:buNone/>
            </a:pPr>
            <a:r>
              <a:rPr lang="en-US" sz="1300" b="1">
                <a:solidFill>
                  <a:srgbClr val="242C39"/>
                </a:solidFill>
              </a:rPr>
              <a:t>Departmental performance</a:t>
            </a:r>
            <a:endParaRPr lang="en-US" sz="1300"/>
          </a:p>
        </p:txBody>
      </p:sp>
      <p:sp>
        <p:nvSpPr>
          <p:cNvPr id="11" name="Text 9"/>
          <p:cNvSpPr txBox="1"/>
          <p:nvPr/>
        </p:nvSpPr>
        <p:spPr>
          <a:xfrm>
            <a:off x="1051560" y="2167128"/>
            <a:ext cx="7589520" cy="219456"/>
          </a:xfrm>
          <a:prstGeom prst="rect">
            <a:avLst/>
          </a:prstGeom>
          <a:noFill/>
          <a:ln/>
        </p:spPr>
        <p:txBody>
          <a:bodyPr wrap="square" lIns="0" tIns="0" rIns="0" bIns="0" rtlCol="0" anchor="ctr"/>
          <a:lstStyle/>
          <a:p>
            <a:pPr marL="0" indent="0">
              <a:buNone/>
            </a:pPr>
            <a:r>
              <a:rPr lang="en-US" sz="1000">
                <a:solidFill>
                  <a:srgbClr val="6B7585"/>
                </a:solidFill>
              </a:rPr>
              <a:t>Every department's result for September 2026 and how it was made</a:t>
            </a:r>
            <a:endParaRPr lang="en-US" sz="1000"/>
          </a:p>
        </p:txBody>
      </p:sp>
      <p:sp>
        <p:nvSpPr>
          <p:cNvPr id="12" name="Shape 10"/>
          <p:cNvSpPr/>
          <p:nvPr/>
        </p:nvSpPr>
        <p:spPr>
          <a:xfrm>
            <a:off x="502920" y="2514600"/>
            <a:ext cx="384048" cy="384048"/>
          </a:xfrm>
          <a:prstGeom prst="rect">
            <a:avLst/>
          </a:prstGeom>
          <a:solidFill>
            <a:srgbClr val="242C39"/>
          </a:solidFill>
          <a:ln/>
        </p:spPr>
        <p:txBody>
          <a:bodyPr/>
          <a:lstStyle/>
          <a:p>
            <a:endParaRPr lang="en-AU"/>
          </a:p>
        </p:txBody>
      </p:sp>
      <p:sp>
        <p:nvSpPr>
          <p:cNvPr id="13" name="Text 11"/>
          <p:cNvSpPr txBox="1"/>
          <p:nvPr/>
        </p:nvSpPr>
        <p:spPr>
          <a:xfrm>
            <a:off x="502920" y="25146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4963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5" name="Text 13"/>
          <p:cNvSpPr txBox="1"/>
          <p:nvPr/>
        </p:nvSpPr>
        <p:spPr>
          <a:xfrm>
            <a:off x="1051560" y="27157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6" name="Shape 14"/>
          <p:cNvSpPr/>
          <p:nvPr/>
        </p:nvSpPr>
        <p:spPr>
          <a:xfrm>
            <a:off x="502920" y="3063239"/>
            <a:ext cx="384048" cy="384048"/>
          </a:xfrm>
          <a:prstGeom prst="rect">
            <a:avLst/>
          </a:prstGeom>
          <a:solidFill>
            <a:srgbClr val="242C39"/>
          </a:solidFill>
          <a:ln/>
        </p:spPr>
        <p:txBody>
          <a:bodyPr/>
          <a:lstStyle/>
          <a:p>
            <a:endParaRPr lang="en-AU"/>
          </a:p>
        </p:txBody>
      </p:sp>
      <p:sp>
        <p:nvSpPr>
          <p:cNvPr id="17" name="Text 15"/>
          <p:cNvSpPr txBox="1"/>
          <p:nvPr/>
        </p:nvSpPr>
        <p:spPr>
          <a:xfrm>
            <a:off x="502920" y="3063239"/>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044951"/>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9" name="Text 17"/>
          <p:cNvSpPr txBox="1"/>
          <p:nvPr/>
        </p:nvSpPr>
        <p:spPr>
          <a:xfrm>
            <a:off x="1051560" y="326440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20" name="Shape 18"/>
          <p:cNvSpPr/>
          <p:nvPr/>
        </p:nvSpPr>
        <p:spPr>
          <a:xfrm>
            <a:off x="502920" y="3611880"/>
            <a:ext cx="384048" cy="384048"/>
          </a:xfrm>
          <a:prstGeom prst="rect">
            <a:avLst/>
          </a:prstGeom>
          <a:solidFill>
            <a:srgbClr val="242C39"/>
          </a:solidFill>
          <a:ln/>
        </p:spPr>
        <p:txBody>
          <a:bodyPr/>
          <a:lstStyle/>
          <a:p>
            <a:endParaRPr lang="en-AU"/>
          </a:p>
        </p:txBody>
      </p:sp>
      <p:sp>
        <p:nvSpPr>
          <p:cNvPr id="21" name="Text 19"/>
          <p:cNvSpPr txBox="1"/>
          <p:nvPr/>
        </p:nvSpPr>
        <p:spPr>
          <a:xfrm>
            <a:off x="502920" y="36118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59359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23" name="Text 21"/>
          <p:cNvSpPr txBox="1"/>
          <p:nvPr/>
        </p:nvSpPr>
        <p:spPr>
          <a:xfrm>
            <a:off x="1051560" y="381304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
        <p:nvSpPr>
          <p:cNvPr id="24" name="Shape 22"/>
          <p:cNvSpPr/>
          <p:nvPr/>
        </p:nvSpPr>
        <p:spPr>
          <a:xfrm>
            <a:off x="502920" y="4160520"/>
            <a:ext cx="384048" cy="384048"/>
          </a:xfrm>
          <a:prstGeom prst="rect">
            <a:avLst/>
          </a:prstGeom>
          <a:solidFill>
            <a:srgbClr val="242C39"/>
          </a:solidFill>
          <a:ln/>
        </p:spPr>
        <p:txBody>
          <a:bodyPr/>
          <a:lstStyle/>
          <a:p>
            <a:endParaRPr lang="en-AU"/>
          </a:p>
        </p:txBody>
      </p:sp>
      <p:sp>
        <p:nvSpPr>
          <p:cNvPr id="27" name="Text 23"/>
          <p:cNvSpPr txBox="1"/>
          <p:nvPr/>
        </p:nvSpPr>
        <p:spPr>
          <a:xfrm>
            <a:off x="502920" y="41605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06</a:t>
            </a:r>
            <a:endParaRPr lang="en-US" sz="1100"/>
          </a:p>
        </p:txBody>
      </p:sp>
      <p:sp>
        <p:nvSpPr>
          <p:cNvPr id="28" name="Text 24"/>
          <p:cNvSpPr txBox="1"/>
          <p:nvPr/>
        </p:nvSpPr>
        <p:spPr>
          <a:xfrm>
            <a:off x="1051560" y="414223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9" name="Text 25"/>
          <p:cNvSpPr txBox="1"/>
          <p:nvPr/>
        </p:nvSpPr>
        <p:spPr>
          <a:xfrm>
            <a:off x="1051560" y="436168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+$21k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$(46)k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+$11k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$(21)k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September revenue exceeded budget by $148k, while EBITDA remained a loss of $32k. Support and Integration are the only departments covering their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r>
              <a:rPr lang="en-US" sz="1000">
                <a:solidFill>
                  <a:srgbClr val="3A4453"/>
                </a:solidFill>
              </a:rPr>
              <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$(42)k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3"/>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15</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dot 3"/>
          <p:cNvSpPr/>
          <p:nvPr/>
        </p:nvSpPr>
        <p:spPr>
          <a:xfrm>
            <a:off x="7040880" y="2468880"/>
            <a:ext cx="2057400" cy="2057400"/>
          </a:xfrm>
          <a:prstGeom prst="ellipse">
            <a:avLst/>
          </a:prstGeom>
          <a:solidFill>
            <a:srgbClr val="6D71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ot 2"/>
          <p:cNvSpPr/>
          <p:nvPr/>
        </p:nvSpPr>
        <p:spPr>
          <a:xfrm>
            <a:off x="6629400" y="2057400"/>
            <a:ext cx="1554480" cy="1554480"/>
          </a:xfrm>
          <a:prstGeom prst="ellipse">
            <a:avLst/>
          </a:prstGeom>
          <a:solidFill>
            <a:srgbClr val="3FD0C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ot 0"/>
          <p:cNvSpPr/>
          <p:nvPr/>
        </p:nvSpPr>
        <p:spPr>
          <a:xfrm>
            <a:off x="5897880" y="91440"/>
            <a:ext cx="2240280" cy="2240280"/>
          </a:xfrm>
          <a:prstGeom prst="ellipse">
            <a:avLst/>
          </a:prstGeom>
          <a:solidFill>
            <a:srgbClr val="F338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Departmental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Every department's result for September 2026 and how it was made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in full, September 2026</a:t>
            </a:r>
            <a:endParaRPr lang="en-US" sz="2700" dirty="0"/>
          </a:p>
        </p:txBody>
      </p:sp>
      <p:pic>
        <p:nvPicPr>
          <p:cNvPr id="27" name="snip dept_result" descr="dept_result.png"/>
          <p:cNvPicPr>
            <a:picLocks noChangeAspect="1"/>
          </p:cNvPicPr>
          <p:nvPr/>
        </p:nvPicPr>
        <p:blipFill>
          <a:blip r:embed="rId5"/>
          <a:stretch>
            <a:fillRect/>
          </a:stretch>
        </p:blipFill>
        <p:spPr>
          <a:xfrm>
            <a:off x="502920" y="1233554"/>
            <a:ext cx="8138160" cy="167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$21k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$46k loss after $103k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$11k.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$21k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dept_mix" descr="dept_mix.png"/>
          <p:cNvPicPr>
            <a:picLocks noChangeAspect="1"/>
          </p:cNvPicPr>
          <p:nvPr/>
        </p:nvPicPr>
        <p:blipFill>
          <a:blip r:embed="rId5"/>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Gross profit against overhead,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profit of $188k did not cover overheads of $230k. That gap is the $42k loss.</a:t>
            </a:r>
            <a:endParaRPr lang="en-US" sz="850"/>
          </a:p>
          <a:p>
            <a:pPr marL="342900" indent="-342900">
              <a:lnSpc>
                <a:spcPts val="1050"/>
              </a:lnSpc>
              <a:spcAft>
                <a:spcPts val="400"/>
              </a:spcAft>
              <a:buSzPct val="100000"/>
              <a:buChar char="•"/>
            </a:pPr>
            <a:r>
              <a:rPr lang="en-US" sz="1000">
                <a:solidFill>
                  <a:srgbClr val="3A4453"/>
                </a:solidFill>
              </a:rPr>
              <a:t>Only Support and Integration covered the overhead charged to them.</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Events carries 45% of all overhead on 13% of revenue, so a 78% margin still ends in a $46k loss.</a:t>
            </a:r>
            <a:endParaRPr lang="en-US" sz="850"/>
          </a:p>
          <a:p>
            <a:pPr marL="342900" indent="-342900">
              <a:lnSpc>
                <a:spcPts val="1050"/>
              </a:lnSpc>
              <a:spcAft>
                <a:spcPts val="400"/>
              </a:spcAft>
              <a:buSzPct val="100000"/>
              <a:buChar char="•"/>
            </a:pPr>
            <a:r>
              <a:rPr lang="en-US" sz="1000">
                <a:solidFill>
                  <a:srgbClr val="3A4453"/>
                </a:solidFill>
              </a:rPr>
              <a:t>Consulting earned $74 of gross profit on $4k of revenue and carries $21k of overhead.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pic>
        <p:nvPicPr>
          <p:cNvPr id="27" name="snip dept_three" descr="dept_three.png"/>
          <p:cNvPicPr>
            <a:picLocks noChangeAspect="1"/>
          </p:cNvPicPr>
          <p:nvPr/>
        </p:nvPicPr>
        <p:blipFill>
          <a:blip r:embed="rId5"/>
          <a:stretch>
            <a:fillRect/>
          </a:stretch>
        </p:blipFill>
        <p:spPr>
          <a:xfrm>
            <a:off x="502920" y="1412723"/>
            <a:ext cx="8138160" cy="1316784"/>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$21k profit on $243k revenue and is the only major group covering its allocated overheads.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$53k loss after $116k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$10k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$80k of allocated overheads, Support recorded a $21k profit.</a:t>
            </a:r>
            <a:endParaRPr lang="en-US" sz="850"/>
          </a:p>
          <a:p>
            <a:pPr marL="342900" indent="-342900">
              <a:lnSpc>
                <a:spcPts val="1050"/>
              </a:lnSpc>
              <a:spcAft>
                <a:spcPts val="400"/>
              </a:spcAft>
              <a:buSzPct val="100000"/>
              <a:buChar char="•"/>
            </a:pPr>
            <a:r>
              <a:rPr lang="en-US" sz="1000">
                <a:solidFill>
                  <a:srgbClr val="3A4453"/>
                </a:solidFill>
              </a:rPr>
              <a:t>Its allocated office wages were $43k,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$46k loss after $103k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$64k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$12k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an $11k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$21k loss after approximately $21k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pl" descr="dept_pl.png"/>
          <p:cNvPicPr>
            <a:picLocks noChangeAspect="1"/>
          </p:cNvPicPr>
          <p:nvPr/>
        </p:nvPicPr>
        <p:blipFill>
          <a:blip r:embed="rId5"/>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profit and loss,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Support earned $243k, cost $222k and kept $21k.</a:t>
            </a:r>
            <a:endParaRPr lang="en-US" sz="850"/>
          </a:p>
          <a:p>
            <a:pPr marL="342900" indent="-342900">
              <a:lnSpc>
                <a:spcPts val="1050"/>
              </a:lnSpc>
              <a:spcAft>
                <a:spcPts val="400"/>
              </a:spcAft>
              <a:buSzPct val="100000"/>
              <a:buChar char="•"/>
            </a:pPr>
            <a:r>
              <a:rPr lang="en-US" sz="1000">
                <a:solidFill>
                  <a:srgbClr val="3A4453"/>
                </a:solidFill>
              </a:rPr>
              <a:t>Events earned $73k, cost $120k and lost $46k.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Integration earned $235k, cost $224k and kept $11k, the most work for the least return.</a:t>
            </a:r>
            <a:endParaRPr lang="en-US" sz="850"/>
          </a:p>
          <a:p>
            <a:pPr marL="342900" indent="-342900">
              <a:lnSpc>
                <a:spcPts val="1050"/>
              </a:lnSpc>
              <a:spcAft>
                <a:spcPts val="400"/>
              </a:spcAft>
              <a:buSzPct val="100000"/>
              <a:buChar char="•"/>
            </a:pPr>
            <a:r>
              <a:rPr lang="en-US" sz="1000">
                <a:solidFill>
                  <a:srgbClr val="3A4453"/>
                </a:solidFill>
              </a:rPr>
              <a:t>Across all five, $562k earned against $604k of cost. That is the $42k loss.</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line" descr="dept_line.png"/>
          <p:cNvPicPr>
            <a:picLocks noChangeAspect="1"/>
          </p:cNvPicPr>
          <p:nvPr/>
        </p:nvPicPr>
        <p:blipFill>
          <a:blip r:embed="rId5"/>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 by department, above and below the line</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Two of the five made a profit. Support kept $21k and Integration $11k.</a:t>
            </a:r>
            <a:endParaRPr lang="en-US" sz="850"/>
          </a:p>
          <a:p>
            <a:pPr marL="342900" indent="-342900">
              <a:lnSpc>
                <a:spcPts val="1050"/>
              </a:lnSpc>
              <a:spcAft>
                <a:spcPts val="400"/>
              </a:spcAft>
              <a:buSzPct val="100000"/>
              <a:buChar char="•"/>
            </a:pPr>
            <a:r>
              <a:rPr lang="en-US" sz="1000">
                <a:solidFill>
                  <a:srgbClr val="3A4453"/>
                </a:solidFill>
              </a:rPr>
              <a:t>Events lost $46k, Consulting $21k and Video $7k. Together the five are the $42k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five made a gross profit. It is the overhead charged to them that puts three below the line.</a:t>
            </a:r>
            <a:endParaRPr lang="en-US" sz="850"/>
          </a:p>
          <a:p>
            <a:pPr marL="342900" indent="-342900">
              <a:lnSpc>
                <a:spcPts val="1050"/>
              </a:lnSpc>
              <a:spcAft>
                <a:spcPts val="400"/>
              </a:spcAft>
              <a:buSzPct val="100000"/>
              <a:buChar char="•"/>
            </a:pPr>
            <a:r>
              <a:rPr lang="en-US" sz="1000">
                <a:solidFill>
                  <a:srgbClr val="3A4453"/>
                </a:solidFill>
              </a:rPr>
              <a:t>Integration billed eleven times last September, but a 10% margin left only $11k after overhead.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41</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07</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27</TotalTime>
  <Words>12187</Words>
  <Application>Microsoft Office PowerPoint</Application>
  <PresentationFormat>On-screen Show (16:9)</PresentationFormat>
  <Paragraphs>895</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4</cp:revision>
  <cp:lastPrinted>2026-10-20T04:14:11Z</cp:lastPrinted>
  <dcterms:created xsi:type="dcterms:W3CDTF">2026-10-18T22:46:07Z</dcterms:created>
  <dcterms:modified xsi:type="dcterms:W3CDTF">2026-10-22T05:16:43Z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