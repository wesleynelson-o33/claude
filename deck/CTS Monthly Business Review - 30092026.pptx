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89" r:id="rId44"/>
    <p:sldId id="290" r:id="rId45"/>
    <p:sldId id="291" r:id="rId46"/>
    <p:sldId id="292" r:id="rId47"/>
    <p:sldId id="293" r:id="rId48"/>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6.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9.xml"/><Relationship Id="rId48"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p>
            <a:r>
              <a:t>Actual revenue was $459,049 in July, $603,467 in August and $561,945 in September, $1,624,460 for the quarter.</a:t>
            </a:r>
          </a:p>
          <a:p/>
          <a:p>
            <a:r>
              <a:t>Budget for those months was $609,277, $973,168 and $413,665, being $1,996,110 for the quarter. The quarter is therefore $371,650 short of budget.</a:t>
            </a:r>
          </a:p>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p>
            <a:r>
              <a:t>By department for September: Support $242,948, Events $73,304, Video $7,303, Integration $234,858 and Consulting $3,531.</a:t>
            </a:r>
          </a:p>
          <a:p/>
          <a:p>
            <a:r>
              <a:t>Three things the mix shows that a total does not.</a:t>
            </a:r>
          </a:p>
          <a:p/>
          <a:p>
            <a:r>
              <a:t>Support is the base of the business and it barely moves: $235,403, $240,236 and $242,948 across the three months. That is recurring contract income behaving as recurring income should.</a:t>
            </a:r>
          </a:p>
          <a:p/>
          <a:p>
            <a:r>
              <a:t>Integration is the volatility. It billed $112,803 in July, $93,752 in August and $234,858 in September, and the September figure is a single installation completing. It is better read as timing than as growth, particularly as the margin retained on that work is 10.1%.</a:t>
            </a:r>
          </a:p>
          <a:p/>
          <a:p>
            <a:r>
              <a:t>Events moved from $241,371 in August to $73,304 in September, the largest single movement in the quarter, and the reason the company total fell while Integration rose.</a:t>
            </a:r>
          </a:p>
          <a:p/>
          <a:p>
            <a:r>
              <a:t>The chart lengthens by one column each month as the pack closes a month, so it will show the full year by June without being rebuilt.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for each closed month, taken from the Cost Analysis tab.</a:t>
            </a:r>
          </a:p>
          <a:p/>
          <a:p>
            <a:r>
              <a:t>July: $459,049 against a budget of $609,277, short by $150,228 or 24.7%.</a:t>
            </a:r>
          </a:p>
          <a:p>
            <a:r>
              <a:t>August: $603,467 against $973,168, short by $369,701 or 38.0%.</a:t>
            </a:r>
          </a:p>
          <a:p>
            <a:r>
              <a:t>September: $561,945 against $413,665, ahead by $148,280 or 35.8%.</a:t>
            </a:r>
          </a:p>
          <a:p/>
          <a:p>
            <a:r>
              <a:t>Year to date: $1,624,460 against $1,996,110, short by $371,650 or 18.6%.</a:t>
            </a:r>
          </a:p>
          <a:p/>
          <a:p>
            <a:r>
              <a:t>The monthly shape matters more than the quarter total. Two thirds of the shortfall is August alone, where the budget asked for $973,168. That is more than the business has billed in any month on record, so the variance reflects the plan as much as the trading.</a:t>
            </a:r>
          </a:p>
          <a:p/>
          <a:p>
            <a:r>
              <a:t>September is the only month ahead of budget, and that came from a single Integration installation completing at a 10.1% gross margin, so it added revenue without adding much profit.</a:t>
            </a:r>
          </a:p>
          <a:p/>
          <a:p>
            <a:r>
              <a:t>Read alongside the previous page, which shows which department billed each month, the two slides together explain the quarter: a steady Support base, one large project landing in September, and a budget that front-loaded the year.</a:t>
            </a:r>
          </a:p>
          <a:p/>
          <a:p>
            <a:r>
              <a:t>The chart takes the closed months only and lengthens as the year goes on. The year to date pair sits on the table beneath it rather than on the chart, because a column five times the height of the others would flatten the months.</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for September across three years, taken from the Xero History tab and the Cost Analysis tab.</a:t>
            </a:r>
          </a:p>
          <a:p/>
          <a:p>
            <a:r>
              <a:t>September 2026 $561,945. September 2025 $356,323. September 2024 $440,243.</a:t>
            </a:r>
          </a:p>
          <a:p/>
          <a:p>
            <a:r>
              <a:t>September 2026 is $205,621 or 57.7% ahead of September 2025, and $121,701 or 27.6% ahead of September 2024. September 2025 was itself $83,920 or 19.1% below September 2024.</a:t>
            </a:r>
          </a:p>
          <a:p/>
          <a:p>
            <a:r>
              <a:t>The 57.7% headline is flattering because the year it is measured against was the weakest of the three. FY26 was a down year across the board, and part of what FY27 has done is recover ground rather than break new ground. Against FY25 the same month is 27.6% ahead, which over two years is about 13% a year, and that is the number worth carrying into the reforecast.</a:t>
            </a:r>
          </a:p>
          <a:p/>
          <a:p>
            <a:r>
              <a:t>On the source. FY25 was pulled from Xero on 22 October 2026 as total income by month on the accrual basis, and sits on its own Xero History tab in the pack. FY26 and FY27 are references to the pack's own actuals tabs. Three months were checked against Xero directly and agree: July 2025, August 2025 and September 2025 on the FY26 side, and September 2026 on the FY27 side.</a:t>
            </a:r>
          </a:p>
          <a:p/>
          <a:p>
            <a:r>
              <a:t>A five year comparison was asked for and cannot be produced. Xero only serves the last three financial years, and a request for September 2022 is refused by the API. FY23 and FY24 would have to come from an older copy of the pack or from a saved export. The columns for them are in place on the Cost Analysis tab and the chart reads whichever years carry figures.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First quarter revenue across three years, taken from the Xero History tab and the Cost Analysis tab.</a:t>
            </a:r>
          </a:p>
          <a:p/>
          <a:p>
            <a:r>
              <a:t>Q1 2026, being July to September 2026, $1,624,460. Q1 2025 $1,228,582. Q1 2024 $1,380,102.</a:t>
            </a:r>
          </a:p>
          <a:p/>
          <a:p>
            <a:r>
              <a:t>Against last year the quarter is $395,878 or 32.2% ahead. Against two years ago it is $244,358 or 17.7% ahead. The middle year fell $151,520 or 11.0% below the first.</a:t>
            </a:r>
          </a:p>
          <a:p/>
          <a:p>
            <a:r>
              <a:t>The two readings tell different stories and the second is the more useful one. A 32% increase measured off the weakest of three years is not a growth rate the business can plan on. Compounded over the two years, the first quarter has grown about 8.5% a year. That is the figure to put against the reforecast.</a:t>
            </a:r>
          </a:p>
          <a:p/>
          <a:p>
            <a:r>
              <a:t>The first quarter has held a steady share of the year in both completed years, 19.7% of FY25 and 20.1% of FY26. On that relationship a first quarter of $1,624,460 implies a full year of around $8.1 million, which is well ahead of both completed years and ahead of where the FY27 budget sits after the first three months.</a:t>
            </a:r>
          </a:p>
          <a:p/>
          <a:p>
            <a:r>
              <a:t>What the quarter did not do is reach the result. The margin delivered on that revenue was 38.9% and the quarter produced $5,774 of EBITDA. Revenue growth at this margin does not reach the bottom line, and that is the point the rest of the pack returns to.</a:t>
            </a:r>
          </a:p>
          <a:p/>
          <a:p>
            <a:r>
              <a:t>FY23 and FY24 are outside the three financial years Xero serves, so the comparison stops at FY25.</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p>
            <a:r>
              <a:t>FY25 totalled $7,000,357 and FY26 $6,113,186, a fall of $887,171 or 12.7%. FY27 stands at $1,624,460 after three months.</a:t>
            </a:r>
          </a:p>
          <a:p/>
          <a:p>
            <a:r>
              <a:t>The fall in FY26 was not confined to one half. The first half was $533,509 or 14.6% below FY25 and the second half $353,662 or 10.6% below.</a:t>
            </a:r>
          </a:p>
          <a:p/>
          <a:p>
            <a:r>
              <a:t>Two features of the shape are worth the board's attention.</a:t>
            </a:r>
          </a:p>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p>
            <a:r>
              <a:t>Xero serves the last three financial years. FY23 and FY24 cannot be pulled, which is why the history begins in July 2024.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33.xml"/><Relationship Id="rId4" Type="http://schemas.openxmlformats.org/officeDocument/2006/relationships/image" Target="../media/image23.png"/><Relationship Id="rId5"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2.png"/><Relationship Id="rId4" Type="http://schemas.openxmlformats.org/officeDocument/2006/relationships/notesSlide" Target="../notesSlides/notesSlide34.xml"/><Relationship Id="rId5" Type="http://schemas.openxmlformats.org/officeDocument/2006/relationships/image" Target="../media/image3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4.png"/><Relationship Id="rId4" Type="http://schemas.openxmlformats.org/officeDocument/2006/relationships/notesSlide" Target="../notesSlides/notesSlide35.xml"/><Relationship Id="rId5"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5.png"/><Relationship Id="rId4" Type="http://schemas.openxmlformats.org/officeDocument/2006/relationships/notesSlide" Target="../notesSlides/notesSlide36.xml"/><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8.png"/><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1192271" y="1261872"/>
            <a:ext cx="6759456" cy="185956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 descr="rev_month.png"/>
          <p:cNvPicPr>
            <a:picLocks noChangeAspect="1"/>
          </p:cNvPicPr>
          <p:nvPr/>
        </p:nvPicPr>
        <p:blipFill>
          <a:blip r:embed="rId5"/>
          <a:stretch>
            <a:fillRect/>
          </a:stretch>
        </p:blipFill>
        <p:spPr>
          <a:xfrm>
            <a:off x="1655076" y="1115568"/>
            <a:ext cx="5833847"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and department</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_budget" descr="rev_ytd.png"/>
          <p:cNvPicPr>
            <a:picLocks noChangeAspect="1"/>
          </p:cNvPicPr>
          <p:nvPr/>
        </p:nvPicPr>
        <p:blipFill>
          <a:blip r:embed="rId5"/>
          <a:stretch>
            <a:fillRect/>
          </a:stretch>
        </p:blipFill>
        <p:spPr>
          <a:xfrm>
            <a:off x="1296646" y="1115568"/>
            <a:ext cx="6550706" cy="2228790"/>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month by month</a:t>
            </a:r>
            <a:endParaRPr lang="en-US" sz="2700"/>
          </a:p>
        </p:txBody>
      </p:sp>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billed $459k against a $609k budget, $150k short.</a:t>
            </a:r>
            <a:endParaRPr lang="en-US" sz="850"/>
          </a:p>
          <a:p>
            <a:pPr marL="342900" indent="-342900">
              <a:lnSpc>
                <a:spcPts val="1050"/>
              </a:lnSpc>
              <a:spcAft>
                <a:spcPts val="400"/>
              </a:spcAft>
              <a:buSzPct val="100000"/>
              <a:buChar char="•"/>
            </a:pPr>
            <a:r>
              <a:rPr lang="en-US" sz="1000">
                <a:solidFill>
                  <a:srgbClr val="3A4453"/>
                </a:solidFill>
              </a:rPr>
              <a:t>August billed $603k against a $973k budget, $370k short.</a:t>
            </a:r>
            <a:endParaRPr lang="en-US" sz="850"/>
          </a:p>
          <a:p>
            <a:pPr marL="342900" indent="-342900">
              <a:lnSpc>
                <a:spcPts val="1050"/>
              </a:lnSpc>
              <a:spcAft>
                <a:spcPts val="400"/>
              </a:spcAft>
              <a:buSzPct val="100000"/>
              <a:buChar char="•"/>
            </a:pPr>
            <a:r>
              <a:rPr lang="en-US" sz="1000">
                <a:solidFill>
                  <a:srgbClr val="3A4453"/>
                </a:solidFill>
              </a:rPr>
              <a:t>September billed $562k against a $414k budget, $148k ahead.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$1,624k against $1,996k, a shortfall of $372k or 18.6%.</a:t>
            </a:r>
            <a:endParaRPr lang="en-US" sz="850"/>
          </a:p>
          <a:p>
            <a:pPr marL="342900" indent="-342900">
              <a:lnSpc>
                <a:spcPts val="1050"/>
              </a:lnSpc>
              <a:spcAft>
                <a:spcPts val="400"/>
              </a:spcAft>
              <a:buSzPct val="100000"/>
              <a:buChar char="•"/>
            </a:pPr>
            <a:r>
              <a:rPr lang="en-US" sz="1000">
                <a:solidFill>
                  <a:srgbClr val="3A4453"/>
                </a:solidFill>
              </a:rPr>
              <a:t>Two thirds of the shortfall is August alone, where the budget asked for more than the business has ever billed in a month.</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years" descr="rev_years.png"/>
          <p:cNvPicPr>
            <a:picLocks noChangeAspect="1"/>
          </p:cNvPicPr>
          <p:nvPr/>
        </p:nvPicPr>
        <p:blipFill>
          <a:blip r:embed="rId5"/>
          <a:stretch>
            <a:fillRect/>
          </a:stretch>
        </p:blipFill>
        <p:spPr>
          <a:xfrm>
            <a:off x="1734604" y="1115568"/>
            <a:ext cx="5674791"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for the month, year on year</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revenue was $562k, against $356k last September and $440k the September before that.</a:t>
            </a:r>
            <a:endParaRPr lang="en-US" sz="850"/>
          </a:p>
          <a:p>
            <a:pPr marL="342900" indent="-342900">
              <a:lnSpc>
                <a:spcPts val="1050"/>
              </a:lnSpc>
              <a:spcAft>
                <a:spcPts val="400"/>
              </a:spcAft>
              <a:buSzPct val="100000"/>
              <a:buChar char="•"/>
            </a:pPr>
            <a:r>
              <a:rPr lang="en-US" sz="1000">
                <a:solidFill>
                  <a:srgbClr val="3A4453"/>
                </a:solidFill>
              </a:rPr>
              <a:t>The three year shape is a dip and a recovery. September fell 19% between FY25 and FY26, then rose 58% into FY27.</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Measured against FY25 rather than the weak FY26, September is 28% ahead, which is the steadier read on growth.</a:t>
            </a:r>
            <a:endParaRPr lang="en-US" sz="850"/>
          </a:p>
          <a:p>
            <a:pPr marL="342900" indent="-342900">
              <a:lnSpc>
                <a:spcPts val="1050"/>
              </a:lnSpc>
              <a:spcAft>
                <a:spcPts val="400"/>
              </a:spcAft>
              <a:buSzPct val="100000"/>
              <a:buChar char="•"/>
            </a:pPr>
            <a:r>
              <a:rPr lang="en-US" sz="1000">
                <a:solidFill>
                  <a:srgbClr val="3A4453"/>
                </a:solidFill>
              </a:rPr>
              <a:t>Xero holds the last three financial years, so September 2024 is the earliest month available for this comparison.</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q1" descr="rev_q1.png"/>
          <p:cNvPicPr>
            <a:picLocks noChangeAspect="1"/>
          </p:cNvPicPr>
          <p:nvPr/>
        </p:nvPicPr>
        <p:blipFill>
          <a:blip r:embed="rId5"/>
          <a:stretch>
            <a:fillRect/>
          </a:stretch>
        </p:blipFill>
        <p:spPr>
          <a:xfrm>
            <a:off x="1734604" y="1115568"/>
            <a:ext cx="5674791"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First quarter revenue, year on year</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First quarter revenue was $1,624k, against $1,229k last year and $1,380k the year before.</a:t>
            </a:r>
            <a:endParaRPr lang="en-US" sz="850"/>
          </a:p>
          <a:p>
            <a:pPr marL="342900" indent="-342900">
              <a:lnSpc>
                <a:spcPts val="1050"/>
              </a:lnSpc>
              <a:spcAft>
                <a:spcPts val="400"/>
              </a:spcAft>
              <a:buSzPct val="100000"/>
              <a:buChar char="•"/>
            </a:pPr>
            <a:r>
              <a:rPr lang="en-US" sz="1000">
                <a:solidFill>
                  <a:srgbClr val="3A4453"/>
                </a:solidFill>
              </a:rPr>
              <a:t>FY26 was the softest of the three, 11% below FY25 for the quarter and 13% below for the full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Against FY26 the quarter is 32% ahead. Against FY25 it is 18% ahead, which is about 8.5% a year.</a:t>
            </a:r>
            <a:endParaRPr lang="en-US" sz="850"/>
          </a:p>
          <a:p>
            <a:pPr marL="342900" indent="-342900">
              <a:lnSpc>
                <a:spcPts val="1050"/>
              </a:lnSpc>
              <a:spcAft>
                <a:spcPts val="400"/>
              </a:spcAft>
              <a:buSzPct val="100000"/>
              <a:buChar char="•"/>
            </a:pPr>
            <a:r>
              <a:rPr lang="en-US" sz="1000">
                <a:solidFill>
                  <a:srgbClr val="3A4453"/>
                </a:solidFill>
              </a:rPr>
              <a:t>The growth is on revenue alone. The quarter delivered a 38.9% margin and $5.8k of EBITDA.</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1221933" y="1115568"/>
            <a:ext cx="6700133" cy="183698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899746" y="1115568"/>
            <a:ext cx="7344506"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2234229" y="1115568"/>
            <a:ext cx="4675541"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916552" y="1389888"/>
            <a:ext cx="7310895" cy="1954470"/>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xero_hist" descr="xero_hist.png"/>
          <p:cNvPicPr>
            <a:picLocks noChangeAspect="1"/>
          </p:cNvPicPr>
          <p:nvPr/>
        </p:nvPicPr>
        <p:blipFill>
          <a:blip r:embed="rId3"/>
          <a:stretch>
            <a:fillRect/>
          </a:stretch>
        </p:blipFill>
        <p:spPr>
          <a:xfrm>
            <a:off x="1362886" y="1115568"/>
            <a:ext cx="6418226"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Three years of revenue by month</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