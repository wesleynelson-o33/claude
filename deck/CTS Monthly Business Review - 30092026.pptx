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4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502920" y="1261872"/>
            <a:ext cx="8138160" cy="2238849"/>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P&amp;L summary, income</a:t>
            </a:r>
            <a:endParaRPr lang="en-US" sz="2700"/>
          </a:p>
        </p:txBody>
      </p:sp>
      <p:sp>
        <p:nvSpPr>
          <p:cNvPr id="6" name="commentary panel"/>
          <p:cNvSpPr/>
          <p:nvPr/>
        </p:nvSpPr>
        <p:spPr>
          <a:xfrm>
            <a:off x="502920" y="3511296"/>
            <a:ext cx="8138160" cy="1115568"/>
          </a:xfrm>
          <a:prstGeom prst="rect">
            <a:avLst/>
          </a:prstGeom>
          <a:solidFill>
            <a:srgbClr val="E8F9F8"/>
          </a:solidFill>
          <a:ln/>
        </p:spPr>
        <p:txBody>
          <a:bodyPr/>
          <a:lstStyle/>
          <a:p>
            <a:endParaRPr lang="en-AU"/>
          </a:p>
        </p:txBody>
      </p:sp>
      <p:sp>
        <p:nvSpPr>
          <p:cNvPr id="7" name="Text 4"/>
          <p:cNvSpPr txBox="1"/>
          <p:nvPr/>
        </p:nvSpPr>
        <p:spPr>
          <a:xfrm>
            <a:off x="685800" y="359359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8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8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800">
                <a:solidFill>
                  <a:srgbClr val="3A4453"/>
                </a:solidFill>
              </a:rPr>
              <a:t>Year-to-date EBITDA is $6k against a $223k budget. Our forecast should place greater focus on gross margin and profitability.</a:t>
            </a:r>
            <a:endParaRPr lang="en-US" sz="85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P&amp;L summary, cost and profit</a:t>
            </a:r>
            <a:endParaRPr lang="en-US" sz="2700"/>
          </a:p>
        </p:txBody>
      </p:sp>
      <p:pic>
        <p:nvPicPr>
          <p:cNvPr id="4" name="snip pl_result" descr="/home/user/Claude/deck/snips/pl_result.png"/>
          <p:cNvPicPr>
            <a:picLocks noChangeAspect="1"/>
          </p:cNvPicPr>
          <p:nvPr/>
        </p:nvPicPr>
        <p:blipFill>
          <a:blip r:embed="rId3"/>
          <a:stretch>
            <a:fillRect/>
          </a:stretch>
        </p:blipFill>
        <p:spPr>
          <a:xfrm>
            <a:off x="694851" y="1444752"/>
            <a:ext cx="5193979"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8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8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800">
                <a:solidFill>
                  <a:srgbClr val="3A4453"/>
                </a:solidFill>
              </a:rPr>
              <a:t>To achieve the $397k annual target, the remaining nine months would need to deliver approximately $391k, compared with the original $175k budget.</a:t>
            </a:r>
            <a:endParaRPr lang="en-US" sz="800"/>
          </a:p>
          <a:p>
            <a:pPr marL="342900" indent="-342900">
              <a:lnSpc>
                <a:spcPts val="1000"/>
              </a:lnSpc>
              <a:spcAft>
                <a:spcPts val="400"/>
              </a:spcAft>
              <a:buSzPct val="100000"/>
              <a:buChar char="•"/>
            </a:pPr>
            <a:r>
              <a:rPr lang="en-US" sz="8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800">
                <a:solidFill>
                  <a:srgbClr val="3A4453"/>
                </a:solidFill>
              </a:rPr>
              <a:t>Revenue reached 81% of the year-to-date budget, while gross profit reached only 69%. Improving gross margin is a priority.</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3"/>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85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85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5"/>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85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85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Support, Sep 26</a:t>
            </a:r>
            <a:endParaRPr lang="en-US" sz="2700"/>
          </a:p>
        </p:txBody>
      </p:sp>
      <p:pic>
        <p:nvPicPr>
          <p:cNvPr id="4" name="snip dept_Support" descr="/home/user/Claude/deck/snips/dept_Support.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850">
                <a:solidFill>
                  <a:srgbClr val="3A4453"/>
                </a:solidFill>
              </a:rPr>
              <a:t>Gross margin was 41.7%, compared with 41.0% in September last year.</a:t>
            </a:r>
            <a:endParaRPr lang="en-US" sz="850"/>
          </a:p>
          <a:p>
            <a:pPr marL="342900" indent="-342900">
              <a:lnSpc>
                <a:spcPts val="1050"/>
              </a:lnSpc>
              <a:spcAft>
                <a:spcPts val="400"/>
              </a:spcAft>
              <a:buSzPct val="100000"/>
              <a:buChar char="•"/>
            </a:pPr>
            <a:r>
              <a:rPr lang="en-US" sz="85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85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850">
                <a:solidFill>
                  <a:srgbClr val="3A4453"/>
                </a:solidFill>
              </a:rPr>
              <a:t>Chargeable utilisation reached 91.2%, above the 88% target and the strongest result across the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Events, Sep 26</a:t>
            </a:r>
            <a:endParaRPr lang="en-US" sz="2700"/>
          </a:p>
        </p:txBody>
      </p:sp>
      <p:pic>
        <p:nvPicPr>
          <p:cNvPr id="4" name="snip dept_Events" descr="/home/user/Claude/deck/snips/dept_Events.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9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9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900">
                <a:solidFill>
                  <a:srgbClr val="3A4453"/>
                </a:solidFill>
              </a:rPr>
              <a:t>Despite this, Events recorded a $54k loss after $111k of allocated overheads.</a:t>
            </a:r>
            <a:endParaRPr lang="en-US" sz="900"/>
          </a:p>
          <a:p>
            <a:pPr marL="342900" indent="-342900">
              <a:lnSpc>
                <a:spcPts val="1150"/>
              </a:lnSpc>
              <a:spcAft>
                <a:spcPts val="400"/>
              </a:spcAft>
              <a:buSzPct val="100000"/>
              <a:buChar char="•"/>
            </a:pPr>
            <a:r>
              <a:rPr lang="en-US" sz="9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900">
                <a:solidFill>
                  <a:srgbClr val="3A4453"/>
                </a:solidFill>
              </a:rPr>
              <a:t>The team recorded 333 hours of leave and 241 billable hours, highlighting reduced available delivery capacity.</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Video, Sep 26</a:t>
            </a:r>
            <a:endParaRPr lang="en-US" sz="2700"/>
          </a:p>
        </p:txBody>
      </p:sp>
      <p:pic>
        <p:nvPicPr>
          <p:cNvPr id="4" name="snip dept_Video" descr="/home/user/Claude/deck/snips/dept_Video.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95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950">
                <a:solidFill>
                  <a:srgbClr val="3A4453"/>
                </a:solidFill>
              </a:rPr>
              <a:t>However, this produced only $6k in gross profit against approximately $13k of overheads.</a:t>
            </a:r>
            <a:endParaRPr lang="en-US" sz="950"/>
          </a:p>
          <a:p>
            <a:pPr marL="342900" indent="-342900">
              <a:lnSpc>
                <a:spcPts val="1200"/>
              </a:lnSpc>
              <a:spcAft>
                <a:spcPts val="400"/>
              </a:spcAft>
              <a:buSzPct val="100000"/>
              <a:buChar char="•"/>
            </a:pPr>
            <a:r>
              <a:rPr lang="en-US" sz="95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950">
                <a:solidFill>
                  <a:srgbClr val="3A4453"/>
                </a:solidFill>
              </a:rPr>
              <a:t>Only 24.5 billable hours were recorded for September, indicating limited activity.</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Integration, Sep 26</a:t>
            </a:r>
            <a:endParaRPr lang="en-US" sz="2700"/>
          </a:p>
        </p:txBody>
      </p:sp>
      <p:pic>
        <p:nvPicPr>
          <p:cNvPr id="4" name="snip dept_Integration" descr="/home/user/Claude/deck/snips/dept_Integration.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9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9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900">
                <a:solidFill>
                  <a:srgbClr val="3A4453"/>
                </a:solidFill>
              </a:rPr>
              <a:t>This resulted in approximately $24k gross profit, despite the strong revenue result.</a:t>
            </a:r>
            <a:endParaRPr lang="en-US" sz="900"/>
          </a:p>
          <a:p>
            <a:pPr marL="342900" indent="-342900">
              <a:lnSpc>
                <a:spcPts val="1150"/>
              </a:lnSpc>
              <a:spcAft>
                <a:spcPts val="400"/>
              </a:spcAft>
              <a:buSzPct val="100000"/>
              <a:buChar char="•"/>
            </a:pPr>
            <a:r>
              <a:rPr lang="en-US" sz="9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900">
                <a:solidFill>
                  <a:srgbClr val="3A4453"/>
                </a:solidFill>
              </a:rPr>
              <a:t>Only 10 billable hours were recorded, indicating that the revenue was mainly driven by equipment supply rather than labour delivery.</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Consulting, Sep 26</a:t>
            </a:r>
            <a:endParaRPr lang="en-US" sz="2700"/>
          </a:p>
        </p:txBody>
      </p:sp>
      <p:pic>
        <p:nvPicPr>
          <p:cNvPr id="4" name="snip dept_Consulting" descr="/home/user/Claude/deck/snips/dept_Consulting.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95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950">
                <a:solidFill>
                  <a:srgbClr val="3A4453"/>
                </a:solidFill>
              </a:rPr>
              <a:t>The department recorded a $20k loss after approximately $20k of overheads.</a:t>
            </a:r>
            <a:endParaRPr lang="en-US" sz="950"/>
          </a:p>
          <a:p>
            <a:pPr marL="342900" indent="-342900">
              <a:lnSpc>
                <a:spcPts val="1200"/>
              </a:lnSpc>
              <a:spcAft>
                <a:spcPts val="400"/>
              </a:spcAft>
              <a:buSzPct val="100000"/>
              <a:buChar char="•"/>
            </a:pPr>
            <a:r>
              <a:rPr lang="en-US" sz="95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95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950">
                <a:solidFill>
                  <a:srgbClr val="3A4453"/>
                </a:solidFill>
              </a:rPr>
              <a:t>Management should review the department's future structure, capacity and commercial viability, including whether to rebuild or combine its activities.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Revenue against budget and last year</a:t>
            </a:r>
            <a:endParaRPr lang="en-US" sz="2700"/>
          </a:p>
        </p:txBody>
      </p:sp>
      <p:pic>
        <p:nvPicPr>
          <p:cNvPr id="4" name="snip rev_by_dept" descr="/home/user/Claude/deck/snips/rev_by_dept.png"/>
          <p:cNvPicPr>
            <a:picLocks noChangeAspect="1"/>
          </p:cNvPicPr>
          <p:nvPr/>
        </p:nvPicPr>
        <p:blipFill>
          <a:blip r:embed="rId3"/>
          <a:stretch>
            <a:fillRect/>
          </a:stretch>
        </p:blipFill>
        <p:spPr>
          <a:xfrm>
            <a:off x="502920" y="1444752"/>
            <a:ext cx="5577840" cy="239296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85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850">
                <a:solidFill>
                  <a:srgbClr val="3A4453"/>
                </a:solidFill>
              </a:rPr>
              <a:t>Support recorded $243k revenue against a $248k budget, remaining broadly in line with recurring contracts.</a:t>
            </a:r>
            <a:endParaRPr lang="en-US" sz="850"/>
          </a:p>
          <a:p>
            <a:pPr marL="342900" indent="-342900">
              <a:lnSpc>
                <a:spcPts val="1050"/>
              </a:lnSpc>
              <a:spcAft>
                <a:spcPts val="400"/>
              </a:spcAft>
              <a:buSzPct val="100000"/>
              <a:buChar char="•"/>
            </a:pPr>
            <a:r>
              <a:rPr lang="en-US" sz="85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85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850">
                <a:solidFill>
                  <a:srgbClr val="3A4453"/>
                </a:solidFill>
              </a:rPr>
              <a:t>Total revenue increased 58% against September last year, although the gross margin percentage declined.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5577840" cy="282075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85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85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85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85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577840" cy="256924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9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9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9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9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696031" y="1444752"/>
            <a:ext cx="5191618"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85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85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85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85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02920" y="1389888"/>
            <a:ext cx="8138160" cy="2175629"/>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850">
                <a:solidFill>
                  <a:srgbClr val="3A4453"/>
                </a:solidFill>
              </a:rPr>
              <a:t>Support received approximately 67% of the allocation under the rolling-hours methodology.</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85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577840" cy="2818123"/>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9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9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9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9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577840" cy="290021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988263" y="1444752"/>
            <a:ext cx="4607153"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95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95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95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95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95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850">
                <a:solidFill>
                  <a:srgbClr val="3A4453"/>
                </a:solidFill>
              </a:rPr>
              <a:t>Support achieved 91.2% against an 88.0% target, exceeding the target by 3.2 percentage points.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85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577840" cy="3045909"/>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85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85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85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85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5577840" cy="258741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85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85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85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5577840" cy="2604071"/>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9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9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9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9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8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8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