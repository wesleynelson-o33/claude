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92" r:id="rId47"/>
    <p:sldId id="293" r:id="rId48"/>
    <p:sldId id="294" r:id="rId4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 Id="rId47" Type="http://schemas.openxmlformats.org/officeDocument/2006/relationships/slide" Target="slides/slide8.xml"/><Relationship Id="rId48" Type="http://schemas.openxmlformats.org/officeDocument/2006/relationships/slide" Target="slides/slide9.xml"/><Relationship Id="rId49"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p>
            <a:r>
              <a:t>Against budget, month by month. July billed $459,049 against $609,277, short by $150,228. August billed $603,467 against $973,168, short by $369,702. September billed $561,945 against $413,665, ahead by $148,280. Year to date $1,624,460 against $1,996,110, short by $371,650 or 18.6%.</a:t>
            </a:r>
          </a:p>
          <a:p/>
          <a:p>
            <a:r>
              <a:t>August is where the year to date shortfall sits. It was budgeted as the second largest month of the FY27 budget and came in $369,702 under. September went the other way and recovered $148,280 of it.</a:t>
            </a:r>
          </a:p>
          <a:p/>
          <a:p>
            <a:r>
              <a:t>Against the same month in earlier years. September 2026 $561,945, September 2025 $356,323, September 2024 $440,243. September 2026 is $205,621 or 57.7% ahead of last year and $121,701 or 27.6% ahead of the year before. September 2025 was itself 19.1% below September 2024.</a:t>
            </a:r>
          </a:p>
          <a:p/>
          <a:p>
            <a:r>
              <a:t>The 57.7% figure flatters the result because FY26 was the weakest of the three years. Against FY25 the same month is 27.6% ahead, which is about 13% a year over two years, and that is the number to carry into the reforecast.</a:t>
            </a:r>
          </a:p>
          <a:p/>
          <a:p>
            <a:r>
              <a:t>The two charts sit together because they answer the same question from two sides. The month is ahead of where it was a year ago and ahead of its own budget. The year to date is behind budget, and that is an August problem rather than a September one.</a:t>
            </a:r>
          </a:p>
          <a:p/>
          <a:p>
            <a:r>
              <a:t>Xero holds the last three financial years, so September 2024 is the earliest September available for the comparison.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p>
            <a:r>
              <a:t>First quarter: FY25 $1,380,102, FY26 $1,228,582, FY27 $1,624,460.</a:t>
            </a:r>
          </a:p>
          <a:p>
            <a:r>
              <a:t>Second quarter: FY25 $2,276,986, FY26 $1,894,997.</a:t>
            </a:r>
          </a:p>
          <a:p>
            <a:r>
              <a:t>Third quarter: FY25 $1,873,339, FY26 $1,303,789.</a:t>
            </a:r>
          </a:p>
          <a:p>
            <a:r>
              <a:t>Fourth quarter: FY25 $1,469,930, FY26 $1,685,818.</a:t>
            </a:r>
          </a:p>
          <a:p/>
          <a:p>
            <a:r>
              <a:t>Three things come out of this that the single quarter comparison could not show.</a:t>
            </a:r>
          </a:p>
          <a:p/>
          <a:p>
            <a:r>
              <a:t>The first is that the quarter just closed is the smallest quarter of the year in both completed years, and FY27 has made it the largest first quarter of the three. That is a genuinely good result and it is worth saying so.</a:t>
            </a:r>
          </a:p>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p>
            <a:r>
              <a:t>FY27 shows one quarter because one quarter has closed. The chart fills in as each quarter closes.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p>
            <a:r>
              <a:t>FY25 totalled $7,000,357 and FY26 $6,113,186, a fall of $887,171 or 12.7%. FY27 stands at $1,624,460 after three months.</a:t>
            </a:r>
          </a:p>
          <a:p/>
          <a:p>
            <a:r>
              <a:t>The fall in FY26 was not confined to one half. The first half was $533,509 or 14.6% below FY25 and the second half $353,662 or 10.6% below.</a:t>
            </a:r>
          </a:p>
          <a:p/>
          <a:p>
            <a:r>
              <a:t>Two features of the shape are worth the board's attention.</a:t>
            </a:r>
          </a:p>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p>
            <a:r>
              <a:t>Xero serves the last three financial years. FY23 and FY24 cannot be pulled, which is why the history begins in July 2024.</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p>
            <a:r>
              <a:t>At September: FY27 $1,624,460, FY26 $1,228,582, FY25 $1,380,102, and the FY27 budget $1,996,110.</a:t>
            </a:r>
          </a:p>
          <a:p/>
          <a:p>
            <a:r>
              <a:t>The year is ahead of both completed years at this point. It is $371,650 or 18.6% behind the budget set for it.</a:t>
            </a:r>
          </a:p>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p>
            <a:r>
              <a:t>That matters now because FY27 is about to enter the same two months, and the budget has December at $344,970 and January at $353,969, both well below what FY25 billed in them.</a:t>
            </a:r>
          </a:p>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4.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notesSlide" Target="../notesSlides/notesSlide36.xml"/><Relationship Id="rId5" Type="http://schemas.openxmlformats.org/officeDocument/2006/relationships/image" Target="../media/image37.png"/><Relationship Id="rId6" Type="http://schemas.openxmlformats.org/officeDocument/2006/relationships/image" Target="../media/image3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8.png"/><Relationship Id="rId4" Type="http://schemas.openxmlformats.org/officeDocument/2006/relationships/notesSlide" Target="../notesSlides/notesSlide37.xml"/><Relationship Id="rId5" Type="http://schemas.openxmlformats.org/officeDocument/2006/relationships/image" Target="../media/image4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40.png"/><Relationship Id="rId4" Type="http://schemas.openxmlformats.org/officeDocument/2006/relationships/notesSlide" Target="../notesSlides/notesSlide38.xml"/><Relationship Id="rId5" Type="http://schemas.openxmlformats.org/officeDocument/2006/relationships/image" Target="../media/image4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8" name="snip rev_years" descr="rev_years.png"/>
          <p:cNvPicPr>
            <a:picLocks noChangeAspect="1"/>
          </p:cNvPicPr>
          <p:nvPr/>
        </p:nvPicPr>
        <p:blipFill>
          <a:blip r:embed="rId10"/>
          <a:stretch>
            <a:fillRect/>
          </a:stretch>
        </p:blipFill>
        <p:spPr>
          <a:xfrm>
            <a:off x="4707871" y="1115568"/>
            <a:ext cx="3888777" cy="2397673"/>
          </a:xfrm>
          <a:prstGeom prst="rect">
            <a:avLst/>
          </a:prstGeom>
        </p:spPr>
      </p:pic>
      <p:pic>
        <p:nvPicPr>
          <p:cNvPr id="27" name="snip rev_month_budget" descr="rev_ytd.png"/>
          <p:cNvPicPr>
            <a:picLocks noChangeAspect="1"/>
          </p:cNvPicPr>
          <p:nvPr/>
        </p:nvPicPr>
        <p:blipFill>
          <a:blip r:embed="rId9"/>
          <a:stretch>
            <a:fillRect/>
          </a:stretch>
        </p:blipFill>
        <p:spPr>
          <a:xfrm>
            <a:off x="547351" y="1115568"/>
            <a:ext cx="3888777"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q1" descr="xero_qtr.png"/>
          <p:cNvPicPr>
            <a:picLocks noChangeAspect="1"/>
          </p:cNvPicPr>
          <p:nvPr/>
        </p:nvPicPr>
        <p:blipFill>
          <a:blip r:embed="rId6"/>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quarter,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hist" descr="xero_hist.png"/>
          <p:cNvPicPr>
            <a:picLocks noChangeAspect="1"/>
          </p:cNvPicPr>
          <p:nvPr/>
        </p:nvPicPr>
        <p:blipFill>
          <a:blip r:embed="rId5"/>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Three years of revenue by month</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cum" descr="xero_cum.png"/>
          <p:cNvPicPr>
            <a:picLocks noChangeAspect="1"/>
          </p:cNvPicPr>
          <p:nvPr/>
        </p:nvPicPr>
        <p:blipFill>
          <a:blip r:embed="rId5"/>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year to date, against budget</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