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90" r:id="rId45"/>
    <p:sldId id="291" r:id="rId46"/>
    <p:sldId id="292" r:id="rId47"/>
    <p:sldId id="293" r:id="rId48"/>
    <p:sldId id="294" r:id="rId4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 Id="rId4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p>
            <a:r>
              <a:t>Actual revenue was $459,049 in July, $603,467 in August and $561,945 in September, $1,624,460 for the quarter.</a:t>
            </a:r>
          </a:p>
          <a:p/>
          <a:p>
            <a:r>
              <a:t>Budget for those months was $609,277, $973,168 and $413,665, being $1,996,110 for the quarter. The quarter is therefore $371,650 short of budget.</a:t>
            </a:r>
          </a:p>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The chart lengthens by one column each month as the pack closes a month, so it will show the full year by June without being rebuilt.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for each closed month, taken from the Cost Analysis tab.</a:t>
            </a:r>
          </a:p>
          <a:p/>
          <a:p>
            <a:r>
              <a:t>July: $459,049 against a budget of $609,277, short by $150,228 or 24.7%.</a:t>
            </a:r>
          </a:p>
          <a:p>
            <a:r>
              <a:t>August: $603,467 against $973,168, short by $369,701 or 38.0%.</a:t>
            </a:r>
          </a:p>
          <a:p>
            <a:r>
              <a:t>September: $561,945 against $413,665, ahead by $148,280 or 35.8%.</a:t>
            </a:r>
          </a:p>
          <a:p/>
          <a:p>
            <a:r>
              <a:t>Year to date: $1,624,460 against $1,996,110, short by $371,650 or 18.6%.</a:t>
            </a:r>
          </a:p>
          <a:p/>
          <a:p>
            <a:r>
              <a:t>The monthly shape matters more than the quarter total. Two thirds of the shortfall is August alone, where the budget asked for $973,168. That is more than the business has billed in any month on record, so the variance reflects the plan as much as the trading.</a:t>
            </a:r>
          </a:p>
          <a:p/>
          <a:p>
            <a:r>
              <a:t>September is the only month ahead of budget, and that came from a single Integration installation completing at a 10.1% gross margin, so it added revenue without adding much profit.</a:t>
            </a:r>
          </a:p>
          <a:p/>
          <a:p>
            <a:r>
              <a:t>Read alongside the previous page, which shows which department billed each month, the two slides together explain the quarter: a steady Support base, one large project landing in September, and a budget that front-loaded the year.</a:t>
            </a:r>
          </a:p>
          <a:p/>
          <a:p>
            <a:r>
              <a:t>The chart takes the closed months only and lengthens as the year goes on. The year to date pair sits on the table beneath it rather than on the chart, because a column five times the height of the others would flatten the months.</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for September across three years, taken from the Xero History tab and the Cost Analysis tab.</a:t>
            </a:r>
          </a:p>
          <a:p/>
          <a:p>
            <a:r>
              <a:t>September 2026 $561,945. September 2025 $356,323. September 2024 $440,243.</a:t>
            </a:r>
          </a:p>
          <a:p/>
          <a:p>
            <a:r>
              <a:t>September 2026 is $205,621 or 57.7% ahead of September 2025, and $121,701 or 27.6% ahead of September 2024. September 2025 was itself $83,920 or 19.1% below September 2024.</a:t>
            </a:r>
          </a:p>
          <a:p/>
          <a:p>
            <a:r>
              <a:t>The 57.7% headline is flattering because the year it is measured against was the weakest of the three. FY26 was a down year across the board, and part of what FY27 has done is recover ground rather than break new ground. Against FY25 the same month is 27.6% ahead, which over two years is about 13% a year, and that is the number worth carrying into the reforecast.</a:t>
            </a:r>
          </a:p>
          <a:p/>
          <a:p>
            <a:r>
              <a:t>On the source. FY25 was pulled from Xero on 22 October 2026 as total income by month on the accrual basis, and sits on its own Xero History tab in the pack. FY26 and FY27 are references to the pack's own actuals tabs. Three months were checked against Xero directly and agree: July 2025, August 2025 and September 2025 on the FY26 side, and September 2026 on the FY27 side.</a:t>
            </a:r>
          </a:p>
          <a:p/>
          <a:p>
            <a:r>
              <a:t>A five year comparison was asked for and cannot be produced. Xero only serves the last three financial years, and a request for September 2022 is refused by the API. FY23 and FY24 would have to come from an older copy of the pack or from a saved export. The columns for them are in place on the Cost Analysis tab and the chart reads whichever years carry figures.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p>
            <a:r>
              <a:t>First quarter: FY25 $1,380,102, FY26 $1,228,582, FY27 $1,624,460.</a:t>
            </a:r>
          </a:p>
          <a:p>
            <a:r>
              <a:t>Second quarter: FY25 $2,276,986, FY26 $1,894,997.</a:t>
            </a:r>
          </a:p>
          <a:p>
            <a:r>
              <a:t>Third quarter: FY25 $1,873,339, FY26 $1,303,789.</a:t>
            </a:r>
          </a:p>
          <a:p>
            <a:r>
              <a:t>Fourth quarter: FY25 $1,469,930, FY26 $1,685,818.</a:t>
            </a:r>
          </a:p>
          <a:p/>
          <a:p>
            <a:r>
              <a:t>Three things come out of this that the single quarter comparison could not show.</a:t>
            </a:r>
          </a:p>
          <a:p/>
          <a:p>
            <a:r>
              <a:t>The first is that the quarter just closed is the smallest quarter of the year in both completed years, and FY27 has made it the largest first quarter of the three. That is a genuinely good result and it is worth saying so.</a:t>
            </a:r>
          </a:p>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p>
            <a:r>
              <a:t>FY27 shows one quarter because one quarter has closed. The chart fills in as each quarter closes.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p>
            <a:r>
              <a:t>FY25 totalled $7,000,357 and FY26 $6,113,186, a fall of $887,171 or 12.7%. FY27 stands at $1,624,460 after three months.</a:t>
            </a:r>
          </a:p>
          <a:p/>
          <a:p>
            <a:r>
              <a:t>The fall in FY26 was not confined to one half. The first half was $533,509 or 14.6% below FY25 and the second half $353,662 or 10.6% below.</a:t>
            </a:r>
          </a:p>
          <a:p/>
          <a:p>
            <a:r>
              <a:t>Two features of the shape are worth the board's attention.</a:t>
            </a:r>
          </a:p>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p>
            <a:r>
              <a:t>Xero serves the last three financial years. FY23 and FY24 cannot be pulled, which is why the history begins in July 2024.</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on a rolling twelve month basis, taken from the Xero History tab. Each point is the total of that month and the eleven before it.</a:t>
            </a:r>
          </a:p>
          <a:p/>
          <a:p>
            <a:r>
              <a:t>This is the chart that takes the seasonality out. For a business where October can be a seven figure month and January can be a quarter of that, the month by month picture and the quarterly picture both move for reasons that have nothing to do with how the business is actually travelling. The rolling twelve months does not.</a:t>
            </a:r>
          </a:p>
          <a:p/>
          <a:p>
            <a:r>
              <a:t>The peak was $7,000,357 at June 2025, which is the FY25 full year.</a:t>
            </a:r>
          </a:p>
          <a:p/>
          <a:p>
            <a:r>
              <a:t>It fell from there for seven straight months to $5,817,190 at January 2026, a fall of $1,183,167 or 16.9%. January 2026 is the single worst month in the three years at $268,631 against $918,289 the year before, and it drags the rolling figure down the moment it enters the window.</a:t>
            </a:r>
          </a:p>
          <a:p/>
          <a:p>
            <a:r>
              <a:t>Since January the line has turned up. It now stands at $6,509,064 at September 2026, which is $691,874 or 11.9% above the trough.</a:t>
            </a:r>
          </a:p>
          <a:p/>
          <a:p>
            <a:r>
              <a:t>It is still $491,293 or 7.0% below the peak.</a:t>
            </a:r>
          </a:p>
          <a:p/>
          <a:p>
            <a:r>
              <a:t>That is the honest position. The business is recovering and the direction is right, but it has not yet got back to where it was fifteen months ago. Quarterly growth of 32% measured off the weakest quarter of the three years does not describe a business at a record. This line does.</a:t>
            </a:r>
          </a:p>
          <a:p/>
          <a:p>
            <a:r>
              <a:t>The line begins at June 2025 because that is the first month with twelve months of Xero history behind it, and it stops at September 2026 because that is the last closed month.</a:t>
            </a:r>
          </a:p>
          <a:p/>
          <a:p>
            <a:r>
              <a:t>One note on the chart itself. The scale starts at five million rather than at zero. This series only moves between $5.8 million and $7.0 million, and drawn from zero it is a flat line with a 17% fall invisible in it. The axis labels show where the scale starts.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 Id="rId4" Type="http://schemas.openxmlformats.org/officeDocument/2006/relationships/image" Target="../media/image23.png"/><Relationship Id="rId5"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2.png"/><Relationship Id="rId4" Type="http://schemas.openxmlformats.org/officeDocument/2006/relationships/notesSlide" Target="../notesSlides/notesSlide34.xml"/><Relationship Id="rId5" Type="http://schemas.openxmlformats.org/officeDocument/2006/relationships/image" Target="../media/image3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4.png"/><Relationship Id="rId4" Type="http://schemas.openxmlformats.org/officeDocument/2006/relationships/notesSlide" Target="../notesSlides/notesSlide35.xml"/><Relationship Id="rId5"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5.png"/><Relationship Id="rId4" Type="http://schemas.openxmlformats.org/officeDocument/2006/relationships/notesSlide" Target="../notesSlides/notesSlide36.xml"/><Relationship Id="rId5" Type="http://schemas.openxmlformats.org/officeDocument/2006/relationships/image" Target="../media/image37.png"/><Relationship Id="rId6" Type="http://schemas.openxmlformats.org/officeDocument/2006/relationships/image" Target="../media/image3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image" Target="../media/image40.png"/><Relationship Id="rId4"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5"/>
          <a:stretch>
            <a:fillRect/>
          </a:stretch>
        </p:blipFill>
        <p:spPr>
          <a:xfrm>
            <a:off x="1655076" y="1115568"/>
            <a:ext cx="5833847"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_budget" descr="rev_ytd.png"/>
          <p:cNvPicPr>
            <a:picLocks noChangeAspect="1"/>
          </p:cNvPicPr>
          <p:nvPr/>
        </p:nvPicPr>
        <p:blipFill>
          <a:blip r:embed="rId5"/>
          <a:stretch>
            <a:fillRect/>
          </a:stretch>
        </p:blipFill>
        <p:spPr>
          <a:xfrm>
            <a:off x="1296646" y="1115568"/>
            <a:ext cx="6550706" cy="2228790"/>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month by month</a:t>
            </a:r>
            <a:endParaRPr lang="en-US" sz="2700"/>
          </a:p>
        </p:txBody>
      </p:sp>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billed $459k against a $609k budget, $150k short.</a:t>
            </a:r>
            <a:endParaRPr lang="en-US" sz="850"/>
          </a:p>
          <a:p>
            <a:pPr marL="342900" indent="-342900">
              <a:lnSpc>
                <a:spcPts val="1050"/>
              </a:lnSpc>
              <a:spcAft>
                <a:spcPts val="400"/>
              </a:spcAft>
              <a:buSzPct val="100000"/>
              <a:buChar char="•"/>
            </a:pPr>
            <a:r>
              <a:rPr lang="en-US" sz="1000">
                <a:solidFill>
                  <a:srgbClr val="3A4453"/>
                </a:solidFill>
              </a:rPr>
              <a:t>August billed $603k against a $973k budget, $370k short.</a:t>
            </a:r>
            <a:endParaRPr lang="en-US" sz="850"/>
          </a:p>
          <a:p>
            <a:pPr marL="342900" indent="-342900">
              <a:lnSpc>
                <a:spcPts val="1050"/>
              </a:lnSpc>
              <a:spcAft>
                <a:spcPts val="400"/>
              </a:spcAft>
              <a:buSzPct val="100000"/>
              <a:buChar char="•"/>
            </a:pPr>
            <a:r>
              <a:rPr lang="en-US" sz="1000">
                <a:solidFill>
                  <a:srgbClr val="3A4453"/>
                </a:solidFill>
              </a:rPr>
              <a:t>September billed $562k against a $414k budget, $148k ahead.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700974"/>
            <a:ext cx="3703320" cy="898457"/>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$1,624k against $1,996k, a shortfall of $372k or 18.6%.</a:t>
            </a:r>
            <a:endParaRPr lang="en-US" sz="850"/>
          </a:p>
          <a:p>
            <a:pPr marL="342900" indent="-342900">
              <a:lnSpc>
                <a:spcPts val="1050"/>
              </a:lnSpc>
              <a:spcAft>
                <a:spcPts val="400"/>
              </a:spcAft>
              <a:buSzPct val="100000"/>
              <a:buChar char="•"/>
            </a:pPr>
            <a:r>
              <a:rPr lang="en-US" sz="1000">
                <a:solidFill>
                  <a:srgbClr val="3A4453"/>
                </a:solidFill>
              </a:rPr>
              <a:t>Two thirds of the shortfall is August alone, where the budget asked for more than the business has ever billed in a month.</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years" descr="rev_years.png"/>
          <p:cNvPicPr>
            <a:picLocks noChangeAspect="1"/>
          </p:cNvPicPr>
          <p:nvPr/>
        </p:nvPicPr>
        <p:blipFill>
          <a:blip r:embed="rId5"/>
          <a:stretch>
            <a:fillRect/>
          </a:stretch>
        </p:blipFill>
        <p:spPr>
          <a:xfrm>
            <a:off x="1734604" y="1115568"/>
            <a:ext cx="5674791"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for the month,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revenue was $562k, against $356k last September and $440k the September before that.</a:t>
            </a:r>
            <a:endParaRPr lang="en-US" sz="850"/>
          </a:p>
          <a:p>
            <a:pPr marL="342900" indent="-342900">
              <a:lnSpc>
                <a:spcPts val="1050"/>
              </a:lnSpc>
              <a:spcAft>
                <a:spcPts val="400"/>
              </a:spcAft>
              <a:buSzPct val="100000"/>
              <a:buChar char="•"/>
            </a:pPr>
            <a:r>
              <a:rPr lang="en-US" sz="1000">
                <a:solidFill>
                  <a:srgbClr val="3A4453"/>
                </a:solidFill>
              </a:rPr>
              <a:t>The three year shape is a dip and a recovery. September fell 19% between FY25 and FY26, then rose 58% into FY27.</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Measured against FY25 rather than the weak FY26, September is 28% ahead, which is the steadier read on growth.</a:t>
            </a:r>
            <a:endParaRPr lang="en-US" sz="850"/>
          </a:p>
          <a:p>
            <a:pPr marL="342900" indent="-342900">
              <a:lnSpc>
                <a:spcPts val="1050"/>
              </a:lnSpc>
              <a:spcAft>
                <a:spcPts val="400"/>
              </a:spcAft>
              <a:buSzPct val="100000"/>
              <a:buChar char="•"/>
            </a:pPr>
            <a:r>
              <a:rPr lang="en-US" sz="1000">
                <a:solidFill>
                  <a:srgbClr val="3A4453"/>
                </a:solidFill>
              </a:rPr>
              <a:t>Xero holds the last three financial years, so September 2024 is the earliest month available for this comparison.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q1" descr="xero_qtr.png"/>
          <p:cNvPicPr>
            <a:picLocks noChangeAspect="1"/>
          </p:cNvPicPr>
          <p:nvPr/>
        </p:nvPicPr>
        <p:blipFill>
          <a:blip r:embed="rId6"/>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quarter, year on year</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hist" descr="xero_hist.png"/>
          <p:cNvPicPr>
            <a:picLocks noChangeAspect="1"/>
          </p:cNvPicPr>
          <p:nvPr/>
        </p:nvPicPr>
        <p:blipFill>
          <a:blip r:embed="rId3"/>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Three years of revenue by month</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xero_roll" descr="xero_roll.png"/>
          <p:cNvPicPr>
            <a:picLocks noChangeAspect="1"/>
          </p:cNvPicPr>
          <p:nvPr/>
        </p:nvPicPr>
        <p:blipFill>
          <a:blip r:embed="rId3"/>
          <a:stretch>
            <a:fillRect/>
          </a:stretch>
        </p:blipFill>
        <p:spPr>
          <a:xfrm>
            <a:off x="1362886" y="1115568"/>
            <a:ext cx="6418226" cy="23976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rolling twelve months</a:t>
            </a:r>
            <a:endParaRPr lang="en-US" sz="2700"/>
          </a:p>
        </p:txBody>
      </p:sp>
      <p:sp>
        <p:nvSpPr>
          <p:cNvPr id="6" name="commentary panel"/>
          <p:cNvSpPr/>
          <p:nvPr/>
        </p:nvSpPr>
        <p:spPr>
          <a:xfrm>
            <a:off x="502920" y="3622969"/>
            <a:ext cx="8138160" cy="1003894"/>
          </a:xfrm>
          <a:prstGeom prst="rect">
            <a:avLst/>
          </a:prstGeom>
          <a:solidFill>
            <a:srgbClr val="E8F9F8"/>
          </a:solidFill>
          <a:ln/>
        </p:spPr>
        <p:txBody>
          <a:bodyPr/>
          <a:lstStyle/>
          <a:p>
            <a:endParaRPr lang="en-AU"/>
          </a:p>
        </p:txBody>
      </p:sp>
      <p:sp>
        <p:nvSpPr>
          <p:cNvPr id="7" name="Text 4"/>
          <p:cNvSpPr txBox="1"/>
          <p:nvPr/>
        </p:nvSpPr>
        <p:spPr>
          <a:xfrm>
            <a:off x="685800" y="369612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twelve months to September 2026 billed $6,509k.</a:t>
            </a:r>
            <a:endParaRPr lang="en-US" sz="850"/>
          </a:p>
          <a:p>
            <a:pPr marL="342900" indent="-342900">
              <a:lnSpc>
                <a:spcPts val="1050"/>
              </a:lnSpc>
              <a:spcAft>
                <a:spcPts val="400"/>
              </a:spcAft>
              <a:buSzPct val="100000"/>
              <a:buChar char="•"/>
            </a:pPr>
            <a:r>
              <a:rPr lang="en-US" sz="1000">
                <a:solidFill>
                  <a:srgbClr val="3A4453"/>
                </a:solidFill>
              </a:rPr>
              <a:t>The peak was $7,000k in June 2025. The trough was $5,817k in January 2026, a fall of 17%.</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8" name="Text 5b"/>
          <p:cNvSpPr txBox="1"/>
          <p:nvPr/>
        </p:nvSpPr>
        <p:spPr>
          <a:xfrm>
            <a:off x="4663440" y="3869857"/>
            <a:ext cx="3703320" cy="729574"/>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trend has turned up since January and has recovered $692k of that, about 12%.</a:t>
            </a:r>
            <a:endParaRPr lang="en-US" sz="850"/>
          </a:p>
          <a:p>
            <a:pPr marL="342900" indent="-342900">
              <a:lnSpc>
                <a:spcPts val="1050"/>
              </a:lnSpc>
              <a:spcAft>
                <a:spcPts val="400"/>
              </a:spcAft>
              <a:buSzPct val="100000"/>
              <a:buChar char="•"/>
            </a:pPr>
            <a:r>
              <a:rPr lang="en-US" sz="1000">
                <a:solidFill>
                  <a:srgbClr val="3A4453"/>
                </a:solidFill>
              </a:rPr>
              <a:t>It is still $491k or 7% below the peak. The recovery is real but it is not finished.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