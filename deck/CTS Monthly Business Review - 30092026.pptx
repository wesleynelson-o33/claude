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2"/>
  </p:notesMasterIdLst>
  <p:sldIdLst>
    <p:sldId id="256" r:id="rId5"/>
    <p:sldId id="257" r:id="rId6"/>
    <p:sldId id="258" r:id="rId7"/>
    <p:sldId id="259" r:id="rId8"/>
    <p:sldId id="260" r:id="rId9"/>
    <p:sldId id="289" r:id="rId10"/>
    <p:sldId id="290" r:id="rId11"/>
    <p:sldId id="292" r:id="rId12"/>
    <p:sldId id="293" r:id="rId13"/>
    <p:sldId id="294"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8" r:id="rId40"/>
    <p:sldId id="286" r:id="rId41"/>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6/11/relationships/changesInfo" Target="changesInfos/changesInfo1.xml"/><Relationship Id="rId4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endParaRPr/>
          </a:p>
          <a:p>
            <a:r>
              <a:t>The five departments total a loss of $41,464, which is net profit for the month.</a:t>
            </a:r>
          </a:p>
          <a:p>
            <a:endParaRPr/>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endParaRPr/>
          </a:p>
          <a:p>
            <a:r>
              <a:t>The three total a loss of $41,464, which is net profit for the month,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$72,283, of which $13,101 is its own spending and $59,182 is its share of the office, allocated on the keys set in the pack.</a:t>
            </a:r>
          </a:p>
          <a:p>
            <a:endParaRPr/>
          </a:p>
          <a:p>
            <a:r>
              <a:t>That leaves $29,007 for the month.</a:t>
            </a:r>
          </a:p>
          <a:p>
            <a:endParaRPr/>
          </a:p>
          <a:p>
            <a:r>
              <a:t>Year to date it has billed $718,587 against a budget of $743,185.</a:t>
            </a:r>
          </a:p>
          <a:p>
            <a:endParaRPr/>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$111,108, of which $39,436 is its own spending and $71,672 is its share of the office.</a:t>
            </a:r>
          </a:p>
          <a:p>
            <a:endParaRPr/>
          </a:p>
          <a:p>
            <a:r>
              <a:t>That leaves a loss of $54,227 for the month.</a:t>
            </a:r>
          </a:p>
          <a:p>
            <a:endParaRPr/>
          </a:p>
          <a:p>
            <a:r>
              <a:t>Year to date it has billed $420,121 against a budget of $321,957.</a:t>
            </a:r>
          </a:p>
          <a:p>
            <a:endParaRPr/>
          </a:p>
          <a:p>
            <a:r>
              <a:t>On people, employment expense of $50,959, of which $35,665 is its own staff and $15,294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$12,659, of which $2,878 is its own spending and $9,782 is its share of the office.</a:t>
            </a:r>
          </a:p>
          <a:p>
            <a:endParaRPr/>
          </a:p>
          <a:p>
            <a:r>
              <a:t>That leaves a loss of $6,846 for the month.</a:t>
            </a:r>
          </a:p>
          <a:p>
            <a:endParaRPr/>
          </a:p>
          <a:p>
            <a:r>
              <a:t>Year to date it has billed $40,270 against a budget of $85,584.</a:t>
            </a:r>
          </a:p>
          <a:p>
            <a:endParaRPr/>
          </a:p>
          <a:p>
            <a:r>
              <a:t>On people, employment expense of $3,961, of which $2,660 is its own staff and $1,301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$13,285, of which $9,136 is its own spending and $4,148 is its share of the office.</a:t>
            </a:r>
          </a:p>
          <a:p>
            <a:endParaRPr/>
          </a:p>
          <a:p>
            <a:r>
              <a:t>That leaves $10,471 for the month.</a:t>
            </a:r>
          </a:p>
          <a:p>
            <a:endParaRPr/>
          </a:p>
          <a:p>
            <a:r>
              <a:t>Year to date it has billed $441,414 against a budget of $608,676.</a:t>
            </a:r>
          </a:p>
          <a:p>
            <a:endParaRPr/>
          </a:p>
          <a:p>
            <a:r>
              <a:t>On people, employment expense of $8,832, of which $8,563 is its own staff and $269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$19,944, of which $5,965 is its own spending and $13,979 is its share of the office.</a:t>
            </a:r>
          </a:p>
          <a:p>
            <a:endParaRPr/>
          </a:p>
          <a:p>
            <a:r>
              <a:t>That leaves a loss of $19,870 for the month.</a:t>
            </a:r>
          </a:p>
          <a:p>
            <a:endParaRPr/>
          </a:p>
          <a:p>
            <a:r>
              <a:t>Year to date it has billed $4,068 against a budget of $236,707.</a:t>
            </a:r>
          </a:p>
          <a:p>
            <a:endParaRPr/>
          </a:p>
          <a:p>
            <a:r>
              <a:t>On people, employment expense of $9,496, of which $5,545 is its own staff and $3,951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 Id="rId5"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4.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png"/><Relationship Id="rId5"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8.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0.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5.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26.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7.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8.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https://corptechservices.sharepoint.com/:x:/s/CTSNASAccountsYBackup/IQA10LAzkaNEQq0FYhCYngMZAdN-NraOBffkpTyYU738ebI?e=dOV2Sx"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3698" y="1005840"/>
            <a:ext cx="7756603"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P&amp;L summary, income</a:t>
            </a:r>
            <a:endParaRPr lang="en-US" sz="2700" dirty="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rev_month.png"/>
          <p:cNvPicPr>
            <a:picLocks noChangeAspect="1"/>
          </p:cNvPicPr>
          <p:nvPr/>
        </p:nvPicPr>
        <p:blipFill>
          <a:blip r:embed="rId5"/>
          <a:stretch>
            <a:fillRect/>
          </a:stretch>
        </p:blipFill>
        <p:spPr>
          <a:xfrm>
            <a:off x="504052" y="1005840"/>
            <a:ext cx="8135894" cy="230276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by month and department</a:t>
            </a:r>
            <a:endParaRPr lang="en-US" sz="2700" dirty="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2453"/>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2453"/>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year on year</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xero_qtr.png"/>
          <p:cNvPicPr>
            <a:picLocks noChangeAspect="1"/>
          </p:cNvPicPr>
          <p:nvPr/>
        </p:nvPicPr>
        <p:blipFill>
          <a:blip r:embed="rId5"/>
          <a:stretch>
            <a:fillRect/>
          </a:stretch>
        </p:blipFill>
        <p:spPr>
          <a:xfrm>
            <a:off x="502920" y="1007468"/>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by quarter, year on year</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xero_hist.png"/>
          <p:cNvPicPr>
            <a:picLocks noChangeAspect="1"/>
          </p:cNvPicPr>
          <p:nvPr/>
        </p:nvPicPr>
        <p:blipFill>
          <a:blip r:embed="rId5"/>
          <a:stretch>
            <a:fillRect/>
          </a:stretch>
        </p:blipFill>
        <p:spPr>
          <a:xfrm>
            <a:off x="502920" y="1007468"/>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Three years of revenue by month</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xero_cum.png"/>
          <p:cNvPicPr>
            <a:picLocks noChangeAspect="1"/>
          </p:cNvPicPr>
          <p:nvPr/>
        </p:nvPicPr>
        <p:blipFill>
          <a:blip r:embed="rId5"/>
          <a:stretch>
            <a:fillRect/>
          </a:stretch>
        </p:blipFill>
        <p:spPr>
          <a:xfrm>
            <a:off x="502920" y="1007468"/>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year to date, against budget</a:t>
            </a:r>
            <a:endParaRPr lang="en-US" sz="2700" dirty="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988472" y="1005840"/>
            <a:ext cx="7167054" cy="196499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P&amp;L summary, cost and profit</a:t>
            </a:r>
            <a:endParaRPr lang="en-US" sz="2700" dirty="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 result, Sep 26</a:t>
            </a:r>
            <a:endParaRPr lang="en-US" sz="2700" dirty="0"/>
          </a:p>
        </p:txBody>
      </p:sp>
      <p:pic>
        <p:nvPicPr>
          <p:cNvPr id="4" name="snip dept_result" descr="/home/user/Claude/deck/snips/dept_result.png"/>
          <p:cNvPicPr>
            <a:picLocks noChangeAspect="1"/>
          </p:cNvPicPr>
          <p:nvPr/>
        </p:nvPicPr>
        <p:blipFill>
          <a:blip r:embed="rId3"/>
          <a:stretch>
            <a:fillRect/>
          </a:stretch>
        </p:blipFill>
        <p:spPr>
          <a:xfrm>
            <a:off x="502920" y="1346681"/>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The three departments, Sep 26</a:t>
            </a:r>
            <a:endParaRPr lang="en-US" sz="2700" dirty="0"/>
          </a:p>
        </p:txBody>
      </p:sp>
      <p:pic>
        <p:nvPicPr>
          <p:cNvPr id="4" name="snip dept_three" descr="/home/user/Claude/deck/snips/dept_three.png"/>
          <p:cNvPicPr>
            <a:picLocks noChangeAspect="1"/>
          </p:cNvPicPr>
          <p:nvPr/>
        </p:nvPicPr>
        <p:blipFill>
          <a:blip r:embed="rId3"/>
          <a:stretch>
            <a:fillRect/>
          </a:stretch>
        </p:blipFill>
        <p:spPr>
          <a:xfrm>
            <a:off x="502920" y="1525850"/>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3"/>
          <a:stretch>
            <a:fillRect/>
          </a:stretch>
        </p:blipFill>
        <p:spPr>
          <a:xfrm>
            <a:off x="968754" y="1005840"/>
            <a:ext cx="7206491"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 26</a:t>
            </a:r>
            <a:endParaRPr lang="en-US" sz="2700" dirty="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3"/>
          <a:stretch>
            <a:fillRect/>
          </a:stretch>
        </p:blipFill>
        <p:spPr>
          <a:xfrm>
            <a:off x="968754" y="1005840"/>
            <a:ext cx="7206491"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3"/>
          <a:stretch>
            <a:fillRect/>
          </a:stretch>
        </p:blipFill>
        <p:spPr>
          <a:xfrm>
            <a:off x="683582" y="1005840"/>
            <a:ext cx="7776835" cy="230276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3"/>
          <a:stretch>
            <a:fillRect/>
          </a:stretch>
        </p:blipFill>
        <p:spPr>
          <a:xfrm>
            <a:off x="968754" y="1005840"/>
            <a:ext cx="7206491"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3"/>
          <a:stretch>
            <a:fillRect/>
          </a:stretch>
        </p:blipFill>
        <p:spPr>
          <a:xfrm>
            <a:off x="968754" y="1005840"/>
            <a:ext cx="7206491"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rev_by_dept.png"/>
          <p:cNvPicPr>
            <a:picLocks noChangeAspect="1"/>
          </p:cNvPicPr>
          <p:nvPr/>
        </p:nvPicPr>
        <p:blipFill>
          <a:blip r:embed="rId5"/>
          <a:stretch>
            <a:fillRect/>
          </a:stretch>
        </p:blipFill>
        <p:spPr>
          <a:xfrm>
            <a:off x="518066" y="1005840"/>
            <a:ext cx="8107866" cy="213388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4617719" cy="2335216"/>
          </a:xfrm>
          <a:prstGeom prst="rect">
            <a:avLst/>
          </a:prstGeom>
        </p:spPr>
      </p:pic>
      <p:sp>
        <p:nvSpPr>
          <p:cNvPr id="6" name="commentary panel"/>
          <p:cNvSpPr/>
          <p:nvPr/>
        </p:nvSpPr>
        <p:spPr>
          <a:xfrm>
            <a:off x="5349239" y="1463040"/>
            <a:ext cx="3291840" cy="3154680"/>
          </a:xfrm>
          <a:prstGeom prst="rect">
            <a:avLst/>
          </a:prstGeom>
          <a:solidFill>
            <a:srgbClr val="E8F9F8"/>
          </a:solidFill>
          <a:ln/>
        </p:spPr>
        <p:txBody>
          <a:bodyPr/>
          <a:lstStyle/>
          <a:p>
            <a:endParaRPr lang="en-AU"/>
          </a:p>
        </p:txBody>
      </p:sp>
      <p:sp>
        <p:nvSpPr>
          <p:cNvPr id="7" name="Text 4"/>
          <p:cNvSpPr txBox="1"/>
          <p:nvPr/>
        </p:nvSpPr>
        <p:spPr>
          <a:xfrm>
            <a:off x="5532119" y="1627632"/>
            <a:ext cx="29260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532119" y="1901952"/>
            <a:ext cx="292608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349239" cy="2463947"/>
          </a:xfrm>
          <a:prstGeom prst="rect">
            <a:avLst/>
          </a:prstGeom>
        </p:spPr>
      </p:pic>
      <p:sp>
        <p:nvSpPr>
          <p:cNvPr id="6" name="commentary panel"/>
          <p:cNvSpPr/>
          <p:nvPr/>
        </p:nvSpPr>
        <p:spPr>
          <a:xfrm>
            <a:off x="6080759" y="1463040"/>
            <a:ext cx="2560320" cy="3154680"/>
          </a:xfrm>
          <a:prstGeom prst="rect">
            <a:avLst/>
          </a:prstGeom>
          <a:solidFill>
            <a:srgbClr val="E8F9F8"/>
          </a:solidFill>
          <a:ln/>
        </p:spPr>
        <p:txBody>
          <a:bodyPr/>
          <a:lstStyle/>
          <a:p>
            <a:endParaRPr lang="en-AU"/>
          </a:p>
        </p:txBody>
      </p:sp>
      <p:sp>
        <p:nvSpPr>
          <p:cNvPr id="7" name="Text 4"/>
          <p:cNvSpPr txBox="1"/>
          <p:nvPr/>
        </p:nvSpPr>
        <p:spPr>
          <a:xfrm>
            <a:off x="6263639" y="1627632"/>
            <a:ext cx="21945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263639" y="1901952"/>
            <a:ext cx="2194560" cy="2706623"/>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502920" y="1444752"/>
            <a:ext cx="4892039" cy="2912327"/>
          </a:xfrm>
          <a:prstGeom prst="rect">
            <a:avLst/>
          </a:prstGeom>
        </p:spPr>
      </p:pic>
      <p:sp>
        <p:nvSpPr>
          <p:cNvPr id="6" name="commentary panel"/>
          <p:cNvSpPr/>
          <p:nvPr/>
        </p:nvSpPr>
        <p:spPr>
          <a:xfrm>
            <a:off x="5623559" y="1463040"/>
            <a:ext cx="3017520" cy="3154680"/>
          </a:xfrm>
          <a:prstGeom prst="rect">
            <a:avLst/>
          </a:prstGeom>
          <a:solidFill>
            <a:srgbClr val="E8F9F8"/>
          </a:solidFill>
          <a:ln/>
        </p:spPr>
        <p:txBody>
          <a:bodyPr/>
          <a:lstStyle/>
          <a:p>
            <a:endParaRPr lang="en-AU"/>
          </a:p>
        </p:txBody>
      </p:sp>
      <p:sp>
        <p:nvSpPr>
          <p:cNvPr id="7" name="Text 4"/>
          <p:cNvSpPr txBox="1"/>
          <p:nvPr/>
        </p:nvSpPr>
        <p:spPr>
          <a:xfrm>
            <a:off x="5806439" y="1627632"/>
            <a:ext cx="26517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806439" y="1901952"/>
            <a:ext cx="2651760" cy="2706623"/>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02920" y="1096428"/>
            <a:ext cx="8138160" cy="2175628"/>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074919" cy="2564030"/>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257799" cy="2733809"/>
          </a:xfrm>
          <a:prstGeom prst="rect">
            <a:avLst/>
          </a:prstGeom>
        </p:spPr>
      </p:pic>
      <p:sp>
        <p:nvSpPr>
          <p:cNvPr id="6" name="commentary panel"/>
          <p:cNvSpPr/>
          <p:nvPr/>
        </p:nvSpPr>
        <p:spPr>
          <a:xfrm>
            <a:off x="5989319" y="1463040"/>
            <a:ext cx="2651760" cy="3154680"/>
          </a:xfrm>
          <a:prstGeom prst="rect">
            <a:avLst/>
          </a:prstGeom>
          <a:solidFill>
            <a:srgbClr val="E8F9F8"/>
          </a:solidFill>
          <a:ln/>
        </p:spPr>
        <p:txBody>
          <a:bodyPr/>
          <a:lstStyle/>
          <a:p>
            <a:endParaRPr lang="en-AU"/>
          </a:p>
        </p:txBody>
      </p:sp>
      <p:sp>
        <p:nvSpPr>
          <p:cNvPr id="7" name="Text 4"/>
          <p:cNvSpPr txBox="1"/>
          <p:nvPr/>
        </p:nvSpPr>
        <p:spPr>
          <a:xfrm>
            <a:off x="6172199" y="1627632"/>
            <a:ext cx="22860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172199" y="1901952"/>
            <a:ext cx="2286000" cy="2706623"/>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502920" y="1444752"/>
            <a:ext cx="4675306" cy="3136391"/>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28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491681"/>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074919" cy="2771278"/>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4800599" cy="2226875"/>
          </a:xfrm>
          <a:prstGeom prst="rect">
            <a:avLst/>
          </a:prstGeom>
        </p:spPr>
      </p:pic>
      <p:sp>
        <p:nvSpPr>
          <p:cNvPr id="6" name="commentary panel"/>
          <p:cNvSpPr/>
          <p:nvPr/>
        </p:nvSpPr>
        <p:spPr>
          <a:xfrm>
            <a:off x="5532119" y="1463040"/>
            <a:ext cx="3108960" cy="3154680"/>
          </a:xfrm>
          <a:prstGeom prst="rect">
            <a:avLst/>
          </a:prstGeom>
          <a:solidFill>
            <a:srgbClr val="E8F9F8"/>
          </a:solidFill>
          <a:ln/>
        </p:spPr>
        <p:txBody>
          <a:bodyPr/>
          <a:lstStyle/>
          <a:p>
            <a:endParaRPr lang="en-AU"/>
          </a:p>
        </p:txBody>
      </p:sp>
      <p:sp>
        <p:nvSpPr>
          <p:cNvPr id="7" name="Text 4"/>
          <p:cNvSpPr txBox="1"/>
          <p:nvPr/>
        </p:nvSpPr>
        <p:spPr>
          <a:xfrm>
            <a:off x="5714999" y="1627632"/>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714999" y="1901952"/>
            <a:ext cx="274320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4709159" cy="2198519"/>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 xmlns:ma14="http://schemas.microsoft.com/office/mac/drawingml/2011/main" val="0"/>
            </a:ext>
          </a:extLst>
        </p:spPr>
        <p:txBody>
          <a:bodyPr/>
          <a:lstStyle>
            <a:lvl1pPr>
              <a:defRPr sz="800">
                <a:solidFill>
                  <a:srgbClr val="6B7585"/>
                </a:solidFill>
              </a:defRPr>
            </a:lvl1pPr>
          </a:lstStyle>
          <a:p>
            <a:pPr algn="r"/>
            <a:fld id="{F7021451-1387-4CA6-816F-3879F97B5CBC}" type="slidenum">
              <a:rPr lang="en-US" b="0"/>
              <a:t>35</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2.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0</TotalTime>
  <Words>10220</Words>
  <Application>Microsoft Office PowerPoint</Application>
  <PresentationFormat>On-screen Show (16:9)</PresentationFormat>
  <Paragraphs>772</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2</cp:revision>
  <cp:lastPrinted>2026-10-20T04:14:11Z</cp:lastPrinted>
  <dcterms:created xsi:type="dcterms:W3CDTF">2026-10-18T22:46:07Z</dcterms:created>
  <dcterms:modified xsi:type="dcterms:W3CDTF">2026-10-22T02:01:31Z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