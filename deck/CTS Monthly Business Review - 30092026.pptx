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8"/>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16"/>
    <p:sldId id="296" r:id="rId17"/>
    <p:sldId id="297" r:id="rId18"/>
    <p:sldId id="298" r:id="rId19"/>
    <p:sldId id="299" r:id="rId20"/>
    <p:sldId id="262" r:id="rId21"/>
    <p:sldId id="300" r:id="rId22"/>
    <p:sldId id="263" r:id="rId23"/>
    <p:sldId id="264" r:id="rId24"/>
    <p:sldId id="265" r:id="rId25"/>
    <p:sldId id="266" r:id="rId26"/>
    <p:sldId id="267" r:id="rId27"/>
    <p:sldId id="268" r:id="rId28"/>
    <p:sldId id="301" r:id="rId55"/>
    <p:sldId id="303" r:id="rId57"/>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8" r:id="rId46"/>
    <p:sldId id="286" r:id="rId47"/>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5.xml"/><Relationship Id="rId57"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endParaRPr/>
          </a:p>
          <a:p>
            <a:r>
              <a:t>Spend here is cost of sales plus overheads. September 2026 $604,363. Budget $520,765. September 2025 $408,939. September 2024 $419,910.</a:t>
            </a:r>
          </a:p>
          <a:p>
            <a:endParaRPr/>
          </a:p>
          <a:p>
            <a:r>
              <a:t>September was $83,599 or 16.1% over budget on spend.</a:t>
            </a:r>
          </a:p>
          <a:p>
            <a:endParaRPr/>
          </a:p>
          <a:p>
            <a:r>
              <a:t>Where that sits matters more than the total. Cost of sales was $374,130 against $289,192 budgeted, which is $84,938 over. Overheads were $230,233 against $231,573 budgeted, which is $1,340 under. So the entire overspend is cost of sales and the overheads landed on plan.</a:t>
            </a:r>
          </a:p>
          <a:p>
            <a:endParaRPr/>
          </a:p>
          <a:p>
            <a:r>
              <a:t>That is the better of the two outcomes. Cost of sales moves with revenue, and September billed $561,945 against a budget of $413,665, so some of the extra cost bought extra revenue. Overheads do not move with revenue, and those held.</a:t>
            </a:r>
          </a:p>
          <a:p>
            <a:endParaRPr/>
          </a:p>
          <a:p>
            <a:r>
              <a:t>Against the two earlier years, spend is up $195,425 or 47.8% on September 2025 and $184,453 or 43.9% on September 2024. Revenue over the same two years is up 57.7% and 27.6%, so spend has grown faster than revenue against FY25 and slower than revenue against FY26.</a:t>
            </a:r>
          </a:p>
          <a:p>
            <a:endParaRPr/>
          </a:p>
          <a:p>
            <a:r>
              <a:t>The red line is revenue. It sat above the spend bar in September 2024 and below it in both years since, which is the same thing as saying those two Septembers lost money.</a:t>
            </a:r>
          </a:p>
          <a:p>
            <a:endParaRPr/>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endParaRPr/>
          </a:p>
          <a:p>
            <a:r>
              <a:t>Q1 2026 $1,633,668. Budget $1,773,409. Q1 2025 $1,313,986. Q1 2024 $1,347,094.</a:t>
            </a:r>
          </a:p>
          <a:p>
            <a:endParaRPr/>
          </a:p>
          <a:p>
            <a:r>
              <a:t>The quarter is $139,742 or 7.9% under budget on spend. That is the opposite of the month, where spend ran over.</a:t>
            </a:r>
          </a:p>
          <a:p>
            <a:endParaRPr/>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endParaRPr/>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endParaRPr/>
          </a:p>
          <a:p>
            <a:r>
              <a:t>The red line is revenue. In Q1 2024 it sat above the spend bar and the quarter made money. In Q1 2025 and Q1 2026 it sat below and both lost money. The budget line has revenue well clear of spend, which is how it was built to make $223,000.</a:t>
            </a:r>
          </a:p>
          <a:p>
            <a:endParaRPr/>
          </a:p>
          <a:p>
            <a:r>
              <a:t>FY25 comes from Xero, pulled 22 October 2026. The quarter is July to September, so it is fixed rather than following Setup.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endParaRPr/>
          </a:p>
          <a:p>
            <a:r>
              <a:t>September 2026 a loss of $41,464. September 2025 a loss of $52,615. September 2024 a profit of $20,737.</a:t>
            </a:r>
          </a:p>
          <a:p>
            <a:endParaRPr/>
          </a:p>
          <a:p>
            <a:r>
              <a:t>This September is $11,152 better than the same month last year, and $62,201 worse than the September before that.</a:t>
            </a:r>
          </a:p>
          <a:p>
            <a:endParaRPr/>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endParaRPr/>
          </a:p>
          <a:p>
            <a:r>
              <a:t>What changed is the cost of earning it. Cost of sales was $374,130 against $216,749 in September 2024 on revenue only $121,701 higher. The gross margin on the month was 33.4%, against 50.8% in September 2024.</a:t>
            </a:r>
          </a:p>
          <a:p>
            <a:endParaRPr/>
          </a:p>
          <a:p>
            <a:r>
              <a:t>So the question this chart puts to the board is about pricing and delivery cost on the work being won, not about the volume of work being won.</a:t>
            </a:r>
          </a:p>
          <a:p>
            <a:endParaRPr/>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endParaRPr/>
          </a:p>
          <a:p>
            <a:r>
              <a:t>Q1 2026 a loss of $5,808. Q1 2025 a loss of $85,404. Q1 2024 a profit of $34,595.</a:t>
            </a:r>
          </a:p>
          <a:p>
            <a:endParaRPr/>
          </a:p>
          <a:p>
            <a:r>
              <a:t>The quarter has improved $79,596 on last year and is within $5,808 of breaking even. On that reading the recovery is real and the direction is right.</a:t>
            </a:r>
          </a:p>
          <a:p>
            <a:endParaRPr/>
          </a:p>
          <a:p>
            <a:r>
              <a:t>Against the plan it reads differently. The budget had the first quarter at a $222,700 profit. Coming in at a $5,808 loss is $228,508 below it.</a:t>
            </a:r>
          </a:p>
          <a:p>
            <a:endParaRPr/>
          </a:p>
          <a:p>
            <a:r>
              <a:t>As with the month, this is not a revenue failure. The quarter billed $1,624,460, which is the highest first quarter of the three, ahead of $1,228,582 last year and $1,380,102 the year before. It earned more than either comparison and still finished below the line.</a:t>
            </a:r>
          </a:p>
          <a:p>
            <a:endParaRPr/>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endParaRPr/>
          </a:p>
          <a:p>
            <a:r>
              <a:t>FY25 was pulled from Xero on 22 October 2026. The quarter is July to September, so it is fixed rather than following Setup.</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Departmental performance for September 2026.</a:t>
            </a:r>
          </a:p>
          <a:p>
            <a:endParaRPr/>
          </a:p>
          <a:p>
            <a:r>
              <a:t>The pages that follow give the company result by department, the same result rolled up the way the P&amp;L groups the business, then a page for each of the five departments, and finally departmental revenue against budget and against the same month last year.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Gross profit against the overhead charged to each department for September 2026, taken from section 7 of the Overhead Split tab. The bar above the line is what the department earned, the bar below is the overhead allocated to it, and the diamond is the result.</a:t>
            </a:r>
          </a:p>
          <a:p>
            <a:endParaRPr/>
          </a:p>
          <a:p>
            <a:r>
              <a:t>Support earned $101,290 and carries $72,283, leaving $29,007.</a:t>
            </a:r>
          </a:p>
          <a:p>
            <a:r>
              <a:t>Events earned $56,881 and carries $111,108, leaving a loss of $54,227.</a:t>
            </a:r>
          </a:p>
          <a:p>
            <a:r>
              <a:t>Video earned $5,813 and carries $12,659, leaving a loss of $6,846.</a:t>
            </a:r>
          </a:p>
          <a:p>
            <a:r>
              <a:t>Integration earned $23,756 and carries $13,285, leaving $10,471.</a:t>
            </a:r>
          </a:p>
          <a:p>
            <a:r>
              <a:t>Consulting earned $74 and carries $19,944, leaving a loss of $19,870.</a:t>
            </a:r>
          </a:p>
          <a:p>
            <a:endParaRPr/>
          </a:p>
          <a:p>
            <a:r>
              <a:t>The company earned $187,814 of gross profit against $229,278 of overhead. The $41,464 difference is the loss for the month. Put plainly, the business did not earn enough gross profit to carry its own overhead base.</a:t>
            </a:r>
          </a:p>
          <a:p>
            <a:endParaRPr/>
          </a:p>
          <a:p>
            <a:r>
              <a:t>Two things come out of the shape of this chart.</a:t>
            </a:r>
          </a:p>
          <a:p>
            <a:endParaRPr/>
          </a:p>
          <a:p>
            <a:r>
              <a:t>The first is Events. Its gross margin was 77.6%, the second highest of the five, and it still produced the largest loss on the page. It carries $111,108 of overhead, which is 48.5% of the company total, on $73,304 of revenue, which is 13.0% of the company total. No improvement in margin fixes that. Either Events carries more revenue or it carries less overhead, and the overhead keys are worth testing before the next budget.</a:t>
            </a:r>
          </a:p>
          <a:p>
            <a:endParaRPr/>
          </a:p>
          <a:p>
            <a:r>
              <a:t>The second is Integration. It brought in $234,858 of revenue, the second largest of the five, and converted it into $23,756 of gross profit at a 10.1% margin. It covers its overhead and returns $10,471, so it is not a loss maker, but it is doing the most work for the least return.</a:t>
            </a:r>
          </a:p>
          <a:p>
            <a:endParaRPr/>
          </a:p>
          <a:p>
            <a:r>
              <a:t>Support is the one department behaving as it should. A 41.7% margin on contract revenue, covering its allocated overhead, and returning $29,007.</a:t>
            </a:r>
          </a:p>
          <a:p>
            <a:endParaRPr/>
          </a:p>
          <a:p>
            <a:r>
              <a:t>The full table is on the next page.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endParaRPr/>
          </a:p>
          <a:p>
            <a:r>
              <a:t>The three total a loss of $41,464, which is net profit for the month,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42</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whole profit and loss by department for September 2026, taken from section 7 of the Overhead Split tab. Teal is what the department earned, red is what it cost, navy is what was left.</a:t>
            </a:r>
          </a:p>
          <a:p/>
          <a:p>
            <a:r>
              <a:t>Support earned $242,948, cost $213,942 and kept $29,007.</a:t>
            </a:r>
          </a:p>
          <a:p>
            <a:r>
              <a:t>Events earned $73,304, cost $127,531 and lost $54,227.</a:t>
            </a:r>
          </a:p>
          <a:p>
            <a:r>
              <a:t>Video earned $7,303, cost $14,149 and lost $6,846.</a:t>
            </a:r>
          </a:p>
          <a:p>
            <a:r>
              <a:t>Integration earned $234,858, cost $224,387 and kept $10,471.</a:t>
            </a:r>
          </a:p>
          <a:p>
            <a:r>
              <a:t>Consulting earned $3,531, cost $23,401 and lost $19,870.</a:t>
            </a:r>
          </a:p>
          <a:p/>
          <a:p>
            <a:r>
              <a:t>Across the five, $561,945 of revenue against $603,408 of cost, which is the $41,464 loss for the month.</a:t>
            </a:r>
          </a:p>
          <a:p/>
          <a:p>
            <a:r>
              <a:t>On the cost figure, because it does not appear on the department pages. Total cost is cost of sales plus overhead. For Support that is $141,659 of cost of sales plus $72,283 of overhead, giving $213,942. Cost of sales is not a line on those tables either, it is revenue less gross profit. Every department on this chart ties to the cent: revenue less total cost equals the result shown on the table, and the five results add to the $41,464 net loss on the P&amp;L.</a:t>
            </a:r>
          </a:p>
          <a:p/>
          <a:p>
            <a:r>
              <a:t>What the chart shows that the department pages cannot. Support and Integration have almost the same revenue, $242,948 and $234,858, and almost the same cost, $213,942 and $224,387. The results are $29,007 and $10,471. Integration is running nearly the same volume for a third of the return, because its gross margin is 10.1% against Support's 41.7%.</a:t>
            </a:r>
          </a:p>
          <a:p/>
          <a:p>
            <a:r>
              <a:t>Events is the opposite problem. It is the smallest cost base of the three large departments and the second largest loss, because $111,108 of the $127,531 it costs is allocated overhead rather than cost of sales.</a:t>
            </a:r>
          </a:p>
          <a:p/>
          <a:p>
            <a:r>
              <a:t>Video and Consulting are small on this chart because they are small. Between them they earned $10,834 and cost $37,550.</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result by department for September 2026 after the overhead charged to each one, taken from section 7 of the Overhead Split tab. Teal is above the line, red is below.</a:t>
            </a:r>
          </a:p>
          <a:p/>
          <a:p>
            <a:r>
              <a:t>Support $29,007. Integration $10,471. Video a loss of $6,846. Consulting a loss of $19,870. Events a loss of $54,227. The five add to the $41,464 loss for the month.</a:t>
            </a:r>
          </a:p>
          <a:p/>
          <a:p>
            <a:r>
              <a:t>Two of the five made a profit.</a:t>
            </a:r>
          </a:p>
          <a:p/>
          <a:p>
            <a:r>
              <a:t>Every department made a gross profit. Support $101,290, Events $56,881, Integration $23,756, Video $5,813, and Consulting $74. On gross profit nobody lost money. What puts three of them below the line is the overhead charged to them: $229,278 across the month against $187,814 of gross profit earned. The company cannot cover its overhead base out of the margin it is making.</a:t>
            </a:r>
          </a:p>
          <a:p/>
          <a:p>
            <a:r>
              <a:t>Events is the clearest case. It carries $111,108 of overhead, 48.5% of the company total, on 13.0% of the revenue. Its margin is the second best of the five at 77.6% and it still posts the largest loss on the page. Improving margin does not fix that. Either Events carries more revenue or it carries less overhead.</a:t>
            </a:r>
          </a:p>
          <a:p/>
          <a:p>
            <a:r>
              <a:t>Consulting is a different problem. It earned $74 of gross profit on $3,531 of revenue and carries $19,944 of overhead, so almost the whole of its loss is overhead on a department that is barely trading.</a:t>
            </a:r>
          </a:p>
          <a:p/>
          <a:p>
            <a:r>
              <a:t>Integration is the one to watch and it is easy to miss. Its revenue went from $21,421 last September to $234,858 this September, close to eleven times. Its gross profit rose from $5,363 to $23,756, the largest increase of the five. But that revenue carries a 10.1% margin against Support's 41.7%, so after $13,285 of overhead only $10,471 reached the line. Integration is now running the second largest revenue in the business for the smallest return on it.</a:t>
            </a:r>
          </a:p>
          <a:p/>
          <a:p>
            <a:r>
              <a:t>Video's loss of $6,846 is the smallest and the least structural. It billed $7,303 against $20,025 in the same month last year, so it is a volume problem on a department with a 79.6% margin.</a:t>
            </a:r>
          </a:p>
          <a:p/>
          <a:p>
            <a:r>
              <a:t>Two points for the board. Improving margin does not fix Events or Consulting, because their losses are overhead rather than margin. And the overhead keys were set for FY27 and have not been tested since, which is the action already on the recommendations page.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8.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4.png"/><Relationship Id="rId4" Type="http://schemas.openxmlformats.org/officeDocument/2006/relationships/notesSlide" Target="../notesSlides/notesSlide4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4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8.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0.png"/><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1.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2.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33.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hyperlink" Target="https://corptechservices.sharepoint.com/:x:/s/CTSNASAccountsYBackup/IQA10LAzkaNEQq0FYhCYngMZAdN-NraOBffkpTyYU738ebI?e=dOV2Sx"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Scope of this review</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Profit and loss summary, revenue against budget, and the three year comparisons</a:t>
            </a:r>
            <a:endParaRPr lang="en-US" sz="1000"/>
          </a:p>
        </p:txBody>
      </p:sp>
      <p:sp>
        <p:nvSpPr>
          <p:cNvPr id="8" name="Shape 6"/>
          <p:cNvSpPr/>
          <p:nvPr/>
        </p:nvSpPr>
        <p:spPr>
          <a:xfrm>
            <a:off x="502920" y="1965960"/>
            <a:ext cx="384048" cy="384048"/>
          </a:xfrm>
          <a:prstGeom prst="rect">
            <a:avLst/>
          </a:prstGeom>
          <a:solidFill>
            <a:srgbClr val="242C39"/>
          </a:solidFill>
          <a:ln/>
        </p:spPr>
        <p:txBody>
          <a:bodyPr/>
          <a:lstStyle/>
          <a:p>
            <a:endParaRPr lang="en-AU"/>
          </a:p>
        </p:txBody>
      </p:sp>
      <p:sp>
        <p:nvSpPr>
          <p:cNvPr id="9" name="Text 7"/>
          <p:cNvSpPr txBox="1"/>
          <p:nvPr/>
        </p:nvSpPr>
        <p:spPr>
          <a:xfrm>
            <a:off x="502920" y="19659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1947672"/>
            <a:ext cx="7589520" cy="237744"/>
          </a:xfrm>
          <a:prstGeom prst="rect">
            <a:avLst/>
          </a:prstGeom>
          <a:noFill/>
          <a:ln/>
        </p:spPr>
        <p:txBody>
          <a:bodyPr wrap="square" lIns="0" tIns="0" rIns="0" bIns="0" rtlCol="0" anchor="ctr"/>
          <a:lstStyle/>
          <a:p>
            <a:pPr marL="0" indent="0">
              <a:buNone/>
            </a:pPr>
            <a:r>
              <a:rPr lang="en-US" sz="1300" b="1">
                <a:solidFill>
                  <a:srgbClr val="242C39"/>
                </a:solidFill>
              </a:rPr>
              <a:t>Departmental performance</a:t>
            </a:r>
            <a:endParaRPr lang="en-US" sz="1300"/>
          </a:p>
        </p:txBody>
      </p:sp>
      <p:sp>
        <p:nvSpPr>
          <p:cNvPr id="11" name="Text 9"/>
          <p:cNvSpPr txBox="1"/>
          <p:nvPr/>
        </p:nvSpPr>
        <p:spPr>
          <a:xfrm>
            <a:off x="1051560" y="2167128"/>
            <a:ext cx="7589520" cy="219456"/>
          </a:xfrm>
          <a:prstGeom prst="rect">
            <a:avLst/>
          </a:prstGeom>
          <a:noFill/>
          <a:ln/>
        </p:spPr>
        <p:txBody>
          <a:bodyPr wrap="square" lIns="0" tIns="0" rIns="0" bIns="0" rtlCol="0" anchor="ctr"/>
          <a:lstStyle/>
          <a:p>
            <a:pPr marL="0" indent="0">
              <a:buNone/>
            </a:pPr>
            <a:r>
              <a:rPr lang="en-US" sz="1000">
                <a:solidFill>
                  <a:srgbClr val="6B7585"/>
                </a:solidFill>
              </a:rPr>
              <a:t>Every department's result for September 2026 and how it was made</a:t>
            </a:r>
            <a:endParaRPr lang="en-US" sz="1000"/>
          </a:p>
        </p:txBody>
      </p:sp>
      <p:sp>
        <p:nvSpPr>
          <p:cNvPr id="12" name="Shape 10"/>
          <p:cNvSpPr/>
          <p:nvPr/>
        </p:nvSpPr>
        <p:spPr>
          <a:xfrm>
            <a:off x="502920" y="2514600"/>
            <a:ext cx="384048" cy="384048"/>
          </a:xfrm>
          <a:prstGeom prst="rect">
            <a:avLst/>
          </a:prstGeom>
          <a:solidFill>
            <a:srgbClr val="242C39"/>
          </a:solidFill>
          <a:ln/>
        </p:spPr>
        <p:txBody>
          <a:bodyPr/>
          <a:lstStyle/>
          <a:p>
            <a:endParaRPr lang="en-AU"/>
          </a:p>
        </p:txBody>
      </p:sp>
      <p:sp>
        <p:nvSpPr>
          <p:cNvPr id="13" name="Text 11"/>
          <p:cNvSpPr txBox="1"/>
          <p:nvPr/>
        </p:nvSpPr>
        <p:spPr>
          <a:xfrm>
            <a:off x="502920" y="25146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496312"/>
            <a:ext cx="7589520" cy="237744"/>
          </a:xfrm>
          <a:prstGeom prst="rect">
            <a:avLst/>
          </a:prstGeom>
          <a:noFill/>
          <a:ln/>
        </p:spPr>
        <p:txBody>
          <a:bodyPr wrap="square" lIns="0" tIns="0" rIns="0" bIns="0" rtlCol="0" anchor="ctr"/>
          <a:lstStyle/>
          <a:p>
            <a:pPr marL="0" indent="0">
              <a:buNone/>
            </a:pPr>
            <a:r>
              <a:rPr lang="en-US" sz="1300" b="1">
                <a:solidFill>
                  <a:srgbClr val="242C39"/>
                </a:solidFill>
              </a:rPr>
              <a:t>Operating expenditure</a:t>
            </a:r>
            <a:endParaRPr lang="en-US" sz="1300"/>
          </a:p>
        </p:txBody>
      </p:sp>
      <p:sp>
        <p:nvSpPr>
          <p:cNvPr id="15" name="Text 13"/>
          <p:cNvSpPr txBox="1"/>
          <p:nvPr/>
        </p:nvSpPr>
        <p:spPr>
          <a:xfrm>
            <a:off x="1051560" y="27157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6" name="Shape 14"/>
          <p:cNvSpPr/>
          <p:nvPr/>
        </p:nvSpPr>
        <p:spPr>
          <a:xfrm>
            <a:off x="502920" y="3063239"/>
            <a:ext cx="384048" cy="384048"/>
          </a:xfrm>
          <a:prstGeom prst="rect">
            <a:avLst/>
          </a:prstGeom>
          <a:solidFill>
            <a:srgbClr val="242C39"/>
          </a:solidFill>
          <a:ln/>
        </p:spPr>
        <p:txBody>
          <a:bodyPr/>
          <a:lstStyle/>
          <a:p>
            <a:endParaRPr lang="en-AU"/>
          </a:p>
        </p:txBody>
      </p:sp>
      <p:sp>
        <p:nvSpPr>
          <p:cNvPr id="17" name="Text 15"/>
          <p:cNvSpPr txBox="1"/>
          <p:nvPr/>
        </p:nvSpPr>
        <p:spPr>
          <a:xfrm>
            <a:off x="502920" y="3063239"/>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044951"/>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receivables</a:t>
            </a:r>
            <a:endParaRPr lang="en-US" sz="1300"/>
          </a:p>
        </p:txBody>
      </p:sp>
      <p:sp>
        <p:nvSpPr>
          <p:cNvPr id="19" name="Text 17"/>
          <p:cNvSpPr txBox="1"/>
          <p:nvPr/>
        </p:nvSpPr>
        <p:spPr>
          <a:xfrm>
            <a:off x="1051560" y="326440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20" name="Shape 18"/>
          <p:cNvSpPr/>
          <p:nvPr/>
        </p:nvSpPr>
        <p:spPr>
          <a:xfrm>
            <a:off x="502920" y="3611880"/>
            <a:ext cx="384048" cy="384048"/>
          </a:xfrm>
          <a:prstGeom prst="rect">
            <a:avLst/>
          </a:prstGeom>
          <a:solidFill>
            <a:srgbClr val="242C39"/>
          </a:solidFill>
          <a:ln/>
        </p:spPr>
        <p:txBody>
          <a:bodyPr/>
          <a:lstStyle/>
          <a:p>
            <a:endParaRPr lang="en-AU"/>
          </a:p>
        </p:txBody>
      </p:sp>
      <p:sp>
        <p:nvSpPr>
          <p:cNvPr id="21" name="Text 19"/>
          <p:cNvSpPr txBox="1"/>
          <p:nvPr/>
        </p:nvSpPr>
        <p:spPr>
          <a:xfrm>
            <a:off x="502920" y="36118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59359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23" name="Text 21"/>
          <p:cNvSpPr txBox="1"/>
          <p:nvPr/>
        </p:nvSpPr>
        <p:spPr>
          <a:xfrm>
            <a:off x="1051560" y="381304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
        <p:nvSpPr>
          <p:cNvPr id="24" name="Shape 22"/>
          <p:cNvSpPr/>
          <p:nvPr/>
        </p:nvSpPr>
        <p:spPr>
          <a:xfrm>
            <a:off x="502920" y="4160520"/>
            <a:ext cx="384048" cy="384048"/>
          </a:xfrm>
          <a:prstGeom prst="rect">
            <a:avLst/>
          </a:prstGeom>
          <a:solidFill>
            <a:srgbClr val="242C39"/>
          </a:solidFill>
          <a:ln/>
        </p:spPr>
        <p:txBody>
          <a:bodyPr/>
          <a:lstStyle/>
          <a:p>
            <a:endParaRPr lang="en-AU"/>
          </a:p>
        </p:txBody>
      </p:sp>
      <p:sp>
        <p:nvSpPr>
          <p:cNvPr id="27" name="Text 23"/>
          <p:cNvSpPr txBox="1"/>
          <p:nvPr/>
        </p:nvSpPr>
        <p:spPr>
          <a:xfrm>
            <a:off x="502920" y="41605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06</a:t>
            </a:r>
            <a:endParaRPr lang="en-US" sz="1100"/>
          </a:p>
        </p:txBody>
      </p:sp>
      <p:sp>
        <p:nvSpPr>
          <p:cNvPr id="28" name="Text 24"/>
          <p:cNvSpPr txBox="1"/>
          <p:nvPr/>
        </p:nvSpPr>
        <p:spPr>
          <a:xfrm>
            <a:off x="1051560" y="414223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9" name="Text 25"/>
          <p:cNvSpPr txBox="1"/>
          <p:nvPr/>
        </p:nvSpPr>
        <p:spPr>
          <a:xfrm>
            <a:off x="1051560" y="436168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EXECUTIVE SUMMARY</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Performance summary, September 2026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9750" y="1005840"/>
            <a:ext cx="7744498"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income</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3"/>
          <a:stretch>
            <a:fillRect/>
          </a:stretch>
        </p:blipFill>
        <p:spPr>
          <a:xfrm>
            <a:off x="808274" y="1005840"/>
            <a:ext cx="7527451"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by department</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1480"/>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1480"/>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prior years</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revenue,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three year history</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Year to date revenue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1003394" y="1005840"/>
            <a:ext cx="713721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cost and profit</a:t>
            </a:r>
            <a:endParaRPr lang="en-US" sz="2700" dirty="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month" descr="spend_month.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qtr" descr="spend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month" descr="profit_month.png"/>
          <p:cNvPicPr>
            <a:picLocks noChangeAspect="1"/>
          </p:cNvPicPr>
          <p:nvPr/>
        </p:nvPicPr>
        <p:blipFill>
          <a:blip r:embed="rId3"/>
          <a:stretch>
            <a:fillRect/>
          </a:stretch>
        </p:blipFill>
        <p:spPr>
          <a:xfrm>
            <a:off x="1155966" y="1005840"/>
            <a:ext cx="6832067"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net result, three year comparison</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qtr" descr="profit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net result,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15</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dot 3"/>
          <p:cNvSpPr/>
          <p:nvPr/>
        </p:nvSpPr>
        <p:spPr>
          <a:xfrm>
            <a:off x="7040880" y="2468880"/>
            <a:ext cx="2057400" cy="2057400"/>
          </a:xfrm>
          <a:prstGeom prst="ellipse">
            <a:avLst/>
          </a:prstGeom>
          <a:solidFill>
            <a:srgbClr val="6D71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ot 2"/>
          <p:cNvSpPr/>
          <p:nvPr/>
        </p:nvSpPr>
        <p:spPr>
          <a:xfrm>
            <a:off x="6629400" y="2057400"/>
            <a:ext cx="1554480" cy="1554480"/>
          </a:xfrm>
          <a:prstGeom prst="ellipse">
            <a:avLst/>
          </a:prstGeom>
          <a:solidFill>
            <a:srgbClr val="3FD0C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ot 0"/>
          <p:cNvSpPr/>
          <p:nvPr/>
        </p:nvSpPr>
        <p:spPr>
          <a:xfrm>
            <a:off x="5897880" y="91440"/>
            <a:ext cx="2240280" cy="2240280"/>
          </a:xfrm>
          <a:prstGeom prst="ellipse">
            <a:avLst/>
          </a:prstGeom>
          <a:solidFill>
            <a:srgbClr val="F338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Departmental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Every department's result for September 2026 and how it was made</a:t>
            </a:r>
            <a:endParaRPr lang="en-US"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in full, September 2026</a:t>
            </a:r>
            <a:endParaRPr lang="en-US" sz="2700" dirty="0"/>
          </a:p>
        </p:txBody>
      </p:sp>
      <p:pic>
        <p:nvPicPr>
          <p:cNvPr id="4" name="snip dept_result" descr="/home/user/Claude/deck/snips/dept_result.png"/>
          <p:cNvPicPr>
            <a:picLocks noChangeAspect="1"/>
          </p:cNvPicPr>
          <p:nvPr/>
        </p:nvPicPr>
        <p:blipFill>
          <a:blip r:embed="rId3"/>
          <a:stretch>
            <a:fillRect/>
          </a:stretch>
        </p:blipFill>
        <p:spPr>
          <a:xfrm>
            <a:off x="502920" y="1233554"/>
            <a:ext cx="8138160" cy="167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dept_mix" descr="dept_mix.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Gross profit against overhead,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profit of $188k did not cover overheads of $229k. That gap is the $41k loss.</a:t>
            </a:r>
            <a:endParaRPr lang="en-US" sz="850"/>
          </a:p>
          <a:p>
            <a:pPr marL="342900" indent="-342900">
              <a:lnSpc>
                <a:spcPts val="1050"/>
              </a:lnSpc>
              <a:spcAft>
                <a:spcPts val="400"/>
              </a:spcAft>
              <a:buSzPct val="100000"/>
              <a:buChar char="•"/>
            </a:pPr>
            <a:r>
              <a:rPr lang="en-US" sz="1000">
                <a:solidFill>
                  <a:srgbClr val="3A4453"/>
                </a:solidFill>
              </a:rPr>
              <a:t>Only Support and Integration covered the overhead charged to them.</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Events carries 48% of all overhead on 13% of revenue, so a 78% margin still ends in a $54k loss.</a:t>
            </a:r>
            <a:endParaRPr lang="en-US" sz="850"/>
          </a:p>
          <a:p>
            <a:pPr marL="342900" indent="-342900">
              <a:lnSpc>
                <a:spcPts val="1050"/>
              </a:lnSpc>
              <a:spcAft>
                <a:spcPts val="400"/>
              </a:spcAft>
              <a:buSzPct val="100000"/>
              <a:buChar char="•"/>
            </a:pPr>
            <a:r>
              <a:rPr lang="en-US" sz="1000">
                <a:solidFill>
                  <a:srgbClr val="3A4453"/>
                </a:solidFill>
              </a:rPr>
              <a:t>Consulting earned $74 of gross profit on $4k of revenue and carries $20k of overhead.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Results by reporting group, September 2026</a:t>
            </a:r>
            <a:endParaRPr lang="en-US" sz="2700" dirty="0"/>
          </a:p>
        </p:txBody>
      </p:sp>
      <p:pic>
        <p:nvPicPr>
          <p:cNvPr id="4" name="snip dept_three" descr="/home/user/Claude/deck/snips/dept_three.png"/>
          <p:cNvPicPr>
            <a:picLocks noChangeAspect="1"/>
          </p:cNvPicPr>
          <p:nvPr/>
        </p:nvPicPr>
        <p:blipFill>
          <a:blip r:embed="rId3"/>
          <a:stretch>
            <a:fillRect/>
          </a:stretch>
        </p:blipFill>
        <p:spPr>
          <a:xfrm>
            <a:off x="502920" y="1412723"/>
            <a:ext cx="8138160" cy="1316784"/>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pl" descr="dept_pl.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profit and loss,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Support earned $243k, cost $214k and kept $29k.</a:t>
            </a:r>
            <a:endParaRPr lang="en-US" sz="850"/>
          </a:p>
          <a:p>
            <a:pPr marL="342900" indent="-342900">
              <a:lnSpc>
                <a:spcPts val="1050"/>
              </a:lnSpc>
              <a:spcAft>
                <a:spcPts val="400"/>
              </a:spcAft>
              <a:buSzPct val="100000"/>
              <a:buChar char="•"/>
            </a:pPr>
            <a:r>
              <a:rPr lang="en-US" sz="1000">
                <a:solidFill>
                  <a:srgbClr val="3A4453"/>
                </a:solidFill>
              </a:rPr>
              <a:t>Events earned $73k, cost $128k and lost $54k.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Integration earned $235k, cost $224k and kept $10k, the most work for the least return.</a:t>
            </a:r>
            <a:endParaRPr lang="en-US" sz="850"/>
          </a:p>
          <a:p>
            <a:pPr marL="342900" indent="-342900">
              <a:lnSpc>
                <a:spcPts val="1050"/>
              </a:lnSpc>
              <a:spcAft>
                <a:spcPts val="400"/>
              </a:spcAft>
              <a:buSzPct val="100000"/>
              <a:buChar char="•"/>
            </a:pPr>
            <a:r>
              <a:rPr lang="en-US" sz="1000">
                <a:solidFill>
                  <a:srgbClr val="3A4453"/>
                </a:solidFill>
              </a:rPr>
              <a:t>Across all five, $562k earned against $603k of cost. That is the $41k loss.</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line" descr="image.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 by department, above and below the line</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Two of the five made a profit. Support kept $29k and Integration $10k.</a:t>
            </a:r>
            <a:endParaRPr lang="en-US" sz="850"/>
          </a:p>
          <a:p>
            <a:pPr marL="342900" indent="-342900">
              <a:lnSpc>
                <a:spcPts val="1050"/>
              </a:lnSpc>
              <a:spcAft>
                <a:spcPts val="400"/>
              </a:spcAft>
              <a:buSzPct val="100000"/>
              <a:buChar char="•"/>
            </a:pPr>
            <a:r>
              <a:rPr lang="en-US" sz="1000">
                <a:solidFill>
                  <a:srgbClr val="3A4453"/>
                </a:solidFill>
              </a:rPr>
              <a:t>Events lost $54k, Consulting $20k and Video $7k. Together the five are the $41k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five made a gross profit. It is the overhead charged to them that puts three below the line.</a:t>
            </a:r>
            <a:endParaRPr lang="en-US" sz="850"/>
          </a:p>
          <a:p>
            <a:pPr marL="342900" indent="-342900">
              <a:lnSpc>
                <a:spcPts val="1050"/>
              </a:lnSpc>
              <a:spcAft>
                <a:spcPts val="400"/>
              </a:spcAft>
              <a:buSzPct val="100000"/>
              <a:buChar char="•"/>
            </a:pPr>
            <a:r>
              <a:rPr lang="en-US" sz="1000">
                <a:solidFill>
                  <a:srgbClr val="3A4453"/>
                </a:solidFill>
              </a:rPr>
              <a:t>Integration billed eleven times last September, but a 10% margin left only $10k after overhead.</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524393" y="1005840"/>
            <a:ext cx="809521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Departmental revenue against budget and prior year</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Operating expenditure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3"/>
          <a:stretch>
            <a:fillRect/>
          </a:stretch>
        </p:blipFill>
        <p:spPr>
          <a:xfrm>
            <a:off x="2640967" y="1005840"/>
            <a:ext cx="3862065"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3"/>
          <a:stretch>
            <a:fillRect/>
          </a:stretch>
        </p:blipFill>
        <p:spPr>
          <a:xfrm>
            <a:off x="2268220" y="1005840"/>
            <a:ext cx="4607559"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3"/>
          <a:stretch>
            <a:fillRect/>
          </a:stretch>
        </p:blipFill>
        <p:spPr>
          <a:xfrm>
            <a:off x="2786502" y="1005840"/>
            <a:ext cx="3570994"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Direct and indirect labour,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by function</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87228" y="1005840"/>
            <a:ext cx="7969542" cy="2130551"/>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receivables</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3"/>
          <a:stretch>
            <a:fillRect/>
          </a:stretch>
        </p:blipFill>
        <p:spPr>
          <a:xfrm>
            <a:off x="2647167" y="1005840"/>
            <a:ext cx="384966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by revenue,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3208" y="1005840"/>
            <a:ext cx="409758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Debtor days and collection performance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13522" y="1005840"/>
            <a:ext cx="291695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Aged receivables by customer</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percentage by department, September 2026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78554"/>
            <a:ext cx="8138160" cy="138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3"/>
          <a:stretch>
            <a:fillRect/>
          </a:stretch>
        </p:blipFill>
        <p:spPr>
          <a:xfrm>
            <a:off x="565963" y="1005840"/>
            <a:ext cx="801207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department,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3"/>
          <a:stretch>
            <a:fillRect/>
          </a:stretch>
        </p:blipFill>
        <p:spPr>
          <a:xfrm>
            <a:off x="603874" y="1005840"/>
            <a:ext cx="793625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reporting group, September 2026</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3"/>
          <a:stretch>
            <a:fillRect/>
          </a:stretch>
        </p:blipFill>
        <p:spPr>
          <a:xfrm>
            <a:off x="550168" y="1005840"/>
            <a:ext cx="804366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Full year revenue against budget</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RECOMMENDATIONS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Recommendations and agreed actions</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Target date</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41</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07</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t>Source documents</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600200" y="279806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600200" y="2395728"/>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34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27</TotalTime>
  <Words>12187</Words>
  <Application>Microsoft Office PowerPoint</Application>
  <PresentationFormat>On-screen Show (16:9)</PresentationFormat>
  <Paragraphs>895</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4</cp:revision>
  <cp:lastPrinted>2026-10-20T04:14:11Z</cp:lastPrinted>
  <dcterms:created xsi:type="dcterms:W3CDTF">2026-10-18T22:46:07Z</dcterms:created>
  <dcterms:modified xsi:type="dcterms:W3CDTF">2026-10-22T05:16:43Z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