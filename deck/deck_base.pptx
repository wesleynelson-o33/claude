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24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  <Relationship Id="rId24" Type="http://schemas.openxmlformats.org/officeDocument/2006/relationships/slide" Target="slides/slide18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22B8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1310</c:v>
                </c:pt>
                <c:pt idx="1">
                  <c:v>1365</c:v>
                </c:pt>
                <c:pt idx="2">
                  <c:v>1440</c:v>
                </c:pt>
                <c:pt idx="3">
                  <c:v>1372</c:v>
                </c:pt>
                <c:pt idx="4">
                  <c:v>1456</c:v>
                </c:pt>
                <c:pt idx="5">
                  <c:v>1482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6E-4A70-852B-8DA4A2379C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3FD0C9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118</c:v>
                </c:pt>
                <c:pt idx="1">
                  <c:v>126</c:v>
                </c:pt>
                <c:pt idx="2">
                  <c:v>149</c:v>
                </c:pt>
                <c:pt idx="3">
                  <c:v>112</c:v>
                </c:pt>
                <c:pt idx="4">
                  <c:v>131</c:v>
                </c:pt>
                <c:pt idx="5">
                  <c:v>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6E-4A70-852B-8DA4A2379C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5F6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22B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F667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Onsite</c:v>
                </c:pt>
                <c:pt idx="1">
                  <c:v>Production</c:v>
                </c:pt>
                <c:pt idx="2">
                  <c:v>Video</c:v>
                </c:pt>
                <c:pt idx="3">
                  <c:v>Integration</c:v>
                </c:pt>
                <c:pt idx="4">
                  <c:v>Consulting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520</c:v>
                </c:pt>
                <c:pt idx="1">
                  <c:v>468</c:v>
                </c:pt>
                <c:pt idx="2">
                  <c:v>158</c:v>
                </c:pt>
                <c:pt idx="3">
                  <c:v>214</c:v>
                </c:pt>
                <c:pt idx="4">
                  <c:v>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09-4115-8990-F252D59BCD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revenue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F667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Onsite</c:v>
                </c:pt>
                <c:pt idx="1">
                  <c:v>Production</c:v>
                </c:pt>
                <c:pt idx="2">
                  <c:v>Video</c:v>
                </c:pt>
                <c:pt idx="3">
                  <c:v>Integration</c:v>
                </c:pt>
                <c:pt idx="4">
                  <c:v>Consulting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505</c:v>
                </c:pt>
                <c:pt idx="1">
                  <c:v>440</c:v>
                </c:pt>
                <c:pt idx="2">
                  <c:v>170</c:v>
                </c:pt>
                <c:pt idx="3">
                  <c:v>190</c:v>
                </c:pt>
                <c:pt idx="4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09-4115-8990-F252D59BCD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Contribution</c:v>
                </c:pt>
              </c:strCache>
            </c:strRef>
          </c:tx>
          <c:spPr>
            <a:solidFill>
              <a:srgbClr val="3FD0C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F667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Onsite</c:v>
                </c:pt>
                <c:pt idx="1">
                  <c:v>Production</c:v>
                </c:pt>
                <c:pt idx="2">
                  <c:v>Video</c:v>
                </c:pt>
                <c:pt idx="3">
                  <c:v>Integration</c:v>
                </c:pt>
                <c:pt idx="4">
                  <c:v>Consulting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134</c:v>
                </c:pt>
                <c:pt idx="1">
                  <c:v>141</c:v>
                </c:pt>
                <c:pt idx="2">
                  <c:v>39</c:v>
                </c:pt>
                <c:pt idx="3">
                  <c:v>47</c:v>
                </c:pt>
                <c:pt idx="4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809-4115-8990-F252D59BCD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F6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Contract</c:v>
                </c:pt>
              </c:strCache>
            </c:strRef>
          </c:tx>
          <c:spPr>
            <a:solidFill>
              <a:srgbClr val="00535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Onsite</c:v>
                </c:pt>
                <c:pt idx="1">
                  <c:v>Production</c:v>
                </c:pt>
                <c:pt idx="2">
                  <c:v>Video</c:v>
                </c:pt>
                <c:pt idx="3">
                  <c:v>Integration</c:v>
                </c:pt>
                <c:pt idx="4">
                  <c:v>Consulting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455</c:v>
                </c:pt>
                <c:pt idx="1">
                  <c:v>110</c:v>
                </c:pt>
                <c:pt idx="2">
                  <c:v>40</c:v>
                </c:pt>
                <c:pt idx="3">
                  <c:v>60</c:v>
                </c:pt>
                <c:pt idx="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A9-4FDB-A721-3413BB94F5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Non-contract</c:v>
                </c:pt>
              </c:strCache>
            </c:strRef>
          </c:tx>
          <c:spPr>
            <a:solidFill>
              <a:srgbClr val="F338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Onsite</c:v>
                </c:pt>
                <c:pt idx="1">
                  <c:v>Production</c:v>
                </c:pt>
                <c:pt idx="2">
                  <c:v>Video</c:v>
                </c:pt>
                <c:pt idx="3">
                  <c:v>Integration</c:v>
                </c:pt>
                <c:pt idx="4">
                  <c:v>Consulting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65</c:v>
                </c:pt>
                <c:pt idx="1">
                  <c:v>358</c:v>
                </c:pt>
                <c:pt idx="2">
                  <c:v>118</c:v>
                </c:pt>
                <c:pt idx="3">
                  <c:v>154</c:v>
                </c:pt>
                <c:pt idx="4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A9-4FDB-A721-3413BB94F5E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5F6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DSO</c:v>
                </c:pt>
              </c:strCache>
            </c:strRef>
          </c:tx>
          <c:spPr>
            <a:ln w="25400" cap="flat">
              <a:solidFill>
                <a:srgbClr val="122B8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22B82"/>
              </a:solidFill>
              <a:ln w="9525" cap="flat">
                <a:solidFill>
                  <a:srgbClr val="122B8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39</c:v>
                </c:pt>
                <c:pt idx="2">
                  <c:v>44</c:v>
                </c:pt>
                <c:pt idx="3">
                  <c:v>38</c:v>
                </c:pt>
                <c:pt idx="4">
                  <c:v>36</c:v>
                </c:pt>
                <c:pt idx="5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96-46ED-A217-BA1E82AECA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25400" cap="flat">
              <a:solidFill>
                <a:srgbClr val="F3384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33844"/>
              </a:solidFill>
              <a:ln w="9525" cap="flat">
                <a:solidFill>
                  <a:srgbClr val="F3384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96-46ED-A217-BA1E82AECA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F6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FY27 YTD</c:v>
                </c:pt>
              </c:strCache>
            </c:strRef>
          </c:tx>
          <c:spPr>
            <a:solidFill>
              <a:srgbClr val="122B82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Client A</c:v>
                </c:pt>
                <c:pt idx="1">
                  <c:v>Client B</c:v>
                </c:pt>
                <c:pt idx="2">
                  <c:v>Client C</c:v>
                </c:pt>
                <c:pt idx="3">
                  <c:v>Client D</c:v>
                </c:pt>
                <c:pt idx="4">
                  <c:v>Client E</c:v>
                </c:pt>
                <c:pt idx="5">
                  <c:v>Client F</c:v>
                </c:pt>
                <c:pt idx="6">
                  <c:v>Client G</c:v>
                </c:pt>
                <c:pt idx="7">
                  <c:v>Client H</c:v>
                </c:pt>
                <c:pt idx="8">
                  <c:v>Client I</c:v>
                </c:pt>
                <c:pt idx="9">
                  <c:v>Client J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612</c:v>
                </c:pt>
                <c:pt idx="1">
                  <c:v>540</c:v>
                </c:pt>
                <c:pt idx="2">
                  <c:v>488</c:v>
                </c:pt>
                <c:pt idx="3">
                  <c:v>410</c:v>
                </c:pt>
                <c:pt idx="4">
                  <c:v>365</c:v>
                </c:pt>
                <c:pt idx="5">
                  <c:v>298</c:v>
                </c:pt>
                <c:pt idx="6">
                  <c:v>255</c:v>
                </c:pt>
                <c:pt idx="7">
                  <c:v>230</c:v>
                </c:pt>
                <c:pt idx="8">
                  <c:v>210</c:v>
                </c:pt>
                <c:pt idx="9">
                  <c:v>188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50-44B3-B8CF-B3EB2787C4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 YTD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Client A</c:v>
                </c:pt>
                <c:pt idx="1">
                  <c:v>Client B</c:v>
                </c:pt>
                <c:pt idx="2">
                  <c:v>Client C</c:v>
                </c:pt>
                <c:pt idx="3">
                  <c:v>Client D</c:v>
                </c:pt>
                <c:pt idx="4">
                  <c:v>Client E</c:v>
                </c:pt>
                <c:pt idx="5">
                  <c:v>Client F</c:v>
                </c:pt>
                <c:pt idx="6">
                  <c:v>Client G</c:v>
                </c:pt>
                <c:pt idx="7">
                  <c:v>Client H</c:v>
                </c:pt>
                <c:pt idx="8">
                  <c:v>Client I</c:v>
                </c:pt>
                <c:pt idx="9">
                  <c:v>Client J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580</c:v>
                </c:pt>
                <c:pt idx="1">
                  <c:v>505</c:v>
                </c:pt>
                <c:pt idx="2">
                  <c:v>410</c:v>
                </c:pt>
                <c:pt idx="3">
                  <c:v>430</c:v>
                </c:pt>
                <c:pt idx="4">
                  <c:v>300</c:v>
                </c:pt>
                <c:pt idx="5">
                  <c:v>310</c:v>
                </c:pt>
                <c:pt idx="6">
                  <c:v>180</c:v>
                </c:pt>
                <c:pt idx="7">
                  <c:v>240</c:v>
                </c:pt>
                <c:pt idx="8">
                  <c:v>150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50-44B3-B8CF-B3EB2787C4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F6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Utilisation</c:v>
                </c:pt>
              </c:strCache>
            </c:strRef>
          </c:tx>
          <c:spPr>
            <a:solidFill>
              <a:srgbClr val="3FD0C9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F667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Onsite</c:v>
                </c:pt>
                <c:pt idx="1">
                  <c:v>Production</c:v>
                </c:pt>
                <c:pt idx="2">
                  <c:v>Video</c:v>
                </c:pt>
                <c:pt idx="3">
                  <c:v>Integration</c:v>
                </c:pt>
                <c:pt idx="4">
                  <c:v>Consulting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80.2</c:v>
                </c:pt>
                <c:pt idx="1">
                  <c:v>72.599999999999994</c:v>
                </c:pt>
                <c:pt idx="2">
                  <c:v>65.900000000000006</c:v>
                </c:pt>
                <c:pt idx="3">
                  <c:v>73.5</c:v>
                </c:pt>
                <c:pt idx="4">
                  <c:v>73.900000000000006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B8-4B09-A12A-F75606F2B5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F667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Onsite</c:v>
                </c:pt>
                <c:pt idx="1">
                  <c:v>Production</c:v>
                </c:pt>
                <c:pt idx="2">
                  <c:v>Video</c:v>
                </c:pt>
                <c:pt idx="3">
                  <c:v>Integration</c:v>
                </c:pt>
                <c:pt idx="4">
                  <c:v>Consulting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B8-4B09-A12A-F75606F2B5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5F6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721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Business Review. All figures in the data file are illustrative until replaced with the month's actuals.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What drove the month against budget | YTD position and the run-rate to full year | One-offs or timing to call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Which departments beat or missed budget, and why | Margin movement by department | Overhead changes worth noting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Where the mix of revenue is shifting | Departments running below contribution expectations | What changes next month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How much of next quarter is already contracted | Non-contract revenue: pipeline cover and conversion | Flagged lines: cause and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Movements in the top 10 and why | Concentration risk: how dependent we are on the top three | New or lost customers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Largest overdue accounts and collection status | Why DSO moved this month | Cash actions before next month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Customers growing year on year and what is driving it | Customers in decline and the recovery plan | New logos replacing lost revenue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Utilisation % = chargeable hours / (FTE x 22 working days x 8 hours). Target 75%.Commentary: Departments under target and the reason: bench time, leave, training | Overtime or casual hours masking low utilisation | Hiring or roster changes planned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Where a point of utilisation is worth the most | Rate pressure: charge rate vs loaded cost | Actions to lift chargeable hours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Carry the commentary from each sheet into this table during the review so the actions and owners are recorded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ver (dark)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548640"/>
            <a:ext cx="3447288" cy="3447288"/>
          </a:xfrm>
          <a:prstGeom prst="ellipse">
            <a:avLst/>
          </a:prstGeom>
          <a:solidFill>
            <a:srgbClr val="3FD0C9">
              <a:alpha val="85000"/>
            </a:srgbClr>
          </a:solidFill>
          <a:ln w="12700">
            <a:solidFill>
              <a:srgbClr val="3FD0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8099298" y="777240"/>
            <a:ext cx="3447288" cy="3447288"/>
          </a:xfrm>
          <a:prstGeom prst="ellipse">
            <a:avLst/>
          </a:prstGeom>
          <a:solidFill>
            <a:srgbClr val="6D71FF">
              <a:alpha val="75000"/>
            </a:srgbClr>
          </a:solidFill>
          <a:ln w="12700">
            <a:solidFill>
              <a:srgbClr val="6D7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6773418" y="2235708"/>
            <a:ext cx="3447288" cy="3447288"/>
          </a:xfrm>
          <a:prstGeom prst="ellipse">
            <a:avLst/>
          </a:prstGeom>
          <a:solidFill>
            <a:srgbClr val="F33844">
              <a:alpha val="70000"/>
            </a:srgbClr>
          </a:solidFill>
          <a:ln w="12700">
            <a:solidFill>
              <a:srgbClr val="F338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" name="Image 0" descr="/home/user/Claude/presentation/assets/cts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1143440" cy="77724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502920" y="1828800"/>
            <a:ext cx="56692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200" b="1" kern="0" spc="30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7" name="Text 3"/>
          <p:cNvSpPr>
            <a:spLocks noGrp="1"/>
          </p:cNvSpPr>
          <p:nvPr>
            <p:ph type="title" idx="105" hasCustomPrompt="1"/>
          </p:nvPr>
        </p:nvSpPr>
        <p:spPr>
          <a:xfrm>
            <a:off x="502920" y="2148840"/>
            <a:ext cx="566928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502920" y="3383280"/>
            <a:ext cx="56692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9" name="Text 3"/>
          <p:cNvSpPr>
            <a:spLocks noGrp="1"/>
          </p:cNvSpPr>
          <p:nvPr>
            <p:ph type="body" idx="107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10" name="Text 3"/>
          <p:cNvSpPr>
            <a:spLocks noGrp="1"/>
          </p:cNvSpPr>
          <p:nvPr>
            <p:ph type="body" idx="108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r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ver (light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65760"/>
            <a:ext cx="2971800" cy="2971800"/>
          </a:xfrm>
          <a:prstGeom prst="ellipse">
            <a:avLst/>
          </a:prstGeom>
          <a:solidFill>
            <a:srgbClr val="3FD0C9">
              <a:alpha val="85000"/>
            </a:srgbClr>
          </a:solidFill>
          <a:ln w="12700">
            <a:solidFill>
              <a:srgbClr val="3FD0C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86650" y="1508760"/>
            <a:ext cx="2971800" cy="2971800"/>
          </a:xfrm>
          <a:prstGeom prst="ellipse">
            <a:avLst/>
          </a:prstGeom>
          <a:solidFill>
            <a:srgbClr val="6D71FF">
              <a:alpha val="75000"/>
            </a:srgbClr>
          </a:solidFill>
          <a:ln w="12700">
            <a:solidFill>
              <a:srgbClr val="6D71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43650" y="2766060"/>
            <a:ext cx="2971800" cy="2971800"/>
          </a:xfrm>
          <a:prstGeom prst="ellipse">
            <a:avLst/>
          </a:prstGeom>
          <a:solidFill>
            <a:srgbClr val="F33844">
              <a:alpha val="70000"/>
            </a:srgbClr>
          </a:solidFill>
          <a:ln w="12700">
            <a:solidFill>
              <a:srgbClr val="F3384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630936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user/Claude/presentation/assets/c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1143440" cy="777240"/>
          </a:xfrm>
          <a:prstGeom prst="rect">
            <a:avLst/>
          </a:prstGeom>
        </p:spPr>
      </p:pic>
      <p:sp>
        <p:nvSpPr>
          <p:cNvPr id="8" name="Text 5"/>
          <p:cNvSpPr>
            <a:spLocks noGrp="1"/>
          </p:cNvSpPr>
          <p:nvPr>
            <p:ph type="body" idx="106" hasCustomPrompt="1"/>
          </p:nvPr>
        </p:nvSpPr>
        <p:spPr>
          <a:xfrm>
            <a:off x="502920" y="1828800"/>
            <a:ext cx="53949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2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9" name="Text 5"/>
          <p:cNvSpPr>
            <a:spLocks noGrp="1"/>
          </p:cNvSpPr>
          <p:nvPr>
            <p:ph type="title" idx="107" hasCustomPrompt="1"/>
          </p:nvPr>
        </p:nvSpPr>
        <p:spPr>
          <a:xfrm>
            <a:off x="502920" y="2148840"/>
            <a:ext cx="539496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10" name="Text 5"/>
          <p:cNvSpPr>
            <a:spLocks noGrp="1"/>
          </p:cNvSpPr>
          <p:nvPr>
            <p:ph type="body" idx="108" hasCustomPrompt="1"/>
          </p:nvPr>
        </p:nvSpPr>
        <p:spPr>
          <a:xfrm>
            <a:off x="502920" y="3383280"/>
            <a:ext cx="53949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11" name="Text 5"/>
          <p:cNvSpPr>
            <a:spLocks noGrp="1"/>
          </p:cNvSpPr>
          <p:nvPr>
            <p:ph type="body" idx="109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12" name="Text 5"/>
          <p:cNvSpPr>
            <a:spLocks noGrp="1"/>
          </p:cNvSpPr>
          <p:nvPr>
            <p:ph type="body" idx="110" hasCustomPrompt="1"/>
          </p:nvPr>
        </p:nvSpPr>
        <p:spPr>
          <a:xfrm>
            <a:off x="3840480" y="4251960"/>
            <a:ext cx="21945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r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ver (20 years)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2011680"/>
            <a:ext cx="4754880" cy="4754880"/>
          </a:xfrm>
          <a:prstGeom prst="ellipse">
            <a:avLst/>
          </a:prstGeom>
          <a:solidFill>
            <a:srgbClr val="122B82">
              <a:alpha val="45000"/>
            </a:srgbClr>
          </a:solidFill>
          <a:ln w="12700">
            <a:solidFill>
              <a:srgbClr val="122B82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logo-20yrs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3388659" cy="96012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02920" y="1828800"/>
            <a:ext cx="58521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200" b="1" kern="0" spc="30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02920" y="2148840"/>
            <a:ext cx="585216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502920" y="3383280"/>
            <a:ext cx="5852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7" name="Text 1"/>
          <p:cNvSpPr>
            <a:spLocks noGrp="1"/>
          </p:cNvSpPr>
          <p:nvPr>
            <p:ph type="body" idx="105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8" name="Text 1"/>
          <p:cNvSpPr>
            <a:spLocks noGrp="1"/>
          </p:cNvSpPr>
          <p:nvPr>
            <p:ph type="body" idx="106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r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Production Cover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206240" cy="4206240"/>
          </a:xfrm>
          <a:prstGeom prst="ellipse">
            <a:avLst/>
          </a:prstGeom>
          <a:solidFill>
            <a:srgbClr val="3FD0C9">
              <a:alpha val="90000"/>
            </a:srgbClr>
          </a:solidFill>
          <a:ln w="12700">
            <a:solidFill>
              <a:srgbClr val="3FD0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194560"/>
            <a:ext cx="3840480" cy="3840480"/>
          </a:xfrm>
          <a:prstGeom prst="ellipse">
            <a:avLst/>
          </a:prstGeom>
          <a:solidFill>
            <a:srgbClr val="005358">
              <a:alpha val="80000"/>
            </a:srgbClr>
          </a:solidFill>
          <a:ln w="12700">
            <a:solidFill>
              <a:srgbClr val="005358">
                <a:alpha val="0"/>
              </a:srgbClr>
            </a:solidFill>
            <a:prstDash val="solid"/>
          </a:ln>
        </p:spPr>
      </p:sp>
      <p:pic>
        <p:nvPicPr>
          <p:cNvPr id="4" name="Image 0" descr="/home/user/Claude/presentation/assets/cts-producti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1143440" cy="777240"/>
          </a:xfrm>
          <a:prstGeom prst="rect">
            <a:avLst/>
          </a:prstGeom>
        </p:spPr>
      </p:pic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200" b="1" kern="0" spc="30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6" name="Text 2"/>
          <p:cNvSpPr>
            <a:spLocks noGrp="1"/>
          </p:cNvSpPr>
          <p:nvPr>
            <p:ph type="title" idx="104" hasCustomPrompt="1"/>
          </p:nvPr>
        </p:nvSpPr>
        <p:spPr>
          <a:xfrm>
            <a:off x="502920" y="2148840"/>
            <a:ext cx="548640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50292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8" name="Text 2"/>
          <p:cNvSpPr>
            <a:spLocks noGrp="1"/>
          </p:cNvSpPr>
          <p:nvPr>
            <p:ph type="body" idx="106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9" name="Text 2"/>
          <p:cNvSpPr>
            <a:spLocks noGrp="1"/>
          </p:cNvSpPr>
          <p:nvPr>
            <p:ph type="body" idx="107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r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nsulting Cover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206240" cy="4206240"/>
          </a:xfrm>
          <a:prstGeom prst="ellipse">
            <a:avLst/>
          </a:prstGeom>
          <a:solidFill>
            <a:srgbClr val="6D71FF">
              <a:alpha val="90000"/>
            </a:srgbClr>
          </a:solidFill>
          <a:ln w="12700">
            <a:solidFill>
              <a:srgbClr val="6D7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194560"/>
            <a:ext cx="3840480" cy="3840480"/>
          </a:xfrm>
          <a:prstGeom prst="ellipse">
            <a:avLst/>
          </a:prstGeom>
          <a:solidFill>
            <a:srgbClr val="122B82">
              <a:alpha val="80000"/>
            </a:srgbClr>
          </a:solidFill>
          <a:ln w="12700">
            <a:solidFill>
              <a:srgbClr val="122B82">
                <a:alpha val="0"/>
              </a:srgbClr>
            </a:solidFill>
            <a:prstDash val="solid"/>
          </a:ln>
        </p:spPr>
      </p:sp>
      <p:pic>
        <p:nvPicPr>
          <p:cNvPr id="4" name="Image 0" descr="/home/user/Claude/presentation/assets/cts-consultin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1143440" cy="777240"/>
          </a:xfrm>
          <a:prstGeom prst="rect">
            <a:avLst/>
          </a:prstGeom>
        </p:spPr>
      </p:pic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rgbClr val="6D7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200" b="1" kern="0" spc="300" dirty="0">
                <a:solidFill>
                  <a:srgbClr val="6D7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6" name="Text 2"/>
          <p:cNvSpPr>
            <a:spLocks noGrp="1"/>
          </p:cNvSpPr>
          <p:nvPr>
            <p:ph type="title" idx="104" hasCustomPrompt="1"/>
          </p:nvPr>
        </p:nvSpPr>
        <p:spPr>
          <a:xfrm>
            <a:off x="502920" y="2148840"/>
            <a:ext cx="548640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50292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8" name="Text 2"/>
          <p:cNvSpPr>
            <a:spLocks noGrp="1"/>
          </p:cNvSpPr>
          <p:nvPr>
            <p:ph type="body" idx="106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9" name="Text 2"/>
          <p:cNvSpPr>
            <a:spLocks noGrp="1"/>
          </p:cNvSpPr>
          <p:nvPr>
            <p:ph type="body" idx="107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r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upport Cover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206240" cy="4206240"/>
          </a:xfrm>
          <a:prstGeom prst="ellipse">
            <a:avLst/>
          </a:prstGeom>
          <a:solidFill>
            <a:srgbClr val="F33844">
              <a:alpha val="90000"/>
            </a:srgbClr>
          </a:solidFill>
          <a:ln w="12700">
            <a:solidFill>
              <a:srgbClr val="F3384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194560"/>
            <a:ext cx="3840480" cy="3840480"/>
          </a:xfrm>
          <a:prstGeom prst="ellipse">
            <a:avLst/>
          </a:prstGeom>
          <a:solidFill>
            <a:srgbClr val="A8052E">
              <a:alpha val="80000"/>
            </a:srgbClr>
          </a:solidFill>
          <a:ln w="12700">
            <a:solidFill>
              <a:srgbClr val="A8052E">
                <a:alpha val="0"/>
              </a:srgbClr>
            </a:solidFill>
            <a:prstDash val="solid"/>
          </a:ln>
        </p:spPr>
      </p:sp>
      <p:pic>
        <p:nvPicPr>
          <p:cNvPr id="4" name="Image 0" descr="/home/user/Claude/presentation/assets/cts-support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1143440" cy="777240"/>
          </a:xfrm>
          <a:prstGeom prst="rect">
            <a:avLst/>
          </a:prstGeom>
        </p:spPr>
      </p:pic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rgbClr val="F3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200" b="1" kern="0" spc="300" dirty="0">
                <a:solidFill>
                  <a:srgbClr val="F3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6" name="Text 2"/>
          <p:cNvSpPr>
            <a:spLocks noGrp="1"/>
          </p:cNvSpPr>
          <p:nvPr>
            <p:ph type="title" idx="104" hasCustomPrompt="1"/>
          </p:nvPr>
        </p:nvSpPr>
        <p:spPr>
          <a:xfrm>
            <a:off x="502920" y="2148840"/>
            <a:ext cx="548640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50292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8" name="Text 2"/>
          <p:cNvSpPr>
            <a:spLocks noGrp="1"/>
          </p:cNvSpPr>
          <p:nvPr>
            <p:ph type="body" idx="106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9" name="Text 2"/>
          <p:cNvSpPr>
            <a:spLocks noGrp="1"/>
          </p:cNvSpPr>
          <p:nvPr>
            <p:ph type="body" idx="107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r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ection (navy)">
    <p:bg>
      <p:bgPr>
        <a:solidFill>
          <a:srgbClr val="122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194560"/>
            <a:ext cx="4206240" cy="4206240"/>
          </a:xfrm>
          <a:prstGeom prst="ellipse">
            <a:avLst/>
          </a:prstGeom>
          <a:solidFill>
            <a:srgbClr val="6D71FF">
              <a:alpha val="45000"/>
            </a:srgbClr>
          </a:solidFill>
          <a:ln w="12700">
            <a:solidFill>
              <a:srgbClr val="6D71FF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280160" cy="1280160"/>
          </a:xfrm>
          <a:prstGeom prst="rect">
            <a:avLst/>
          </a:prstGeom>
          <a:solidFill>
            <a:srgbClr val="3FD0C9"/>
          </a:solidFill>
          <a:ln w="12700">
            <a:solidFill>
              <a:srgbClr val="3FD0C9"/>
            </a:solidFill>
            <a:prstDash val="solid"/>
          </a:ln>
        </p:spPr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3"/>
          <p:cNvSpPr>
            <a:spLocks noGrp="1"/>
          </p:cNvSpPr>
          <p:nvPr>
            <p:ph type="title" idx="105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describing what this section covers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Technology Services  |  Seamless AV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ection (light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194560"/>
            <a:ext cx="4206240" cy="4206240"/>
          </a:xfrm>
          <a:prstGeom prst="ellipse">
            <a:avLst/>
          </a:prstGeom>
          <a:solidFill>
            <a:srgbClr val="3FD0C9">
              <a:alpha val="20000"/>
            </a:srgbClr>
          </a:solidFill>
          <a:ln w="12700">
            <a:solidFill>
              <a:srgbClr val="3FD0C9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28016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3"/>
          <p:cNvSpPr>
            <a:spLocks noGrp="1"/>
          </p:cNvSpPr>
          <p:nvPr>
            <p:ph type="title" idx="105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describing what this section covers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Technology Services  |  Seamless AV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Production Section">
    <p:bg>
      <p:bgPr>
        <a:solidFill>
          <a:srgbClr val="0053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194560"/>
            <a:ext cx="4206240" cy="4206240"/>
          </a:xfrm>
          <a:prstGeom prst="ellipse">
            <a:avLst/>
          </a:prstGeom>
          <a:solidFill>
            <a:srgbClr val="3FD0C9">
              <a:alpha val="40000"/>
            </a:srgbClr>
          </a:solidFill>
          <a:ln w="12700">
            <a:solidFill>
              <a:srgbClr val="3FD0C9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productio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280160" cy="1280160"/>
          </a:xfrm>
          <a:prstGeom prst="rect">
            <a:avLst/>
          </a:prstGeom>
          <a:solidFill>
            <a:srgbClr val="3FD0C9"/>
          </a:solidFill>
          <a:ln w="12700">
            <a:solidFill>
              <a:srgbClr val="3FD0C9"/>
            </a:solidFill>
            <a:prstDash val="solid"/>
          </a:ln>
        </p:spPr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3"/>
          <p:cNvSpPr>
            <a:spLocks noGrp="1"/>
          </p:cNvSpPr>
          <p:nvPr>
            <p:ph type="title" idx="105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describing what this section covers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Production  |  Engaging Experiences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nsulting Section">
    <p:bg>
      <p:bgPr>
        <a:solidFill>
          <a:srgbClr val="122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194560"/>
            <a:ext cx="4206240" cy="4206240"/>
          </a:xfrm>
          <a:prstGeom prst="ellipse">
            <a:avLst/>
          </a:prstGeom>
          <a:solidFill>
            <a:srgbClr val="6D71FF">
              <a:alpha val="40000"/>
            </a:srgbClr>
          </a:solidFill>
          <a:ln w="12700">
            <a:solidFill>
              <a:srgbClr val="6D71FF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consult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D7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280160" cy="1280160"/>
          </a:xfrm>
          <a:prstGeom prst="rect">
            <a:avLst/>
          </a:prstGeom>
          <a:solidFill>
            <a:srgbClr val="6D71FF"/>
          </a:solidFill>
          <a:ln w="12700">
            <a:solidFill>
              <a:srgbClr val="6D71FF"/>
            </a:solidFill>
            <a:prstDash val="solid"/>
          </a:ln>
        </p:spPr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3"/>
          <p:cNvSpPr>
            <a:spLocks noGrp="1"/>
          </p:cNvSpPr>
          <p:nvPr>
            <p:ph type="title" idx="105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describing what this section covers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Consulting  |  End to End collaboration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upport Section">
    <p:bg>
      <p:bgPr>
        <a:solidFill>
          <a:srgbClr val="A80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194560"/>
            <a:ext cx="4206240" cy="4206240"/>
          </a:xfrm>
          <a:prstGeom prst="ellipse">
            <a:avLst/>
          </a:prstGeom>
          <a:solidFill>
            <a:srgbClr val="F33844">
              <a:alpha val="40000"/>
            </a:srgbClr>
          </a:solidFill>
          <a:ln w="12700">
            <a:solidFill>
              <a:srgbClr val="F33844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suppor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3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280160" cy="1280160"/>
          </a:xfrm>
          <a:prstGeom prst="rect">
            <a:avLst/>
          </a:prstGeom>
          <a:solidFill>
            <a:srgbClr val="F33844"/>
          </a:solidFill>
          <a:ln w="12700">
            <a:solidFill>
              <a:srgbClr val="F33844"/>
            </a:solidFill>
            <a:prstDash val="solid"/>
          </a:ln>
        </p:spPr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3"/>
          <p:cNvSpPr>
            <a:spLocks noGrp="1"/>
          </p:cNvSpPr>
          <p:nvPr>
            <p:ph type="title" idx="105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describing what this section covers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Support  |  Personalised Service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Header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Technology Services  |  Seamless AV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Header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Technology Services  |  Seamless AV</a:t>
            </a:r>
            <a:endParaRPr lang="en-US" sz="9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800"/>
              </a:spcAft>
              <a:buSzPct val="100000"/>
              <a:buChar char="•"/>
              <a:def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Production Header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b="1" kern="0" spc="30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000" b="1" kern="0" spc="30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p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Production  |  Engaging Experiences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Production Header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b="1" kern="0" spc="30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000" b="1" kern="0" spc="30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p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Production  |  Engaging Experiences</a:t>
            </a:r>
            <a:endParaRPr lang="en-US" sz="9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800"/>
              </a:spcAft>
              <a:buSzPct val="100000"/>
              <a:buChar char="•"/>
              <a:def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nsulting Header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consul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Consulting  |  End to End collaboration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nsulting Header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consul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Consulting  |  End to End collaboration</a:t>
            </a:r>
            <a:endParaRPr lang="en-US" sz="9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800"/>
              </a:spcAft>
              <a:buSzPct val="100000"/>
              <a:buChar char="•"/>
              <a:def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upport Header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b="1" kern="0" spc="300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000" b="1" kern="0" spc="300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Support  |  Personalised Service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upport Header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b="1" kern="0" spc="300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r>
              <a:rPr lang="en-US" sz="1000" b="1" kern="0" spc="300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Support  |  Personalised Service</a:t>
            </a:r>
            <a:endParaRPr lang="en-US" sz="9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800"/>
              </a:spcAft>
              <a:buSzPct val="100000"/>
              <a:buChar char="•"/>
              <a:def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4" hasCustomPrompt="1"/>
          </p:nvPr>
        </p:nvSpPr>
        <p:spPr>
          <a:xfrm>
            <a:off x="502920" y="18288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BUSINESS REVIEW</a:t>
            </a:r>
            <a:endParaRPr lang="en-US" sz="1200" dirty="0"/>
          </a:p>
        </p:txBody>
      </p:sp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502920" y="214884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4000" dirty="0"/>
          </a:p>
        </p:txBody>
      </p:sp>
      <p:sp>
        <p:nvSpPr>
          <p:cNvPr id="4" name="Text 3"/>
          <p:cNvSpPr>
            <a:spLocks noGrp="1"/>
          </p:cNvSpPr>
          <p:nvPr>
            <p:ph type="body" idx="106" hasCustomPrompt="1"/>
          </p:nvPr>
        </p:nvSpPr>
        <p:spPr>
          <a:xfrm>
            <a:off x="502920" y="33832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risk revenue, customers, cash and utilisation</a:t>
            </a:r>
            <a:endParaRPr lang="en-US" sz="1800" dirty="0"/>
          </a:p>
        </p:txBody>
      </p:sp>
      <p:sp>
        <p:nvSpPr>
          <p:cNvPr id="5" name="Text 3"/>
          <p:cNvSpPr>
            <a:spLocks noGrp="1"/>
          </p:cNvSpPr>
          <p:nvPr>
            <p:ph type="body" idx="107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Controller</a:t>
            </a:r>
            <a:endParaRPr lang="en-US" sz="1200" dirty="0"/>
          </a:p>
        </p:txBody>
      </p:sp>
      <p:sp>
        <p:nvSpPr>
          <p:cNvPr id="6" name="Text 3"/>
          <p:cNvSpPr>
            <a:spLocks noGrp="1"/>
          </p:cNvSpPr>
          <p:nvPr>
            <p:ph type="body" idx="108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performance: P&amp;L summary, P&amp;L per department, risk revenue profile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cash: top 10 customers, DSO and receivables, top customers year on year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utilisation: utilisation by department, profit based on utilisation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actions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4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3600" dirty="0"/>
          </a:p>
        </p:txBody>
      </p:sp>
      <p:sp>
        <p:nvSpPr>
          <p:cNvPr id="4" name="Text 3"/>
          <p:cNvSpPr>
            <a:spLocks noGrp="1"/>
          </p:cNvSpPr>
          <p:nvPr>
            <p:ph type="body" idx="106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for September 2026 and YTD (Jul to Sep)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summary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577840" cy="197510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A$ thousands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 Sep 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sales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(918)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(880)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(2,690)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(2,610)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(842)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(402)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(410)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(1,215)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(1,230)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(385)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502920" y="354787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EBITDA, last six months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3730752"/>
          <a:ext cx="5577840" cy="886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4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the month against budget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position and the run-rate to full year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One-offs or timing to call out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per department, Sep 26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577840" cy="197510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A$ thousands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(231)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(231)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(402)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35478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Overheads are the department's direct overheads; Admin carries the shared overheads. Contribution is gross profit less overheads, and the CTS row is EBITDA.</a:t>
            </a:r>
            <a:endParaRPr lang="en-US" sz="900" dirty="0"/>
          </a:p>
        </p:txBody>
      </p:sp>
      <p:sp>
        <p:nvSpPr>
          <p:cNvPr id="4" name="Shape 3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beat or missed budget, and why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movement by department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changes worth noting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contribution by department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463040"/>
          <a:ext cx="557784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mix of revenue is shifting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running below contribution expectations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next month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revenue profile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737360" cy="6400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46304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59890"/>
            <a:ext cx="146304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revenue, secured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1463040"/>
            <a:ext cx="1737360" cy="6400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 txBox="1"/>
          <p:nvPr/>
        </p:nvSpPr>
        <p:spPr>
          <a:xfrm>
            <a:off x="2514600" y="1554480"/>
            <a:ext cx="146304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859890"/>
            <a:ext cx="146304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Non-contract revenue, at risk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51960" y="1463040"/>
            <a:ext cx="1828800" cy="6400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4389120" y="1554480"/>
            <a:ext cx="15544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859890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lines flagged Medium or High</a:t>
            </a:r>
            <a:endParaRPr lang="en-US" sz="9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02920" y="2194560"/>
          <a:ext cx="557784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74720"/>
          <a:ext cx="5577840" cy="112471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line vs budget, A$ thousands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Production: Non contract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Integration: Non contract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22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Non contract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22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Onsite: Contract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Consulting: Non contract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2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next quarter is already contracted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Non-contract revenue: pipeline cover and conversion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lines: cause and action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4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cash</a:t>
            </a:r>
            <a:endParaRPr lang="en-US" sz="3600" dirty="0"/>
          </a:p>
        </p:txBody>
      </p:sp>
      <p:sp>
        <p:nvSpPr>
          <p:cNvPr id="4" name="Text 3"/>
          <p:cNvSpPr>
            <a:spLocks noGrp="1"/>
          </p:cNvSpPr>
          <p:nvPr>
            <p:ph type="body" idx="106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customers, receivables and days sales outstanding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CASH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577840" cy="279806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Client, A$ thousands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YTD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 YTD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Client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Client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Client 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Client 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Client 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Client 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 Client 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 Client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 Client 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  Client J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35254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are 83% of YTD (Jul to Sep) revenue. Client names come from the Clients sheet in the Financial Controller Pack.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Movements in the top 10 and why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risk: how dependent we are on the top three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lost customers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CASH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and days sales outstanding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73736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46304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days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44929"/>
            <a:ext cx="146304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DSO, target 30 days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1463040"/>
            <a:ext cx="173736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 txBox="1"/>
          <p:nvPr/>
        </p:nvSpPr>
        <p:spPr>
          <a:xfrm>
            <a:off x="2514600" y="1554480"/>
            <a:ext cx="146304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$1.64m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944929"/>
            <a:ext cx="146304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receivables at month 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51960" y="1463040"/>
            <a:ext cx="182880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4389120" y="1554480"/>
            <a:ext cx="1554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$90k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944929"/>
            <a:ext cx="155448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60 days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377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DSO, last six months</a:t>
            </a:r>
            <a:endParaRPr lang="en-US" sz="9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502920" y="2560320"/>
          <a:ext cx="292608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3611880" y="23774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receivables, A$ thousands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11880" y="2606040"/>
          <a:ext cx="2468880" cy="166420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A$k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 30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to 60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to 90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 90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3611880" y="4343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= receivables / (last three months revenue / 92 days).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5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overdue accounts and collection status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DSO moved this month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actions before next month end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CASH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customers, FY27 vs FY26 year to date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463040"/>
          <a:ext cx="55778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3434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A$ thousands, same period last year. Customers ranked by current year to date.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growing year on year and what is driving it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decline and the recovery plan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logos replacing lost revenue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4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utilisation</a:t>
            </a:r>
            <a:endParaRPr lang="en-US" sz="3600" dirty="0"/>
          </a:p>
        </p:txBody>
      </p:sp>
      <p:sp>
        <p:nvSpPr>
          <p:cNvPr id="4" name="Text 3"/>
          <p:cNvSpPr>
            <a:spLocks noGrp="1"/>
          </p:cNvSpPr>
          <p:nvPr>
            <p:ph type="body" idx="106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Chargeable hours, utilisation and the profit they produce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UTILISATION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by department, Sep 26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577840" cy="1664208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Non-chargeable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502920" y="3264408"/>
          <a:ext cx="5577840" cy="1353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3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under target and the reason: bench time, leave, training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or casual hours masking low utilisation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or roster changes planned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UTILISATION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based on utilisation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577840" cy="174040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A$ thousands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hrs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 rev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 cost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 profit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hr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(165)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(143)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(481)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264408"/>
            <a:ext cx="2651760" cy="1353312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 txBox="1"/>
          <p:nvPr/>
        </p:nvSpPr>
        <p:spPr>
          <a:xfrm>
            <a:off x="640080" y="3355848"/>
            <a:ext cx="2377440" cy="7037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+$55k a month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03461"/>
            <a:ext cx="2377440" cy="46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more points of utilisation at current charge rates, before any extra cost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291840" y="3264408"/>
            <a:ext cx="27889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revenue = chargeable hours x average charge rate. Labour cost = FTE x working hours x loaded cost per hour, so it includes the cost of non-chargeable and leave hours. Per hr = labour profit per chargeable hour. Rates come from the pack's Setup and Utilisation sheets.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point of utilisation is worth the most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pressure: charge rate vs loaded cost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to lift chargeable hours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4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actions</a:t>
            </a:r>
            <a:endParaRPr lang="en-US" sz="3600" dirty="0"/>
          </a:p>
        </p:txBody>
      </p:sp>
      <p:sp>
        <p:nvSpPr>
          <p:cNvPr id="4" name="Text 3"/>
          <p:cNvSpPr>
            <a:spLocks noGrp="1"/>
          </p:cNvSpPr>
          <p:nvPr>
            <p:ph type="body" idx="106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commentary from each sheet, with an owner and a date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ACTIONS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and actions from this review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3017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Commentary and agreed 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the commentary agreed in the meeting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the commentary agreed in the meeting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and DSO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the commentary agreed in the meeting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the commentary agreed in the meeting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54781D-8611-20E2-34CE-52607DF53740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AU" dirty="0"/>
              <a:t>Thank you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3098B-389D-778D-8913-4697239AF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82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CASH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customers, FY27 vs FY26 year to date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463040"/>
          <a:ext cx="55778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3434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A$ thousands, same period last year. Customers ranked by current year to date.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growing year on year and what is driving it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decline and the recovery plan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logos replacing lost revenue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1642</Words>
  <Application>Microsoft Office PowerPoint</Application>
  <PresentationFormat>On-screen Show (16:9)</PresentationFormat>
  <Paragraphs>537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September 2026</vt:lpstr>
      <vt:lpstr>What we will cover</vt:lpstr>
      <vt:lpstr>Financial performance</vt:lpstr>
      <vt:lpstr>P&amp;L summary</vt:lpstr>
      <vt:lpstr>P&amp;L per department, Sep 26</vt:lpstr>
      <vt:lpstr>Revenue and contribution by department</vt:lpstr>
      <vt:lpstr>Risk revenue profile</vt:lpstr>
      <vt:lpstr>Customers and cash</vt:lpstr>
      <vt:lpstr>Top 10 customers</vt:lpstr>
      <vt:lpstr>Receivables and days sales outstanding</vt:lpstr>
      <vt:lpstr>Top customers, FY27 vs FY26 year to date</vt:lpstr>
      <vt:lpstr>People and utilisation</vt:lpstr>
      <vt:lpstr>Utilisation by department, Sep 26</vt:lpstr>
      <vt:lpstr>Profit based on utilisation</vt:lpstr>
      <vt:lpstr>Summary and actions</vt:lpstr>
      <vt:lpstr>Commentary and actions from this review</vt:lpstr>
      <vt:lpstr>Thank you </vt:lpstr>
    </vt:vector>
  </TitlesOfParts>
  <Company>Corporate Technology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CTS Monthly Business Review September 2026</dc:title>
  <dc:subject>PptxGenJS Presentation</dc:subject>
  <dc:creator>Corporate Technology Services</dc:creator>
  <cp:lastModifiedBy>Danica Nelson</cp:lastModifiedBy>
  <cp:revision>2</cp:revision>
  <dcterms:created xsi:type="dcterms:W3CDTF">2026-10-13T04:28:56Z</dcterms:created>
  <dcterms:modified xsi:type="dcterms:W3CDTF">2026-10-13T04:43:45Z</dcterms:modified>
</cp:coreProperties>
</file>