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Business Review for September 2026. Everything in this pack comes from the Financial Controller Pack, which ties to the Xero general ledger to the cent for every department and for the company.
The headline is that Sep 26 beat budget on revenue by 148 thousand and still lost money. Revenue was 562 thousand against a budget of 414 thousand. EBITDA was (32) thousand against a budgeted loss of (107) thousand.
The story of the month is margin and the overhead base, not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Financial performance first, because that is what the numbers say. Cost base second, because that is where the answer is this month. Then customers and cash, then people, then what we do about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slide, colour coded by department: Support in red, Events and Video in the Production teals, Integration and Consulting in the Consulting blues.
Support: revenue 242,948, gross margin 41.7%, result 29,007 after all overhead, behind budget by 5,068.
Events: revenue 73,304, gross margin 77.6%, result (54,227) after all overhead, ahead of budget by 7,476.
Video: revenue 7,303, gross margin 79.6%, result (6,846) after all overhead, behind budget by 10,196.
Integration: revenue 234,858, gross margin 10.1%, result 10,471 after all overhead, ahead of budget by 175,586.
Consulting: revenue 3,531, gross margin 2.1%, result (19,870) after all overhead, behind budget by 19,519.
Company revenue 561,945 against 413,665 budget. Gross margin 33.4%. Overheads 230,233. EBITDA (32,437).
If the room only hears one thing from this pack, it is the last figure on the strip. At our real margin we need 549,372 of revenue every month to break even and we are averaging 541,487.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of FY27 are closed. Revenue is running at 541 thousand a month and break even needs 549 thousand at the margin we actually deliver. That is the whole problem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P&amp;L summary, straight off the Summary tab with the outline shut, so this is the view on screen.
Revenue 561,945 against a budget of 413,665, ahead by 148,280. Against last September at 356,323 we are up 58%.
Gross profit 187,814 at 33.4%, against a budget of 30.1% and last September at 45.5%. The budget margin for this month was unusually low, so beating it is not the achievement it looks like.
Overheads 230,233 against 231,573 budget. The cost base is behaving.
EBITDA (32,437) against a budgeted (107,100). Net profit (41,464) after depreciation and amortisation of 9,982.
Year to date revenue 1,624,460 against 1,996,110, behind by 371,650. EBITDA 5,774 against 222,700.
The line to leave in the room: at 38.9% gross margin we need 549,372 of revenue every month to cover overhead. We are averaging 541,487. That gap is structural and selling more at this margin will not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and profit half of the Summary tab.
Cost of sales 374,130 against a budget of 289,192. The revenue beat came in at a margin the plan did not assume, and that is the whole variance story for the month.
Gross profit 187,814 at 33.4%. Year to date 632,300 at 38.9% against a planned 45.7%.
Overheads 230,233 against 231,573 budget, and flat across all three months at roughly 213,836. That is the number revenue has to clear.
EBITDA (32,437) against (107,100) budgeted. Net profit (41,464) after depreciation and amortisation of 9,982.
Year to date EBITDA 5,774 against 222,700. A full quarter of trading has produced roughly break 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department against budget with the full overhead charge, read off section 7 of the Overhead Split tab.
Support: revenue 242,948 against 248,017 budget. Gross profit 101,290 at 41.7%. Overhead 72,283, of which 59,182 is allocated admin. Result 29,007.
Events: revenue 73,304 against 65,828 budget. Gross profit 56,881 at 77.6%. Overhead 111,108, of which 71,672 is allocated admin. Result (54,227).
Video: revenue 7,303 against 17,498 budget. Gross profit 5,813 at 79.6%. Overhead 12,659, of which 9,782 is allocated admin. Result (6,846).
Integration: revenue 234,858 against 59,272 budget. Gross profit 23,756 at 10.1%. Overhead 13,285, of which 4,148 is allocated admin. Result 10,471.
Consulting: revenue 3,531 against 23,050 budget. Gross profit 74 at 2.1%. Overhead 19,944, of which 13,979 is allocated admin. Result (19,870).
The five departments total (41,464), which is net profit for the month.
Two things to flag. Integration's 175,586 beat on revenue converted to almost nothing, because the margin was 10.1% on equipment resale. And Events absorbs 71,672 of allocated admin on 73,304 of revenue, charged on the premises key, when Events is not the department consuming the premises.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department for September 2026, actual against budget and against the same month last year.
Support: 242,948 against a budget of 248,017 and 231,214 last year.
Integration: 234,858 against a budget of 59,272 and 21,421 last year.
Events: 73,304 against a budget of 65,828 and 75,333 last year.
Video: 7,303 against a budget of 17,498 and 20,025 last year.
Consulting: 3,531 against a budget of 23,050 and 8,330 last year.
Company revenue 561,945 against 413,665 budget and 356,323 last September.
The beat is Integration, and it is one large fit-out at 10.1% gross margin. Read it as timing, not growth. Video and Consulting are short of budget for the third month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Overheads are steady at about 214 thousand a month. The cost base is not the problem this month, but it is the number revenue has to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cost distribution for the year to date, cost of sales and overhead on one scale.
Cost of sales, labour 620,737 at 38.0%. Cost of sales, equipment &amp; services 347,307 at 21.3%. Cost of sales, other direct 24,117 at 1.5%. Overhead, General &amp; Administrative Exp 75,700 at 4.6%. Overhead, Business Insurances 25,227 at 1.5%. Overhead, Advertising &amp; Promotion Exp 34,119 at 2.1%. Overhead, Operating Expenses 136,752 at 8.4%. Overhead, Employment Expenses 369,466 at 22.6%.
The message is concentration. Direct labour and employment overhead dominate, and employment overhead is fixed inside the year, which is why a short revenue month drops straight to the bottom line.
When the board asks what we can cut, the honest answer is people or premises. Trimming subscriptions and travel will not change the shape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operating expenses, year to date.
Rent 62,043 at 45.4%. IT Network Service &amp; Support 39,570 at 28.9%. Rental Outgoings 14,684 at 10.7%. Travel &amp; Per Diems 5,627 at 4.1%. Stamp Duty (Indirect) 3,455 at 2.5%. Repairs &amp; Maintenance 2,079 at 1.5%. Office Cleaning 2,079 at 1.5%. Mobile Phones 1,825 at 1.3%. Everything else 5,390 at 3.9%.
Rent and rental outgoings are fixed by lease. IT network service and support is the second line and the only one that moves.
The practical conclusion is that this block is not where cost comes out. Reducing operating expense materially is a premises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mix for the year to date, direct labour charged to cost of sales split by type.
Sub-Contract Labour 117,012. Service - hires 23,704. Direct Salaries 314,763. Direct Wages 111,018. Direct Superannuation 54,240.
The great majority is permanent payroll. Sub contract labour is the only line that flexes with volume.
This is the link to the utilisation section. We pay for hours worked and we bill for hours that are chargeable. Where those two diverge, margin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Employment expense split between office staff and departmental staff for September 2026.
Departmental staff is the employment expense on each department's own cost centre: Support 8,980, Events 35,665, Video 2,660, Integration 8,563, Consulting 5,545.
Office staff is the admin employment pot of 63,077, charged across the departments on their share of full time equivalent: Support 42,262, Events 15,294, Video 1,301, Integration 269, Consulting 3,951.
FTE is rolling twelve month worked hours on that cost centre divided by 2,024 hours, being 253 working days at eight. That is the method in the training recording.
The change worth noting is that this no longer relies on a typed figure. The pack calculates it from the Labour Hours Report, so it reproduces every month without anyone deciding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concentrated and cash is slow. Days sales outstanding is 47.2 against a 30 day target, which is 303,605 of cash sitting in the debtor book above where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customers, year to date, with the chart beside the table.
1. Deloitte Services: 401,755 year to date at 24.7%, 119,614 in September 2026.
2. Aware Super: 285,075 year to date at 17.5%, 241,178 in September 2026.
3. CBA Place South: 105,040 year to date at 6.5%, 30,409 in September 2026.
4. Ventia: 97,662 year to date at 6.0%, 9,105 in September 2026.
5. PwC Services: 88,051 year to date at 5.4%, 26,707 in September 2026.
6. APT Management Services: 63,613 year to date at 3.9%, 4,527 in September 2026.
7. ASX Operations: 60,858 year to date at 3.7%, 17,167 in September 2026.
8. Bankwest: 54,971 year to date at 3.4%, 17,230 in September 2026.
9. Data#3: 45,909 year to date at 2.8%, 0 in September 2026.
10. Generation-e Productivity…: 37,166 year to date at 2.3%, 12,389 in September 2026.
The top ten are 1,240,100 or 76.3% of revenue. Everyone else is 384,360.
The concentration is getting worse, not better, and the distinction that matters is contract against project. Deloitte Services is contracted support income that renews. Aware Super is a fit-out that completes. Treating them as the same kind of revenue is how a forecast goes wrong.
The recommendation is a retention plan with a named owner for the top three, and a growth target set on the second ten rather than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Receivables and days sales outstanding at 30 September 2026.
Trade receivables 833,320. DSO 47.2 days against a target of 30. At target the book would be 529,715, so 303,605 of cash is tied up above where it should be.
Ageing: Current 588,782 at 70.7%, Under 1 month 133,177 at 16.0%, 1 month 86,553 at 10.4%, 3 months 24,809 at 3.0%. Overdue in total 244,538 or 29.3%.
Largest debtors: Aware Super at 277,395, Deloitte Services P/L for Deloitte Services Trust at 131,575, Ventia at 94,701.
The action is narrow. Two customers hold the majority of the overdue balance, so a targeted chase on those two is worth more than a general collections push, and it is the fastest cash available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billed 2,437 chargeable hours in September 2026 out of 2,789 worked. Where chargeable hours fall short, margin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Utilisation by department for September 2026.
Support: 2,132 chargeable, 11 non-chargeable, 218 leave, 99.5% chargeable.
Events: 241 chargeable, 249 non-chargeable, 333 leave, 49.1% chargeable.
Video: 25 chargeable, 8 non-chargeable, 0 leave, 76.0% chargeable.
Integration: 10 chargeable, 0 non-chargeable, 0 leave, 100.0% chargeable.
Consulting: 31 chargeable, 84 non-chargeable, 53 leave, 26.8% chargeable.
Five departments together, 2,437 chargeable out of 2,789 worked, 87.4%.
I need to be straight about the Support figure. 99.5% chargeable on only 11 non-chargeable hours in a whole month is not believable for a team of that size. Non-chargeable time is being booked to chargeable cost centres. The hours total is right, the split is not, and the Support utilisation figure is unusable until timesheet coding is corrected.
Events at 49.1% is the real operational issue: 333 hours of leave on a small team takes out most of the capacity.
The prize is in the last bullet. Five more points of utilisation on Support and Events, at the revenue per chargeable hour each already earns, is the largest controllable item in this pack and costs nothing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are closed and the remaining nine are still at original budget. That is the decision in front of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month, actual for the three closed months and original budget for the rest.
Q1 actual 1,624,460 against a budget of 1,996,110, behind by 371,650.
The nine months from October are still at the budget set before the year started. October is budgeted at 950,416, higher than any month we have delivered.
Two things for the board. The Q1 variance is concentrated in Consulting and Video, which were budgeted on a resourcing level that does not exist. And the margin assumption in the budget is above what the business has delivered for two years, so even a month that hits the revenue number will miss the profit number.
My recommendation is a rolling forecast from Q2, rebuilding Consulting around actual capacity and resetting gross margin to delivered rates. December should stay as budgeted: the business closes for two weeks and the loss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each with an owner and a date.
The first two matter most: reforecasting on margin rather than revenue, and testing the overhead keys. Everything else in this pack follows from those two numbers.
The Consulting decision cannot keep being deferred; it has carried overhead against no fee base for three months.
The cash action is the only one that produces money this quarter, and the utilisation action is the largest controllable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 numbers that matter: break even needs 549,372 a month at our real margin, and we are running at 541,487. Everything else in the pack is detail underneath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C9CED6"/>
                </a:solidFill>
              </a:rPr>
              <a:t>Corporate Technology Services  |  Seamless AV</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6B7585"/>
                </a:solidFill>
              </a:rPr>
              <a:t>Corporate Technology Services  |  Seamless AV</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sp>
      <p:sp>
        <p:nvSpPr>
          <p:cNvPr id="3" name="circle 1"/>
          <p:cNvSpPr/>
          <p:nvPr/>
        </p:nvSpPr>
        <p:spPr>
          <a:xfrm>
            <a:off x="7315200" y="1188720"/>
            <a:ext cx="1783080" cy="1783080"/>
          </a:xfrm>
          <a:prstGeom prst="ellipse">
            <a:avLst/>
          </a:prstGeom>
          <a:solidFill>
            <a:srgbClr val="6D71FF">
              <a:alpha val="82000"/>
            </a:srgbClr>
          </a:solidFill>
          <a:ln/>
        </p:spPr>
      </p:sp>
      <p:sp>
        <p:nvSpPr>
          <p:cNvPr id="4" name="circle 2"/>
          <p:cNvSpPr/>
          <p:nvPr/>
        </p:nvSpPr>
        <p:spPr>
          <a:xfrm>
            <a:off x="6583680" y="2057400"/>
            <a:ext cx="2240280" cy="224028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4000" b="1" dirty="0">
                <a:solidFill>
                  <a:srgbClr val="FFFFFF"/>
                </a:solidFill>
              </a:rPr>
              <a:t>cts</a:t>
            </a:r>
            <a:endParaRPr lang="en-US" sz="4000" dirty="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indent="0" marL="0">
              <a:buNone/>
            </a:pPr>
            <a:r>
              <a:rPr lang="en-US" sz="950" dirty="0">
                <a:solidFill>
                  <a:srgbClr val="C9CED6"/>
                </a:solidFill>
              </a:rPr>
              <a:t>Seamless AV</a:t>
            </a:r>
            <a:endParaRPr lang="en-US" sz="950" dirty="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indent="0" marL="0">
              <a:buNone/>
            </a:pPr>
            <a:r>
              <a:rPr lang="en-US" sz="1050" b="1" spc="300" kern="0" dirty="0">
                <a:solidFill>
                  <a:srgbClr val="3FD0C9"/>
                </a:solidFill>
              </a:rPr>
              <a:t>MONTHLY BUSINESS REVIEW</a:t>
            </a:r>
            <a:endParaRPr lang="en-US" sz="1050" dirty="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indent="0" marL="0">
              <a:buNone/>
            </a:pPr>
            <a:r>
              <a:rPr lang="en-US" sz="4000" b="1" dirty="0">
                <a:solidFill>
                  <a:srgbClr val="FFFFFF"/>
                </a:solidFill>
              </a:rPr>
              <a:t>September 2026</a:t>
            </a:r>
            <a:endParaRPr lang="en-US" sz="4000" dirty="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indent="0" marL="0">
              <a:buNone/>
            </a:pPr>
            <a:r>
              <a:rPr lang="en-US" sz="1300" dirty="0">
                <a:solidFill>
                  <a:srgbClr val="E3E6EA"/>
                </a:solidFill>
              </a:rPr>
              <a:t>Results, departments, cost base, customers, cash and utilisation</a:t>
            </a:r>
            <a:endParaRPr lang="en-US" sz="1300" dirty="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pPr indent="0" marL="0">
              <a:buNone/>
            </a:pPr>
            <a:r>
              <a:rPr lang="en-US" sz="950" dirty="0">
                <a:solidFill>
                  <a:srgbClr val="C9CED6"/>
                </a:solidFill>
              </a:rPr>
              <a:t>Financial Controller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AGENDA</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will cover</a:t>
            </a:r>
            <a:endParaRPr lang="en-US" sz="2700" dirty="0"/>
          </a:p>
        </p:txBody>
      </p:sp>
      <p:sp>
        <p:nvSpPr>
          <p:cNvPr id="4" name="Shape 2"/>
          <p:cNvSpPr/>
          <p:nvPr/>
        </p:nvSpPr>
        <p:spPr>
          <a:xfrm>
            <a:off x="502920" y="1417320"/>
            <a:ext cx="384048" cy="384048"/>
          </a:xfrm>
          <a:prstGeom prst="rect">
            <a:avLst/>
          </a:prstGeom>
          <a:solidFill>
            <a:srgbClr val="242C39"/>
          </a:solidFill>
          <a:ln/>
        </p:spPr>
      </p:sp>
      <p:sp>
        <p:nvSpPr>
          <p:cNvPr id="5" name="Text 3"/>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Financial performance</a:t>
            </a:r>
            <a:endParaRPr lang="en-US" sz="1300" dirty="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indent="0" marL="0">
              <a:buNone/>
            </a:pPr>
            <a:r>
              <a:rPr lang="en-US" sz="1000" dirty="0">
                <a:solidFill>
                  <a:srgbClr val="6B7585"/>
                </a:solidFill>
              </a:rPr>
              <a:t>P&amp;L summary, the three months to date, and every department against budget</a:t>
            </a:r>
            <a:endParaRPr lang="en-US" sz="1000" dirty="0"/>
          </a:p>
        </p:txBody>
      </p:sp>
      <p:sp>
        <p:nvSpPr>
          <p:cNvPr id="8" name="Shape 6"/>
          <p:cNvSpPr/>
          <p:nvPr/>
        </p:nvSpPr>
        <p:spPr>
          <a:xfrm>
            <a:off x="502920" y="2057400"/>
            <a:ext cx="384048" cy="384048"/>
          </a:xfrm>
          <a:prstGeom prst="rect">
            <a:avLst/>
          </a:prstGeom>
          <a:solidFill>
            <a:srgbClr val="242C39"/>
          </a:solidFill>
          <a:ln/>
        </p:spPr>
      </p:sp>
      <p:sp>
        <p:nvSpPr>
          <p:cNvPr id="9" name="Text 7"/>
          <p:cNvSpPr txBox="1"/>
          <p:nvPr/>
        </p:nvSpPr>
        <p:spPr>
          <a:xfrm>
            <a:off x="502920" y="205740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Cost base</a:t>
            </a:r>
            <a:endParaRPr lang="en-US" sz="1300" dirty="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indent="0" marL="0">
              <a:buNone/>
            </a:pPr>
            <a:r>
              <a:rPr lang="en-US" sz="1000" dirty="0">
                <a:solidFill>
                  <a:srgbClr val="6B7585"/>
                </a:solidFill>
              </a:rPr>
              <a:t>Where the money goes: cost distribution, operating expense, labour and employment</a:t>
            </a:r>
            <a:endParaRPr lang="en-US" sz="1000" dirty="0"/>
          </a:p>
        </p:txBody>
      </p:sp>
      <p:sp>
        <p:nvSpPr>
          <p:cNvPr id="12" name="Shape 10"/>
          <p:cNvSpPr/>
          <p:nvPr/>
        </p:nvSpPr>
        <p:spPr>
          <a:xfrm>
            <a:off x="502920" y="2697480"/>
            <a:ext cx="384048" cy="384048"/>
          </a:xfrm>
          <a:prstGeom prst="rect">
            <a:avLst/>
          </a:prstGeom>
          <a:solidFill>
            <a:srgbClr val="242C39"/>
          </a:solidFill>
          <a:ln/>
        </p:spPr>
      </p:sp>
      <p:sp>
        <p:nvSpPr>
          <p:cNvPr id="13" name="Text 11"/>
          <p:cNvSpPr txBox="1"/>
          <p:nvPr/>
        </p:nvSpPr>
        <p:spPr>
          <a:xfrm>
            <a:off x="502920" y="269748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Customers and cash</a:t>
            </a:r>
            <a:endParaRPr lang="en-US" sz="1300" dirty="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indent="0" marL="0">
              <a:buNone/>
            </a:pPr>
            <a:r>
              <a:rPr lang="en-US" sz="1000" dirty="0">
                <a:solidFill>
                  <a:srgbClr val="6B7585"/>
                </a:solidFill>
              </a:rPr>
              <a:t>Top ten customers, receivables and days sales outstanding</a:t>
            </a:r>
            <a:endParaRPr lang="en-US" sz="1000" dirty="0"/>
          </a:p>
        </p:txBody>
      </p:sp>
      <p:sp>
        <p:nvSpPr>
          <p:cNvPr id="16" name="Shape 14"/>
          <p:cNvSpPr/>
          <p:nvPr/>
        </p:nvSpPr>
        <p:spPr>
          <a:xfrm>
            <a:off x="502920" y="3337560"/>
            <a:ext cx="384048" cy="384048"/>
          </a:xfrm>
          <a:prstGeom prst="rect">
            <a:avLst/>
          </a:prstGeom>
          <a:solidFill>
            <a:srgbClr val="242C39"/>
          </a:solidFill>
          <a:ln/>
        </p:spPr>
      </p:sp>
      <p:sp>
        <p:nvSpPr>
          <p:cNvPr id="17" name="Text 15"/>
          <p:cNvSpPr txBox="1"/>
          <p:nvPr/>
        </p:nvSpPr>
        <p:spPr>
          <a:xfrm>
            <a:off x="502920" y="33375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People and utilisation</a:t>
            </a:r>
            <a:endParaRPr lang="en-US" sz="1300" dirty="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indent="0" marL="0">
              <a:buNone/>
            </a:pPr>
            <a:r>
              <a:rPr lang="en-US" sz="1000" dirty="0">
                <a:solidFill>
                  <a:srgbClr val="6B7585"/>
                </a:solidFill>
              </a:rPr>
              <a:t>Chargeable hours by department and the profit they produce</a:t>
            </a:r>
            <a:endParaRPr lang="en-US" sz="1000" dirty="0"/>
          </a:p>
        </p:txBody>
      </p:sp>
      <p:sp>
        <p:nvSpPr>
          <p:cNvPr id="20" name="Shape 18"/>
          <p:cNvSpPr/>
          <p:nvPr/>
        </p:nvSpPr>
        <p:spPr>
          <a:xfrm>
            <a:off x="502920" y="3977640"/>
            <a:ext cx="384048" cy="384048"/>
          </a:xfrm>
          <a:prstGeom prst="rect">
            <a:avLst/>
          </a:prstGeom>
          <a:solidFill>
            <a:srgbClr val="242C39"/>
          </a:solidFill>
          <a:ln/>
        </p:spPr>
      </p:sp>
      <p:sp>
        <p:nvSpPr>
          <p:cNvPr id="21" name="Text 19"/>
          <p:cNvSpPr txBox="1"/>
          <p:nvPr/>
        </p:nvSpPr>
        <p:spPr>
          <a:xfrm>
            <a:off x="502920" y="39776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Budget and outlook</a:t>
            </a:r>
            <a:endParaRPr lang="en-US" sz="1300" dirty="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indent="0" marL="0">
              <a:buNone/>
            </a:pPr>
            <a:r>
              <a:rPr lang="en-US" sz="1000" dirty="0">
                <a:solidFill>
                  <a:srgbClr val="6B7585"/>
                </a:solidFill>
              </a:rPr>
              <a:t>Revenue by month against budget, and what we do about it</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INTRODUCTION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business stands, Sep 26</a:t>
            </a:r>
            <a:endParaRPr lang="en-US" sz="2700" dirty="0"/>
          </a:p>
        </p:txBody>
      </p:sp>
      <p:sp>
        <p:nvSpPr>
          <p:cNvPr id="4" name="Support card"/>
          <p:cNvSpPr/>
          <p:nvPr/>
        </p:nvSpPr>
        <p:spPr>
          <a:xfrm>
            <a:off x="502920" y="1481328"/>
            <a:ext cx="1481328" cy="1627632"/>
          </a:xfrm>
          <a:prstGeom prst="rect">
            <a:avLst/>
          </a:prstGeom>
          <a:solidFill>
            <a:srgbClr val="F33844"/>
          </a:solidFill>
          <a:ln/>
        </p:spPr>
      </p:sp>
      <p:sp>
        <p:nvSpPr>
          <p:cNvPr id="5" name="Text 3"/>
          <p:cNvSpPr txBox="1"/>
          <p:nvPr/>
        </p:nvSpPr>
        <p:spPr>
          <a:xfrm>
            <a:off x="612648"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SUPPORT</a:t>
            </a:r>
            <a:endParaRPr lang="en-US" sz="850" dirty="0"/>
          </a:p>
        </p:txBody>
      </p:sp>
      <p:sp>
        <p:nvSpPr>
          <p:cNvPr id="6" name="Text 4"/>
          <p:cNvSpPr txBox="1"/>
          <p:nvPr/>
        </p:nvSpPr>
        <p:spPr>
          <a:xfrm>
            <a:off x="612648"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$243k</a:t>
            </a:r>
            <a:endParaRPr lang="en-US" sz="1900" dirty="0"/>
          </a:p>
        </p:txBody>
      </p:sp>
      <p:sp>
        <p:nvSpPr>
          <p:cNvPr id="7" name="Text 5"/>
          <p:cNvSpPr txBox="1"/>
          <p:nvPr/>
        </p:nvSpPr>
        <p:spPr>
          <a:xfrm>
            <a:off x="612648"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8" name="Text 6"/>
          <p:cNvSpPr txBox="1"/>
          <p:nvPr/>
        </p:nvSpPr>
        <p:spPr>
          <a:xfrm>
            <a:off x="612648"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42% gross margin</a:t>
            </a:r>
            <a:endParaRPr lang="en-US" sz="900" dirty="0"/>
          </a:p>
        </p:txBody>
      </p:sp>
      <p:sp>
        <p:nvSpPr>
          <p:cNvPr id="9" name="Text 7"/>
          <p:cNvSpPr txBox="1"/>
          <p:nvPr/>
        </p:nvSpPr>
        <p:spPr>
          <a:xfrm>
            <a:off x="612648"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+$29k after overhead</a:t>
            </a:r>
            <a:endParaRPr lang="en-US" sz="900" dirty="0"/>
          </a:p>
        </p:txBody>
      </p:sp>
      <p:sp>
        <p:nvSpPr>
          <p:cNvPr id="10" name="Text 8"/>
          <p:cNvSpPr txBox="1"/>
          <p:nvPr/>
        </p:nvSpPr>
        <p:spPr>
          <a:xfrm>
            <a:off x="612648"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$5k</a:t>
            </a:r>
            <a:endParaRPr lang="en-US" sz="750" dirty="0"/>
          </a:p>
        </p:txBody>
      </p:sp>
      <p:sp>
        <p:nvSpPr>
          <p:cNvPr id="11" name="Events card"/>
          <p:cNvSpPr/>
          <p:nvPr/>
        </p:nvSpPr>
        <p:spPr>
          <a:xfrm>
            <a:off x="2139696" y="1481328"/>
            <a:ext cx="1481328" cy="1627632"/>
          </a:xfrm>
          <a:prstGeom prst="rect">
            <a:avLst/>
          </a:prstGeom>
          <a:solidFill>
            <a:srgbClr val="005358"/>
          </a:solidFill>
          <a:ln/>
        </p:spPr>
      </p:sp>
      <p:sp>
        <p:nvSpPr>
          <p:cNvPr id="12" name="Text 10"/>
          <p:cNvSpPr txBox="1"/>
          <p:nvPr/>
        </p:nvSpPr>
        <p:spPr>
          <a:xfrm>
            <a:off x="2249424"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EVENTS</a:t>
            </a:r>
            <a:endParaRPr lang="en-US" sz="850" dirty="0"/>
          </a:p>
        </p:txBody>
      </p:sp>
      <p:sp>
        <p:nvSpPr>
          <p:cNvPr id="13" name="Text 11"/>
          <p:cNvSpPr txBox="1"/>
          <p:nvPr/>
        </p:nvSpPr>
        <p:spPr>
          <a:xfrm>
            <a:off x="2249424"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$73k</a:t>
            </a:r>
            <a:endParaRPr lang="en-US" sz="1900" dirty="0"/>
          </a:p>
        </p:txBody>
      </p:sp>
      <p:sp>
        <p:nvSpPr>
          <p:cNvPr id="14" name="Text 12"/>
          <p:cNvSpPr txBox="1"/>
          <p:nvPr/>
        </p:nvSpPr>
        <p:spPr>
          <a:xfrm>
            <a:off x="2249424"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15" name="Text 13"/>
          <p:cNvSpPr txBox="1"/>
          <p:nvPr/>
        </p:nvSpPr>
        <p:spPr>
          <a:xfrm>
            <a:off x="2249424"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78% gross margin</a:t>
            </a:r>
            <a:endParaRPr lang="en-US" sz="900" dirty="0"/>
          </a:p>
        </p:txBody>
      </p:sp>
      <p:sp>
        <p:nvSpPr>
          <p:cNvPr id="16" name="Text 14"/>
          <p:cNvSpPr txBox="1"/>
          <p:nvPr/>
        </p:nvSpPr>
        <p:spPr>
          <a:xfrm>
            <a:off x="2249424"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$(54)k after overhead</a:t>
            </a:r>
            <a:endParaRPr lang="en-US" sz="900" dirty="0"/>
          </a:p>
        </p:txBody>
      </p:sp>
      <p:sp>
        <p:nvSpPr>
          <p:cNvPr id="17" name="Text 15"/>
          <p:cNvSpPr txBox="1"/>
          <p:nvPr/>
        </p:nvSpPr>
        <p:spPr>
          <a:xfrm>
            <a:off x="2249424"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$7k</a:t>
            </a:r>
            <a:endParaRPr lang="en-US" sz="750" dirty="0"/>
          </a:p>
        </p:txBody>
      </p:sp>
      <p:sp>
        <p:nvSpPr>
          <p:cNvPr id="18" name="Video card"/>
          <p:cNvSpPr/>
          <p:nvPr/>
        </p:nvSpPr>
        <p:spPr>
          <a:xfrm>
            <a:off x="3776472" y="1481328"/>
            <a:ext cx="1481328" cy="1627632"/>
          </a:xfrm>
          <a:prstGeom prst="rect">
            <a:avLst/>
          </a:prstGeom>
          <a:solidFill>
            <a:srgbClr val="3FD0C9"/>
          </a:solidFill>
          <a:ln/>
        </p:spPr>
      </p:sp>
      <p:sp>
        <p:nvSpPr>
          <p:cNvPr id="19" name="Text 17"/>
          <p:cNvSpPr txBox="1"/>
          <p:nvPr/>
        </p:nvSpPr>
        <p:spPr>
          <a:xfrm>
            <a:off x="3886200" y="1591056"/>
            <a:ext cx="1261872" cy="201168"/>
          </a:xfrm>
          <a:prstGeom prst="rect">
            <a:avLst/>
          </a:prstGeom>
          <a:noFill/>
          <a:ln/>
        </p:spPr>
        <p:txBody>
          <a:bodyPr wrap="square" lIns="0" tIns="0" rIns="0" bIns="0" rtlCol="0" anchor="ctr"/>
          <a:lstStyle/>
          <a:p>
            <a:pPr indent="0" marL="0">
              <a:buNone/>
            </a:pPr>
            <a:r>
              <a:rPr lang="en-US" sz="850" b="1" spc="120" kern="0" dirty="0">
                <a:solidFill>
                  <a:srgbClr val="242C39"/>
                </a:solidFill>
              </a:rPr>
              <a:t>VIDEO</a:t>
            </a:r>
            <a:endParaRPr lang="en-US" sz="850" dirty="0"/>
          </a:p>
        </p:txBody>
      </p:sp>
      <p:sp>
        <p:nvSpPr>
          <p:cNvPr id="20" name="Text 18"/>
          <p:cNvSpPr txBox="1"/>
          <p:nvPr/>
        </p:nvSpPr>
        <p:spPr>
          <a:xfrm>
            <a:off x="3886200" y="1810512"/>
            <a:ext cx="1261872" cy="365760"/>
          </a:xfrm>
          <a:prstGeom prst="rect">
            <a:avLst/>
          </a:prstGeom>
          <a:noFill/>
          <a:ln/>
        </p:spPr>
        <p:txBody>
          <a:bodyPr wrap="square" lIns="0" tIns="0" rIns="0" bIns="0" rtlCol="0" anchor="ctr"/>
          <a:lstStyle/>
          <a:p>
            <a:pPr indent="0" marL="0">
              <a:buNone/>
            </a:pPr>
            <a:r>
              <a:rPr lang="en-US" sz="1900" b="1" dirty="0">
                <a:solidFill>
                  <a:srgbClr val="242C39"/>
                </a:solidFill>
              </a:rPr>
              <a:t>$7k</a:t>
            </a:r>
            <a:endParaRPr lang="en-US" sz="1900" dirty="0"/>
          </a:p>
        </p:txBody>
      </p:sp>
      <p:sp>
        <p:nvSpPr>
          <p:cNvPr id="21" name="Text 19"/>
          <p:cNvSpPr txBox="1"/>
          <p:nvPr/>
        </p:nvSpPr>
        <p:spPr>
          <a:xfrm>
            <a:off x="3886200" y="2157984"/>
            <a:ext cx="1261872" cy="182880"/>
          </a:xfrm>
          <a:prstGeom prst="rect">
            <a:avLst/>
          </a:prstGeom>
          <a:noFill/>
          <a:ln/>
        </p:spPr>
        <p:txBody>
          <a:bodyPr wrap="square" lIns="0" tIns="0" rIns="0" bIns="0" rtlCol="0" anchor="ctr"/>
          <a:lstStyle/>
          <a:p>
            <a:pPr indent="0" marL="0">
              <a:buNone/>
            </a:pPr>
            <a:r>
              <a:rPr lang="en-US" sz="800" dirty="0">
                <a:solidFill>
                  <a:srgbClr val="242C39">
                    <a:alpha val="85000"/>
                  </a:srgbClr>
                </a:solidFill>
              </a:rPr>
              <a:t>revenue</a:t>
            </a:r>
            <a:endParaRPr lang="en-US" sz="800" dirty="0"/>
          </a:p>
        </p:txBody>
      </p:sp>
      <p:sp>
        <p:nvSpPr>
          <p:cNvPr id="22" name="Text 20"/>
          <p:cNvSpPr txBox="1"/>
          <p:nvPr/>
        </p:nvSpPr>
        <p:spPr>
          <a:xfrm>
            <a:off x="3886200" y="2395728"/>
            <a:ext cx="1261872" cy="182880"/>
          </a:xfrm>
          <a:prstGeom prst="rect">
            <a:avLst/>
          </a:prstGeom>
          <a:noFill/>
          <a:ln/>
        </p:spPr>
        <p:txBody>
          <a:bodyPr wrap="square" lIns="0" tIns="0" rIns="0" bIns="0" rtlCol="0" anchor="ctr"/>
          <a:lstStyle/>
          <a:p>
            <a:pPr indent="0" marL="0">
              <a:buNone/>
            </a:pPr>
            <a:r>
              <a:rPr lang="en-US" sz="900" dirty="0">
                <a:solidFill>
                  <a:srgbClr val="242C39"/>
                </a:solidFill>
              </a:rPr>
              <a:t>80% gross margin</a:t>
            </a:r>
            <a:endParaRPr lang="en-US" sz="900" dirty="0"/>
          </a:p>
        </p:txBody>
      </p:sp>
      <p:sp>
        <p:nvSpPr>
          <p:cNvPr id="23" name="Text 21"/>
          <p:cNvSpPr txBox="1"/>
          <p:nvPr/>
        </p:nvSpPr>
        <p:spPr>
          <a:xfrm>
            <a:off x="3886200" y="2615184"/>
            <a:ext cx="1261872" cy="201168"/>
          </a:xfrm>
          <a:prstGeom prst="rect">
            <a:avLst/>
          </a:prstGeom>
          <a:noFill/>
          <a:ln/>
        </p:spPr>
        <p:txBody>
          <a:bodyPr wrap="square" lIns="0" tIns="0" rIns="0" bIns="0" rtlCol="0" anchor="ctr"/>
          <a:lstStyle/>
          <a:p>
            <a:pPr indent="0" marL="0">
              <a:buNone/>
            </a:pPr>
            <a:r>
              <a:rPr lang="en-US" sz="900" b="1" dirty="0">
                <a:solidFill>
                  <a:srgbClr val="242C39"/>
                </a:solidFill>
              </a:rPr>
              <a:t>$(7)k after overhead</a:t>
            </a:r>
            <a:endParaRPr lang="en-US" sz="900" dirty="0"/>
          </a:p>
        </p:txBody>
      </p:sp>
      <p:sp>
        <p:nvSpPr>
          <p:cNvPr id="24" name="Text 22"/>
          <p:cNvSpPr txBox="1"/>
          <p:nvPr/>
        </p:nvSpPr>
        <p:spPr>
          <a:xfrm>
            <a:off x="3886200" y="2816352"/>
            <a:ext cx="1261872" cy="219456"/>
          </a:xfrm>
          <a:prstGeom prst="rect">
            <a:avLst/>
          </a:prstGeom>
          <a:noFill/>
          <a:ln/>
        </p:spPr>
        <p:txBody>
          <a:bodyPr wrap="square" lIns="0" tIns="0" rIns="0" bIns="0" rtlCol="0" anchor="ctr"/>
          <a:lstStyle/>
          <a:p>
            <a:pPr indent="0" marL="0">
              <a:buNone/>
            </a:pPr>
            <a:r>
              <a:rPr lang="en-US" sz="750" dirty="0">
                <a:solidFill>
                  <a:srgbClr val="242C39"/>
                </a:solidFill>
              </a:rPr>
              <a:t>Behind budget by $10k</a:t>
            </a:r>
            <a:endParaRPr lang="en-US" sz="750" dirty="0"/>
          </a:p>
        </p:txBody>
      </p:sp>
      <p:sp>
        <p:nvSpPr>
          <p:cNvPr id="25" name="Integration card"/>
          <p:cNvSpPr/>
          <p:nvPr/>
        </p:nvSpPr>
        <p:spPr>
          <a:xfrm>
            <a:off x="5413248" y="1481328"/>
            <a:ext cx="1481328" cy="1627632"/>
          </a:xfrm>
          <a:prstGeom prst="rect">
            <a:avLst/>
          </a:prstGeom>
          <a:solidFill>
            <a:srgbClr val="6D71FF"/>
          </a:solidFill>
          <a:ln/>
        </p:spPr>
      </p:sp>
      <p:sp>
        <p:nvSpPr>
          <p:cNvPr id="26" name="Text 24"/>
          <p:cNvSpPr txBox="1"/>
          <p:nvPr/>
        </p:nvSpPr>
        <p:spPr>
          <a:xfrm>
            <a:off x="5522976"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INTEGRATION</a:t>
            </a:r>
            <a:endParaRPr lang="en-US" sz="850" dirty="0"/>
          </a:p>
        </p:txBody>
      </p:sp>
      <p:sp>
        <p:nvSpPr>
          <p:cNvPr id="27" name="Text 25"/>
          <p:cNvSpPr txBox="1"/>
          <p:nvPr/>
        </p:nvSpPr>
        <p:spPr>
          <a:xfrm>
            <a:off x="5522976"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$235k</a:t>
            </a:r>
            <a:endParaRPr lang="en-US" sz="1900" dirty="0"/>
          </a:p>
        </p:txBody>
      </p:sp>
      <p:sp>
        <p:nvSpPr>
          <p:cNvPr id="28" name="Text 26"/>
          <p:cNvSpPr txBox="1"/>
          <p:nvPr/>
        </p:nvSpPr>
        <p:spPr>
          <a:xfrm>
            <a:off x="5522976"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29" name="Text 27"/>
          <p:cNvSpPr txBox="1"/>
          <p:nvPr/>
        </p:nvSpPr>
        <p:spPr>
          <a:xfrm>
            <a:off x="5522976"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10% gross margin</a:t>
            </a:r>
            <a:endParaRPr lang="en-US" sz="900" dirty="0"/>
          </a:p>
        </p:txBody>
      </p:sp>
      <p:sp>
        <p:nvSpPr>
          <p:cNvPr id="30" name="Text 28"/>
          <p:cNvSpPr txBox="1"/>
          <p:nvPr/>
        </p:nvSpPr>
        <p:spPr>
          <a:xfrm>
            <a:off x="5522976"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+$10k after overhead</a:t>
            </a:r>
            <a:endParaRPr lang="en-US" sz="900" dirty="0"/>
          </a:p>
        </p:txBody>
      </p:sp>
      <p:sp>
        <p:nvSpPr>
          <p:cNvPr id="31" name="Text 29"/>
          <p:cNvSpPr txBox="1"/>
          <p:nvPr/>
        </p:nvSpPr>
        <p:spPr>
          <a:xfrm>
            <a:off x="5522976"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$176k</a:t>
            </a:r>
            <a:endParaRPr lang="en-US" sz="750" dirty="0"/>
          </a:p>
        </p:txBody>
      </p:sp>
      <p:sp>
        <p:nvSpPr>
          <p:cNvPr id="32" name="Consulting card"/>
          <p:cNvSpPr/>
          <p:nvPr/>
        </p:nvSpPr>
        <p:spPr>
          <a:xfrm>
            <a:off x="7050024" y="1481328"/>
            <a:ext cx="1481328" cy="1627632"/>
          </a:xfrm>
          <a:prstGeom prst="rect">
            <a:avLst/>
          </a:prstGeom>
          <a:solidFill>
            <a:srgbClr val="8F4AFA"/>
          </a:solidFill>
          <a:ln/>
        </p:spPr>
      </p:sp>
      <p:sp>
        <p:nvSpPr>
          <p:cNvPr id="33" name="Text 31"/>
          <p:cNvSpPr txBox="1"/>
          <p:nvPr/>
        </p:nvSpPr>
        <p:spPr>
          <a:xfrm>
            <a:off x="7159752"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CONSULTING</a:t>
            </a:r>
            <a:endParaRPr lang="en-US" sz="850" dirty="0"/>
          </a:p>
        </p:txBody>
      </p:sp>
      <p:sp>
        <p:nvSpPr>
          <p:cNvPr id="34" name="Text 32"/>
          <p:cNvSpPr txBox="1"/>
          <p:nvPr/>
        </p:nvSpPr>
        <p:spPr>
          <a:xfrm>
            <a:off x="7159752"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$4k</a:t>
            </a:r>
            <a:endParaRPr lang="en-US" sz="1900" dirty="0"/>
          </a:p>
        </p:txBody>
      </p:sp>
      <p:sp>
        <p:nvSpPr>
          <p:cNvPr id="35" name="Text 33"/>
          <p:cNvSpPr txBox="1"/>
          <p:nvPr/>
        </p:nvSpPr>
        <p:spPr>
          <a:xfrm>
            <a:off x="7159752"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36" name="Text 34"/>
          <p:cNvSpPr txBox="1"/>
          <p:nvPr/>
        </p:nvSpPr>
        <p:spPr>
          <a:xfrm>
            <a:off x="7159752"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2% gross margin</a:t>
            </a:r>
            <a:endParaRPr lang="en-US" sz="900" dirty="0"/>
          </a:p>
        </p:txBody>
      </p:sp>
      <p:sp>
        <p:nvSpPr>
          <p:cNvPr id="37" name="Text 35"/>
          <p:cNvSpPr txBox="1"/>
          <p:nvPr/>
        </p:nvSpPr>
        <p:spPr>
          <a:xfrm>
            <a:off x="7159752"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$(20)k after overhead</a:t>
            </a:r>
            <a:endParaRPr lang="en-US" sz="900" dirty="0"/>
          </a:p>
        </p:txBody>
      </p:sp>
      <p:sp>
        <p:nvSpPr>
          <p:cNvPr id="38" name="Text 36"/>
          <p:cNvSpPr txBox="1"/>
          <p:nvPr/>
        </p:nvSpPr>
        <p:spPr>
          <a:xfrm>
            <a:off x="7159752"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$20k</a:t>
            </a:r>
            <a:endParaRPr lang="en-US" sz="750" dirty="0"/>
          </a:p>
        </p:txBody>
      </p:sp>
      <p:sp>
        <p:nvSpPr>
          <p:cNvPr id="39" name="company strip"/>
          <p:cNvSpPr/>
          <p:nvPr/>
        </p:nvSpPr>
        <p:spPr>
          <a:xfrm>
            <a:off x="502920" y="3273552"/>
            <a:ext cx="8138160" cy="566928"/>
          </a:xfrm>
          <a:prstGeom prst="rect">
            <a:avLst/>
          </a:prstGeom>
          <a:solidFill>
            <a:srgbClr val="F4F4F4"/>
          </a:solidFill>
          <a:ln/>
        </p:spPr>
      </p:sp>
      <p:sp>
        <p:nvSpPr>
          <p:cNvPr id="40" name="Text 38"/>
          <p:cNvSpPr txBox="1"/>
          <p:nvPr/>
        </p:nvSpPr>
        <p:spPr>
          <a:xfrm>
            <a:off x="640080"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Revenue</a:t>
            </a:r>
            <a:endParaRPr lang="en-US" sz="750" dirty="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$562k</a:t>
            </a:r>
            <a:endParaRPr lang="en-US" sz="1300" dirty="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$414k</a:t>
            </a:r>
            <a:endParaRPr lang="en-US" sz="700" dirty="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Gross margin</a:t>
            </a:r>
            <a:endParaRPr lang="en-US" sz="750" dirty="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33.4%</a:t>
            </a:r>
            <a:endParaRPr lang="en-US" sz="1300" dirty="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last Sep 45.5%</a:t>
            </a:r>
            <a:endParaRPr lang="en-US" sz="700" dirty="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Overheads</a:t>
            </a:r>
            <a:endParaRPr lang="en-US" sz="750" dirty="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$230k</a:t>
            </a:r>
            <a:endParaRPr lang="en-US" sz="1300" dirty="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$232k</a:t>
            </a:r>
            <a:endParaRPr lang="en-US" sz="700" dirty="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EBITDA</a:t>
            </a:r>
            <a:endParaRPr lang="en-US" sz="750" dirty="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indent="0" marL="0">
              <a:buNone/>
            </a:pPr>
            <a:r>
              <a:rPr lang="en-US" sz="1300" b="1" dirty="0">
                <a:solidFill>
                  <a:srgbClr val="A8052E"/>
                </a:solidFill>
              </a:rPr>
              <a:t>$(32)k</a:t>
            </a:r>
            <a:endParaRPr lang="en-US" sz="1300" dirty="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$(107)k</a:t>
            </a:r>
            <a:endParaRPr lang="en-US" sz="700" dirty="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Break even needs</a:t>
            </a:r>
            <a:endParaRPr lang="en-US" sz="750" dirty="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$549k</a:t>
            </a:r>
            <a:endParaRPr lang="en-US" sz="1300" dirty="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running at $541k</a:t>
            </a:r>
            <a:endParaRPr lang="en-US" sz="700" dirty="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indent="0" marL="0">
              <a:lnSpc>
                <a:spcPts val="1400"/>
              </a:lnSpc>
              <a:buNone/>
            </a:pPr>
            <a:r>
              <a:rPr lang="en-US" sz="1000" b="1" dirty="0">
                <a:solidFill>
                  <a:srgbClr val="242C39"/>
                </a:solidFill>
              </a:rPr>
              <a:t>The month in one line. </a:t>
            </a:r>
            <a:pPr indent="0" marL="0">
              <a:lnSpc>
                <a:spcPts val="1400"/>
              </a:lnSpc>
              <a:buNone/>
            </a:pPr>
            <a:r>
              <a:rPr lang="en-US" sz="1000" dirty="0">
                <a:solidFill>
                  <a:srgbClr val="3A4453"/>
                </a:solidFill>
              </a:rPr>
              <a:t>Revenue beat budget by $148k and the company still lost $32k of EBITDA. Support is the only department that covers its own overhead. Integration delivered the revenue beat at 10.1% gross margin, so it added turnover and almost no profit. At the 38.9% margin we actually deliver, break even needs $549k of revenue a month and we are running at $541k.</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01</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Financial performance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The P&amp;L for September 2026 and the year to date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income</a:t>
            </a:r>
            <a:endParaRPr lang="en-US" sz="2700" dirty="0"/>
          </a:p>
        </p:txBody>
      </p:sp>
      <p:pic>
        <p:nvPicPr>
          <p:cNvPr id="4" name="snip pl_income" descr="/home/user/Claude/deck/snips/pl_income.png">    </p:cNvPr>
          <p:cNvPicPr>
            <a:picLocks noChangeAspect="1"/>
          </p:cNvPicPr>
          <p:nvPr/>
        </p:nvPicPr>
        <p:blipFill>
          <a:blip r:embed="rId1"/>
          <a:stretch>
            <a:fillRect/>
          </a:stretch>
        </p:blipFill>
        <p:spPr>
          <a:xfrm>
            <a:off x="502920" y="1444752"/>
            <a:ext cx="5577840" cy="1982595"/>
          </a:xfrm>
          <a:prstGeom prst="rect">
            <a:avLst/>
          </a:prstGeom>
        </p:spPr>
      </p:pic>
      <p:sp>
        <p:nvSpPr>
          <p:cNvPr id="5" name="Text 2"/>
          <p:cNvSpPr txBox="1"/>
          <p:nvPr/>
        </p:nvSpPr>
        <p:spPr>
          <a:xfrm>
            <a:off x="502920" y="350049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income by department, the three closed months and year to date.</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Break even needs 549k of revenue a month at our real margin of 38.9%. We are running at 541k.</a:t>
            </a:r>
            <a:endParaRPr lang="en-US" sz="950" dirty="0"/>
          </a:p>
          <a:p>
            <a:pPr marL="342900" indent="-342900">
              <a:lnSpc>
                <a:spcPts val="1300"/>
              </a:lnSpc>
              <a:spcAft>
                <a:spcPts val="500"/>
              </a:spcAft>
              <a:buSzPct val="100000"/>
              <a:buChar char="•"/>
            </a:pPr>
            <a:r>
              <a:rPr lang="en-US" sz="950" dirty="0">
                <a:solidFill>
                  <a:srgbClr val="3A4453"/>
                </a:solidFill>
              </a:rPr>
              <a:t>Sep 26 beat revenue budget by 148k and still lost 32k of EBITDA. The miss is margin, not sales.</a:t>
            </a:r>
            <a:endParaRPr lang="en-US" sz="950" dirty="0"/>
          </a:p>
          <a:p>
            <a:pPr marL="342900" indent="-342900">
              <a:lnSpc>
                <a:spcPts val="1300"/>
              </a:lnSpc>
              <a:spcAft>
                <a:spcPts val="500"/>
              </a:spcAft>
              <a:buSzPct val="100000"/>
              <a:buChar char="•"/>
            </a:pPr>
            <a:r>
              <a:rPr lang="en-US" sz="950" dirty="0">
                <a:solidFill>
                  <a:srgbClr val="3A4453"/>
                </a:solidFill>
              </a:rPr>
              <a:t>Gross margin 33.4% looks fine against a 30.1% budget, but last September was 45.5%.</a:t>
            </a:r>
            <a:endParaRPr lang="en-US" sz="950" dirty="0"/>
          </a:p>
          <a:p>
            <a:pPr marL="342900" indent="-342900">
              <a:lnSpc>
                <a:spcPts val="1300"/>
              </a:lnSpc>
              <a:spcAft>
                <a:spcPts val="500"/>
              </a:spcAft>
              <a:buSzPct val="100000"/>
              <a:buChar char="•"/>
            </a:pPr>
            <a:r>
              <a:rPr lang="en-US" sz="950" dirty="0">
                <a:solidFill>
                  <a:srgbClr val="3A4453"/>
                </a:solidFill>
              </a:rPr>
              <a:t>Overheads held at 230k against 232k budget. Cost control is not the issue.</a:t>
            </a:r>
            <a:endParaRPr lang="en-US" sz="950" dirty="0"/>
          </a:p>
          <a:p>
            <a:pPr marL="342900" indent="-342900">
              <a:lnSpc>
                <a:spcPts val="1300"/>
              </a:lnSpc>
              <a:spcAft>
                <a:spcPts val="500"/>
              </a:spcAft>
              <a:buSzPct val="100000"/>
              <a:buChar char="•"/>
            </a:pPr>
            <a:r>
              <a:rPr lang="en-US" sz="950" dirty="0">
                <a:solidFill>
                  <a:srgbClr val="3A4453"/>
                </a:solidFill>
              </a:rPr>
              <a:t>Year to date EBITDA is 6k against 223k planned. Reforecast on margin.</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cost and profit</a:t>
            </a:r>
            <a:endParaRPr lang="en-US" sz="2700" dirty="0"/>
          </a:p>
        </p:txBody>
      </p:sp>
      <p:pic>
        <p:nvPicPr>
          <p:cNvPr id="4" name="snip pl_result" descr="/home/user/Claude/deck/snips/pl_result.png">    </p:cNvPr>
          <p:cNvPicPr>
            <a:picLocks noChangeAspect="1"/>
          </p:cNvPicPr>
          <p:nvPr/>
        </p:nvPicPr>
        <p:blipFill>
          <a:blip r:embed="rId1"/>
          <a:stretch>
            <a:fillRect/>
          </a:stretch>
        </p:blipFill>
        <p:spPr>
          <a:xfrm>
            <a:off x="694851" y="1444752"/>
            <a:ext cx="519397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cost of sales, overheads and the profit lines.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Cost of sales 374k against 289k budget. That is where the revenue beat went.</a:t>
            </a:r>
            <a:endParaRPr lang="en-US" sz="950" dirty="0"/>
          </a:p>
          <a:p>
            <a:pPr marL="342900" indent="-342900">
              <a:lnSpc>
                <a:spcPts val="1300"/>
              </a:lnSpc>
              <a:spcAft>
                <a:spcPts val="500"/>
              </a:spcAft>
              <a:buSzPct val="100000"/>
              <a:buChar char="•"/>
            </a:pPr>
            <a:r>
              <a:rPr lang="en-US" sz="950" dirty="0">
                <a:solidFill>
                  <a:srgbClr val="3A4453"/>
                </a:solidFill>
              </a:rPr>
              <a:t>Gross margin 33.4% for the month, 38.9% year to date, against a plan of 45.7%.</a:t>
            </a:r>
            <a:endParaRPr lang="en-US" sz="950" dirty="0"/>
          </a:p>
          <a:p>
            <a:pPr marL="342900" indent="-342900">
              <a:lnSpc>
                <a:spcPts val="1300"/>
              </a:lnSpc>
              <a:spcAft>
                <a:spcPts val="500"/>
              </a:spcAft>
              <a:buSzPct val="100000"/>
              <a:buChar char="•"/>
            </a:pPr>
            <a:r>
              <a:rPr lang="en-US" sz="950" dirty="0">
                <a:solidFill>
                  <a:srgbClr val="3A4453"/>
                </a:solidFill>
              </a:rPr>
              <a:t>Overheads 230k, flat across the quarter at about 214k a month.</a:t>
            </a:r>
            <a:endParaRPr lang="en-US" sz="950" dirty="0"/>
          </a:p>
          <a:p>
            <a:pPr marL="342900" indent="-342900">
              <a:lnSpc>
                <a:spcPts val="1300"/>
              </a:lnSpc>
              <a:spcAft>
                <a:spcPts val="500"/>
              </a:spcAft>
              <a:buSzPct val="100000"/>
              <a:buChar char="•"/>
            </a:pPr>
            <a:r>
              <a:rPr lang="en-US" sz="950" dirty="0">
                <a:solidFill>
                  <a:srgbClr val="3A4453"/>
                </a:solidFill>
              </a:rPr>
              <a:t>EBITDA (32)k. Net profit (41)k after 10k of depreciation and amortisation.</a:t>
            </a:r>
            <a:endParaRPr lang="en-US" sz="950" dirty="0"/>
          </a:p>
          <a:p>
            <a:pPr marL="342900" indent="-342900">
              <a:lnSpc>
                <a:spcPts val="1300"/>
              </a:lnSpc>
              <a:spcAft>
                <a:spcPts val="500"/>
              </a:spcAft>
              <a:buSzPct val="100000"/>
              <a:buChar char="•"/>
            </a:pPr>
            <a:r>
              <a:rPr lang="en-US" sz="950" dirty="0">
                <a:solidFill>
                  <a:srgbClr val="3A4453"/>
                </a:solidFill>
              </a:rPr>
              <a:t>Year to date the business has traded a quarter and produced 6k of EBITDA against 223k planned.</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Department result, Sep 26</a:t>
            </a:r>
            <a:endParaRPr lang="en-US" sz="2700" dirty="0"/>
          </a:p>
        </p:txBody>
      </p:sp>
      <p:pic>
        <p:nvPicPr>
          <p:cNvPr id="4" name="snip dept_result" descr="/home/user/Claude/deck/snips/dept_result.png">    </p:cNvPr>
          <p:cNvPicPr>
            <a:picLocks noChangeAspect="1"/>
          </p:cNvPicPr>
          <p:nvPr/>
        </p:nvPicPr>
        <p:blipFill>
          <a:blip r:embed="rId1"/>
          <a:stretch>
            <a:fillRect/>
          </a:stretch>
        </p:blipFill>
        <p:spPr>
          <a:xfrm>
            <a:off x="502920" y="1444752"/>
            <a:ext cx="8138160" cy="1637160"/>
          </a:xfrm>
          <a:prstGeom prst="rect">
            <a:avLst/>
          </a:prstGeom>
        </p:spPr>
      </p:pic>
      <p:sp>
        <p:nvSpPr>
          <p:cNvPr id="5" name="Text 2"/>
          <p:cNvSpPr txBox="1"/>
          <p:nvPr/>
        </p:nvSpPr>
        <p:spPr>
          <a:xfrm>
            <a:off x="502920" y="3155064"/>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7, department result.</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Only Support covers its overhead. It returned 29k on 243k of revenue.</a:t>
            </a:r>
            <a:endParaRPr lang="en-US" sz="800" dirty="0"/>
          </a:p>
          <a:p>
            <a:pPr marL="342900" indent="-342900">
              <a:lnSpc>
                <a:spcPts val="1000"/>
              </a:lnSpc>
              <a:spcAft>
                <a:spcPts val="300"/>
              </a:spcAft>
              <a:buSzPct val="100000"/>
              <a:buChar char="•"/>
            </a:pPr>
            <a:r>
              <a:rPr lang="en-US" sz="800" dirty="0">
                <a:solidFill>
                  <a:srgbClr val="3A4453"/>
                </a:solidFill>
              </a:rPr>
              <a:t>Events carries 111k of overhead on 73k of revenue, so 77.6% margin still loses 54k.</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Integration booked 235k against 59k budget, but at 10.1% margin returned only 10k.</a:t>
            </a:r>
            <a:endParaRPr lang="en-US" sz="800" dirty="0"/>
          </a:p>
          <a:p>
            <a:pPr marL="342900" indent="-342900">
              <a:lnSpc>
                <a:spcPts val="1000"/>
              </a:lnSpc>
              <a:spcAft>
                <a:spcPts val="300"/>
              </a:spcAft>
              <a:buSzPct val="100000"/>
              <a:buChar char="•"/>
            </a:pPr>
            <a:r>
              <a:rPr lang="en-US" sz="800" dirty="0">
                <a:solidFill>
                  <a:srgbClr val="3A4453"/>
                </a:solidFill>
              </a:rPr>
              <a:t>Consulting holds 20k of overhead on a 4k fee base. That needs a decision, not a forecast.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against budget and last year</a:t>
            </a:r>
            <a:endParaRPr lang="en-US" sz="2700" dirty="0"/>
          </a:p>
        </p:txBody>
      </p:sp>
      <p:pic>
        <p:nvPicPr>
          <p:cNvPr id="4" name="snip rev_by_dept" descr="/home/user/Claude/deck/snips/rev_by_dept.png">    </p:cNvPr>
          <p:cNvPicPr>
            <a:picLocks noChangeAspect="1"/>
          </p:cNvPicPr>
          <p:nvPr/>
        </p:nvPicPr>
        <p:blipFill>
          <a:blip r:embed="rId1"/>
          <a:stretch>
            <a:fillRect/>
          </a:stretch>
        </p:blipFill>
        <p:spPr>
          <a:xfrm>
            <a:off x="502920" y="1444752"/>
            <a:ext cx="5577840" cy="2392962"/>
          </a:xfrm>
          <a:prstGeom prst="rect">
            <a:avLst/>
          </a:prstGeom>
        </p:spPr>
      </p:pic>
      <p:sp>
        <p:nvSpPr>
          <p:cNvPr id="5" name="Text 2"/>
          <p:cNvSpPr txBox="1"/>
          <p:nvPr/>
        </p:nvSpPr>
        <p:spPr>
          <a:xfrm>
            <a:off x="502920" y="391086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revenue by department, the month.</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Integration booked 235k against a 59k budget. One fit-out, not a run rate.</a:t>
            </a:r>
            <a:endParaRPr lang="en-US" sz="950" dirty="0"/>
          </a:p>
          <a:p>
            <a:pPr marL="342900" indent="-342900">
              <a:lnSpc>
                <a:spcPts val="1300"/>
              </a:lnSpc>
              <a:spcAft>
                <a:spcPts val="500"/>
              </a:spcAft>
              <a:buSzPct val="100000"/>
              <a:buChar char="•"/>
            </a:pPr>
            <a:r>
              <a:rPr lang="en-US" sz="950" dirty="0">
                <a:solidFill>
                  <a:srgbClr val="3A4453"/>
                </a:solidFill>
              </a:rPr>
              <a:t>Support delivered 243k against 248k. On plan, as contract income should be.</a:t>
            </a:r>
            <a:endParaRPr lang="en-US" sz="950" dirty="0"/>
          </a:p>
          <a:p>
            <a:pPr marL="342900" indent="-342900">
              <a:lnSpc>
                <a:spcPts val="1300"/>
              </a:lnSpc>
              <a:spcAft>
                <a:spcPts val="500"/>
              </a:spcAft>
              <a:buSzPct val="100000"/>
              <a:buChar char="•"/>
            </a:pPr>
            <a:r>
              <a:rPr lang="en-US" sz="950" dirty="0">
                <a:solidFill>
                  <a:srgbClr val="3A4453"/>
                </a:solidFill>
              </a:rPr>
              <a:t>Events at 73k beat a 66k budget, in a quiet month either side of results season.</a:t>
            </a:r>
            <a:endParaRPr lang="en-US" sz="950" dirty="0"/>
          </a:p>
          <a:p>
            <a:pPr marL="342900" indent="-342900">
              <a:lnSpc>
                <a:spcPts val="1300"/>
              </a:lnSpc>
              <a:spcAft>
                <a:spcPts val="500"/>
              </a:spcAft>
              <a:buSzPct val="100000"/>
              <a:buChar char="•"/>
            </a:pPr>
            <a:r>
              <a:rPr lang="en-US" sz="950" dirty="0">
                <a:solidFill>
                  <a:srgbClr val="3A4453"/>
                </a:solidFill>
              </a:rPr>
              <a:t>Video 7k against 17k and Consulting 4k against 23k. Both structurally short.</a:t>
            </a:r>
            <a:endParaRPr lang="en-US" sz="950" dirty="0"/>
          </a:p>
          <a:p>
            <a:pPr marL="342900" indent="-342900">
              <a:lnSpc>
                <a:spcPts val="1300"/>
              </a:lnSpc>
              <a:spcAft>
                <a:spcPts val="500"/>
              </a:spcAft>
              <a:buSzPct val="100000"/>
              <a:buChar char="•"/>
            </a:pPr>
            <a:r>
              <a:rPr lang="en-US" sz="950" dirty="0">
                <a:solidFill>
                  <a:srgbClr val="3A4453"/>
                </a:solidFill>
              </a:rPr>
              <a:t>Company revenue is 58% up on last September. The growth is real, the margin on it is not.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02</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Cost base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Where the money goes and which lines move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Operating cost distribution, year to date</a:t>
            </a:r>
            <a:endParaRPr lang="en-US" sz="2700" dirty="0"/>
          </a:p>
        </p:txBody>
      </p:sp>
      <p:pic>
        <p:nvPicPr>
          <p:cNvPr id="4" name="snip cost_dist" descr="/home/user/Claude/deck/snips/cost_dist.png">    </p:cNvPr>
          <p:cNvPicPr>
            <a:picLocks noChangeAspect="1"/>
          </p:cNvPicPr>
          <p:nvPr/>
        </p:nvPicPr>
        <p:blipFill>
          <a:blip r:embed="rId1"/>
          <a:stretch>
            <a:fillRect/>
          </a:stretch>
        </p:blipFill>
        <p:spPr>
          <a:xfrm>
            <a:off x="502920" y="1444752"/>
            <a:ext cx="5577840" cy="2820757"/>
          </a:xfrm>
          <a:prstGeom prst="rect">
            <a:avLst/>
          </a:prstGeom>
        </p:spPr>
      </p:pic>
      <p:sp>
        <p:nvSpPr>
          <p:cNvPr id="5" name="Text 2"/>
          <p:cNvSpPr txBox="1"/>
          <p:nvPr/>
        </p:nvSpPr>
        <p:spPr>
          <a:xfrm>
            <a:off x="502920" y="433866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operating cost distribution.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Direct labour (621)k and employment overhead (369)k together are the clear majority of cost.</a:t>
            </a:r>
            <a:endParaRPr lang="en-US" sz="950" dirty="0"/>
          </a:p>
          <a:p>
            <a:pPr marL="342900" indent="-342900">
              <a:lnSpc>
                <a:spcPts val="1300"/>
              </a:lnSpc>
              <a:spcAft>
                <a:spcPts val="500"/>
              </a:spcAft>
              <a:buSzPct val="100000"/>
              <a:buChar char="•"/>
            </a:pPr>
            <a:r>
              <a:rPr lang="en-US" sz="950" dirty="0">
                <a:solidFill>
                  <a:srgbClr val="3A4453"/>
                </a:solidFill>
              </a:rPr>
              <a:t>People are the cost base. Everything else is rounding by comparison.</a:t>
            </a:r>
            <a:endParaRPr lang="en-US" sz="950" dirty="0"/>
          </a:p>
          <a:p>
            <a:pPr marL="342900" indent="-342900">
              <a:lnSpc>
                <a:spcPts val="1300"/>
              </a:lnSpc>
              <a:spcAft>
                <a:spcPts val="500"/>
              </a:spcAft>
              <a:buSzPct val="100000"/>
              <a:buChar char="•"/>
            </a:pPr>
            <a:r>
              <a:rPr lang="en-US" sz="950" dirty="0">
                <a:solidFill>
                  <a:srgbClr val="3A4453"/>
                </a:solidFill>
              </a:rPr>
              <a:t>Employment overhead at (369)k is fixed within the year. It does not flex when a month comes in short.</a:t>
            </a:r>
            <a:endParaRPr lang="en-US" sz="950" dirty="0"/>
          </a:p>
          <a:p>
            <a:pPr marL="342900" indent="-342900">
              <a:lnSpc>
                <a:spcPts val="1300"/>
              </a:lnSpc>
              <a:spcAft>
                <a:spcPts val="500"/>
              </a:spcAft>
              <a:buSzPct val="100000"/>
              <a:buChar char="•"/>
            </a:pPr>
            <a:r>
              <a:rPr lang="en-US" sz="950" dirty="0">
                <a:solidFill>
                  <a:srgbClr val="3A4453"/>
                </a:solidFill>
              </a:rPr>
              <a:t>Equipment and services (347)k is the only genuinely variable block.</a:t>
            </a:r>
            <a:endParaRPr lang="en-US" sz="950" dirty="0"/>
          </a:p>
          <a:p>
            <a:pPr marL="342900" indent="-342900">
              <a:lnSpc>
                <a:spcPts val="1300"/>
              </a:lnSpc>
              <a:spcAft>
                <a:spcPts val="500"/>
              </a:spcAft>
              <a:buSzPct val="100000"/>
              <a:buChar char="•"/>
            </a:pPr>
            <a:r>
              <a:rPr lang="en-US" sz="950" dirty="0">
                <a:solidFill>
                  <a:srgbClr val="3A4453"/>
                </a:solidFill>
              </a:rPr>
              <a:t>Cost reduction means headcount or premises. There is no third lever of any size.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Other operating expenses, year to date</a:t>
            </a:r>
            <a:endParaRPr lang="en-US" sz="2700" dirty="0"/>
          </a:p>
        </p:txBody>
      </p:sp>
      <p:pic>
        <p:nvPicPr>
          <p:cNvPr id="4" name="snip other_opex" descr="/home/user/Claude/deck/snips/other_opex.png">    </p:cNvPr>
          <p:cNvPicPr>
            <a:picLocks noChangeAspect="1"/>
          </p:cNvPicPr>
          <p:nvPr/>
        </p:nvPicPr>
        <p:blipFill>
          <a:blip r:embed="rId1"/>
          <a:stretch>
            <a:fillRect/>
          </a:stretch>
        </p:blipFill>
        <p:spPr>
          <a:xfrm>
            <a:off x="502920" y="1444752"/>
            <a:ext cx="5577840" cy="2569245"/>
          </a:xfrm>
          <a:prstGeom prst="rect">
            <a:avLst/>
          </a:prstGeom>
        </p:spPr>
      </p:pic>
      <p:sp>
        <p:nvSpPr>
          <p:cNvPr id="5" name="Text 2"/>
          <p:cNvSpPr txBox="1"/>
          <p:nvPr/>
        </p:nvSpPr>
        <p:spPr>
          <a:xfrm>
            <a:off x="502920" y="408714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other operating expenses.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Premises are the block: rent (62)k plus outgoings (15)k, 77k together.</a:t>
            </a:r>
            <a:endParaRPr lang="en-US" sz="950" dirty="0"/>
          </a:p>
          <a:p>
            <a:pPr marL="342900" indent="-342900">
              <a:lnSpc>
                <a:spcPts val="1300"/>
              </a:lnSpc>
              <a:spcAft>
                <a:spcPts val="500"/>
              </a:spcAft>
              <a:buSzPct val="100000"/>
              <a:buChar char="•"/>
            </a:pPr>
            <a:r>
              <a:rPr lang="en-US" sz="950" dirty="0">
                <a:solidFill>
                  <a:srgbClr val="3A4453"/>
                </a:solidFill>
              </a:rPr>
              <a:t>IT network at (40)k is the second line and the only one with real variability.</a:t>
            </a:r>
            <a:endParaRPr lang="en-US" sz="950" dirty="0"/>
          </a:p>
          <a:p>
            <a:pPr marL="342900" indent="-342900">
              <a:lnSpc>
                <a:spcPts val="1300"/>
              </a:lnSpc>
              <a:spcAft>
                <a:spcPts val="500"/>
              </a:spcAft>
              <a:buSzPct val="100000"/>
              <a:buChar char="•"/>
            </a:pPr>
            <a:r>
              <a:rPr lang="en-US" sz="950" dirty="0">
                <a:solidFill>
                  <a:srgbClr val="3A4453"/>
                </a:solidFill>
              </a:rPr>
              <a:t>Everything below the top three is under six thousand across a full quarter.</a:t>
            </a:r>
            <a:endParaRPr lang="en-US" sz="950" dirty="0"/>
          </a:p>
          <a:p>
            <a:pPr marL="342900" indent="-342900">
              <a:lnSpc>
                <a:spcPts val="1300"/>
              </a:lnSpc>
              <a:spcAft>
                <a:spcPts val="500"/>
              </a:spcAft>
              <a:buSzPct val="100000"/>
              <a:buChar char="•"/>
            </a:pPr>
            <a:r>
              <a:rPr lang="en-US" sz="950" dirty="0">
                <a:solidFill>
                  <a:srgbClr val="3A4453"/>
                </a:solidFill>
              </a:rPr>
              <a:t>There is no saving of consequence in the tail. Do not spend management time there.</a:t>
            </a:r>
            <a:endParaRPr lang="en-US" sz="950" dirty="0"/>
          </a:p>
          <a:p>
            <a:pPr marL="342900" indent="-342900">
              <a:lnSpc>
                <a:spcPts val="1300"/>
              </a:lnSpc>
              <a:spcAft>
                <a:spcPts val="500"/>
              </a:spcAft>
              <a:buSzPct val="100000"/>
              <a:buChar char="•"/>
            </a:pPr>
            <a:r>
              <a:rPr lang="en-US" sz="950" dirty="0">
                <a:solidFill>
                  <a:srgbClr val="3A4453"/>
                </a:solidFill>
              </a:rPr>
              <a:t>Premises is the lever, and it is a lease decision, not a budget decision.</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Labour mix, year to date</a:t>
            </a:r>
            <a:endParaRPr lang="en-US" sz="2700" dirty="0"/>
          </a:p>
        </p:txBody>
      </p:sp>
      <p:pic>
        <p:nvPicPr>
          <p:cNvPr id="4" name="snip labour_mix" descr="/home/user/Claude/deck/snips/labour_mix.png">    </p:cNvPr>
          <p:cNvPicPr>
            <a:picLocks noChangeAspect="1"/>
          </p:cNvPicPr>
          <p:nvPr/>
        </p:nvPicPr>
        <p:blipFill>
          <a:blip r:embed="rId1"/>
          <a:stretch>
            <a:fillRect/>
          </a:stretch>
        </p:blipFill>
        <p:spPr>
          <a:xfrm>
            <a:off x="696031" y="1444752"/>
            <a:ext cx="5191618"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labour mix, direct against indirect.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Direct labour splits into permanent payroll and sub contract labour.</a:t>
            </a:r>
            <a:endParaRPr lang="en-US" sz="950" dirty="0"/>
          </a:p>
          <a:p>
            <a:pPr marL="342900" indent="-342900">
              <a:lnSpc>
                <a:spcPts val="1300"/>
              </a:lnSpc>
              <a:spcAft>
                <a:spcPts val="500"/>
              </a:spcAft>
              <a:buSzPct val="100000"/>
              <a:buChar char="•"/>
            </a:pPr>
            <a:r>
              <a:rPr lang="en-US" sz="950" dirty="0">
                <a:solidFill>
                  <a:srgbClr val="3A4453"/>
                </a:solidFill>
              </a:rPr>
              <a:t>Salaries, wages and superannuation are the bulk of it and they are committed cost.</a:t>
            </a:r>
            <a:endParaRPr lang="en-US" sz="950" dirty="0"/>
          </a:p>
          <a:p>
            <a:pPr marL="342900" indent="-342900">
              <a:lnSpc>
                <a:spcPts val="1300"/>
              </a:lnSpc>
              <a:spcAft>
                <a:spcPts val="500"/>
              </a:spcAft>
              <a:buSzPct val="100000"/>
              <a:buChar char="•"/>
            </a:pPr>
            <a:r>
              <a:rPr lang="en-US" sz="950" dirty="0">
                <a:solidFill>
                  <a:srgbClr val="3A4453"/>
                </a:solidFill>
              </a:rPr>
              <a:t>Sub contract labour is the only line that flexes with volume.</a:t>
            </a:r>
            <a:endParaRPr lang="en-US" sz="950" dirty="0"/>
          </a:p>
          <a:p>
            <a:pPr marL="342900" indent="-342900">
              <a:lnSpc>
                <a:spcPts val="1300"/>
              </a:lnSpc>
              <a:spcAft>
                <a:spcPts val="500"/>
              </a:spcAft>
              <a:buSzPct val="100000"/>
              <a:buChar char="•"/>
            </a:pPr>
            <a:r>
              <a:rPr lang="en-US" sz="950" dirty="0">
                <a:solidFill>
                  <a:srgbClr val="3A4453"/>
                </a:solidFill>
              </a:rPr>
              <a:t>It rises when the permanent team runs out of capacity, so watch it against utilisation.</a:t>
            </a:r>
            <a:endParaRPr lang="en-US" sz="950" dirty="0"/>
          </a:p>
          <a:p>
            <a:pPr marL="342900" indent="-342900">
              <a:lnSpc>
                <a:spcPts val="1300"/>
              </a:lnSpc>
              <a:spcAft>
                <a:spcPts val="500"/>
              </a:spcAft>
              <a:buSzPct val="100000"/>
              <a:buChar char="•"/>
            </a:pPr>
            <a:r>
              <a:rPr lang="en-US" sz="950" dirty="0">
                <a:solidFill>
                  <a:srgbClr val="3A4453"/>
                </a:solidFill>
              </a:rPr>
              <a:t>We pay for hours worked. We bill for hours that are chargeable. The gap is margin.</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Employment expense, office and departmental</a:t>
            </a:r>
            <a:endParaRPr lang="en-US" sz="2700" dirty="0"/>
          </a:p>
        </p:txBody>
      </p:sp>
      <p:pic>
        <p:nvPicPr>
          <p:cNvPr id="4" name="snip staff_split" descr="/home/user/Claude/deck/snips/staff_split.png">    </p:cNvPr>
          <p:cNvPicPr>
            <a:picLocks noChangeAspect="1"/>
          </p:cNvPicPr>
          <p:nvPr/>
        </p:nvPicPr>
        <p:blipFill>
          <a:blip r:embed="rId1"/>
          <a:stretch>
            <a:fillRect/>
          </a:stretch>
        </p:blipFill>
        <p:spPr>
          <a:xfrm>
            <a:off x="948192" y="1444752"/>
            <a:ext cx="7247617"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Overheads MoM tab, employment expense split,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The admin employment pot is 63,077 for the month and it is charged out in full.</a:t>
            </a:r>
            <a:endParaRPr lang="en-US" sz="800" dirty="0"/>
          </a:p>
          <a:p>
            <a:pPr marL="342900" indent="-342900">
              <a:lnSpc>
                <a:spcPts val="1000"/>
              </a:lnSpc>
              <a:spcAft>
                <a:spcPts val="300"/>
              </a:spcAft>
              <a:buSzPct val="100000"/>
              <a:buChar char="•"/>
            </a:pPr>
            <a:r>
              <a:rPr lang="en-US" sz="800" dirty="0">
                <a:solidFill>
                  <a:srgbClr val="3A4453"/>
                </a:solidFill>
              </a:rPr>
              <a:t>Support carries 67.0% of it, on its share of rolling twelve month hours.</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Events pays more for its own staff, 35,665, than it does for office staff.</a:t>
            </a:r>
            <a:endParaRPr lang="en-US" sz="800" dirty="0"/>
          </a:p>
          <a:p>
            <a:pPr marL="342900" indent="-342900">
              <a:lnSpc>
                <a:spcPts val="1000"/>
              </a:lnSpc>
              <a:spcAft>
                <a:spcPts val="300"/>
              </a:spcAft>
              <a:buSzPct val="100000"/>
              <a:buChar char="•"/>
            </a:pPr>
            <a:r>
              <a:rPr lang="en-US" sz="800" dirty="0">
                <a:solidFill>
                  <a:srgbClr val="3A4453"/>
                </a:solidFill>
              </a:rPr>
              <a:t>Integration takes almost no office cost because almost nothing is clocked to it.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03</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Customers and cash</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Who pays us, how much, and how slowly</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year to date</a:t>
            </a:r>
            <a:endParaRPr lang="en-US" sz="2700" dirty="0"/>
          </a:p>
        </p:txBody>
      </p:sp>
      <p:pic>
        <p:nvPicPr>
          <p:cNvPr id="4" name="snip top10" descr="/home/user/Claude/deck/snips/top10.png">    </p:cNvPr>
          <p:cNvPicPr>
            <a:picLocks noChangeAspect="1"/>
          </p:cNvPicPr>
          <p:nvPr/>
        </p:nvPicPr>
        <p:blipFill>
          <a:blip r:embed="rId1"/>
          <a:stretch>
            <a:fillRect/>
          </a:stretch>
        </p:blipFill>
        <p:spPr>
          <a:xfrm>
            <a:off x="896874" y="1444752"/>
            <a:ext cx="7350252"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Top 10 Clients tab, the top ten, year to date.</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The top ten are 76.3% of revenue. The top three alone are 48.7%.</a:t>
            </a:r>
            <a:endParaRPr lang="en-US" sz="800" dirty="0"/>
          </a:p>
          <a:p>
            <a:pPr marL="342900" indent="-342900">
              <a:lnSpc>
                <a:spcPts val="1000"/>
              </a:lnSpc>
              <a:spcAft>
                <a:spcPts val="300"/>
              </a:spcAft>
              <a:buSzPct val="100000"/>
              <a:buChar char="•"/>
            </a:pPr>
            <a:r>
              <a:rPr lang="en-US" sz="800" dirty="0">
                <a:solidFill>
                  <a:srgbClr val="3A4453"/>
                </a:solidFill>
              </a:rPr>
              <a:t>Deloitte Services at 401,755 is 24.7% of the year. Losing it costs more than the whole EBITDA plan.</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Aware Super came from nothing to 285,075 in a quarter, almost all of it in September.</a:t>
            </a:r>
            <a:endParaRPr lang="en-US" sz="800" dirty="0"/>
          </a:p>
          <a:p>
            <a:pPr marL="342900" indent="-342900">
              <a:lnSpc>
                <a:spcPts val="1000"/>
              </a:lnSpc>
              <a:spcAft>
                <a:spcPts val="300"/>
              </a:spcAft>
              <a:buSzPct val="100000"/>
              <a:buChar char="•"/>
            </a:pPr>
            <a:r>
              <a:rPr lang="en-US" sz="800" dirty="0">
                <a:solidFill>
                  <a:srgbClr val="3A4453"/>
                </a:solidFill>
              </a:rPr>
              <a:t>Below the top five the book drops away fast. Number ten is 37,166.</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Receivables and days sales outstanding</a:t>
            </a:r>
            <a:endParaRPr lang="en-US" sz="2700" dirty="0"/>
          </a:p>
        </p:txBody>
      </p:sp>
      <p:pic>
        <p:nvPicPr>
          <p:cNvPr id="4" name="snip dso" descr="/home/user/Claude/deck/snips/dso.png">    </p:cNvPr>
          <p:cNvPicPr>
            <a:picLocks noChangeAspect="1"/>
          </p:cNvPicPr>
          <p:nvPr/>
        </p:nvPicPr>
        <p:blipFill>
          <a:blip r:embed="rId1"/>
          <a:stretch>
            <a:fillRect/>
          </a:stretch>
        </p:blipFill>
        <p:spPr>
          <a:xfrm>
            <a:off x="984420" y="1444752"/>
            <a:ext cx="461483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calculation, the ageing and who owes the most.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1000" dirty="0">
                <a:solidFill>
                  <a:srgbClr val="3A4453"/>
                </a:solidFill>
              </a:rPr>
              <a:t>DSO is 47.2 days against a 30 day target. That is 17.2 days of cash we are not holding.</a:t>
            </a:r>
            <a:endParaRPr lang="en-US" sz="1000" dirty="0"/>
          </a:p>
          <a:p>
            <a:pPr marL="342900" indent="-342900">
              <a:lnSpc>
                <a:spcPts val="1300"/>
              </a:lnSpc>
              <a:spcAft>
                <a:spcPts val="500"/>
              </a:spcAft>
              <a:buSzPct val="100000"/>
              <a:buChar char="•"/>
            </a:pPr>
            <a:r>
              <a:rPr lang="en-US" sz="1000" dirty="0">
                <a:solidFill>
                  <a:srgbClr val="3A4453"/>
                </a:solidFill>
              </a:rPr>
              <a:t>Every day of DSO is 17,657. Getting to target releases 303,605.</a:t>
            </a:r>
            <a:endParaRPr lang="en-US" sz="1000" dirty="0"/>
          </a:p>
          <a:p>
            <a:pPr marL="342900" indent="-342900">
              <a:lnSpc>
                <a:spcPts val="1300"/>
              </a:lnSpc>
              <a:spcAft>
                <a:spcPts val="500"/>
              </a:spcAft>
              <a:buSzPct val="100000"/>
              <a:buChar char="•"/>
            </a:pPr>
            <a:r>
              <a:rPr lang="en-US" sz="1000" dirty="0">
                <a:solidFill>
                  <a:srgbClr val="3A4453"/>
                </a:solidFill>
              </a:rPr>
              <a:t>29.3% of the book is overdue, 244,538.</a:t>
            </a:r>
            <a:endParaRPr lang="en-US" sz="1000" dirty="0"/>
          </a:p>
          <a:p>
            <a:pPr marL="342900" indent="-342900">
              <a:lnSpc>
                <a:spcPts val="1300"/>
              </a:lnSpc>
              <a:spcAft>
                <a:spcPts val="500"/>
              </a:spcAft>
              <a:buSzPct val="100000"/>
              <a:buChar char="•"/>
            </a:pPr>
            <a:r>
              <a:rPr lang="en-US" sz="1000" dirty="0">
                <a:solidFill>
                  <a:srgbClr val="3A4453"/>
                </a:solidFill>
              </a:rPr>
              <a:t>Aware Super alone is 33.3% of receivables at 277,395.</a:t>
            </a:r>
            <a:endParaRPr lang="en-US" sz="1000" dirty="0"/>
          </a:p>
          <a:p>
            <a:pPr marL="342900" indent="-342900">
              <a:lnSpc>
                <a:spcPts val="1300"/>
              </a:lnSpc>
              <a:spcAft>
                <a:spcPts val="500"/>
              </a:spcAft>
              <a:buSzPct val="100000"/>
              <a:buChar char="•"/>
            </a:pPr>
            <a:r>
              <a:rPr lang="en-US" sz="1000" dirty="0">
                <a:solidFill>
                  <a:srgbClr val="3A4453"/>
                </a:solidFill>
              </a:rPr>
              <a:t>Chase the top two. Nothing else on this page moves the number.</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04</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People and utilisation</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Chargeable hours and the profit they produce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by department, Sep 26</a:t>
            </a:r>
            <a:endParaRPr lang="en-US" sz="2700" dirty="0"/>
          </a:p>
        </p:txBody>
      </p:sp>
      <p:pic>
        <p:nvPicPr>
          <p:cNvPr id="4" name="snip util" descr="/home/user/Claude/deck/snips/util.png">    </p:cNvPr>
          <p:cNvPicPr>
            <a:picLocks noChangeAspect="1"/>
          </p:cNvPicPr>
          <p:nvPr/>
        </p:nvPicPr>
        <p:blipFill>
          <a:blip r:embed="rId1"/>
          <a:stretch>
            <a:fillRect/>
          </a:stretch>
        </p:blipFill>
        <p:spPr>
          <a:xfrm>
            <a:off x="942821" y="1444752"/>
            <a:ext cx="7258357"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by department,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Support shows 11 non-chargeable hours on 2,132 chargeable. That is not credible.</a:t>
            </a:r>
            <a:endParaRPr lang="en-US" sz="800" dirty="0"/>
          </a:p>
          <a:p>
            <a:pPr marL="342900" indent="-342900">
              <a:lnSpc>
                <a:spcPts val="1000"/>
              </a:lnSpc>
              <a:spcAft>
                <a:spcPts val="300"/>
              </a:spcAft>
              <a:buSzPct val="100000"/>
              <a:buChar char="•"/>
            </a:pPr>
            <a:r>
              <a:rPr lang="en-US" sz="800" dirty="0">
                <a:solidFill>
                  <a:srgbClr val="3A4453"/>
                </a:solidFill>
              </a:rPr>
              <a:t>Until that coding is fixed the 99.5% means nothing, and nor does the target.</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Events is at 49.1% with 333 hours of leave. Real capacity is sitting idle.</a:t>
            </a:r>
            <a:endParaRPr lang="en-US" sz="800" dirty="0"/>
          </a:p>
          <a:p>
            <a:pPr marL="342900" indent="-342900">
              <a:lnSpc>
                <a:spcPts val="1000"/>
              </a:lnSpc>
              <a:spcAft>
                <a:spcPts val="300"/>
              </a:spcAft>
              <a:buSzPct val="100000"/>
              <a:buChar char="•"/>
            </a:pPr>
            <a:r>
              <a:rPr lang="en-US" sz="800" dirty="0">
                <a:solidFill>
                  <a:srgbClr val="3A4453"/>
                </a:solidFill>
              </a:rPr>
              <a:t>Consulting at 26.8% confirms there is no fee base to utilise.</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05</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Budget and outlook</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What the rest of the year looks like and what we change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BUDGET AND OUTLOOK</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by month against budget</a:t>
            </a:r>
            <a:endParaRPr lang="en-US" sz="2700" dirty="0"/>
          </a:p>
        </p:txBody>
      </p:sp>
      <p:pic>
        <p:nvPicPr>
          <p:cNvPr id="4" name="snip income_month" descr="/home/user/Claude/deck/snips/income_month.png">    </p:cNvPr>
          <p:cNvPicPr>
            <a:picLocks noChangeAspect="1"/>
          </p:cNvPicPr>
          <p:nvPr/>
        </p:nvPicPr>
        <p:blipFill>
          <a:blip r:embed="rId1"/>
          <a:stretch>
            <a:fillRect/>
          </a:stretch>
        </p:blipFill>
        <p:spPr>
          <a:xfrm>
            <a:off x="502920" y="1444752"/>
            <a:ext cx="5577840" cy="2390888"/>
          </a:xfrm>
          <a:prstGeom prst="rect">
            <a:avLst/>
          </a:prstGeom>
        </p:spPr>
      </p:pic>
      <p:sp>
        <p:nvSpPr>
          <p:cNvPr id="5" name="Text 2"/>
          <p:cNvSpPr txBox="1"/>
          <p:nvPr/>
        </p:nvSpPr>
        <p:spPr>
          <a:xfrm>
            <a:off x="502920" y="3908792"/>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total income by month, actual to date then budget.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Q1 came in (372)k behind on revenue, and almost all of it is Consulting and Video.</a:t>
            </a:r>
            <a:endParaRPr lang="en-US" sz="900" dirty="0"/>
          </a:p>
          <a:p>
            <a:pPr marL="342900" indent="-342900">
              <a:lnSpc>
                <a:spcPts val="1150"/>
              </a:lnSpc>
              <a:spcAft>
                <a:spcPts val="500"/>
              </a:spcAft>
              <a:buSzPct val="100000"/>
              <a:buChar char="•"/>
            </a:pPr>
            <a:r>
              <a:rPr lang="en-US" sz="900" dirty="0">
                <a:solidFill>
                  <a:srgbClr val="3A4453"/>
                </a:solidFill>
              </a:rPr>
              <a:t>The remaining nine months are untouched original budget. They are not a forecast.</a:t>
            </a:r>
            <a:endParaRPr lang="en-US" sz="900" dirty="0"/>
          </a:p>
          <a:p>
            <a:pPr marL="342900" indent="-342900">
              <a:lnSpc>
                <a:spcPts val="1150"/>
              </a:lnSpc>
              <a:spcAft>
                <a:spcPts val="500"/>
              </a:spcAft>
              <a:buSzPct val="100000"/>
              <a:buChar char="•"/>
            </a:pPr>
            <a:r>
              <a:rPr lang="en-US" sz="900" dirty="0">
                <a:solidFill>
                  <a:srgbClr val="3A4453"/>
                </a:solidFill>
              </a:rPr>
              <a:t>October alone is budgeted at 950k, nearly double our best month so far.</a:t>
            </a:r>
            <a:endParaRPr lang="en-US" sz="900" dirty="0"/>
          </a:p>
          <a:p>
            <a:pPr marL="342900" indent="-342900">
              <a:lnSpc>
                <a:spcPts val="1150"/>
              </a:lnSpc>
              <a:spcAft>
                <a:spcPts val="500"/>
              </a:spcAft>
              <a:buSzPct val="100000"/>
              <a:buChar char="•"/>
            </a:pPr>
            <a:r>
              <a:rPr lang="en-US" sz="900" dirty="0">
                <a:solidFill>
                  <a:srgbClr val="3A4453"/>
                </a:solidFill>
              </a:rPr>
              <a:t>December carries a planned loss. The business closes for two weeks, so that is correct and should stay.</a:t>
            </a:r>
            <a:endParaRPr lang="en-US" sz="900" dirty="0"/>
          </a:p>
          <a:p>
            <a:pPr marL="342900" indent="-342900">
              <a:lnSpc>
                <a:spcPts val="1150"/>
              </a:lnSpc>
              <a:spcAft>
                <a:spcPts val="500"/>
              </a:spcAft>
              <a:buSzPct val="100000"/>
              <a:buChar char="•"/>
            </a:pPr>
            <a:r>
              <a:rPr lang="en-US" sz="900" dirty="0">
                <a:solidFill>
                  <a:srgbClr val="3A4453"/>
                </a:solidFill>
              </a:rPr>
              <a:t>Recommend a Q1 rolling forecast: rebuild Consulting on real capacity and reset the margin assumptions.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SUMMARY AND ACTIONS</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agreed</a:t>
            </a:r>
            <a:endParaRPr lang="en-US" sz="27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8138160" cy="914400"/>
        </p:xfrm>
        <a:graphic>
          <a:graphicData uri="http://schemas.openxmlformats.org/drawingml/2006/table">
            <a:tbl>
              <a:tblPr/>
              <a:tblGrid>
                <a:gridCol w="914400"/>
                <a:gridCol w="5257800"/>
                <a:gridCol w="960120"/>
                <a:gridCol w="1005840"/>
              </a:tblGrid>
              <a:tr h="0">
                <a:tc>
                  <a:txBody>
                    <a:bodyPr/>
                    <a:lstStyle/>
                    <a:p>
                      <a:pPr algn="l" indent="0" marL="0">
                        <a:buNone/>
                      </a:pPr>
                      <a:r>
                        <a:rPr lang="en-US" sz="900" b="1" dirty="0">
                          <a:solidFill>
                            <a:srgbClr val="FFFFFF"/>
                          </a:solidFill>
                        </a:rPr>
                        <a:t>Area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What we agreed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Owner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Due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800" b="1" dirty="0">
                          <a:solidFill>
                            <a:srgbClr val="242C39"/>
                          </a:solidFill>
                        </a:rPr>
                        <a:t>P&amp;L</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Reforecast FY27 on margin, not revenue. At 38.9% gross margin break even needs 549k a month and we are running at 541k.</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Overhead keys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Events carries 111k of overhead on 73k of revenue and cannot be profitable on that key. Test the keys for FY28, do not change them mid year.</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Consulting</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20k of overhead on a 4k fee base. Decide whether the department is rebuilt, merged into Integration, or closed.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Customers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Top three are 48.7% of revenue. Agree a named retention plan, and set the growth target on the second ten.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Sales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14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Cash</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DSO 47.2 days. Getting to 30 releases 304k. Chase Aware Super and Deloitte Services P/L for Deloitte Services Trust first.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24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Utilisation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Five more points on Support and Events is worth about 16k a month at no extra cost. Set it as a target once timesheet coding is fixed.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Timesheets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Support shows 11 non-chargeable hours in a month. Correct the coding before utilisation is used to manage anyone.</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losing circle 0"/>
          <p:cNvSpPr/>
          <p:nvPr/>
        </p:nvSpPr>
        <p:spPr>
          <a:xfrm>
            <a:off x="5029200" y="228600"/>
            <a:ext cx="2286000" cy="2286000"/>
          </a:xfrm>
          <a:prstGeom prst="ellipse">
            <a:avLst/>
          </a:prstGeom>
          <a:solidFill>
            <a:srgbClr val="3FD0C9">
              <a:alpha val="82000"/>
            </a:srgbClr>
          </a:solidFill>
          <a:ln/>
        </p:spPr>
      </p:sp>
      <p:sp>
        <p:nvSpPr>
          <p:cNvPr id="3" name="closing circle 1"/>
          <p:cNvSpPr/>
          <p:nvPr/>
        </p:nvSpPr>
        <p:spPr>
          <a:xfrm>
            <a:off x="6217920" y="1234440"/>
            <a:ext cx="1920240" cy="1920240"/>
          </a:xfrm>
          <a:prstGeom prst="ellipse">
            <a:avLst/>
          </a:prstGeom>
          <a:solidFill>
            <a:srgbClr val="6D71FF">
              <a:alpha val="82000"/>
            </a:srgbClr>
          </a:solidFill>
          <a:ln/>
        </p:spPr>
      </p:sp>
      <p:sp>
        <p:nvSpPr>
          <p:cNvPr id="4" name="closing circle 2"/>
          <p:cNvSpPr/>
          <p:nvPr/>
        </p:nvSpPr>
        <p:spPr>
          <a:xfrm>
            <a:off x="5303520" y="2148840"/>
            <a:ext cx="2377440" cy="237744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3400" b="1" dirty="0">
                <a:solidFill>
                  <a:srgbClr val="FFFFFF"/>
                </a:solidFill>
              </a:rPr>
              <a:t>cts</a:t>
            </a:r>
            <a:endParaRPr lang="en-US" sz="3400" dirty="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indent="0" marL="0">
              <a:buNone/>
            </a:pPr>
            <a:r>
              <a:rPr lang="en-US" sz="850" dirty="0">
                <a:solidFill>
                  <a:srgbClr val="C9CED6"/>
                </a:solidFill>
              </a:rPr>
              <a:t>Seamless AV</a:t>
            </a:r>
            <a:endParaRPr lang="en-US" sz="850" dirty="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indent="0" marL="0">
              <a:buNone/>
            </a:pPr>
            <a:r>
              <a:rPr lang="en-US" sz="3800" b="1" dirty="0">
                <a:solidFill>
                  <a:srgbClr val="FFFFFF"/>
                </a:solidFill>
              </a:rPr>
              <a:t>Thank you</a:t>
            </a:r>
            <a:endParaRPr lang="en-US" sz="3800" dirty="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indent="0" marL="0">
              <a:buNone/>
            </a:pPr>
            <a:r>
              <a:rPr lang="en-US" sz="1300" dirty="0">
                <a:solidFill>
                  <a:srgbClr val="C9CED6"/>
                </a:solidFill>
              </a:rPr>
              <a:t>Questions and discussion</a:t>
            </a:r>
            <a:endParaRPr lang="en-US" sz="1300" dirty="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1</cp:revision>
  <dcterms:created xsi:type="dcterms:W3CDTF">2026-10-18T05:30:56Z</dcterms:created>
  <dcterms:modified xsi:type="dcterms:W3CDTF">2026-10-18T05:30:56Z</dcterms:modified>
</cp:coreProperties>
</file>