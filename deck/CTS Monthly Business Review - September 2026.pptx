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1310</c:v>
                </c:pt>
                <c:pt idx="1">
                  <c:v>1365</c:v>
                </c:pt>
                <c:pt idx="2">
                  <c:v>1440</c:v>
                </c:pt>
                <c:pt idx="3">
                  <c:v>1372</c:v>
                </c:pt>
                <c:pt idx="4">
                  <c:v>1456</c:v>
                </c:pt>
                <c:pt idx="5">
                  <c:v>1482</c:v>
                </c:pt>
              </c:numCache>
            </c:numRef>
          </c:val>
          <c:extLst>
            <c:ext xmlns:c16="http://schemas.microsoft.com/office/drawing/2014/chart" uri="{C3380CC4-5D6E-409C-BE32-E72D297353CC}">
              <c16:uniqueId val="{00000000-C96E-4A70-852B-8DA4A2379C77}"/>
            </c:ext>
          </c:extLst>
        </c:ser>
        <c:ser>
          <c:idx val="1"/>
          <c:order val="1"/>
          <c:tx>
            <c:strRef>
              <c:f>Sheet1!$C$1</c:f>
              <c:strCache>
                <c:ptCount val="1"/>
                <c:pt idx="0">
                  <c:v>EBITDA</c:v>
                </c:pt>
              </c:strCache>
            </c:strRef>
          </c:tx>
          <c:spPr>
            <a:solidFill>
              <a:srgbClr val="3FD0C9"/>
            </a:solidFill>
            <a:effectLst/>
          </c:spPr>
          <c:invertIfNegative val="0"/>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118</c:v>
                </c:pt>
                <c:pt idx="1">
                  <c:v>126</c:v>
                </c:pt>
                <c:pt idx="2">
                  <c:v>149</c:v>
                </c:pt>
                <c:pt idx="3">
                  <c:v>112</c:v>
                </c:pt>
                <c:pt idx="4">
                  <c:v>131</c:v>
                </c:pt>
                <c:pt idx="5">
                  <c:v>162</c:v>
                </c:pt>
              </c:numCache>
            </c:numRef>
          </c:val>
          <c:extLst>
            <c:ext xmlns:c16="http://schemas.microsoft.com/office/drawing/2014/chart" uri="{C3380CC4-5D6E-409C-BE32-E72D297353CC}">
              <c16:uniqueId val="{00000001-C96E-4A70-852B-8DA4A2379C7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520</c:v>
                </c:pt>
                <c:pt idx="1">
                  <c:v>468</c:v>
                </c:pt>
                <c:pt idx="2">
                  <c:v>158</c:v>
                </c:pt>
                <c:pt idx="3">
                  <c:v>214</c:v>
                </c:pt>
                <c:pt idx="4">
                  <c:v>122</c:v>
                </c:pt>
              </c:numCache>
            </c:numRef>
          </c:val>
          <c:extLst>
            <c:ext xmlns:c16="http://schemas.microsoft.com/office/drawing/2014/chart" uri="{C3380CC4-5D6E-409C-BE32-E72D297353CC}">
              <c16:uniqueId val="{00000000-F809-4115-8990-F252D59BCDEB}"/>
            </c:ext>
          </c:extLst>
        </c:ser>
        <c:ser>
          <c:idx val="1"/>
          <c:order val="1"/>
          <c:tx>
            <c:strRef>
              <c:f>Sheet1!$C$1</c:f>
              <c:strCache>
                <c:ptCount val="1"/>
                <c:pt idx="0">
                  <c:v>Budget revenue</c:v>
                </c:pt>
              </c:strCache>
            </c:strRef>
          </c:tx>
          <c:spPr>
            <a:solidFill>
              <a:srgbClr val="C9CED6"/>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505</c:v>
                </c:pt>
                <c:pt idx="1">
                  <c:v>440</c:v>
                </c:pt>
                <c:pt idx="2">
                  <c:v>170</c:v>
                </c:pt>
                <c:pt idx="3">
                  <c:v>190</c:v>
                </c:pt>
                <c:pt idx="4">
                  <c:v>115</c:v>
                </c:pt>
              </c:numCache>
            </c:numRef>
          </c:val>
          <c:extLst>
            <c:ext xmlns:c16="http://schemas.microsoft.com/office/drawing/2014/chart" uri="{C3380CC4-5D6E-409C-BE32-E72D297353CC}">
              <c16:uniqueId val="{00000001-F809-4115-8990-F252D59BCDEB}"/>
            </c:ext>
          </c:extLst>
        </c:ser>
        <c:ser>
          <c:idx val="2"/>
          <c:order val="2"/>
          <c:tx>
            <c:strRef>
              <c:f>Sheet1!$D$1</c:f>
              <c:strCache>
                <c:ptCount val="1"/>
                <c:pt idx="0">
                  <c:v>Contribution</c:v>
                </c:pt>
              </c:strCache>
            </c:strRef>
          </c:tx>
          <c:spPr>
            <a:solidFill>
              <a:srgbClr val="3FD0C9"/>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Sheet1!$D$2:$D$6</c:f>
              <c:numCache>
                <c:formatCode>General</c:formatCode>
                <c:ptCount val="5"/>
                <c:pt idx="0">
                  <c:v>134</c:v>
                </c:pt>
                <c:pt idx="1">
                  <c:v>141</c:v>
                </c:pt>
                <c:pt idx="2">
                  <c:v>39</c:v>
                </c:pt>
                <c:pt idx="3">
                  <c:v>47</c:v>
                </c:pt>
                <c:pt idx="4">
                  <c:v>32</c:v>
                </c:pt>
              </c:numCache>
            </c:numRef>
          </c:val>
          <c:extLst>
            <c:ext xmlns:c16="http://schemas.microsoft.com/office/drawing/2014/chart" uri="{C3380CC4-5D6E-409C-BE32-E72D297353CC}">
              <c16:uniqueId val="{00000002-F809-4115-8990-F252D59BCDE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Contract</c:v>
                </c:pt>
              </c:strCache>
            </c:strRef>
          </c:tx>
          <c:spPr>
            <a:solidFill>
              <a:srgbClr val="005358"/>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455</c:v>
                </c:pt>
                <c:pt idx="1">
                  <c:v>110</c:v>
                </c:pt>
                <c:pt idx="2">
                  <c:v>40</c:v>
                </c:pt>
                <c:pt idx="3">
                  <c:v>60</c:v>
                </c:pt>
                <c:pt idx="4">
                  <c:v>35</c:v>
                </c:pt>
              </c:numCache>
            </c:numRef>
          </c:val>
          <c:extLst>
            <c:ext xmlns:c16="http://schemas.microsoft.com/office/drawing/2014/chart" uri="{C3380CC4-5D6E-409C-BE32-E72D297353CC}">
              <c16:uniqueId val="{00000000-A4A9-4FDB-A721-3413BB94F5E0}"/>
            </c:ext>
          </c:extLst>
        </c:ser>
        <c:ser>
          <c:idx val="1"/>
          <c:order val="1"/>
          <c:tx>
            <c:strRef>
              <c:f>Sheet1!$C$1</c:f>
              <c:strCache>
                <c:ptCount val="1"/>
                <c:pt idx="0">
                  <c:v>Non-contract</c:v>
                </c:pt>
              </c:strCache>
            </c:strRef>
          </c:tx>
          <c:spPr>
            <a:solidFill>
              <a:srgbClr val="F33844"/>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65</c:v>
                </c:pt>
                <c:pt idx="1">
                  <c:v>358</c:v>
                </c:pt>
                <c:pt idx="2">
                  <c:v>118</c:v>
                </c:pt>
                <c:pt idx="3">
                  <c:v>154</c:v>
                </c:pt>
                <c:pt idx="4">
                  <c:v>87</c:v>
                </c:pt>
              </c:numCache>
            </c:numRef>
          </c:val>
          <c:extLst>
            <c:ext xmlns:c16="http://schemas.microsoft.com/office/drawing/2014/chart" uri="{C3380CC4-5D6E-409C-BE32-E72D297353CC}">
              <c16:uniqueId val="{00000001-A4A9-4FDB-A721-3413BB94F5E0}"/>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DSO</c:v>
                </c:pt>
              </c:strCache>
            </c:strRef>
          </c:tx>
          <c:spPr>
            <a:ln w="25400" cap="flat">
              <a:solidFill>
                <a:srgbClr val="122B82"/>
              </a:solidFill>
              <a:prstDash val="solid"/>
              <a:round/>
            </a:ln>
            <a:effectLst/>
          </c:spPr>
          <c:marker>
            <c:symbol val="circle"/>
            <c:size val="5"/>
            <c:spPr>
              <a:solidFill>
                <a:srgbClr val="122B82"/>
              </a:solidFill>
              <a:ln w="9525" cap="flat">
                <a:solidFill>
                  <a:srgbClr val="122B82"/>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41</c:v>
                </c:pt>
                <c:pt idx="1">
                  <c:v>39</c:v>
                </c:pt>
                <c:pt idx="2">
                  <c:v>44</c:v>
                </c:pt>
                <c:pt idx="3">
                  <c:v>38</c:v>
                </c:pt>
                <c:pt idx="4">
                  <c:v>36</c:v>
                </c:pt>
                <c:pt idx="5">
                  <c:v>35</c:v>
                </c:pt>
              </c:numCache>
            </c:numRef>
          </c:val>
          <c:smooth val="0"/>
          <c:extLst>
            <c:ext xmlns:c16="http://schemas.microsoft.com/office/drawing/2014/chart" uri="{C3380CC4-5D6E-409C-BE32-E72D297353CC}">
              <c16:uniqueId val="{00000000-7596-46ED-A217-BA1E82AECA18}"/>
            </c:ext>
          </c:extLst>
        </c:ser>
        <c:ser>
          <c:idx val="1"/>
          <c:order val="1"/>
          <c:tx>
            <c:strRef>
              <c:f>Sheet1!$C$1</c:f>
              <c:strCache>
                <c:ptCount val="1"/>
                <c:pt idx="0">
                  <c:v>Target</c:v>
                </c:pt>
              </c:strCache>
            </c:strRef>
          </c:tx>
          <c:spPr>
            <a:ln w="25400" cap="flat">
              <a:solidFill>
                <a:srgbClr val="F33844"/>
              </a:solidFill>
              <a:prstDash val="solid"/>
              <a:round/>
            </a:ln>
            <a:effectLst/>
          </c:spPr>
          <c:marker>
            <c:symbol val="circle"/>
            <c:size val="5"/>
            <c:spPr>
              <a:solidFill>
                <a:srgbClr val="F33844"/>
              </a:solidFill>
              <a:ln w="9525" cap="flat">
                <a:solidFill>
                  <a:srgbClr val="F33844"/>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30</c:v>
                </c:pt>
                <c:pt idx="1">
                  <c:v>30</c:v>
                </c:pt>
                <c:pt idx="2">
                  <c:v>30</c:v>
                </c:pt>
                <c:pt idx="3">
                  <c:v>30</c:v>
                </c:pt>
                <c:pt idx="4">
                  <c:v>30</c:v>
                </c:pt>
                <c:pt idx="5">
                  <c:v>30</c:v>
                </c:pt>
              </c:numCache>
            </c:numRef>
          </c:val>
          <c:smooth val="0"/>
          <c:extLst>
            <c:ext xmlns:c16="http://schemas.microsoft.com/office/drawing/2014/chart" uri="{C3380CC4-5D6E-409C-BE32-E72D297353CC}">
              <c16:uniqueId val="{00000001-7596-46ED-A217-BA1E82AECA1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FY27 YTD</c:v>
                </c:pt>
              </c:strCache>
            </c:strRef>
          </c:tx>
          <c:spPr>
            <a:solidFill>
              <a:srgbClr val="122B82"/>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Sheet1!$B$2:$B$11</c:f>
              <c:numCache>
                <c:formatCode>General</c:formatCode>
                <c:ptCount val="10"/>
                <c:pt idx="0">
                  <c:v>612</c:v>
                </c:pt>
                <c:pt idx="1">
                  <c:v>540</c:v>
                </c:pt>
                <c:pt idx="2">
                  <c:v>488</c:v>
                </c:pt>
                <c:pt idx="3">
                  <c:v>410</c:v>
                </c:pt>
                <c:pt idx="4">
                  <c:v>365</c:v>
                </c:pt>
                <c:pt idx="5">
                  <c:v>298</c:v>
                </c:pt>
                <c:pt idx="6">
                  <c:v>255</c:v>
                </c:pt>
                <c:pt idx="7">
                  <c:v>230</c:v>
                </c:pt>
                <c:pt idx="8">
                  <c:v>210</c:v>
                </c:pt>
                <c:pt idx="9">
                  <c:v>188</c:v>
                </c:pt>
              </c:numCache>
            </c:numRef>
          </c:val>
          <c:extLst>
            <c:ext xmlns:c16="http://schemas.microsoft.com/office/drawing/2014/chart" uri="{C3380CC4-5D6E-409C-BE32-E72D297353CC}">
              <c16:uniqueId val="{00000000-FB50-44B3-B8CF-B3EB2787C43D}"/>
            </c:ext>
          </c:extLst>
        </c:ser>
        <c:ser>
          <c:idx val="1"/>
          <c:order val="1"/>
          <c:tx>
            <c:strRef>
              <c:f>Sheet1!$C$1</c:f>
              <c:strCache>
                <c:ptCount val="1"/>
                <c:pt idx="0">
                  <c:v>FY26 YTD</c:v>
                </c:pt>
              </c:strCache>
            </c:strRef>
          </c:tx>
          <c:spPr>
            <a:solidFill>
              <a:srgbClr val="C9CED6"/>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Sheet1!$C$2:$C$11</c:f>
              <c:numCache>
                <c:formatCode>General</c:formatCode>
                <c:ptCount val="10"/>
                <c:pt idx="0">
                  <c:v>580</c:v>
                </c:pt>
                <c:pt idx="1">
                  <c:v>505</c:v>
                </c:pt>
                <c:pt idx="2">
                  <c:v>410</c:v>
                </c:pt>
                <c:pt idx="3">
                  <c:v>430</c:v>
                </c:pt>
                <c:pt idx="4">
                  <c:v>300</c:v>
                </c:pt>
                <c:pt idx="5">
                  <c:v>310</c:v>
                </c:pt>
                <c:pt idx="6">
                  <c:v>180</c:v>
                </c:pt>
                <c:pt idx="7">
                  <c:v>240</c:v>
                </c:pt>
                <c:pt idx="8">
                  <c:v>150</c:v>
                </c:pt>
                <c:pt idx="9">
                  <c:v>0</c:v>
                </c:pt>
              </c:numCache>
            </c:numRef>
          </c:val>
          <c:extLst>
            <c:ext xmlns:c16="http://schemas.microsoft.com/office/drawing/2014/chart" uri="{C3380CC4-5D6E-409C-BE32-E72D297353CC}">
              <c16:uniqueId val="{00000001-FB50-44B3-B8CF-B3EB2787C43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Utilisation</c:v>
                </c:pt>
              </c:strCache>
            </c:strRef>
          </c:tx>
          <c:spPr>
            <a:solidFill>
              <a:srgbClr val="3FD0C9"/>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80.2</c:v>
                </c:pt>
                <c:pt idx="1">
                  <c:v>72.599999999999994</c:v>
                </c:pt>
                <c:pt idx="2">
                  <c:v>65.900000000000006</c:v>
                </c:pt>
                <c:pt idx="3">
                  <c:v>73.5</c:v>
                </c:pt>
                <c:pt idx="4">
                  <c:v>73.900000000000006</c:v>
                </c:pt>
              </c:numCache>
            </c:numRef>
          </c:val>
          <c:extLst>
            <c:ext xmlns:c16="http://schemas.microsoft.com/office/drawing/2014/chart" uri="{C3380CC4-5D6E-409C-BE32-E72D297353CC}">
              <c16:uniqueId val="{00000000-C0B8-4B09-A12A-F75606F2B5B7}"/>
            </c:ext>
          </c:extLst>
        </c:ser>
        <c:ser>
          <c:idx val="1"/>
          <c:order val="1"/>
          <c:tx>
            <c:strRef>
              <c:f>Sheet1!$C$1</c:f>
              <c:strCache>
                <c:ptCount val="1"/>
                <c:pt idx="0">
                  <c:v>Target</c:v>
                </c:pt>
              </c:strCache>
            </c:strRef>
          </c:tx>
          <c:spPr>
            <a:solidFill>
              <a:srgbClr val="C9CED6"/>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75</c:v>
                </c:pt>
                <c:pt idx="1">
                  <c:v>75</c:v>
                </c:pt>
                <c:pt idx="2">
                  <c:v>75</c:v>
                </c:pt>
                <c:pt idx="3">
                  <c:v>75</c:v>
                </c:pt>
                <c:pt idx="4">
                  <c:v>75</c:v>
                </c:pt>
              </c:numCache>
            </c:numRef>
          </c:val>
          <c:extLst>
            <c:ext xmlns:c16="http://schemas.microsoft.com/office/drawing/2014/chart" uri="{C3380CC4-5D6E-409C-BE32-E72D297353CC}">
              <c16:uniqueId val="{00000001-C0B8-4B09-A12A-F75606F2B5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721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September 2026. Every figure traces to the Financial Controller Pack v19, the Xero general ledger dump inside it, or a Xero report named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let the room celebrate the 148k beat. Lead with break even: we need 549k of revenue a month and we are running at 541k. The miss is margin, not cost, and overheads are 48k under budget. Expect the question on the full year: revenue lands, profit does not.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point is the overhead key, not the departments. Events carries 87.5 per cent of premises on 13 per cent of revenue. Say clearly that the key is fixed for the financial year and must not be changed mid year, but it should be tested for FY28.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bars clear zero. If pushed on Integration, be straight that its bar is one project and the underlying unit is about 60k a quarter.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43 per cent contracted. The 487k shortfall on Integration and Consulting non-contract is not recoverable, so ask for a reforecast rather than defending the budget. Flag the two unmapped budget lines yourself before anyone finds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Concentration is the message, not the ranking. Deloitte is roughly the whole EBITDA base. Aware Super is a fit-out, not a relationship.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cash slide. 309k is sitting in debtors and net debt is 723k. That is the fastest lever available and it needs no trading improvement. Name the two old invoices and ask for a decision, chase or provide.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Growth is three new names, not the base. If asked about ASX, it is down a third and that is a relationship question for sales, not a market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straight that Support recording 11 non-chargeable hours is not credible. Do not defend the 99.5 per cent. The fix is reporting, and it belongs to Ops.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Revenue per hour is not a charge rate, say so before anyone treats Events as one. The Integration line is the real finding: 235k billed on 9.5 hours means the job was bought in, which is why the margin is 10 per 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asks, each with an owner and a date. Do not leave the room without them agreed.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 Cover (dark)">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6309360" y="-548640"/>
            <a:ext cx="3447288" cy="3447288"/>
          </a:xfrm>
          <a:prstGeom prst="ellipse">
            <a:avLst/>
          </a:prstGeom>
          <a:solidFill>
            <a:srgbClr val="3FD0C9">
              <a:alpha val="85000"/>
            </a:srgbClr>
          </a:solidFill>
          <a:ln w="12700">
            <a:solidFill>
              <a:srgbClr val="3FD0C9">
                <a:alpha val="0"/>
              </a:srgbClr>
            </a:solidFill>
            <a:prstDash val="solid"/>
          </a:ln>
        </p:spPr>
        <p:txBody>
          <a:bodyPr/>
          <a:lstStyle/>
          <a:p>
            <a:endParaRPr lang="en-AU"/>
          </a:p>
        </p:txBody>
      </p:sp>
      <p:sp>
        <p:nvSpPr>
          <p:cNvPr id="3" name="Shape 1"/>
          <p:cNvSpPr/>
          <p:nvPr/>
        </p:nvSpPr>
        <p:spPr>
          <a:xfrm>
            <a:off x="8099298" y="777240"/>
            <a:ext cx="3447288" cy="3447288"/>
          </a:xfrm>
          <a:prstGeom prst="ellipse">
            <a:avLst/>
          </a:prstGeom>
          <a:solidFill>
            <a:srgbClr val="6D71FF">
              <a:alpha val="75000"/>
            </a:srgbClr>
          </a:solidFill>
          <a:ln w="12700">
            <a:solidFill>
              <a:srgbClr val="6D71FF">
                <a:alpha val="0"/>
              </a:srgbClr>
            </a:solidFill>
            <a:prstDash val="solid"/>
          </a:ln>
        </p:spPr>
        <p:txBody>
          <a:bodyPr/>
          <a:lstStyle/>
          <a:p>
            <a:endParaRPr lang="en-AU"/>
          </a:p>
        </p:txBody>
      </p:sp>
      <p:sp>
        <p:nvSpPr>
          <p:cNvPr id="4" name="Shape 2"/>
          <p:cNvSpPr/>
          <p:nvPr/>
        </p:nvSpPr>
        <p:spPr>
          <a:xfrm>
            <a:off x="6773418" y="2235708"/>
            <a:ext cx="3447288" cy="3447288"/>
          </a:xfrm>
          <a:prstGeom prst="ellipse">
            <a:avLst/>
          </a:prstGeom>
          <a:solidFill>
            <a:srgbClr val="F33844">
              <a:alpha val="70000"/>
            </a:srgbClr>
          </a:solidFill>
          <a:ln w="12700">
            <a:solidFill>
              <a:srgbClr val="F33844">
                <a:alpha val="0"/>
              </a:srgbClr>
            </a:solidFill>
            <a:prstDash val="solid"/>
          </a:ln>
        </p:spPr>
        <p:txBody>
          <a:bodyPr/>
          <a:lstStyle/>
          <a:p>
            <a:endParaRPr lang="en-AU"/>
          </a:p>
        </p:txBody>
      </p:sp>
      <p:pic>
        <p:nvPicPr>
          <p:cNvPr id="5" name="Image 0" descr="/home/user/Claude/presentation/assets/cts-logo-dark.png"/>
          <p:cNvPicPr>
            <a:picLocks noChangeAspect="1"/>
          </p:cNvPicPr>
          <p:nvPr/>
        </p:nvPicPr>
        <p:blipFill>
          <a:blip r:embed="rId2"/>
          <a:stretch>
            <a:fillRect/>
          </a:stretch>
        </p:blipFill>
        <p:spPr>
          <a:xfrm>
            <a:off x="502920" y="411480"/>
            <a:ext cx="1143440" cy="777240"/>
          </a:xfrm>
          <a:prstGeom prst="rect">
            <a:avLst/>
          </a:prstGeom>
        </p:spPr>
      </p:pic>
      <p:sp>
        <p:nvSpPr>
          <p:cNvPr id="6" name="Text 3"/>
          <p:cNvSpPr>
            <a:spLocks noGrp="1"/>
          </p:cNvSpPr>
          <p:nvPr>
            <p:ph type="body" idx="104" hasCustomPrompt="1"/>
          </p:nvPr>
        </p:nvSpPr>
        <p:spPr>
          <a:xfrm>
            <a:off x="502920" y="1828800"/>
            <a:ext cx="566928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7" name="Text 3"/>
          <p:cNvSpPr>
            <a:spLocks noGrp="1"/>
          </p:cNvSpPr>
          <p:nvPr>
            <p:ph type="title" idx="105" hasCustomPrompt="1"/>
          </p:nvPr>
        </p:nvSpPr>
        <p:spPr>
          <a:xfrm>
            <a:off x="502920" y="2148840"/>
            <a:ext cx="566928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8" name="Text 3"/>
          <p:cNvSpPr>
            <a:spLocks noGrp="1"/>
          </p:cNvSpPr>
          <p:nvPr>
            <p:ph type="body" idx="106" hasCustomPrompt="1"/>
          </p:nvPr>
        </p:nvSpPr>
        <p:spPr>
          <a:xfrm>
            <a:off x="502920" y="3383280"/>
            <a:ext cx="566928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9" name="Text 3"/>
          <p:cNvSpPr>
            <a:spLocks noGrp="1"/>
          </p:cNvSpPr>
          <p:nvPr>
            <p:ph type="body" idx="107"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10" name="Text 3"/>
          <p:cNvSpPr>
            <a:spLocks noGrp="1"/>
          </p:cNvSpPr>
          <p:nvPr>
            <p:ph type="body" idx="108"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 Cover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309360" y="0"/>
            <a:ext cx="2834640" cy="5143500"/>
          </a:xfrm>
          <a:prstGeom prst="rect">
            <a:avLst/>
          </a:prstGeom>
          <a:solidFill>
            <a:srgbClr val="242C39"/>
          </a:solidFill>
          <a:ln w="12700">
            <a:solidFill>
              <a:srgbClr val="242C39"/>
            </a:solidFill>
            <a:prstDash val="solid"/>
          </a:ln>
        </p:spPr>
      </p:sp>
      <p:sp>
        <p:nvSpPr>
          <p:cNvPr id="3" name="Shape 1"/>
          <p:cNvSpPr/>
          <p:nvPr/>
        </p:nvSpPr>
        <p:spPr>
          <a:xfrm>
            <a:off x="5943600" y="365760"/>
            <a:ext cx="2971800" cy="2971800"/>
          </a:xfrm>
          <a:prstGeom prst="ellipse">
            <a:avLst/>
          </a:prstGeom>
          <a:solidFill>
            <a:srgbClr val="3FD0C9">
              <a:alpha val="85000"/>
            </a:srgbClr>
          </a:solidFill>
          <a:ln w="12700">
            <a:solidFill>
              <a:srgbClr val="3FD0C9">
                <a:alpha val="0"/>
              </a:srgbClr>
            </a:solidFill>
            <a:prstDash val="solid"/>
          </a:ln>
        </p:spPr>
      </p:sp>
      <p:sp>
        <p:nvSpPr>
          <p:cNvPr id="4" name="Shape 2"/>
          <p:cNvSpPr/>
          <p:nvPr/>
        </p:nvSpPr>
        <p:spPr>
          <a:xfrm>
            <a:off x="7486650" y="1508760"/>
            <a:ext cx="2971800" cy="2971800"/>
          </a:xfrm>
          <a:prstGeom prst="ellipse">
            <a:avLst/>
          </a:prstGeom>
          <a:solidFill>
            <a:srgbClr val="6D71FF">
              <a:alpha val="75000"/>
            </a:srgbClr>
          </a:solidFill>
          <a:ln w="12700">
            <a:solidFill>
              <a:srgbClr val="6D71FF">
                <a:alpha val="0"/>
              </a:srgbClr>
            </a:solidFill>
            <a:prstDash val="solid"/>
          </a:ln>
        </p:spPr>
      </p:sp>
      <p:sp>
        <p:nvSpPr>
          <p:cNvPr id="5" name="Shape 3"/>
          <p:cNvSpPr/>
          <p:nvPr/>
        </p:nvSpPr>
        <p:spPr>
          <a:xfrm>
            <a:off x="6343650" y="2766060"/>
            <a:ext cx="2971800" cy="2971800"/>
          </a:xfrm>
          <a:prstGeom prst="ellipse">
            <a:avLst/>
          </a:prstGeom>
          <a:solidFill>
            <a:srgbClr val="F33844">
              <a:alpha val="70000"/>
            </a:srgbClr>
          </a:solidFill>
          <a:ln w="12700">
            <a:solidFill>
              <a:srgbClr val="F33844">
                <a:alpha val="0"/>
              </a:srgbClr>
            </a:solidFill>
            <a:prstDash val="solid"/>
          </a:ln>
        </p:spPr>
      </p:sp>
      <p:sp>
        <p:nvSpPr>
          <p:cNvPr id="6" name="Shape 4"/>
          <p:cNvSpPr/>
          <p:nvPr/>
        </p:nvSpPr>
        <p:spPr>
          <a:xfrm>
            <a:off x="0" y="0"/>
            <a:ext cx="6309360" cy="5143500"/>
          </a:xfrm>
          <a:prstGeom prst="rect">
            <a:avLst/>
          </a:prstGeom>
          <a:solidFill>
            <a:srgbClr val="FFFFFF"/>
          </a:solidFill>
          <a:ln w="12700">
            <a:solidFill>
              <a:srgbClr val="FFFFFF"/>
            </a:solidFill>
            <a:prstDash val="solid"/>
          </a:ln>
        </p:spPr>
      </p:sp>
      <p:pic>
        <p:nvPicPr>
          <p:cNvPr id="7" name="Image 0" descr="/home/user/Claude/presentation/assets/cts-logo.png"/>
          <p:cNvPicPr>
            <a:picLocks noChangeAspect="1"/>
          </p:cNvPicPr>
          <p:nvPr/>
        </p:nvPicPr>
        <p:blipFill>
          <a:blip r:embed="rId2"/>
          <a:stretch>
            <a:fillRect/>
          </a:stretch>
        </p:blipFill>
        <p:spPr>
          <a:xfrm>
            <a:off x="502920" y="411480"/>
            <a:ext cx="1143440" cy="777240"/>
          </a:xfrm>
          <a:prstGeom prst="rect">
            <a:avLst/>
          </a:prstGeom>
        </p:spPr>
      </p:pic>
      <p:sp>
        <p:nvSpPr>
          <p:cNvPr id="8" name="Text 5"/>
          <p:cNvSpPr>
            <a:spLocks noGrp="1"/>
          </p:cNvSpPr>
          <p:nvPr>
            <p:ph type="body" idx="106" hasCustomPrompt="1"/>
          </p:nvPr>
        </p:nvSpPr>
        <p:spPr>
          <a:xfrm>
            <a:off x="502920" y="1828800"/>
            <a:ext cx="5394960" cy="320040"/>
          </a:xfrm>
          <a:prstGeom prst="rect">
            <a:avLst/>
          </a:prstGeom>
          <a:noFill/>
          <a:ln/>
        </p:spPr>
        <p:txBody>
          <a:bodyPr wrap="square" rtlCol="0"/>
          <a:lstStyle>
            <a:lvl1pPr marL="0" indent="0">
              <a:buNone/>
              <a:defRPr lang="en-US" sz="12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122B82"/>
                </a:solidFill>
                <a:latin typeface="Calibri" pitchFamily="34" charset="0"/>
                <a:ea typeface="Calibri" pitchFamily="34" charset="-122"/>
                <a:cs typeface="Calibri" pitchFamily="34" charset="-120"/>
              </a:rPr>
              <a:t>PRESENTATION TYPE</a:t>
            </a:r>
            <a:endParaRPr lang="en-US" sz="1200" dirty="0"/>
          </a:p>
        </p:txBody>
      </p:sp>
      <p:sp>
        <p:nvSpPr>
          <p:cNvPr id="9" name="Text 5"/>
          <p:cNvSpPr>
            <a:spLocks noGrp="1"/>
          </p:cNvSpPr>
          <p:nvPr>
            <p:ph type="title" idx="107" hasCustomPrompt="1"/>
          </p:nvPr>
        </p:nvSpPr>
        <p:spPr>
          <a:xfrm>
            <a:off x="502920" y="2148840"/>
            <a:ext cx="5394960" cy="1234440"/>
          </a:xfrm>
          <a:prstGeom prst="rect">
            <a:avLst/>
          </a:prstGeom>
          <a:noFill/>
          <a:ln/>
        </p:spPr>
        <p:txBody>
          <a:bodyPr wrap="square" rtlCol="0"/>
          <a:lstStyle>
            <a:lvl1pPr marL="0" indent="0" algn="l">
              <a:buNone/>
              <a:defRPr lang="en-US" sz="3600" b="1" dirty="0">
                <a:solidFill>
                  <a:srgbClr val="242C39"/>
                </a:solidFill>
                <a:latin typeface="Calibri" pitchFamily="34" charset="0"/>
                <a:ea typeface="Calibri" pitchFamily="34" charset="-122"/>
                <a:cs typeface="Calibri" pitchFamily="34" charset="-120"/>
              </a:defRPr>
            </a:lvl1pPr>
          </a:lstStyle>
          <a:p>
            <a:pPr marL="0" indent="0" algn="l">
              <a:buNone/>
            </a:pPr>
            <a:r>
              <a:rPr lang="en-US" sz="3600" b="1" dirty="0">
                <a:solidFill>
                  <a:srgbClr val="242C39"/>
                </a:solidFill>
                <a:latin typeface="Calibri" pitchFamily="34" charset="0"/>
                <a:ea typeface="Calibri" pitchFamily="34" charset="-122"/>
                <a:cs typeface="Calibri" pitchFamily="34" charset="-120"/>
              </a:rPr>
              <a:t>Presentation title</a:t>
            </a:r>
            <a:endParaRPr lang="en-US" sz="3600" dirty="0"/>
          </a:p>
        </p:txBody>
      </p:sp>
      <p:sp>
        <p:nvSpPr>
          <p:cNvPr id="10" name="Text 5"/>
          <p:cNvSpPr>
            <a:spLocks noGrp="1"/>
          </p:cNvSpPr>
          <p:nvPr>
            <p:ph type="body" idx="108" hasCustomPrompt="1"/>
          </p:nvPr>
        </p:nvSpPr>
        <p:spPr>
          <a:xfrm>
            <a:off x="502920" y="3383280"/>
            <a:ext cx="5394960" cy="548640"/>
          </a:xfrm>
          <a:prstGeom prst="rect">
            <a:avLst/>
          </a:prstGeom>
          <a:noFill/>
          <a:ln/>
        </p:spPr>
        <p:txBody>
          <a:bodyPr wrap="square" rtlCol="0"/>
          <a:lstStyle>
            <a:lvl1pPr marL="0" indent="0">
              <a:buNone/>
              <a:defRPr lang="en-US" sz="1800" dirty="0">
                <a:solidFill>
                  <a:srgbClr val="242C39"/>
                </a:solidFill>
                <a:latin typeface="Calibri" pitchFamily="34" charset="0"/>
                <a:ea typeface="Calibri" pitchFamily="34" charset="-122"/>
                <a:cs typeface="Calibri" pitchFamily="34" charset="-120"/>
              </a:defRPr>
            </a:lvl1pPr>
          </a:lstStyle>
          <a:p>
            <a:pPr marL="0" indent="0">
              <a:buNone/>
            </a:pPr>
            <a:r>
              <a:rPr lang="en-US" sz="1800" dirty="0">
                <a:solidFill>
                  <a:srgbClr val="242C39"/>
                </a:solidFill>
                <a:latin typeface="Calibri" pitchFamily="34" charset="0"/>
                <a:ea typeface="Calibri" pitchFamily="34" charset="-122"/>
                <a:cs typeface="Calibri" pitchFamily="34" charset="-120"/>
              </a:rPr>
              <a:t>Subtitle or one-line description</a:t>
            </a:r>
            <a:endParaRPr lang="en-US" sz="1800" dirty="0"/>
          </a:p>
        </p:txBody>
      </p:sp>
      <p:sp>
        <p:nvSpPr>
          <p:cNvPr id="11" name="Text 5"/>
          <p:cNvSpPr>
            <a:spLocks noGrp="1"/>
          </p:cNvSpPr>
          <p:nvPr>
            <p:ph type="body" idx="109"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242C39"/>
                </a:solidFill>
                <a:latin typeface="Calibri" pitchFamily="34" charset="0"/>
                <a:ea typeface="Calibri" pitchFamily="34" charset="-122"/>
                <a:cs typeface="Calibri" pitchFamily="34" charset="-120"/>
              </a:defRPr>
            </a:lvl1pPr>
          </a:lstStyle>
          <a:p>
            <a:pPr marL="0" indent="0">
              <a:buNone/>
            </a:pPr>
            <a:r>
              <a:rPr lang="en-US" sz="1200" dirty="0">
                <a:solidFill>
                  <a:srgbClr val="242C39"/>
                </a:solidFill>
                <a:latin typeface="Calibri" pitchFamily="34" charset="0"/>
                <a:ea typeface="Calibri" pitchFamily="34" charset="-122"/>
                <a:cs typeface="Calibri" pitchFamily="34" charset="-120"/>
              </a:rPr>
              <a:t>Presenter name, role</a:t>
            </a:r>
            <a:endParaRPr lang="en-US" sz="1200" dirty="0"/>
          </a:p>
        </p:txBody>
      </p:sp>
      <p:sp>
        <p:nvSpPr>
          <p:cNvPr id="12" name="Text 5"/>
          <p:cNvSpPr>
            <a:spLocks noGrp="1"/>
          </p:cNvSpPr>
          <p:nvPr>
            <p:ph type="body" idx="110" hasCustomPrompt="1"/>
          </p:nvPr>
        </p:nvSpPr>
        <p:spPr>
          <a:xfrm>
            <a:off x="3840480" y="4251960"/>
            <a:ext cx="2194560" cy="502920"/>
          </a:xfrm>
          <a:prstGeom prst="rect">
            <a:avLst/>
          </a:prstGeom>
          <a:noFill/>
          <a:ln/>
        </p:spPr>
        <p:txBody>
          <a:bodyPr wrap="square" rtlCol="0"/>
          <a:lstStyle>
            <a:lvl1pPr marL="0" indent="0" algn="r">
              <a:buNone/>
              <a:defRPr lang="en-US" sz="1200" dirty="0">
                <a:solidFill>
                  <a:srgbClr val="242C39"/>
                </a:solidFill>
                <a:latin typeface="Calibri" pitchFamily="34" charset="0"/>
                <a:ea typeface="Calibri" pitchFamily="34" charset="-122"/>
                <a:cs typeface="Calibri" pitchFamily="34" charset="-120"/>
              </a:defRPr>
            </a:lvl1pPr>
          </a:lstStyle>
          <a:p>
            <a:pPr marL="0" indent="0" algn="r">
              <a:buNone/>
            </a:pPr>
            <a:r>
              <a:rPr lang="en-US" sz="1200" dirty="0">
                <a:solidFill>
                  <a:srgbClr val="242C39"/>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S Cover (20 years)">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6035040" y="2011680"/>
            <a:ext cx="4754880" cy="4754880"/>
          </a:xfrm>
          <a:prstGeom prst="ellipse">
            <a:avLst/>
          </a:prstGeom>
          <a:solidFill>
            <a:srgbClr val="122B82">
              <a:alpha val="45000"/>
            </a:srgbClr>
          </a:solidFill>
          <a:ln w="12700">
            <a:solidFill>
              <a:srgbClr val="122B82">
                <a:alpha val="0"/>
              </a:srgbClr>
            </a:solidFill>
            <a:prstDash val="solid"/>
          </a:ln>
        </p:spPr>
      </p:sp>
      <p:pic>
        <p:nvPicPr>
          <p:cNvPr id="3" name="Image 0" descr="/home/user/Claude/presentation/assets/cts-logo-20yrs-dark.png"/>
          <p:cNvPicPr>
            <a:picLocks noChangeAspect="1"/>
          </p:cNvPicPr>
          <p:nvPr/>
        </p:nvPicPr>
        <p:blipFill>
          <a:blip r:embed="rId2"/>
          <a:stretch>
            <a:fillRect/>
          </a:stretch>
        </p:blipFill>
        <p:spPr>
          <a:xfrm>
            <a:off x="502920" y="457200"/>
            <a:ext cx="3388659" cy="960120"/>
          </a:xfrm>
          <a:prstGeom prst="rect">
            <a:avLst/>
          </a:prstGeom>
        </p:spPr>
      </p:pic>
      <p:sp>
        <p:nvSpPr>
          <p:cNvPr id="4" name="Text 1"/>
          <p:cNvSpPr>
            <a:spLocks noGrp="1"/>
          </p:cNvSpPr>
          <p:nvPr>
            <p:ph type="body" idx="102" hasCustomPrompt="1"/>
          </p:nvPr>
        </p:nvSpPr>
        <p:spPr>
          <a:xfrm>
            <a:off x="502920" y="1828800"/>
            <a:ext cx="585216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5" name="Text 1"/>
          <p:cNvSpPr>
            <a:spLocks noGrp="1"/>
          </p:cNvSpPr>
          <p:nvPr>
            <p:ph type="title" idx="103" hasCustomPrompt="1"/>
          </p:nvPr>
        </p:nvSpPr>
        <p:spPr>
          <a:xfrm>
            <a:off x="502920" y="2148840"/>
            <a:ext cx="585216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6" name="Text 1"/>
          <p:cNvSpPr>
            <a:spLocks noGrp="1"/>
          </p:cNvSpPr>
          <p:nvPr>
            <p:ph type="body" idx="104" hasCustomPrompt="1"/>
          </p:nvPr>
        </p:nvSpPr>
        <p:spPr>
          <a:xfrm>
            <a:off x="502920" y="3383280"/>
            <a:ext cx="585216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7" name="Text 1"/>
          <p:cNvSpPr>
            <a:spLocks noGrp="1"/>
          </p:cNvSpPr>
          <p:nvPr>
            <p:ph type="body" idx="105"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8" name="Text 1"/>
          <p:cNvSpPr>
            <a:spLocks noGrp="1"/>
          </p:cNvSpPr>
          <p:nvPr>
            <p:ph type="body" idx="106"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TS Production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3FD0C9">
              <a:alpha val="90000"/>
            </a:srgbClr>
          </a:solidFill>
          <a:ln w="12700">
            <a:solidFill>
              <a:srgbClr val="3FD0C9">
                <a:alpha val="0"/>
              </a:srgbClr>
            </a:solidFill>
            <a:prstDash val="solid"/>
          </a:ln>
        </p:spPr>
      </p:sp>
      <p:sp>
        <p:nvSpPr>
          <p:cNvPr id="3" name="Shape 1"/>
          <p:cNvSpPr/>
          <p:nvPr/>
        </p:nvSpPr>
        <p:spPr>
          <a:xfrm>
            <a:off x="6949440" y="2194560"/>
            <a:ext cx="3840480" cy="3840480"/>
          </a:xfrm>
          <a:prstGeom prst="ellipse">
            <a:avLst/>
          </a:prstGeom>
          <a:solidFill>
            <a:srgbClr val="005358">
              <a:alpha val="80000"/>
            </a:srgbClr>
          </a:solidFill>
          <a:ln w="12700">
            <a:solidFill>
              <a:srgbClr val="005358">
                <a:alpha val="0"/>
              </a:srgbClr>
            </a:solidFill>
            <a:prstDash val="solid"/>
          </a:ln>
        </p:spPr>
      </p:sp>
      <p:pic>
        <p:nvPicPr>
          <p:cNvPr id="4" name="Image 0" descr="/home/user/Claude/presentation/assets/cts-production-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TS Consulting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6D71FF">
              <a:alpha val="90000"/>
            </a:srgbClr>
          </a:solidFill>
          <a:ln w="12700">
            <a:solidFill>
              <a:srgbClr val="6D71FF">
                <a:alpha val="0"/>
              </a:srgbClr>
            </a:solidFill>
            <a:prstDash val="solid"/>
          </a:ln>
        </p:spPr>
      </p:sp>
      <p:sp>
        <p:nvSpPr>
          <p:cNvPr id="3" name="Shape 1"/>
          <p:cNvSpPr/>
          <p:nvPr/>
        </p:nvSpPr>
        <p:spPr>
          <a:xfrm>
            <a:off x="6949440" y="2194560"/>
            <a:ext cx="3840480" cy="3840480"/>
          </a:xfrm>
          <a:prstGeom prst="ellipse">
            <a:avLst/>
          </a:prstGeom>
          <a:solidFill>
            <a:srgbClr val="122B82">
              <a:alpha val="80000"/>
            </a:srgbClr>
          </a:solidFill>
          <a:ln w="12700">
            <a:solidFill>
              <a:srgbClr val="122B82">
                <a:alpha val="0"/>
              </a:srgbClr>
            </a:solidFill>
            <a:prstDash val="solid"/>
          </a:ln>
        </p:spPr>
      </p:sp>
      <p:pic>
        <p:nvPicPr>
          <p:cNvPr id="4" name="Image 0" descr="/home/user/Claude/presentation/assets/cts-consulting-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6D71FF"/>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6D71FF"/>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TS Support Cover">
    <p:bg>
      <p:bgPr>
        <a:solidFill>
          <a:srgbClr val="242C39"/>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F33844">
              <a:alpha val="90000"/>
            </a:srgbClr>
          </a:solidFill>
          <a:ln w="12700">
            <a:solidFill>
              <a:srgbClr val="F33844">
                <a:alpha val="0"/>
              </a:srgbClr>
            </a:solidFill>
            <a:prstDash val="solid"/>
          </a:ln>
        </p:spPr>
      </p:sp>
      <p:sp>
        <p:nvSpPr>
          <p:cNvPr id="3" name="Shape 1"/>
          <p:cNvSpPr/>
          <p:nvPr/>
        </p:nvSpPr>
        <p:spPr>
          <a:xfrm>
            <a:off x="6949440" y="2194560"/>
            <a:ext cx="3840480" cy="3840480"/>
          </a:xfrm>
          <a:prstGeom prst="ellipse">
            <a:avLst/>
          </a:prstGeom>
          <a:solidFill>
            <a:srgbClr val="A8052E">
              <a:alpha val="80000"/>
            </a:srgbClr>
          </a:solidFill>
          <a:ln w="12700">
            <a:solidFill>
              <a:srgbClr val="A8052E">
                <a:alpha val="0"/>
              </a:srgbClr>
            </a:solidFill>
            <a:prstDash val="solid"/>
          </a:ln>
        </p:spPr>
      </p:sp>
      <p:pic>
        <p:nvPicPr>
          <p:cNvPr id="4" name="Image 0" descr="/home/user/Claude/presentation/assets/cts-support-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F33844"/>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F33844"/>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TS Section (navy)">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5000"/>
            </a:srgbClr>
          </a:solidFill>
          <a:ln w="12700">
            <a:solidFill>
              <a:srgbClr val="6D71FF">
                <a:alpha val="0"/>
              </a:srgbClr>
            </a:solidFill>
            <a:prstDash val="solid"/>
          </a:ln>
        </p:spPr>
      </p:sp>
      <p:pic>
        <p:nvPicPr>
          <p:cNvPr id="3" name="Image 0" descr="/home/user/Claude/presentation/assets/cts-logo-dark.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TS Section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20000"/>
            </a:srgbClr>
          </a:solidFill>
          <a:ln w="12700">
            <a:solidFill>
              <a:srgbClr val="3FD0C9">
                <a:alpha val="0"/>
              </a:srgbClr>
            </a:solidFill>
            <a:prstDash val="solid"/>
          </a:ln>
        </p:spPr>
      </p:sp>
      <p:pic>
        <p:nvPicPr>
          <p:cNvPr id="3"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122B82"/>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242C39"/>
          </a:solidFill>
          <a:ln w="12700">
            <a:solidFill>
              <a:srgbClr val="242C3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FFFFFF"/>
                </a:solidFill>
                <a:latin typeface="Calibri" pitchFamily="34" charset="0"/>
                <a:ea typeface="Calibri" pitchFamily="34" charset="-122"/>
                <a:cs typeface="Calibri" pitchFamily="34" charset="-120"/>
              </a:defRPr>
            </a:lvl1pPr>
          </a:lstStyle>
          <a:p>
            <a:pPr marL="0" indent="0" algn="ctr">
              <a:buNone/>
            </a:pPr>
            <a:r>
              <a:rPr lang="en-US" sz="4800" b="1" dirty="0">
                <a:solidFill>
                  <a:srgbClr val="FFFFFF"/>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242C39"/>
                </a:solidFill>
                <a:latin typeface="Calibri" pitchFamily="34" charset="0"/>
                <a:ea typeface="Calibri" pitchFamily="34" charset="-122"/>
                <a:cs typeface="Calibri" pitchFamily="34" charset="-120"/>
              </a:defRPr>
            </a:lvl1pPr>
          </a:lstStyle>
          <a:p>
            <a:pPr marL="0" indent="0" algn="l">
              <a:buNone/>
            </a:pPr>
            <a:r>
              <a:rPr lang="en-US" sz="3600" b="1" dirty="0">
                <a:solidFill>
                  <a:srgbClr val="242C39"/>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242C39"/>
                </a:solidFill>
                <a:latin typeface="Calibri" pitchFamily="34" charset="0"/>
                <a:ea typeface="Calibri" pitchFamily="34" charset="-122"/>
                <a:cs typeface="Calibri" pitchFamily="34" charset="-120"/>
              </a:defRPr>
            </a:lvl1pPr>
          </a:lstStyle>
          <a:p>
            <a:pPr marL="0" indent="0">
              <a:buNone/>
            </a:pPr>
            <a:r>
              <a:rPr lang="en-US" sz="1600" dirty="0">
                <a:solidFill>
                  <a:srgbClr val="242C39"/>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TS Production Section">
    <p:bg>
      <p:bgPr>
        <a:solidFill>
          <a:srgbClr val="005358"/>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40000"/>
            </a:srgbClr>
          </a:solidFill>
          <a:ln w="12700">
            <a:solidFill>
              <a:srgbClr val="3FD0C9">
                <a:alpha val="0"/>
              </a:srgbClr>
            </a:solidFill>
            <a:prstDash val="solid"/>
          </a:ln>
        </p:spPr>
      </p:sp>
      <p:pic>
        <p:nvPicPr>
          <p:cNvPr id="3" name="Image 0" descr="/home/user/Claude/presentation/assets/cts-production-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TS Consulting Section">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0000"/>
            </a:srgbClr>
          </a:solidFill>
          <a:ln w="12700">
            <a:solidFill>
              <a:srgbClr val="6D71FF">
                <a:alpha val="0"/>
              </a:srgbClr>
            </a:solidFill>
            <a:prstDash val="solid"/>
          </a:ln>
        </p:spPr>
      </p:sp>
      <p:pic>
        <p:nvPicPr>
          <p:cNvPr id="3" name="Image 0" descr="/home/user/Claude/presentation/assets/cts-consulting-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6D71FF"/>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6D71FF"/>
          </a:solidFill>
          <a:ln w="12700">
            <a:solidFill>
              <a:srgbClr val="6D71FF"/>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TS Support Section">
    <p:bg>
      <p:bgPr>
        <a:solidFill>
          <a:srgbClr val="A8052E"/>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F33844">
              <a:alpha val="40000"/>
            </a:srgbClr>
          </a:solidFill>
          <a:ln w="12700">
            <a:solidFill>
              <a:srgbClr val="F33844">
                <a:alpha val="0"/>
              </a:srgbClr>
            </a:solidFill>
            <a:prstDash val="solid"/>
          </a:ln>
        </p:spPr>
      </p:sp>
      <p:pic>
        <p:nvPicPr>
          <p:cNvPr id="3" name="Image 0" descr="/home/user/Claude/presentation/assets/cts-support-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F33844"/>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F33844"/>
          </a:solidFill>
          <a:ln w="12700">
            <a:solidFill>
              <a:srgbClr val="F33844"/>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242C39"/>
                </a:solidFill>
                <a:latin typeface="Calibri" pitchFamily="34" charset="0"/>
                <a:ea typeface="Calibri" pitchFamily="34" charset="-122"/>
                <a:cs typeface="Calibri" pitchFamily="34" charset="-120"/>
              </a:defRPr>
            </a:lvl1pP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TS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TS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Corporate Technology Services  |  Seamless AV</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TS Production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TS Production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Production  |  Engaging Experiences</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TS Consulting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TS Consulting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Consulting  |  End to End collaboration</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TS Support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TS Support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242C39"/>
                </a:solidFill>
                <a:latin typeface="Calibri" pitchFamily="34" charset="0"/>
                <a:ea typeface="Calibri" pitchFamily="34" charset="-122"/>
                <a:cs typeface="Calibri" pitchFamily="34" charset="-120"/>
              </a:defRPr>
            </a:lvl1pPr>
          </a:lstStyle>
          <a:p>
            <a:pPr marL="0" indent="0" algn="l">
              <a:buNone/>
            </a:pPr>
            <a:r>
              <a:rPr lang="en-US" sz="2800" b="1" dirty="0">
                <a:solidFill>
                  <a:srgbClr val="242C39"/>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242C39"/>
                </a:solidFill>
                <a:latin typeface="Calibri" pitchFamily="34" charset="0"/>
                <a:ea typeface="Calibri" pitchFamily="34" charset="-122"/>
                <a:cs typeface="Calibri" pitchFamily="34" charset="-120"/>
              </a:rPr>
              <a:t>CTS Support  |  Personalised Service</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242C39"/>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chart" Target="../charts/chart5.xml"/><Relationship Id="rId4"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28800"/>
            <a:ext cx="5669280" cy="320040"/>
          </a:xfrm>
          <a:prstGeom prst="rect">
            <a:avLst/>
          </a:prstGeom>
          <a:noFill/>
          <a:ln/>
        </p:spPr>
        <p:txBody>
          <a:bodyPr wrap="square" lIns="0" tIns="0" rIns="0" bIns="0" rtlCol="0"/>
          <a:lstStyle/>
          <a:p>
            <a:pPr marL="0" indent="0">
              <a:buNone/>
            </a:pPr>
            <a:r>
              <a:rPr lang="en-US" sz="1200" b="1" kern="0" spc="300" dirty="0">
                <a:solidFill>
                  <a:srgbClr val="3FD0C9"/>
                </a:solidFill>
                <a:latin typeface="Calibri" pitchFamily="34" charset="0"/>
                <a:ea typeface="Calibri" pitchFamily="34" charset="-122"/>
                <a:cs typeface="Calibri" pitchFamily="34" charset="-120"/>
              </a:rPr>
              <a:t>MONTHLY BUSINESS REVIEW</a:t>
            </a:r>
            <a:endParaRPr lang="en-US" sz="1200" dirty="0"/>
          </a:p>
        </p:txBody>
      </p:sp>
      <p:sp>
        <p:nvSpPr>
          <p:cNvPr id="3" name="Text 3"/>
          <p:cNvSpPr>
            <a:spLocks noGrp="1"/>
          </p:cNvSpPr>
          <p:nvPr>
            <p:ph type="title" idx="105" hasCustomPrompt="1"/>
          </p:nvPr>
        </p:nvSpPr>
        <p:spPr>
          <a:xfrm>
            <a:off x="502920" y="2148840"/>
            <a:ext cx="5669280" cy="123444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September 2026</a:t>
            </a:r>
            <a:endParaRPr lang="en-US" sz="4000" dirty="0"/>
          </a:p>
        </p:txBody>
      </p:sp>
      <p:sp>
        <p:nvSpPr>
          <p:cNvPr id="4" name="Text 3"/>
          <p:cNvSpPr>
            <a:spLocks noGrp="1"/>
          </p:cNvSpPr>
          <p:nvPr>
            <p:ph type="body" idx="106" hasCustomPrompt="1"/>
          </p:nvPr>
        </p:nvSpPr>
        <p:spPr>
          <a:xfrm>
            <a:off x="502920" y="3383280"/>
            <a:ext cx="5669280" cy="548640"/>
          </a:xfrm>
          <a:prstGeom prst="rect">
            <a:avLst/>
          </a:prstGeom>
          <a:noFill/>
          <a:ln/>
        </p:spPr>
        <p:txBody>
          <a:bodyPr wrap="square" lIns="0" tIns="0" rIns="0" bIns="0" rtlCol="0" anchor="t"/>
          <a:lstStyle/>
          <a:p>
            <a:pPr marL="0" indent="0">
              <a:buNone/>
            </a:pPr>
            <a:r>
              <a:rPr lang="en-US" sz="1800" dirty="0">
                <a:solidFill>
                  <a:srgbClr val="C9CED6"/>
                </a:solidFill>
                <a:latin typeface="Calibri" pitchFamily="34" charset="0"/>
                <a:ea typeface="Calibri" pitchFamily="34" charset="-122"/>
                <a:cs typeface="Calibri" pitchFamily="34" charset="-120"/>
              </a:rPr>
              <a:t>Results, risk revenue, customers, cash and utilisation</a:t>
            </a:r>
            <a:endParaRPr lang="en-US" sz="1800" dirty="0"/>
          </a:p>
        </p:txBody>
      </p:sp>
      <p:sp>
        <p:nvSpPr>
          <p:cNvPr id="5" name="Text 3"/>
          <p:cNvSpPr>
            <a:spLocks noGrp="1"/>
          </p:cNvSpPr>
          <p:nvPr>
            <p:ph type="body" idx="107" hasCustomPrompt="1"/>
          </p:nvPr>
        </p:nvSpPr>
        <p:spPr>
          <a:xfrm>
            <a:off x="502920" y="4251960"/>
            <a:ext cx="3657600" cy="502920"/>
          </a:xfrm>
          <a:prstGeom prst="rect">
            <a:avLst/>
          </a:prstGeom>
          <a:noFill/>
          <a:ln/>
        </p:spPr>
        <p:txBody>
          <a:bodyPr wrap="square" lIns="0" tIns="0" rIns="0" bIns="0" rtlCol="0" anchor="b"/>
          <a:lstStyle/>
          <a:p>
            <a:pPr marL="0" indent="0">
              <a:buNone/>
            </a:pPr>
            <a:r>
              <a:rPr lang="en-US" sz="1200" dirty="0">
                <a:solidFill>
                  <a:srgbClr val="C9CED6"/>
                </a:solidFill>
                <a:latin typeface="Calibri" pitchFamily="34" charset="0"/>
                <a:ea typeface="Calibri" pitchFamily="34" charset="-122"/>
                <a:cs typeface="Calibri" pitchFamily="34" charset="-120"/>
              </a:rPr>
              <a:t>Financial Controller</a:t>
            </a:r>
            <a:endParaRPr lang="en-US" sz="1200" dirty="0"/>
          </a:p>
        </p:txBody>
      </p:sp>
      <p:sp>
        <p:nvSpPr>
          <p:cNvPr id="6" name="Text 3"/>
          <p:cNvSpPr>
            <a:spLocks noGrp="1"/>
          </p:cNvSpPr>
          <p:nvPr>
            <p:ph type="body" idx="108" hasCustomPrompt="1"/>
          </p:nvPr>
        </p:nvSpPr>
        <p:spPr>
          <a:xfrm>
            <a:off x="5943600" y="4251960"/>
            <a:ext cx="2697480" cy="502920"/>
          </a:xfrm>
          <a:prstGeom prst="rect">
            <a:avLst/>
          </a:prstGeom>
          <a:noFill/>
          <a:ln/>
        </p:spPr>
        <p:txBody>
          <a:bodyPr wrap="square" lIns="0" tIns="0" rIns="0" bIns="0" rtlCol="0" anchor="b"/>
          <a:lstStyle/>
          <a:p>
            <a:pPr marL="0" indent="0" algn="r">
              <a:buNone/>
            </a:pPr>
            <a:r>
              <a:rPr lang="en-US" sz="1200" dirty="0">
                <a:solidFill>
                  <a:srgbClr val="C9CED6"/>
                </a:solidFill>
                <a:latin typeface="Calibri" pitchFamily="34" charset="0"/>
                <a:ea typeface="Calibri" pitchFamily="34" charset="-122"/>
                <a:cs typeface="Calibri" pitchFamily="34" charset="-120"/>
              </a:rPr>
              <a:t>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AGENDA</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What we will cover</a:t>
            </a:r>
            <a:endParaRPr lang="en-US" sz="2800" dirty="0"/>
          </a:p>
        </p:txBody>
      </p:sp>
      <p:sp>
        <p:nvSpPr>
          <p:cNvPr id="4" name="Text 1"/>
          <p:cNvSpPr>
            <a:spLocks noGrp="1"/>
          </p:cNvSpPr>
          <p:nvPr>
            <p:ph type="body" idx="104" hasCustomPrompt="1"/>
          </p:nvPr>
        </p:nvSpPr>
        <p:spPr>
          <a:xfrm>
            <a:off x="502920" y="1554480"/>
            <a:ext cx="813816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Financial performance: P&amp;L summary, P&amp;L per department, risk revenue profile</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Customers and cash: top 10 customers, DSO and receivables, top customers year on year</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People and utilisation: utilisation by department, profit based on utilisation</a:t>
            </a:r>
            <a:endParaRPr lang="en-US" sz="1600" dirty="0"/>
          </a:p>
          <a:p>
            <a:pPr marL="342900" indent="-342900">
              <a:spcAft>
                <a:spcPts val="800"/>
              </a:spcAft>
              <a:buSzPct val="100000"/>
              <a:buChar char="•"/>
            </a:pPr>
            <a:r>
              <a:rPr lang="en-US" sz="1600" dirty="0">
                <a:solidFill>
                  <a:srgbClr val="242C39"/>
                </a:solidFill>
                <a:latin typeface="Calibri" pitchFamily="34" charset="0"/>
                <a:ea typeface="Calibri" pitchFamily="34" charset="-122"/>
                <a:cs typeface="Calibri" pitchFamily="34" charset="-120"/>
              </a:rPr>
              <a:t>Summary and actions</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01</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Financial performance</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P&amp;L for September 2026 and YTD (Jul to Sep)</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P&amp;L summary</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371600">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Revenue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1,996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356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Cost of sales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(374)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Gross profit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-280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3"/>
                  </a:ext>
                </a:extLst>
              </a:tr>
              <a:tr h="246888">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Gross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+3.3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45.7%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-6.8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Overheads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(642)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EBITDA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+20.1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11.2%</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-10.8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-14.8%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txBox="1"/>
          <p:nvPr/>
        </p:nvSpPr>
        <p:spPr>
          <a:xfrm>
            <a:off x="502920" y="3547872"/>
            <a:ext cx="557784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Revenue and EBITDA, Jul to Sep actual, Oct to Dec budget</a:t>
            </a:r>
            <a:endParaRPr lang="en-US" sz="900" dirty="0"/>
          </a:p>
        </p:txBody>
      </p:sp>
      <p:sp>
        <p:nvSpPr>
          <p:cNvPr id="7"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Break even needs 549k of revenue a month. We are running at 541k.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EBITDA miss is all margin. Overheads came in 48k under budget.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Gross profit missed 280k: 170k on volume, 110k on a 6.8 point margin drop.</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At this run rate we meet the revenue budget and still lose 37k.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Reforecast on margin, not revenue. Cost is not the lever here.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4</a:t>
            </a:fld>
            <a:endParaRPr lang="en-US"/>
          </a:p>
        </p:txBody>
      </p:sp>
      <p:pic>
        <p:nvPicPr>
          <p:cNvPr id="26" name="Picture 25" descr="rev_ebitda.png"/>
          <p:cNvPicPr>
            <a:picLocks noChangeAspect="1"/>
          </p:cNvPicPr>
          <p:nvPr/>
        </p:nvPicPr>
        <p:blipFill>
          <a:blip r:embed="rId4"/>
          <a:stretch>
            <a:fillRect/>
          </a:stretch>
        </p:blipFill>
        <p:spPr>
          <a:xfrm>
            <a:off x="884803" y="3730752"/>
            <a:ext cx="4814073" cy="88696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P&amp;L per department, Sep 26</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713232">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749808">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Gross profit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GM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All overhead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46888">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33.4%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3547872"/>
            <a:ext cx="5577840" cy="457200"/>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All overhead is the department's own overhead plus its share of admin, spread on the preset keys. Admin itself carries nothing once its overhead is charged out. Result is revenue less direct costs less all overhead, and the five departments add back to net profit exactly.</a:t>
            </a:r>
            <a:endParaRPr lang="en-US" sz="900" dirty="0"/>
          </a:p>
        </p:txBody>
      </p:sp>
      <p:sp>
        <p:nvSpPr>
          <p:cNvPr id="4"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Only Support covers its overhead. It returned 12 per cent on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charged 87.5 per cent of premises on 13 per cent of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 that key Events cannot be profitable, whatever it sells.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made 10k on 235k. A fit-out at that margin carries risk for nothing.</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Consulting holds 20k of overhead on a 3.5k fee base. Its future needs a decision.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Revenue and contribution by department</a:t>
            </a:r>
            <a:endParaRPr lang="en-US" sz="2800" dirty="0"/>
          </a:p>
        </p:txBody>
      </p:sp>
      <p:sp>
        <p:nvSpPr>
          <p:cNvPr id="5"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7"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of five departments clear their overhead. Three do not.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Integration's bar is one project. Underlying it is a 60k a quarter unit.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the structural problem: heavy overhead, thin and falling fee income.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overhead keys were set for a different shape of business.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Test the Office Dept key before the FY28 budget, not mid year.</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6</a:t>
            </a:fld>
            <a:endParaRPr lang="en-US"/>
          </a:p>
        </p:txBody>
      </p:sp>
      <p:pic>
        <p:nvPicPr>
          <p:cNvPr id="26" name="Picture 25" descr="dept.png"/>
          <p:cNvPicPr>
            <a:picLocks noChangeAspect="1"/>
          </p:cNvPicPr>
          <p:nvPr/>
        </p:nvPicPr>
        <p:blipFill>
          <a:blip r:embed="rId4"/>
          <a:stretch>
            <a:fillRect/>
          </a:stretch>
        </p:blipFill>
        <p:spPr>
          <a:xfrm>
            <a:off x="589058" y="1463040"/>
            <a:ext cx="5405563" cy="3154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Risk revenue profile</a:t>
            </a:r>
            <a:endParaRPr lang="en-US" sz="2800" dirty="0"/>
          </a:p>
        </p:txBody>
      </p:sp>
      <p:sp>
        <p:nvSpPr>
          <p:cNvPr id="4" name="Shape 2"/>
          <p:cNvSpPr/>
          <p:nvPr/>
        </p:nvSpPr>
        <p:spPr>
          <a:xfrm>
            <a:off x="50292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33284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43%</a:t>
            </a:r>
            <a:endParaRPr lang="en-US" sz="2200" dirty="0"/>
          </a:p>
        </p:txBody>
      </p:sp>
      <p:sp>
        <p:nvSpPr>
          <p:cNvPr id="6" name="Text 4"/>
          <p:cNvSpPr txBox="1"/>
          <p:nvPr/>
        </p:nvSpPr>
        <p:spPr>
          <a:xfrm>
            <a:off x="640080" y="1859890"/>
            <a:ext cx="146304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Contracted revenue, YTD</a:t>
            </a:r>
            <a:endParaRPr lang="en-US" sz="900" dirty="0"/>
          </a:p>
        </p:txBody>
      </p:sp>
      <p:sp>
        <p:nvSpPr>
          <p:cNvPr id="7" name="Shape 5"/>
          <p:cNvSpPr/>
          <p:nvPr/>
        </p:nvSpPr>
        <p:spPr>
          <a:xfrm>
            <a:off x="237744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332842"/>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55%</a:t>
            </a:r>
            <a:endParaRPr lang="en-US" sz="2200" dirty="0"/>
          </a:p>
        </p:txBody>
      </p:sp>
      <p:sp>
        <p:nvSpPr>
          <p:cNvPr id="9" name="Text 7"/>
          <p:cNvSpPr txBox="1"/>
          <p:nvPr/>
        </p:nvSpPr>
        <p:spPr>
          <a:xfrm>
            <a:off x="2514600" y="1859890"/>
            <a:ext cx="146304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Non-contract revenue, at risk</a:t>
            </a:r>
            <a:endParaRPr lang="en-US" sz="900" dirty="0"/>
          </a:p>
        </p:txBody>
      </p:sp>
      <p:sp>
        <p:nvSpPr>
          <p:cNvPr id="10" name="Shape 8"/>
          <p:cNvSpPr/>
          <p:nvPr/>
        </p:nvSpPr>
        <p:spPr>
          <a:xfrm>
            <a:off x="4251960" y="1463040"/>
            <a:ext cx="1828800" cy="64008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332842"/>
          </a:xfrm>
          <a:prstGeom prst="rect">
            <a:avLst/>
          </a:prstGeom>
          <a:noFill/>
          <a:ln/>
        </p:spPr>
        <p:txBody>
          <a:bodyPr wrap="square" lIns="0" tIns="0" rIns="0" bIns="0" rtlCol="0" anchor="b"/>
          <a:lstStyle/>
          <a:p>
            <a:pPr marL="0" indent="0">
              <a:buNone/>
            </a:pPr>
            <a:r>
              <a:rPr lang="en-US" sz="2200" b="1" dirty="0">
                <a:solidFill>
                  <a:srgbClr val="242C39"/>
                </a:solidFill>
                <a:latin typeface="Calibri" pitchFamily="34" charset="0"/>
                <a:ea typeface="Calibri" pitchFamily="34" charset="-122"/>
                <a:cs typeface="Calibri" pitchFamily="34" charset="-120"/>
              </a:rPr>
              <a:t>5</a:t>
            </a:r>
            <a:endParaRPr lang="en-US" sz="2200" dirty="0"/>
          </a:p>
        </p:txBody>
      </p:sp>
      <p:sp>
        <p:nvSpPr>
          <p:cNvPr id="12" name="Text 10"/>
          <p:cNvSpPr txBox="1"/>
          <p:nvPr/>
        </p:nvSpPr>
        <p:spPr>
          <a:xfrm>
            <a:off x="4389120" y="1859890"/>
            <a:ext cx="1554480" cy="217627"/>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Revenue lines flagged Medium or High</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5577840" cy="1124712"/>
        </p:xfrm>
        <a:graphic>
          <a:graphicData uri="http://schemas.openxmlformats.org/drawingml/2006/table">
            <a:tbl>
              <a:tblPr/>
              <a:tblGrid>
                <a:gridCol w="22860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49808">
                  <a:extLst>
                    <a:ext uri="{9D8B030D-6E8A-4147-A177-3AD203B41FA5}">
                      <a16:colId xmlns:a16="http://schemas.microsoft.com/office/drawing/2014/main" val="20005"/>
                    </a:ext>
                  </a:extLst>
                </a:gridCol>
              </a:tblGrid>
              <a:tr h="18745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Revenue line, YTD</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Budget</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 %</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Risk</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Integration,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-254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-41.7%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A8052E"/>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Consulting,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237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-233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-98.3%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Support,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610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743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-18.0%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Support,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242C39"/>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242C39"/>
                          </a:solidFill>
                          <a:latin typeface="Calibri" pitchFamily="34" charset="0"/>
                          <a:ea typeface="Calibri" pitchFamily="34" charset="-122"/>
                          <a:cs typeface="Calibri" pitchFamily="34" charset="-120"/>
                        </a:rPr>
                        <a:t>Integration,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242C39"/>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242C39"/>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Shape 11"/>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6" name="Text 12"/>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7" name="Text 13"/>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Only 43 per cent of revenue is contracted. The rest is rebuilt every month.</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and Consulting non-contract are 487k behind for the quarter.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That budget is not recoverable across the remaining nine months.</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Recommend a formal reforecast of both lines before the half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lines earn against no budget. A pack fix, not a trading issue.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7</a:t>
            </a:fld>
            <a:endParaRPr lang="en-US"/>
          </a:p>
        </p:txBody>
      </p:sp>
      <p:pic>
        <p:nvPicPr>
          <p:cNvPr id="26" name="Picture 25" descr="mix.png"/>
          <p:cNvPicPr>
            <a:picLocks noChangeAspect="1"/>
          </p:cNvPicPr>
          <p:nvPr/>
        </p:nvPicPr>
        <p:blipFill>
          <a:blip r:embed="rId4"/>
          <a:stretch>
            <a:fillRect/>
          </a:stretch>
        </p:blipFill>
        <p:spPr>
          <a:xfrm>
            <a:off x="744003" y="2194560"/>
            <a:ext cx="5095673" cy="1188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02</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Customers and cash</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Top customers, receivables and days sales outstanding</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10 customers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2798064"/>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33172">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Customer, 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FY27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Share of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FY26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A$k</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1.  Deloitte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2.  Aware Super</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3.  CBA (Place South)</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4.  Ventia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5.  PwC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6.  APT Management (APA)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+1022%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7.  ASX Operations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8.  Bankwest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9.  Data#3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233172">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10.  Generation-e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r h="233172">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Top 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+464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11"/>
                  </a:ext>
                </a:extLst>
              </a:tr>
            </a:tbl>
          </a:graphicData>
        </a:graphic>
      </p:graphicFrame>
      <p:sp>
        <p:nvSpPr>
          <p:cNvPr id="5" name="Text 2"/>
          <p:cNvSpPr txBox="1"/>
          <p:nvPr/>
        </p:nvSpPr>
        <p:spPr>
          <a:xfrm>
            <a:off x="502920" y="4352544"/>
            <a:ext cx="5577840" cy="365760"/>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FY27 is earned revenue from the Xero general ledger, ex GST, and ties to the P&amp;L. FY26 is invoices issued 1 Jul to 30 Sep 2025 from Xero, ex GST.</a:t>
            </a:r>
            <a:endParaRPr lang="en-US" sz="9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Top three customers are 49 per cent of revenue. That is the real exposure.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Deloitte at 402k is close to the whole EBITDA base. Losing it ends the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at 285k is one fit-out and will not be there next quarter.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Three of the ten are new, 368k, none contracted beyond the current job.</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Recommend a retention plan on Deloitte and contract cover on the new three.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10 customers by revenue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Earned revenue from the Xero general ledger, ex GST, 1 Jul to 30 Sep 2026. Ties to total income on the P&amp;L.</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The concentration is in project work, not in contracted revenue.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Deloitte and Aware Super are 42 per cent of the year between them.</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Below the top five the book falls away fast. Number ten is 37k.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Everything outside the top ten is 384k, with no depth behind it.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Put the business development target on the second tier, not the top.</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top10.png"/>
          <p:cNvPicPr>
            <a:picLocks noChangeAspect="1"/>
          </p:cNvPicPr>
          <p:nvPr/>
        </p:nvPicPr>
        <p:blipFill>
          <a:blip r:embed="rId2"/>
          <a:stretch>
            <a:fillRect/>
          </a:stretch>
        </p:blipFill>
        <p:spPr>
          <a:xfrm>
            <a:off x="565724" y="1463040"/>
            <a:ext cx="5452232" cy="28346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Receivables and days sales outstanding</a:t>
            </a:r>
            <a:endParaRPr lang="en-US" sz="2800" dirty="0"/>
          </a:p>
        </p:txBody>
      </p:sp>
      <p:sp>
        <p:nvSpPr>
          <p:cNvPr id="4" name="Shape 2"/>
          <p:cNvSpPr/>
          <p:nvPr/>
        </p:nvSpPr>
        <p:spPr>
          <a:xfrm>
            <a:off x="50292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47 days</a:t>
            </a:r>
            <a:endParaRPr lang="en-US" sz="2200" dirty="0"/>
          </a:p>
        </p:txBody>
      </p:sp>
      <p:sp>
        <p:nvSpPr>
          <p:cNvPr id="6" name="Text 4"/>
          <p:cNvSpPr txBox="1"/>
          <p:nvPr/>
        </p:nvSpPr>
        <p:spPr>
          <a:xfrm>
            <a:off x="640080" y="1944929"/>
            <a:ext cx="146304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DSO, target 30 days</a:t>
            </a:r>
            <a:endParaRPr lang="en-US" sz="900" dirty="0"/>
          </a:p>
        </p:txBody>
      </p:sp>
      <p:sp>
        <p:nvSpPr>
          <p:cNvPr id="7" name="Shape 5"/>
          <p:cNvSpPr/>
          <p:nvPr/>
        </p:nvSpPr>
        <p:spPr>
          <a:xfrm>
            <a:off x="237744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404165"/>
          </a:xfrm>
          <a:prstGeom prst="rect">
            <a:avLst/>
          </a:prstGeom>
          <a:noFill/>
          <a:ln/>
        </p:spPr>
        <p:txBody>
          <a:bodyPr wrap="square" lIns="0" tIns="0" rIns="0" bIns="0" rtlCol="0" anchor="b"/>
          <a:lstStyle/>
          <a:p>
            <a:pPr marL="0" indent="0">
              <a:buNone/>
            </a:pPr>
            <a:r>
              <a:rPr lang="en-US" sz="2200" b="1" dirty="0">
                <a:solidFill>
                  <a:srgbClr val="242C39"/>
                </a:solidFill>
                <a:latin typeface="Calibri" pitchFamily="34" charset="0"/>
                <a:ea typeface="Calibri" pitchFamily="34" charset="-122"/>
                <a:cs typeface="Calibri" pitchFamily="34" charset="-120"/>
              </a:rPr>
              <a:t>$0.83m</a:t>
            </a:r>
            <a:endParaRPr lang="en-US" sz="2200" dirty="0"/>
          </a:p>
        </p:txBody>
      </p:sp>
      <p:sp>
        <p:nvSpPr>
          <p:cNvPr id="9" name="Text 7"/>
          <p:cNvSpPr txBox="1"/>
          <p:nvPr/>
        </p:nvSpPr>
        <p:spPr>
          <a:xfrm>
            <a:off x="2514600" y="1944929"/>
            <a:ext cx="146304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Trade receivables at month end</a:t>
            </a:r>
            <a:endParaRPr lang="en-US" sz="900" dirty="0"/>
          </a:p>
        </p:txBody>
      </p:sp>
      <p:sp>
        <p:nvSpPr>
          <p:cNvPr id="10" name="Shape 8"/>
          <p:cNvSpPr/>
          <p:nvPr/>
        </p:nvSpPr>
        <p:spPr>
          <a:xfrm>
            <a:off x="4251960" y="1463040"/>
            <a:ext cx="1828800" cy="77724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$25k</a:t>
            </a:r>
            <a:endParaRPr lang="en-US" sz="2200" dirty="0"/>
          </a:p>
        </p:txBody>
      </p:sp>
      <p:sp>
        <p:nvSpPr>
          <p:cNvPr id="12" name="Text 10"/>
          <p:cNvSpPr txBox="1"/>
          <p:nvPr/>
        </p:nvSpPr>
        <p:spPr>
          <a:xfrm>
            <a:off x="4389120" y="1944929"/>
            <a:ext cx="1554480" cy="264262"/>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Over 60 days</a:t>
            </a:r>
            <a:endParaRPr lang="en-US" sz="900" dirty="0"/>
          </a:p>
        </p:txBody>
      </p:sp>
      <p:sp>
        <p:nvSpPr>
          <p:cNvPr id="13" name="Text 11"/>
          <p:cNvSpPr txBox="1"/>
          <p:nvPr/>
        </p:nvSpPr>
        <p:spPr>
          <a:xfrm>
            <a:off x="502920" y="2377440"/>
            <a:ext cx="292608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Aged receivables at 30 September</a:t>
            </a:r>
            <a:endParaRPr lang="en-US" sz="900" dirty="0"/>
          </a:p>
        </p:txBody>
      </p:sp>
      <p:sp>
        <p:nvSpPr>
          <p:cNvPr id="15" name="Text 12"/>
          <p:cNvSpPr txBox="1"/>
          <p:nvPr/>
        </p:nvSpPr>
        <p:spPr>
          <a:xfrm>
            <a:off x="3611880" y="2377440"/>
            <a:ext cx="2468880" cy="201168"/>
          </a:xfrm>
          <a:prstGeom prst="rect">
            <a:avLst/>
          </a:prstGeom>
          <a:noFill/>
          <a:ln/>
        </p:spPr>
        <p:txBody>
          <a:bodyPr wrap="square" lIns="0" tIns="0" rIns="0" bIns="0" rtlCol="0" anchor="ctr"/>
          <a:lstStyle/>
          <a:p>
            <a:pPr marL="0" indent="0">
              <a:buNone/>
            </a:pPr>
            <a:r>
              <a:rPr lang="en-US" sz="900" b="1" dirty="0">
                <a:solidFill>
                  <a:srgbClr val="242C39"/>
                </a:solidFill>
                <a:latin typeface="Calibri" pitchFamily="34" charset="0"/>
                <a:ea typeface="Calibri" pitchFamily="34" charset="-122"/>
                <a:cs typeface="Calibri" pitchFamily="34" charset="-120"/>
              </a:rPr>
              <a:t>Who owes the most, A$ thousands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11880" y="2606040"/>
          <a:ext cx="2468880" cy="1664208"/>
        </p:xfrm>
        <a:graphic>
          <a:graphicData uri="http://schemas.openxmlformats.org/drawingml/2006/table">
            <a:tbl>
              <a:tblPr/>
              <a:tblGrid>
                <a:gridCol w="13716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A$k</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Aware Super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277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Deloitte Services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Ventia</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Downer EDI</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Generation-e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00" b="1" dirty="0">
                          <a:solidFill>
                            <a:srgbClr val="242C39"/>
                          </a:solidFill>
                          <a:latin typeface="Calibri" pitchFamily="34" charset="0"/>
                          <a:ea typeface="Calibri" pitchFamily="34" charset="-122"/>
                          <a:cs typeface="Calibri" pitchFamily="34" charset="-120"/>
                        </a:rPr>
                        <a:t>All others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30.0%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3611880" y="4343400"/>
            <a:ext cx="246888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DSO = receivables / (last three months revenue / 92 days). Source: Xero aged receivables at 30 September 2026.</a:t>
            </a:r>
            <a:endParaRPr lang="en-US" sz="800" dirty="0"/>
          </a:p>
        </p:txBody>
      </p:sp>
      <p:sp>
        <p:nvSpPr>
          <p:cNvPr id="18" name="Shape 14"/>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9" name="Text 15"/>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20" name="Text 16"/>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DSO is 47.5 days against a 30 day target.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Every day of DSO is 17.7k of cash. Seventeen days is 309k.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309k sits in debtors against net debt of 723k. Fastest cash lever we have.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is 277k of the 833k, on one invoice due 9 October.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Two invoices over 90 days, 25k. Chase or provide this month.</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10</a:t>
            </a:fld>
            <a:endParaRPr lang="en-US"/>
          </a:p>
        </p:txBody>
      </p:sp>
      <p:pic>
        <p:nvPicPr>
          <p:cNvPr id="26" name="Picture 25" descr="ageing.png"/>
          <p:cNvPicPr>
            <a:picLocks noChangeAspect="1"/>
          </p:cNvPicPr>
          <p:nvPr/>
        </p:nvPicPr>
        <p:blipFill>
          <a:blip r:embed="rId4"/>
          <a:stretch>
            <a:fillRect/>
          </a:stretch>
        </p:blipFill>
        <p:spPr>
          <a:xfrm>
            <a:off x="508450" y="2560320"/>
            <a:ext cx="2915020"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Top customers, FY27 vs FY26 year to date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242C39"/>
                </a:solidFill>
                <a:latin typeface="Calibri" pitchFamily="34" charset="0"/>
                <a:ea typeface="Calibri" pitchFamily="34" charset="-122"/>
                <a:cs typeface="Calibri" pitchFamily="34" charset="-120"/>
              </a:rPr>
              <a:t>FY27 is earned revenue from the Xero general ledger, ex GST. FY26 is invoices issued in the same period from Xero, ex GST. Ranked by this year.</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All the growth is three new customers. The base we had is flat.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Aware Super, Data#3 and Generation-e are 368k and none existed last year.</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On the existing base, gains of 146k against losses of 50k.</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ASX is down a third. That is a relationship to repair, not a market shift.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If the three new names do not repeat, FY28 opens 368k behind.</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yoy.png"/>
          <p:cNvPicPr>
            <a:picLocks noChangeAspect="1"/>
          </p:cNvPicPr>
          <p:nvPr/>
        </p:nvPicPr>
        <p:blipFill>
          <a:blip r:embed="rId4"/>
          <a:stretch>
            <a:fillRect/>
          </a:stretch>
        </p:blipFill>
        <p:spPr>
          <a:xfrm>
            <a:off x="565724" y="1463040"/>
            <a:ext cx="5452232" cy="28346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242C39"/>
                </a:solidFill>
                <a:latin typeface="Calibri" pitchFamily="34" charset="0"/>
                <a:ea typeface="Calibri" pitchFamily="34" charset="-122"/>
                <a:cs typeface="Calibri" pitchFamily="34" charset="-120"/>
              </a:rPr>
              <a:t>03</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People and utilisation</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Chargeable hours, utilisation and the profit they produce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Utilisation by department, Sep 26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664208"/>
        </p:xfrm>
        <a:graphic>
          <a:graphicData uri="http://schemas.openxmlformats.org/drawingml/2006/table">
            <a:tbl>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tblGrid>
              <a:tr h="237744">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September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FTE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Non-chargeable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Leave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Chg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Prior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vs target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76.0%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50" dirty="0">
                          <a:solidFill>
                            <a:srgbClr val="242C39"/>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26.8%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242C39"/>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50" b="1" dirty="0">
                          <a:solidFill>
                            <a:srgbClr val="242C39"/>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15.8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2,437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366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242C39"/>
                          </a:solidFill>
                          <a:latin typeface="Calibri" pitchFamily="34" charset="0"/>
                          <a:ea typeface="Calibri" pitchFamily="34" charset="-122"/>
                          <a:cs typeface="Calibri" pitchFamily="34" charset="-120"/>
                        </a:rPr>
                        <a:t>604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87.0%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7"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Support records 11 non-chargeable hours in a month. That is not credible.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Until it is fixed the 99.5 per cent means nothing, and nor does the target.</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is at 49 per cent with 333 hours of leave. Capacity is sitting idle.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Consulting at 27 per cent confirms there is no fee base to utilise.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Hours are split by the job, the same basis revenue is split on.</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13</a:t>
            </a:fld>
            <a:endParaRPr lang="en-US"/>
          </a:p>
        </p:txBody>
      </p:sp>
      <p:pic>
        <p:nvPicPr>
          <p:cNvPr id="26" name="Picture 25" descr="util.png"/>
          <p:cNvPicPr>
            <a:picLocks noChangeAspect="1"/>
          </p:cNvPicPr>
          <p:nvPr/>
        </p:nvPicPr>
        <p:blipFill>
          <a:blip r:embed="rId4"/>
          <a:stretch>
            <a:fillRect/>
          </a:stretch>
        </p:blipFill>
        <p:spPr>
          <a:xfrm>
            <a:off x="502920" y="3675887"/>
            <a:ext cx="5577840" cy="914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Profit based on utilisation</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740408"/>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tblGrid>
              <a:tr h="43510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September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hrs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 /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Labour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After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Per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+5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435102">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Support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99.5%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243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(128)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435102">
                <a:tc>
                  <a:txBody>
                    <a:bodyPr/>
                    <a:lstStyle/>
                    <a:p>
                      <a:pPr marL="0" indent="0" algn="l">
                        <a:buNone/>
                      </a:pPr>
                      <a:r>
                        <a:rPr lang="en-US" sz="900" dirty="0">
                          <a:solidFill>
                            <a:srgbClr val="242C39"/>
                          </a:solidFill>
                          <a:latin typeface="Calibri" pitchFamily="34" charset="0"/>
                          <a:ea typeface="Calibri" pitchFamily="34" charset="-122"/>
                          <a:cs typeface="Calibri" pitchFamily="34" charset="-120"/>
                        </a:rPr>
                        <a:t>Events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49.1%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$305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242C39"/>
                          </a:solidFill>
                          <a:latin typeface="Calibri" pitchFamily="34" charset="0"/>
                          <a:ea typeface="Calibri" pitchFamily="34" charset="-122"/>
                          <a:cs typeface="Calibri" pitchFamily="34" charset="-120"/>
                        </a:rPr>
                        <a:t>$258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435102">
                <a:tc>
                  <a:txBody>
                    <a:bodyPr/>
                    <a:lstStyle/>
                    <a:p>
                      <a:pPr marL="0" indent="0" algn="l">
                        <a:buNone/>
                      </a:pPr>
                      <a:r>
                        <a:rPr lang="en-US" sz="900" b="1" dirty="0">
                          <a:solidFill>
                            <a:srgbClr val="242C39"/>
                          </a:solidFill>
                          <a:latin typeface="Calibri" pitchFamily="34" charset="0"/>
                          <a:ea typeface="Calibri" pitchFamily="34" charset="-122"/>
                          <a:cs typeface="Calibri" pitchFamily="34" charset="-120"/>
                        </a:rPr>
                        <a:t>CTS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2,437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242C39"/>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005358"/>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3264408"/>
            <a:ext cx="2651760" cy="1353312"/>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0080" y="3355848"/>
            <a:ext cx="2377440" cy="70372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+$20k a month</a:t>
            </a:r>
            <a:endParaRPr lang="en-US" sz="2200" dirty="0"/>
          </a:p>
        </p:txBody>
      </p:sp>
      <p:sp>
        <p:nvSpPr>
          <p:cNvPr id="7" name="Text 4"/>
          <p:cNvSpPr txBox="1"/>
          <p:nvPr/>
        </p:nvSpPr>
        <p:spPr>
          <a:xfrm>
            <a:off x="640080" y="4103461"/>
            <a:ext cx="2377440" cy="460126"/>
          </a:xfrm>
          <a:prstGeom prst="rect">
            <a:avLst/>
          </a:prstGeom>
          <a:noFill/>
          <a:ln/>
        </p:spPr>
        <p:txBody>
          <a:bodyPr wrap="square" lIns="0" tIns="0" rIns="0" bIns="0" rtlCol="0" anchor="t"/>
          <a:lstStyle/>
          <a:p>
            <a:pPr marL="0" indent="0">
              <a:buNone/>
            </a:pPr>
            <a:r>
              <a:rPr lang="en-US" sz="900" dirty="0">
                <a:solidFill>
                  <a:srgbClr val="242C39"/>
                </a:solidFill>
                <a:latin typeface="Calibri" pitchFamily="34" charset="0"/>
                <a:ea typeface="Calibri" pitchFamily="34" charset="-122"/>
                <a:cs typeface="Calibri" pitchFamily="34" charset="-120"/>
              </a:rPr>
              <a:t>Five more points of utilisation on Support and Events, at the revenue per chargeable hour each already earns, before any extra cost</a:t>
            </a:r>
            <a:endParaRPr lang="en-US" sz="900" dirty="0"/>
          </a:p>
        </p:txBody>
      </p:sp>
      <p:sp>
        <p:nvSpPr>
          <p:cNvPr id="8" name="Text 5"/>
          <p:cNvSpPr txBox="1"/>
          <p:nvPr/>
        </p:nvSpPr>
        <p:spPr>
          <a:xfrm>
            <a:off x="3291840" y="3264408"/>
            <a:ext cx="2788920" cy="1353312"/>
          </a:xfrm>
          <a:prstGeom prst="rect">
            <a:avLst/>
          </a:prstGeom>
          <a:noFill/>
          <a:ln/>
        </p:spPr>
        <p:txBody>
          <a:bodyPr wrap="square" lIns="0" tIns="0" rIns="0" bIns="0" rtlCol="0" anchor="t"/>
          <a:lstStyle/>
          <a:p>
            <a:pPr marL="0" indent="0">
              <a:buNone/>
            </a:pPr>
            <a:r>
              <a:rPr lang="en-US" sz="850" dirty="0">
                <a:solidFill>
                  <a:srgbClr val="242C39"/>
                </a:solidFill>
                <a:latin typeface="Calibri" pitchFamily="34" charset="0"/>
                <a:ea typeface="Calibri" pitchFamily="34" charset="-122"/>
                <a:cs typeface="Calibri" pitchFamily="34" charset="-120"/>
              </a:rPr>
              <a:t>Video and Integration are left out: 24 and 10 chargeable hours are too few for a rate to mean anything. Revenue per hour is department revenue divided by chargeable hours. It is not a charge rate, it includes equipment, hire and freight, and the pack does not hold charge rates. Labour is wages, salaries, superannuation and workers compensation coded to the department.</a:t>
            </a:r>
            <a:endParaRPr lang="en-US" sz="850" dirty="0"/>
          </a:p>
        </p:txBody>
      </p:sp>
      <p:sp>
        <p:nvSpPr>
          <p:cNvPr id="9" name="Shape 6"/>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0" name="Text 7"/>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1" name="Text 8"/>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Support returns $54 of margin an hour after direct labour. That is the engine.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Events returns $258, but on equipment revenue. It is not a labour rate.</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Integration billed 235k on 9.5 chargeable hours. That work was bought in.</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That is why its margin is 10 per cent. We are reselling, not delivering.</a:t>
            </a:r>
            <a:endParaRPr lang="en-US" sz="1050" dirty="0"/>
          </a:p>
          <a:p>
            <a:pPr marL="127000" indent="-127000">
              <a:spcAft>
                <a:spcPts val="600"/>
              </a:spcAft>
              <a:buSzPct val="100000"/>
              <a:buChar char="•"/>
            </a:pPr>
            <a:r>
              <a:rPr lang="en-US" sz="1050" dirty="0">
                <a:solidFill>
                  <a:srgbClr val="242C39"/>
                </a:solidFill>
                <a:latin typeface="Calibri" pitchFamily="34" charset="0"/>
                <a:ea typeface="Calibri" pitchFamily="34" charset="-122"/>
                <a:cs typeface="Calibri" pitchFamily="34" charset="-120"/>
              </a:rPr>
              <a:t>Five points on Support and Events is worth 20k a month at no extra cost.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04</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242C39"/>
                </a:solidFill>
                <a:latin typeface="Calibri" pitchFamily="34" charset="0"/>
                <a:ea typeface="Calibri" pitchFamily="34" charset="-122"/>
                <a:cs typeface="Calibri" pitchFamily="34" charset="-120"/>
              </a:rPr>
              <a:t>Summary and actions</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242C39"/>
                </a:solidFill>
                <a:latin typeface="Calibri" pitchFamily="34" charset="0"/>
                <a:ea typeface="Calibri" pitchFamily="34" charset="-122"/>
                <a:cs typeface="Calibri" pitchFamily="34" charset="-120"/>
              </a:rPr>
              <a:t>The commentary from each sheet, with an owner and a date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SUMMARY AND ACTIONS</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242C39"/>
                </a:solidFill>
                <a:latin typeface="Calibri" pitchFamily="34" charset="0"/>
                <a:ea typeface="Calibri" pitchFamily="34" charset="-122"/>
                <a:cs typeface="Calibri" pitchFamily="34" charset="-120"/>
              </a:rPr>
              <a:t>Commentary and actions from this review</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3017520"/>
        </p:xfrm>
        <a:graphic>
          <a:graphicData uri="http://schemas.openxmlformats.org/drawingml/2006/table">
            <a:tbl>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What we agreed</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Due</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P&amp;L</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Reforecast FY27 on margin, not revenue. At the current run rate we meet the revenue budget and deliver an EBITDA loss of 37k against a 397k plan.</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Overhead keys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Events carries 87.5 per cent of premises on 13 per cent of revenue and cannot be profitable on that key. Test it for FY28, do not change it mid year.</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30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Customers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Top three are 49 per cent of revenue. Agree a retention plan for Deloitte and contract cover for Aware Super, Data#3 and Generation-e.</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GC and Sales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14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242C39"/>
                          </a:solidFill>
                          <a:latin typeface="Calibri" pitchFamily="34" charset="0"/>
                          <a:ea typeface="Calibri" pitchFamily="34" charset="-122"/>
                          <a:cs typeface="Calibri" pitchFamily="34" charset="-120"/>
                        </a:rPr>
                        <a:t>Cash</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DSO 47.5 days. Getting to 30 releases 309k against net debt of 723k. Chase Property NSW 19.7k and Meet Magic 5.1k, both over 90 days.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242C39"/>
                          </a:solidFill>
                          <a:latin typeface="Calibri" pitchFamily="34" charset="0"/>
                          <a:ea typeface="Calibri" pitchFamily="34" charset="-122"/>
                          <a:cs typeface="Calibri" pitchFamily="34" charset="-120"/>
                        </a:rPr>
                        <a:t>24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242C39"/>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554781D-8611-20E2-34CE-52607DF53740}"/>
              </a:ext>
            </a:extLst>
          </p:cNvPr>
          <p:cNvSpPr>
            <a:spLocks noGrp="1"/>
          </p:cNvSpPr>
          <p:nvPr>
            <p:ph type="title" idx="101"/>
          </p:nvPr>
        </p:nvSpPr>
        <p:spPr/>
        <p:txBody>
          <a:bodyPr/>
          <a:lstStyle/>
          <a:p>
            <a:r>
              <a:rPr lang="en-AU" dirty="0"/>
              <a:t>Thank you </a:t>
            </a:r>
          </a:p>
        </p:txBody>
      </p:sp>
      <p:pic>
        <p:nvPicPr>
          <p:cNvPr id="4" name="Picture 3">
            <a:extLst>
              <a:ext uri="{FF2B5EF4-FFF2-40B4-BE49-F238E27FC236}">
                <a16:creationId xmlns:a16="http://schemas.microsoft.com/office/drawing/2014/main" id="{2A73098B-389D-778D-8913-4697239AF26E}"/>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215182138"/>
      </p:ext>
    </p:extLst>
  </p:cSld>
  <p:clrMapOvr>
    <a:masterClrMapping/>
  </p:clrMapOvr>
</p:sld>
</file>

<file path=ppt/theme/theme1.xml><?xml version="1.0" encoding="utf-8"?>
<a:theme xmlns:a="http://schemas.openxmlformats.org/drawingml/2006/main" name="Office Theme">
  <a:themeElements>
    <a:clrScheme name="CTS">
      <a:dk1>
        <a:srgbClr val="242C39"/>
      </a:dk1>
      <a:lt1>
        <a:srgbClr val="FFFFFF"/>
      </a:lt1>
      <a:dk2>
        <a:srgbClr val="122B82"/>
      </a:dk2>
      <a:lt2>
        <a:srgbClr val="E3E6EA"/>
      </a:lt2>
      <a:accent1>
        <a:srgbClr val="005358"/>
      </a:accent1>
      <a:accent2>
        <a:srgbClr val="3FD0C9"/>
      </a:accent2>
      <a:accent3>
        <a:srgbClr val="6D71FF"/>
      </a:accent3>
      <a:accent4>
        <a:srgbClr val="122B82"/>
      </a:accent4>
      <a:accent5>
        <a:srgbClr val="F33844"/>
      </a:accent5>
      <a:accent6>
        <a:srgbClr val="8F4AFA"/>
      </a:accent6>
      <a:hlink>
        <a:srgbClr val="6D71FF"/>
      </a:hlink>
      <a:folHlink>
        <a:srgbClr val="8F4AFA"/>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CTS">
      <a:dk1>
        <a:srgbClr val="242C39"/>
      </a:dk1>
      <a:lt1>
        <a:srgbClr val="FFFFFF"/>
      </a:lt1>
      <a:dk2>
        <a:srgbClr val="122B82"/>
      </a:dk2>
      <a:lt2>
        <a:srgbClr val="E3E6EA"/>
      </a:lt2>
      <a:accent1>
        <a:srgbClr val="005358"/>
      </a:accent1>
      <a:accent2>
        <a:srgbClr val="3FD0C9"/>
      </a:accent2>
      <a:accent3>
        <a:srgbClr val="6D71FF"/>
      </a:accent3>
      <a:accent4>
        <a:srgbClr val="122B82"/>
      </a:accent4>
      <a:accent5>
        <a:srgbClr val="F33844"/>
      </a:accent5>
      <a:accent6>
        <a:srgbClr val="8F4AFA"/>
      </a:accent6>
      <a:hlink>
        <a:srgbClr val="6D71FF"/>
      </a:hlink>
      <a:folHlink>
        <a:srgbClr val="8F4AFA"/>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1642</Words>
  <Application>Microsoft Office PowerPoint</Application>
  <PresentationFormat>On-screen Show (16:9)</PresentationFormat>
  <Paragraphs>537</Paragraphs>
  <Slides>17</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September 2026</vt:lpstr>
      <vt:lpstr>What we will cover</vt:lpstr>
      <vt:lpstr>Financial performance</vt:lpstr>
      <vt:lpstr>P&amp;L summary</vt:lpstr>
      <vt:lpstr>P&amp;L per department, Sep 26</vt:lpstr>
      <vt:lpstr>Revenue and contribution by department</vt:lpstr>
      <vt:lpstr>Risk revenue profile</vt:lpstr>
      <vt:lpstr>Customers and cash</vt:lpstr>
      <vt:lpstr>Top 10 customers</vt:lpstr>
      <vt:lpstr>Receivables and days sales outstanding</vt:lpstr>
      <vt:lpstr>Top customers, FY27 vs FY26 year to date</vt:lpstr>
      <vt:lpstr>People and utilisation</vt:lpstr>
      <vt:lpstr>Utilisation by department, Sep 26</vt:lpstr>
      <vt:lpstr>Profit based on utilisation</vt:lpstr>
      <vt:lpstr>Summary and actions</vt:lpstr>
      <vt:lpstr>Commentary and actions from this review</vt:lpstr>
      <vt:lpstr>Thank you </vt:lpstr>
    </vt:vector>
  </TitlesOfParts>
  <Company>Corporate Technology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September 2026</dc:title>
  <dc:subject>PptxGenJS Presentation</dc:subject>
  <dc:creator>Corporate Technology Services</dc:creator>
  <cp:lastModifiedBy>Danica Nelson</cp:lastModifiedBy>
  <cp:revision>2</cp:revision>
  <dcterms:created xsi:type="dcterms:W3CDTF">2026-10-13T04:28:56Z</dcterms:created>
  <dcterms:modified xsi:type="dcterms:W3CDTF">2026-10-13T04:43:45Z</dcterms:modified>
</cp:coreProperties>
</file>