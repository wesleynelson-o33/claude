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73" r:id="rId24"/>
    <p:sldId id="265" r:id="rId11"/>
    <p:sldId id="266" r:id="rId12"/>
    <p:sldId id="267" r:id="rId13"/>
    <p:sldId id="268" r:id="rId14"/>
    <p:sldId id="269" r:id="rId15"/>
    <p:sldId id="270" r:id="rId16"/>
    <p:sldId id="271" r:id="rId17"/>
    <p:sldId id="272" r:id="rId18"/>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46" d="100"/>
          <a:sy n="146" d="100"/>
        </p:scale>
        <p:origin x="59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Revenue</c:v>
                </c:pt>
              </c:strCache>
            </c:strRef>
          </c:tx>
          <c:spPr>
            <a:solidFill>
              <a:srgbClr val="122B82"/>
            </a:solidFill>
            <a:effectLst/>
          </c:spPr>
          <c:invertIfNegative val="0"/>
          <c:cat>
            <c:strRef>
              <c:f>Sheet1!$A$2:$A$7</c:f>
              <c:strCache>
                <c:ptCount val="6"/>
                <c:pt idx="0">
                  <c:v>Apr</c:v>
                </c:pt>
                <c:pt idx="1">
                  <c:v>May</c:v>
                </c:pt>
                <c:pt idx="2">
                  <c:v>Jun</c:v>
                </c:pt>
                <c:pt idx="3">
                  <c:v>Jul</c:v>
                </c:pt>
                <c:pt idx="4">
                  <c:v>Aug</c:v>
                </c:pt>
                <c:pt idx="5">
                  <c:v>Sep</c:v>
                </c:pt>
              </c:strCache>
            </c:strRef>
          </c:cat>
          <c:val>
            <c:numRef>
              <c:f>Sheet1!$B$2:$B$7</c:f>
              <c:numCache>
                <c:formatCode>General</c:formatCode>
                <c:ptCount val="6"/>
                <c:pt idx="0">
                  <c:v>1310</c:v>
                </c:pt>
                <c:pt idx="1">
                  <c:v>1365</c:v>
                </c:pt>
                <c:pt idx="2">
                  <c:v>1440</c:v>
                </c:pt>
                <c:pt idx="3">
                  <c:v>1372</c:v>
                </c:pt>
                <c:pt idx="4">
                  <c:v>1456</c:v>
                </c:pt>
                <c:pt idx="5">
                  <c:v>1482</c:v>
                </c:pt>
              </c:numCache>
            </c:numRef>
          </c:val>
          <c:extLst>
            <c:ext xmlns:c16="http://schemas.microsoft.com/office/drawing/2014/chart" uri="{C3380CC4-5D6E-409C-BE32-E72D297353CC}">
              <c16:uniqueId val="{00000000-C96E-4A70-852B-8DA4A2379C77}"/>
            </c:ext>
          </c:extLst>
        </c:ser>
        <c:ser>
          <c:idx val="1"/>
          <c:order val="1"/>
          <c:tx>
            <c:strRef>
              <c:f>Sheet1!$C$1</c:f>
              <c:strCache>
                <c:ptCount val="1"/>
                <c:pt idx="0">
                  <c:v>EBITDA</c:v>
                </c:pt>
              </c:strCache>
            </c:strRef>
          </c:tx>
          <c:spPr>
            <a:solidFill>
              <a:srgbClr val="3FD0C9"/>
            </a:solidFill>
            <a:effectLst/>
          </c:spPr>
          <c:invertIfNegative val="0"/>
          <c:cat>
            <c:strRef>
              <c:f>Sheet1!$A$2:$A$7</c:f>
              <c:strCache>
                <c:ptCount val="6"/>
                <c:pt idx="0">
                  <c:v>Apr</c:v>
                </c:pt>
                <c:pt idx="1">
                  <c:v>May</c:v>
                </c:pt>
                <c:pt idx="2">
                  <c:v>Jun</c:v>
                </c:pt>
                <c:pt idx="3">
                  <c:v>Jul</c:v>
                </c:pt>
                <c:pt idx="4">
                  <c:v>Aug</c:v>
                </c:pt>
                <c:pt idx="5">
                  <c:v>Sep</c:v>
                </c:pt>
              </c:strCache>
            </c:strRef>
          </c:cat>
          <c:val>
            <c:numRef>
              <c:f>Sheet1!$C$2:$C$7</c:f>
              <c:numCache>
                <c:formatCode>General</c:formatCode>
                <c:ptCount val="6"/>
                <c:pt idx="0">
                  <c:v>118</c:v>
                </c:pt>
                <c:pt idx="1">
                  <c:v>126</c:v>
                </c:pt>
                <c:pt idx="2">
                  <c:v>149</c:v>
                </c:pt>
                <c:pt idx="3">
                  <c:v>112</c:v>
                </c:pt>
                <c:pt idx="4">
                  <c:v>131</c:v>
                </c:pt>
                <c:pt idx="5">
                  <c:v>162</c:v>
                </c:pt>
              </c:numCache>
            </c:numRef>
          </c:val>
          <c:extLst>
            <c:ext xmlns:c16="http://schemas.microsoft.com/office/drawing/2014/chart" uri="{C3380CC4-5D6E-409C-BE32-E72D297353CC}">
              <c16:uniqueId val="{00000001-C96E-4A70-852B-8DA4A2379C77}"/>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F6670"/>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3E6EA"/>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5F6670"/>
                </a:solidFill>
                <a:latin typeface="Calibri"/>
              </a:defRPr>
            </a:pPr>
            <a:endParaRPr lang="en-US"/>
          </a:p>
        </c:txPr>
        <c:crossAx val="2094734554"/>
        <c:crosses val="autoZero"/>
        <c:crossBetween val="between"/>
      </c:valAx>
      <c:spPr>
        <a:noFill/>
        <a:ln>
          <a:noFill/>
        </a:ln>
        <a:effectLst/>
      </c:spPr>
    </c:plotArea>
    <c:legend>
      <c:legendPos val="r"/>
      <c:overlay val="0"/>
      <c:txPr>
        <a:bodyPr/>
        <a:lstStyle/>
        <a:p>
          <a:pPr>
            <a:defRPr sz="900">
              <a:solidFill>
                <a:srgbClr val="5F6670"/>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Revenue</c:v>
                </c:pt>
              </c:strCache>
            </c:strRef>
          </c:tx>
          <c:spPr>
            <a:solidFill>
              <a:srgbClr val="122B82"/>
            </a:solidFill>
            <a:effectLst/>
          </c:spPr>
          <c:invertIfNegative val="0"/>
          <c:dLbls>
            <c:numFmt formatCode="#,##0" sourceLinked="0"/>
            <c:spPr>
              <a:noFill/>
              <a:ln>
                <a:noFill/>
              </a:ln>
              <a:effectLst/>
            </c:spPr>
            <c:txPr>
              <a:bodyPr/>
              <a:lstStyle/>
              <a:p>
                <a:pPr>
                  <a:defRPr sz="800" b="0" i="0" u="none" strike="noStrike">
                    <a:solidFill>
                      <a:srgbClr val="5F667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Onsite</c:v>
                </c:pt>
                <c:pt idx="1">
                  <c:v>Production</c:v>
                </c:pt>
                <c:pt idx="2">
                  <c:v>Video</c:v>
                </c:pt>
                <c:pt idx="3">
                  <c:v>Integration</c:v>
                </c:pt>
                <c:pt idx="4">
                  <c:v>Consulting</c:v>
                </c:pt>
              </c:strCache>
            </c:strRef>
          </c:cat>
          <c:val>
            <c:numRef>
              <c:f>Sheet1!$B$2:$B$6</c:f>
              <c:numCache>
                <c:formatCode>General</c:formatCode>
                <c:ptCount val="5"/>
                <c:pt idx="0">
                  <c:v>520</c:v>
                </c:pt>
                <c:pt idx="1">
                  <c:v>468</c:v>
                </c:pt>
                <c:pt idx="2">
                  <c:v>158</c:v>
                </c:pt>
                <c:pt idx="3">
                  <c:v>214</c:v>
                </c:pt>
                <c:pt idx="4">
                  <c:v>122</c:v>
                </c:pt>
              </c:numCache>
            </c:numRef>
          </c:val>
          <c:extLst>
            <c:ext xmlns:c16="http://schemas.microsoft.com/office/drawing/2014/chart" uri="{C3380CC4-5D6E-409C-BE32-E72D297353CC}">
              <c16:uniqueId val="{00000000-F809-4115-8990-F252D59BCDEB}"/>
            </c:ext>
          </c:extLst>
        </c:ser>
        <c:ser>
          <c:idx val="1"/>
          <c:order val="1"/>
          <c:tx>
            <c:strRef>
              <c:f>Sheet1!$C$1</c:f>
              <c:strCache>
                <c:ptCount val="1"/>
                <c:pt idx="0">
                  <c:v>Budget revenue</c:v>
                </c:pt>
              </c:strCache>
            </c:strRef>
          </c:tx>
          <c:spPr>
            <a:solidFill>
              <a:srgbClr val="C9CED6"/>
            </a:solidFill>
            <a:effectLst/>
          </c:spPr>
          <c:invertIfNegative val="0"/>
          <c:dLbls>
            <c:numFmt formatCode="#,##0" sourceLinked="0"/>
            <c:spPr>
              <a:noFill/>
              <a:ln>
                <a:noFill/>
              </a:ln>
              <a:effectLst/>
            </c:spPr>
            <c:txPr>
              <a:bodyPr/>
              <a:lstStyle/>
              <a:p>
                <a:pPr>
                  <a:defRPr sz="800" b="0" i="0" u="none" strike="noStrike">
                    <a:solidFill>
                      <a:srgbClr val="5F667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Onsite</c:v>
                </c:pt>
                <c:pt idx="1">
                  <c:v>Production</c:v>
                </c:pt>
                <c:pt idx="2">
                  <c:v>Video</c:v>
                </c:pt>
                <c:pt idx="3">
                  <c:v>Integration</c:v>
                </c:pt>
                <c:pt idx="4">
                  <c:v>Consulting</c:v>
                </c:pt>
              </c:strCache>
            </c:strRef>
          </c:cat>
          <c:val>
            <c:numRef>
              <c:f>Sheet1!$C$2:$C$6</c:f>
              <c:numCache>
                <c:formatCode>General</c:formatCode>
                <c:ptCount val="5"/>
                <c:pt idx="0">
                  <c:v>505</c:v>
                </c:pt>
                <c:pt idx="1">
                  <c:v>440</c:v>
                </c:pt>
                <c:pt idx="2">
                  <c:v>170</c:v>
                </c:pt>
                <c:pt idx="3">
                  <c:v>190</c:v>
                </c:pt>
                <c:pt idx="4">
                  <c:v>115</c:v>
                </c:pt>
              </c:numCache>
            </c:numRef>
          </c:val>
          <c:extLst>
            <c:ext xmlns:c16="http://schemas.microsoft.com/office/drawing/2014/chart" uri="{C3380CC4-5D6E-409C-BE32-E72D297353CC}">
              <c16:uniqueId val="{00000001-F809-4115-8990-F252D59BCDEB}"/>
            </c:ext>
          </c:extLst>
        </c:ser>
        <c:ser>
          <c:idx val="2"/>
          <c:order val="2"/>
          <c:tx>
            <c:strRef>
              <c:f>Sheet1!$D$1</c:f>
              <c:strCache>
                <c:ptCount val="1"/>
                <c:pt idx="0">
                  <c:v>Contribution</c:v>
                </c:pt>
              </c:strCache>
            </c:strRef>
          </c:tx>
          <c:spPr>
            <a:solidFill>
              <a:srgbClr val="3FD0C9"/>
            </a:solidFill>
            <a:effectLst/>
          </c:spPr>
          <c:invertIfNegative val="0"/>
          <c:dLbls>
            <c:numFmt formatCode="#,##0" sourceLinked="0"/>
            <c:spPr>
              <a:noFill/>
              <a:ln>
                <a:noFill/>
              </a:ln>
              <a:effectLst/>
            </c:spPr>
            <c:txPr>
              <a:bodyPr/>
              <a:lstStyle/>
              <a:p>
                <a:pPr>
                  <a:defRPr sz="800" b="0" i="0" u="none" strike="noStrike">
                    <a:solidFill>
                      <a:srgbClr val="5F667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Onsite</c:v>
                </c:pt>
                <c:pt idx="1">
                  <c:v>Production</c:v>
                </c:pt>
                <c:pt idx="2">
                  <c:v>Video</c:v>
                </c:pt>
                <c:pt idx="3">
                  <c:v>Integration</c:v>
                </c:pt>
                <c:pt idx="4">
                  <c:v>Consulting</c:v>
                </c:pt>
              </c:strCache>
            </c:strRef>
          </c:cat>
          <c:val>
            <c:numRef>
              <c:f>Sheet1!$D$2:$D$6</c:f>
              <c:numCache>
                <c:formatCode>General</c:formatCode>
                <c:ptCount val="5"/>
                <c:pt idx="0">
                  <c:v>134</c:v>
                </c:pt>
                <c:pt idx="1">
                  <c:v>141</c:v>
                </c:pt>
                <c:pt idx="2">
                  <c:v>39</c:v>
                </c:pt>
                <c:pt idx="3">
                  <c:v>47</c:v>
                </c:pt>
                <c:pt idx="4">
                  <c:v>32</c:v>
                </c:pt>
              </c:numCache>
            </c:numRef>
          </c:val>
          <c:extLst>
            <c:ext xmlns:c16="http://schemas.microsoft.com/office/drawing/2014/chart" uri="{C3380CC4-5D6E-409C-BE32-E72D297353CC}">
              <c16:uniqueId val="{00000002-F809-4115-8990-F252D59BCDEB}"/>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F6670"/>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3E6EA"/>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5F667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5F6670"/>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stacked"/>
        <c:varyColors val="0"/>
        <c:ser>
          <c:idx val="0"/>
          <c:order val="0"/>
          <c:tx>
            <c:strRef>
              <c:f>Sheet1!$B$1</c:f>
              <c:strCache>
                <c:ptCount val="1"/>
                <c:pt idx="0">
                  <c:v>Contract</c:v>
                </c:pt>
              </c:strCache>
            </c:strRef>
          </c:tx>
          <c:spPr>
            <a:solidFill>
              <a:srgbClr val="005358"/>
            </a:solidFill>
            <a:effectLst/>
          </c:spPr>
          <c:invertIfNegative val="0"/>
          <c:dLbls>
            <c:numFmt formatCode="#,##0" sourceLinked="0"/>
            <c:spPr>
              <a:noFill/>
              <a:ln>
                <a:noFill/>
              </a:ln>
              <a:effectLst/>
            </c:spPr>
            <c:txPr>
              <a:bodyPr/>
              <a:lstStyle/>
              <a:p>
                <a:pPr>
                  <a:defRPr sz="800" b="0" i="0" u="none" strike="noStrike">
                    <a:solidFill>
                      <a:srgbClr val="FFFFFF"/>
                    </a:solidFill>
                    <a:latin typeface="Calibr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Onsite</c:v>
                </c:pt>
                <c:pt idx="1">
                  <c:v>Production</c:v>
                </c:pt>
                <c:pt idx="2">
                  <c:v>Video</c:v>
                </c:pt>
                <c:pt idx="3">
                  <c:v>Integration</c:v>
                </c:pt>
                <c:pt idx="4">
                  <c:v>Consulting</c:v>
                </c:pt>
              </c:strCache>
            </c:strRef>
          </c:cat>
          <c:val>
            <c:numRef>
              <c:f>Sheet1!$B$2:$B$6</c:f>
              <c:numCache>
                <c:formatCode>General</c:formatCode>
                <c:ptCount val="5"/>
                <c:pt idx="0">
                  <c:v>455</c:v>
                </c:pt>
                <c:pt idx="1">
                  <c:v>110</c:v>
                </c:pt>
                <c:pt idx="2">
                  <c:v>40</c:v>
                </c:pt>
                <c:pt idx="3">
                  <c:v>60</c:v>
                </c:pt>
                <c:pt idx="4">
                  <c:v>35</c:v>
                </c:pt>
              </c:numCache>
            </c:numRef>
          </c:val>
          <c:extLst>
            <c:ext xmlns:c16="http://schemas.microsoft.com/office/drawing/2014/chart" uri="{C3380CC4-5D6E-409C-BE32-E72D297353CC}">
              <c16:uniqueId val="{00000000-A4A9-4FDB-A721-3413BB94F5E0}"/>
            </c:ext>
          </c:extLst>
        </c:ser>
        <c:ser>
          <c:idx val="1"/>
          <c:order val="1"/>
          <c:tx>
            <c:strRef>
              <c:f>Sheet1!$C$1</c:f>
              <c:strCache>
                <c:ptCount val="1"/>
                <c:pt idx="0">
                  <c:v>Non-contract</c:v>
                </c:pt>
              </c:strCache>
            </c:strRef>
          </c:tx>
          <c:spPr>
            <a:solidFill>
              <a:srgbClr val="F33844"/>
            </a:solidFill>
            <a:effectLst/>
          </c:spPr>
          <c:invertIfNegative val="0"/>
          <c:dLbls>
            <c:numFmt formatCode="#,##0" sourceLinked="0"/>
            <c:spPr>
              <a:noFill/>
              <a:ln>
                <a:noFill/>
              </a:ln>
              <a:effectLst/>
            </c:spPr>
            <c:txPr>
              <a:bodyPr/>
              <a:lstStyle/>
              <a:p>
                <a:pPr>
                  <a:defRPr sz="800" b="0" i="0" u="none" strike="noStrike">
                    <a:solidFill>
                      <a:srgbClr val="FFFFFF"/>
                    </a:solidFill>
                    <a:latin typeface="Calibr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Onsite</c:v>
                </c:pt>
                <c:pt idx="1">
                  <c:v>Production</c:v>
                </c:pt>
                <c:pt idx="2">
                  <c:v>Video</c:v>
                </c:pt>
                <c:pt idx="3">
                  <c:v>Integration</c:v>
                </c:pt>
                <c:pt idx="4">
                  <c:v>Consulting</c:v>
                </c:pt>
              </c:strCache>
            </c:strRef>
          </c:cat>
          <c:val>
            <c:numRef>
              <c:f>Sheet1!$C$2:$C$6</c:f>
              <c:numCache>
                <c:formatCode>General</c:formatCode>
                <c:ptCount val="5"/>
                <c:pt idx="0">
                  <c:v>65</c:v>
                </c:pt>
                <c:pt idx="1">
                  <c:v>358</c:v>
                </c:pt>
                <c:pt idx="2">
                  <c:v>118</c:v>
                </c:pt>
                <c:pt idx="3">
                  <c:v>154</c:v>
                </c:pt>
                <c:pt idx="4">
                  <c:v>87</c:v>
                </c:pt>
              </c:numCache>
            </c:numRef>
          </c:val>
          <c:extLst>
            <c:ext xmlns:c16="http://schemas.microsoft.com/office/drawing/2014/chart" uri="{C3380CC4-5D6E-409C-BE32-E72D297353CC}">
              <c16:uniqueId val="{00000001-A4A9-4FDB-A721-3413BB94F5E0}"/>
            </c:ext>
          </c:extLst>
        </c:ser>
        <c:dLbls>
          <c:dLblPos val="ctr"/>
          <c:showLegendKey val="0"/>
          <c:showVal val="1"/>
          <c:showCatName val="0"/>
          <c:showSerName val="0"/>
          <c:showPercent val="0"/>
          <c:showBubbleSize val="0"/>
        </c:dLbls>
        <c:gapWidth val="50"/>
        <c:overlap val="100"/>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F6670"/>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E3E6EA"/>
              </a:solidFill>
              <a:prstDash val="solid"/>
              <a:round/>
            </a:ln>
          </c:spPr>
        </c:majorGridlines>
        <c:numFmt formatCode="General" sourceLinked="0"/>
        <c:majorTickMark val="out"/>
        <c:minorTickMark val="none"/>
        <c:tickLblPos val="low"/>
        <c:spPr>
          <a:ln w="12700" cap="flat">
            <a:noFill/>
            <a:prstDash val="solid"/>
            <a:round/>
          </a:ln>
        </c:spPr>
        <c:txPr>
          <a:bodyPr/>
          <a:lstStyle/>
          <a:p>
            <a:pPr>
              <a:defRPr sz="800" b="0" i="0" u="none" strike="noStrike">
                <a:solidFill>
                  <a:srgbClr val="5F6670"/>
                </a:solidFill>
                <a:latin typeface="Calibri"/>
              </a:defRPr>
            </a:pPr>
            <a:endParaRPr lang="en-US"/>
          </a:p>
        </c:txPr>
        <c:crossAx val="2094734554"/>
        <c:crosses val="autoZero"/>
        <c:crossBetween val="between"/>
      </c:valAx>
      <c:spPr>
        <a:noFill/>
        <a:ln>
          <a:noFill/>
        </a:ln>
        <a:effectLst/>
      </c:spPr>
    </c:plotArea>
    <c:legend>
      <c:legendPos val="r"/>
      <c:overlay val="0"/>
      <c:txPr>
        <a:bodyPr/>
        <a:lstStyle/>
        <a:p>
          <a:pPr>
            <a:defRPr sz="900">
              <a:solidFill>
                <a:srgbClr val="5F6670"/>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DSO</c:v>
                </c:pt>
              </c:strCache>
            </c:strRef>
          </c:tx>
          <c:spPr>
            <a:ln w="25400" cap="flat">
              <a:solidFill>
                <a:srgbClr val="122B82"/>
              </a:solidFill>
              <a:prstDash val="solid"/>
              <a:round/>
            </a:ln>
            <a:effectLst/>
          </c:spPr>
          <c:marker>
            <c:symbol val="circle"/>
            <c:size val="5"/>
            <c:spPr>
              <a:solidFill>
                <a:srgbClr val="122B82"/>
              </a:solidFill>
              <a:ln w="9525" cap="flat">
                <a:solidFill>
                  <a:srgbClr val="122B82"/>
                </a:solidFill>
                <a:prstDash val="solid"/>
                <a:round/>
              </a:ln>
              <a:effectLst/>
            </c:spPr>
          </c:marker>
          <c:cat>
            <c:strRef>
              <c:f>Sheet1!$A$2:$A$7</c:f>
              <c:strCache>
                <c:ptCount val="6"/>
                <c:pt idx="0">
                  <c:v>Apr</c:v>
                </c:pt>
                <c:pt idx="1">
                  <c:v>May</c:v>
                </c:pt>
                <c:pt idx="2">
                  <c:v>Jun</c:v>
                </c:pt>
                <c:pt idx="3">
                  <c:v>Jul</c:v>
                </c:pt>
                <c:pt idx="4">
                  <c:v>Aug</c:v>
                </c:pt>
                <c:pt idx="5">
                  <c:v>Sep</c:v>
                </c:pt>
              </c:strCache>
            </c:strRef>
          </c:cat>
          <c:val>
            <c:numRef>
              <c:f>Sheet1!$B$2:$B$7</c:f>
              <c:numCache>
                <c:formatCode>General</c:formatCode>
                <c:ptCount val="6"/>
                <c:pt idx="0">
                  <c:v>41</c:v>
                </c:pt>
                <c:pt idx="1">
                  <c:v>39</c:v>
                </c:pt>
                <c:pt idx="2">
                  <c:v>44</c:v>
                </c:pt>
                <c:pt idx="3">
                  <c:v>38</c:v>
                </c:pt>
                <c:pt idx="4">
                  <c:v>36</c:v>
                </c:pt>
                <c:pt idx="5">
                  <c:v>35</c:v>
                </c:pt>
              </c:numCache>
            </c:numRef>
          </c:val>
          <c:smooth val="0"/>
          <c:extLst>
            <c:ext xmlns:c16="http://schemas.microsoft.com/office/drawing/2014/chart" uri="{C3380CC4-5D6E-409C-BE32-E72D297353CC}">
              <c16:uniqueId val="{00000000-7596-46ED-A217-BA1E82AECA18}"/>
            </c:ext>
          </c:extLst>
        </c:ser>
        <c:ser>
          <c:idx val="1"/>
          <c:order val="1"/>
          <c:tx>
            <c:strRef>
              <c:f>Sheet1!$C$1</c:f>
              <c:strCache>
                <c:ptCount val="1"/>
                <c:pt idx="0">
                  <c:v>Target</c:v>
                </c:pt>
              </c:strCache>
            </c:strRef>
          </c:tx>
          <c:spPr>
            <a:ln w="25400" cap="flat">
              <a:solidFill>
                <a:srgbClr val="F33844"/>
              </a:solidFill>
              <a:prstDash val="solid"/>
              <a:round/>
            </a:ln>
            <a:effectLst/>
          </c:spPr>
          <c:marker>
            <c:symbol val="circle"/>
            <c:size val="5"/>
            <c:spPr>
              <a:solidFill>
                <a:srgbClr val="F33844"/>
              </a:solidFill>
              <a:ln w="9525" cap="flat">
                <a:solidFill>
                  <a:srgbClr val="F33844"/>
                </a:solidFill>
                <a:prstDash val="solid"/>
                <a:round/>
              </a:ln>
              <a:effectLst/>
            </c:spPr>
          </c:marker>
          <c:cat>
            <c:strRef>
              <c:f>Sheet1!$A$2:$A$7</c:f>
              <c:strCache>
                <c:ptCount val="6"/>
                <c:pt idx="0">
                  <c:v>Apr</c:v>
                </c:pt>
                <c:pt idx="1">
                  <c:v>May</c:v>
                </c:pt>
                <c:pt idx="2">
                  <c:v>Jun</c:v>
                </c:pt>
                <c:pt idx="3">
                  <c:v>Jul</c:v>
                </c:pt>
                <c:pt idx="4">
                  <c:v>Aug</c:v>
                </c:pt>
                <c:pt idx="5">
                  <c:v>Sep</c:v>
                </c:pt>
              </c:strCache>
            </c:strRef>
          </c:cat>
          <c:val>
            <c:numRef>
              <c:f>Sheet1!$C$2:$C$7</c:f>
              <c:numCache>
                <c:formatCode>General</c:formatCode>
                <c:ptCount val="6"/>
                <c:pt idx="0">
                  <c:v>30</c:v>
                </c:pt>
                <c:pt idx="1">
                  <c:v>30</c:v>
                </c:pt>
                <c:pt idx="2">
                  <c:v>30</c:v>
                </c:pt>
                <c:pt idx="3">
                  <c:v>30</c:v>
                </c:pt>
                <c:pt idx="4">
                  <c:v>30</c:v>
                </c:pt>
                <c:pt idx="5">
                  <c:v>30</c:v>
                </c:pt>
              </c:numCache>
            </c:numRef>
          </c:val>
          <c:smooth val="0"/>
          <c:extLst>
            <c:ext xmlns:c16="http://schemas.microsoft.com/office/drawing/2014/chart" uri="{C3380CC4-5D6E-409C-BE32-E72D297353CC}">
              <c16:uniqueId val="{00000001-7596-46ED-A217-BA1E82AECA18}"/>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F6670"/>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3E6EA"/>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5F667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5F6670"/>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FY27 YTD</c:v>
                </c:pt>
              </c:strCache>
            </c:strRef>
          </c:tx>
          <c:spPr>
            <a:solidFill>
              <a:srgbClr val="122B82"/>
            </a:solidFill>
            <a:effectLst/>
          </c:spPr>
          <c:invertIfNegative val="0"/>
          <c:cat>
            <c:strRef>
              <c:f>Sheet1!$A$2:$A$11</c:f>
              <c:strCache>
                <c:ptCount val="10"/>
                <c:pt idx="0">
                  <c:v>Client A</c:v>
                </c:pt>
                <c:pt idx="1">
                  <c:v>Client B</c:v>
                </c:pt>
                <c:pt idx="2">
                  <c:v>Client C</c:v>
                </c:pt>
                <c:pt idx="3">
                  <c:v>Client D</c:v>
                </c:pt>
                <c:pt idx="4">
                  <c:v>Client E</c:v>
                </c:pt>
                <c:pt idx="5">
                  <c:v>Client F</c:v>
                </c:pt>
                <c:pt idx="6">
                  <c:v>Client G</c:v>
                </c:pt>
                <c:pt idx="7">
                  <c:v>Client H</c:v>
                </c:pt>
                <c:pt idx="8">
                  <c:v>Client I</c:v>
                </c:pt>
                <c:pt idx="9">
                  <c:v>Client J</c:v>
                </c:pt>
              </c:strCache>
            </c:strRef>
          </c:cat>
          <c:val>
            <c:numRef>
              <c:f>Sheet1!$B$2:$B$11</c:f>
              <c:numCache>
                <c:formatCode>General</c:formatCode>
                <c:ptCount val="10"/>
                <c:pt idx="0">
                  <c:v>612</c:v>
                </c:pt>
                <c:pt idx="1">
                  <c:v>540</c:v>
                </c:pt>
                <c:pt idx="2">
                  <c:v>488</c:v>
                </c:pt>
                <c:pt idx="3">
                  <c:v>410</c:v>
                </c:pt>
                <c:pt idx="4">
                  <c:v>365</c:v>
                </c:pt>
                <c:pt idx="5">
                  <c:v>298</c:v>
                </c:pt>
                <c:pt idx="6">
                  <c:v>255</c:v>
                </c:pt>
                <c:pt idx="7">
                  <c:v>230</c:v>
                </c:pt>
                <c:pt idx="8">
                  <c:v>210</c:v>
                </c:pt>
                <c:pt idx="9">
                  <c:v>188</c:v>
                </c:pt>
              </c:numCache>
            </c:numRef>
          </c:val>
          <c:extLst>
            <c:ext xmlns:c16="http://schemas.microsoft.com/office/drawing/2014/chart" uri="{C3380CC4-5D6E-409C-BE32-E72D297353CC}">
              <c16:uniqueId val="{00000000-FB50-44B3-B8CF-B3EB2787C43D}"/>
            </c:ext>
          </c:extLst>
        </c:ser>
        <c:ser>
          <c:idx val="1"/>
          <c:order val="1"/>
          <c:tx>
            <c:strRef>
              <c:f>Sheet1!$C$1</c:f>
              <c:strCache>
                <c:ptCount val="1"/>
                <c:pt idx="0">
                  <c:v>FY26 YTD</c:v>
                </c:pt>
              </c:strCache>
            </c:strRef>
          </c:tx>
          <c:spPr>
            <a:solidFill>
              <a:srgbClr val="C9CED6"/>
            </a:solidFill>
            <a:effectLst/>
          </c:spPr>
          <c:invertIfNegative val="0"/>
          <c:cat>
            <c:strRef>
              <c:f>Sheet1!$A$2:$A$11</c:f>
              <c:strCache>
                <c:ptCount val="10"/>
                <c:pt idx="0">
                  <c:v>Client A</c:v>
                </c:pt>
                <c:pt idx="1">
                  <c:v>Client B</c:v>
                </c:pt>
                <c:pt idx="2">
                  <c:v>Client C</c:v>
                </c:pt>
                <c:pt idx="3">
                  <c:v>Client D</c:v>
                </c:pt>
                <c:pt idx="4">
                  <c:v>Client E</c:v>
                </c:pt>
                <c:pt idx="5">
                  <c:v>Client F</c:v>
                </c:pt>
                <c:pt idx="6">
                  <c:v>Client G</c:v>
                </c:pt>
                <c:pt idx="7">
                  <c:v>Client H</c:v>
                </c:pt>
                <c:pt idx="8">
                  <c:v>Client I</c:v>
                </c:pt>
                <c:pt idx="9">
                  <c:v>Client J</c:v>
                </c:pt>
              </c:strCache>
            </c:strRef>
          </c:cat>
          <c:val>
            <c:numRef>
              <c:f>Sheet1!$C$2:$C$11</c:f>
              <c:numCache>
                <c:formatCode>General</c:formatCode>
                <c:ptCount val="10"/>
                <c:pt idx="0">
                  <c:v>580</c:v>
                </c:pt>
                <c:pt idx="1">
                  <c:v>505</c:v>
                </c:pt>
                <c:pt idx="2">
                  <c:v>410</c:v>
                </c:pt>
                <c:pt idx="3">
                  <c:v>430</c:v>
                </c:pt>
                <c:pt idx="4">
                  <c:v>300</c:v>
                </c:pt>
                <c:pt idx="5">
                  <c:v>310</c:v>
                </c:pt>
                <c:pt idx="6">
                  <c:v>180</c:v>
                </c:pt>
                <c:pt idx="7">
                  <c:v>240</c:v>
                </c:pt>
                <c:pt idx="8">
                  <c:v>150</c:v>
                </c:pt>
                <c:pt idx="9">
                  <c:v>0</c:v>
                </c:pt>
              </c:numCache>
            </c:numRef>
          </c:val>
          <c:extLst>
            <c:ext xmlns:c16="http://schemas.microsoft.com/office/drawing/2014/chart" uri="{C3380CC4-5D6E-409C-BE32-E72D297353CC}">
              <c16:uniqueId val="{00000001-FB50-44B3-B8CF-B3EB2787C43D}"/>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F6670"/>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3E6EA"/>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5F667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5F6670"/>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Utilisation</c:v>
                </c:pt>
              </c:strCache>
            </c:strRef>
          </c:tx>
          <c:spPr>
            <a:solidFill>
              <a:srgbClr val="3FD0C9"/>
            </a:solidFill>
            <a:effectLst/>
          </c:spPr>
          <c:invertIfNegative val="0"/>
          <c:dLbls>
            <c:numFmt formatCode="0.0" sourceLinked="0"/>
            <c:spPr>
              <a:noFill/>
              <a:ln>
                <a:noFill/>
              </a:ln>
              <a:effectLst/>
            </c:spPr>
            <c:txPr>
              <a:bodyPr/>
              <a:lstStyle/>
              <a:p>
                <a:pPr>
                  <a:defRPr sz="800" b="0" i="0" u="none" strike="noStrike">
                    <a:solidFill>
                      <a:srgbClr val="5F667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Onsite</c:v>
                </c:pt>
                <c:pt idx="1">
                  <c:v>Production</c:v>
                </c:pt>
                <c:pt idx="2">
                  <c:v>Video</c:v>
                </c:pt>
                <c:pt idx="3">
                  <c:v>Integration</c:v>
                </c:pt>
                <c:pt idx="4">
                  <c:v>Consulting</c:v>
                </c:pt>
              </c:strCache>
            </c:strRef>
          </c:cat>
          <c:val>
            <c:numRef>
              <c:f>Sheet1!$B$2:$B$6</c:f>
              <c:numCache>
                <c:formatCode>General</c:formatCode>
                <c:ptCount val="5"/>
                <c:pt idx="0">
                  <c:v>80.2</c:v>
                </c:pt>
                <c:pt idx="1">
                  <c:v>72.599999999999994</c:v>
                </c:pt>
                <c:pt idx="2">
                  <c:v>65.900000000000006</c:v>
                </c:pt>
                <c:pt idx="3">
                  <c:v>73.5</c:v>
                </c:pt>
                <c:pt idx="4">
                  <c:v>73.900000000000006</c:v>
                </c:pt>
              </c:numCache>
            </c:numRef>
          </c:val>
          <c:extLst>
            <c:ext xmlns:c16="http://schemas.microsoft.com/office/drawing/2014/chart" uri="{C3380CC4-5D6E-409C-BE32-E72D297353CC}">
              <c16:uniqueId val="{00000000-C0B8-4B09-A12A-F75606F2B5B7}"/>
            </c:ext>
          </c:extLst>
        </c:ser>
        <c:ser>
          <c:idx val="1"/>
          <c:order val="1"/>
          <c:tx>
            <c:strRef>
              <c:f>Sheet1!$C$1</c:f>
              <c:strCache>
                <c:ptCount val="1"/>
                <c:pt idx="0">
                  <c:v>Target</c:v>
                </c:pt>
              </c:strCache>
            </c:strRef>
          </c:tx>
          <c:spPr>
            <a:solidFill>
              <a:srgbClr val="C9CED6"/>
            </a:solidFill>
            <a:effectLst/>
          </c:spPr>
          <c:invertIfNegative val="0"/>
          <c:dLbls>
            <c:numFmt formatCode="0.0" sourceLinked="0"/>
            <c:spPr>
              <a:noFill/>
              <a:ln>
                <a:noFill/>
              </a:ln>
              <a:effectLst/>
            </c:spPr>
            <c:txPr>
              <a:bodyPr/>
              <a:lstStyle/>
              <a:p>
                <a:pPr>
                  <a:defRPr sz="800" b="0" i="0" u="none" strike="noStrike">
                    <a:solidFill>
                      <a:srgbClr val="5F667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Onsite</c:v>
                </c:pt>
                <c:pt idx="1">
                  <c:v>Production</c:v>
                </c:pt>
                <c:pt idx="2">
                  <c:v>Video</c:v>
                </c:pt>
                <c:pt idx="3">
                  <c:v>Integration</c:v>
                </c:pt>
                <c:pt idx="4">
                  <c:v>Consulting</c:v>
                </c:pt>
              </c:strCache>
            </c:strRef>
          </c:cat>
          <c:val>
            <c:numRef>
              <c:f>Sheet1!$C$2:$C$6</c:f>
              <c:numCache>
                <c:formatCode>General</c:formatCode>
                <c:ptCount val="5"/>
                <c:pt idx="0">
                  <c:v>75</c:v>
                </c:pt>
                <c:pt idx="1">
                  <c:v>75</c:v>
                </c:pt>
                <c:pt idx="2">
                  <c:v>75</c:v>
                </c:pt>
                <c:pt idx="3">
                  <c:v>75</c:v>
                </c:pt>
                <c:pt idx="4">
                  <c:v>75</c:v>
                </c:pt>
              </c:numCache>
            </c:numRef>
          </c:val>
          <c:extLst>
            <c:ext xmlns:c16="http://schemas.microsoft.com/office/drawing/2014/chart" uri="{C3380CC4-5D6E-409C-BE32-E72D297353CC}">
              <c16:uniqueId val="{00000001-C0B8-4B09-A12A-F75606F2B5B7}"/>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F6670"/>
                </a:solidFill>
                <a:latin typeface="Calibri"/>
              </a:defRPr>
            </a:pPr>
            <a:endParaRPr lang="en-US"/>
          </a:p>
        </c:txPr>
        <c:crossAx val="2094734552"/>
        <c:crosses val="autoZero"/>
        <c:auto val="1"/>
        <c:lblAlgn val="ctr"/>
        <c:lblOffset val="100"/>
        <c:noMultiLvlLbl val="1"/>
      </c:catAx>
      <c:valAx>
        <c:axId val="2094734552"/>
        <c:scaling>
          <c:orientation val="minMax"/>
          <c:max val="100"/>
        </c:scaling>
        <c:delete val="0"/>
        <c:axPos val="l"/>
        <c:majorGridlines>
          <c:spPr>
            <a:ln w="6350" cap="flat">
              <a:solidFill>
                <a:srgbClr val="E3E6EA"/>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5F6670"/>
                </a:solidFill>
                <a:latin typeface="Calibri"/>
              </a:defRPr>
            </a:pPr>
            <a:endParaRPr lang="en-US"/>
          </a:p>
        </c:txPr>
        <c:crossAx val="2094734554"/>
        <c:crosses val="autoZero"/>
        <c:crossBetween val="between"/>
      </c:valAx>
      <c:spPr>
        <a:noFill/>
        <a:ln>
          <a:noFill/>
        </a:ln>
        <a:effectLst/>
      </c:spPr>
    </c:plotArea>
    <c:legend>
      <c:legendPos val="r"/>
      <c:overlay val="0"/>
      <c:txPr>
        <a:bodyPr/>
        <a:lstStyle/>
        <a:p>
          <a:pPr>
            <a:defRPr sz="900">
              <a:solidFill>
                <a:srgbClr val="5F6670"/>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67214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September 2026. Every figure traces to the Financial Controller Pack v19, the Xero general ledger dump inside it, or a Xero report named on the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 not let the room celebrate the 148k beat. Lead with break even: we need 549k of revenue a month and we are running at 541k. The miss is margin, not cost, and overheads are 48k under budget. Expect the question on the full year: revenue lands, profit does not.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point is the overhead key, not the departments. Events carries 87.5 per cent of premises on 13 per cent of revenue. Say clearly that the key is fixed for the financial year and must not be changed mid year, but it should be tested for FY28.</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Two bars clear zero. If pushed on Integration, be straight that its bar is one project and the underlying unit is about 60k a quarter.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43 per cent contracted. The 487k shortfall on Integration and Consulting non-contract is not recoverable, so ask for a reforecast rather than defending the budget. Flag the two unmapped budget lines yourself before anyone finds them.</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Concentration is the message, not the ranking. Deloitte is roughly the whole EBITDA base. Aware Super is a fit-out, not a relationship.</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cash slide. 309k is sitting in debtors and net debt is 723k. That is the fastest lever available and it needs no trading improvement. Name the two old invoices and ask for a decision, chase or provide.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Growth is three new names, not the base. If asked about ASX, it is down a third and that is a relationship question for sales, not a market one.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 straight that Support recording 11 non-chargeable hours is not credible. Do not defend the 99.5 per cent. The fix is reporting, and it belongs to Ops.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Revenue per hour is not a charge rate, say so before anyone treats Events as one. The Integration line is the real finding: 235k billed on 9.5 hours means the job was bought in, which is why the margin is 10 per cent.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asks, each with an owner and a date. Do not leave the room without them agreed.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TS Cover (dark)">
    <p:bg>
      <p:bgPr>
        <a:solidFill>
          <a:srgbClr val="1A1A1A"/>
        </a:solidFill>
        <a:effectLst/>
      </p:bgPr>
    </p:bg>
    <p:spTree>
      <p:nvGrpSpPr>
        <p:cNvPr id="1" name=""/>
        <p:cNvGrpSpPr/>
        <p:nvPr/>
      </p:nvGrpSpPr>
      <p:grpSpPr>
        <a:xfrm>
          <a:off x="0" y="0"/>
          <a:ext cx="0" cy="0"/>
          <a:chOff x="0" y="0"/>
          <a:chExt cx="0" cy="0"/>
        </a:xfrm>
      </p:grpSpPr>
      <p:sp>
        <p:nvSpPr>
          <p:cNvPr id="2" name="Shape 0"/>
          <p:cNvSpPr/>
          <p:nvPr/>
        </p:nvSpPr>
        <p:spPr>
          <a:xfrm>
            <a:off x="6309360" y="-548640"/>
            <a:ext cx="3447288" cy="3447288"/>
          </a:xfrm>
          <a:prstGeom prst="ellipse">
            <a:avLst/>
          </a:prstGeom>
          <a:solidFill>
            <a:srgbClr val="3FD0C9">
              <a:alpha val="85000"/>
            </a:srgbClr>
          </a:solidFill>
          <a:ln w="12700">
            <a:solidFill>
              <a:srgbClr val="3FD0C9">
                <a:alpha val="0"/>
              </a:srgbClr>
            </a:solidFill>
            <a:prstDash val="solid"/>
          </a:ln>
        </p:spPr>
        <p:txBody>
          <a:bodyPr/>
          <a:lstStyle/>
          <a:p>
            <a:endParaRPr lang="en-AU"/>
          </a:p>
        </p:txBody>
      </p:sp>
      <p:sp>
        <p:nvSpPr>
          <p:cNvPr id="3" name="Shape 1"/>
          <p:cNvSpPr/>
          <p:nvPr/>
        </p:nvSpPr>
        <p:spPr>
          <a:xfrm>
            <a:off x="8099298" y="777240"/>
            <a:ext cx="3447288" cy="3447288"/>
          </a:xfrm>
          <a:prstGeom prst="ellipse">
            <a:avLst/>
          </a:prstGeom>
          <a:solidFill>
            <a:srgbClr val="6D71FF">
              <a:alpha val="75000"/>
            </a:srgbClr>
          </a:solidFill>
          <a:ln w="12700">
            <a:solidFill>
              <a:srgbClr val="6D71FF">
                <a:alpha val="0"/>
              </a:srgbClr>
            </a:solidFill>
            <a:prstDash val="solid"/>
          </a:ln>
        </p:spPr>
        <p:txBody>
          <a:bodyPr/>
          <a:lstStyle/>
          <a:p>
            <a:endParaRPr lang="en-AU"/>
          </a:p>
        </p:txBody>
      </p:sp>
      <p:sp>
        <p:nvSpPr>
          <p:cNvPr id="4" name="Shape 2"/>
          <p:cNvSpPr/>
          <p:nvPr/>
        </p:nvSpPr>
        <p:spPr>
          <a:xfrm>
            <a:off x="6773418" y="2235708"/>
            <a:ext cx="3447288" cy="3447288"/>
          </a:xfrm>
          <a:prstGeom prst="ellipse">
            <a:avLst/>
          </a:prstGeom>
          <a:solidFill>
            <a:srgbClr val="F33844">
              <a:alpha val="70000"/>
            </a:srgbClr>
          </a:solidFill>
          <a:ln w="12700">
            <a:solidFill>
              <a:srgbClr val="F33844">
                <a:alpha val="0"/>
              </a:srgbClr>
            </a:solidFill>
            <a:prstDash val="solid"/>
          </a:ln>
        </p:spPr>
        <p:txBody>
          <a:bodyPr/>
          <a:lstStyle/>
          <a:p>
            <a:endParaRPr lang="en-AU"/>
          </a:p>
        </p:txBody>
      </p:sp>
      <p:pic>
        <p:nvPicPr>
          <p:cNvPr id="5" name="Image 0" descr="/home/user/Claude/presentation/assets/cts-logo-dark.png"/>
          <p:cNvPicPr>
            <a:picLocks noChangeAspect="1"/>
          </p:cNvPicPr>
          <p:nvPr/>
        </p:nvPicPr>
        <p:blipFill>
          <a:blip r:embed="rId2"/>
          <a:stretch>
            <a:fillRect/>
          </a:stretch>
        </p:blipFill>
        <p:spPr>
          <a:xfrm>
            <a:off x="502920" y="411480"/>
            <a:ext cx="1143440" cy="777240"/>
          </a:xfrm>
          <a:prstGeom prst="rect">
            <a:avLst/>
          </a:prstGeom>
        </p:spPr>
      </p:pic>
      <p:sp>
        <p:nvSpPr>
          <p:cNvPr id="6" name="Text 3"/>
          <p:cNvSpPr>
            <a:spLocks noGrp="1"/>
          </p:cNvSpPr>
          <p:nvPr>
            <p:ph type="body" idx="104" hasCustomPrompt="1"/>
          </p:nvPr>
        </p:nvSpPr>
        <p:spPr>
          <a:xfrm>
            <a:off x="502920" y="1828800"/>
            <a:ext cx="5669280" cy="320040"/>
          </a:xfrm>
          <a:prstGeom prst="rect">
            <a:avLst/>
          </a:prstGeom>
          <a:noFill/>
          <a:ln/>
        </p:spPr>
        <p:txBody>
          <a:bodyPr wrap="square" rtlCol="0"/>
          <a:lstStyle>
            <a:lvl1pPr marL="0" indent="0">
              <a:buNone/>
              <a:defRPr lang="en-US" sz="1200" b="1" kern="0" spc="300" dirty="0">
                <a:solidFill>
                  <a:srgbClr val="3FD0C9"/>
                </a:solidFill>
                <a:latin typeface="Calibri" pitchFamily="34" charset="0"/>
                <a:ea typeface="Calibri" pitchFamily="34" charset="-122"/>
                <a:cs typeface="Calibri" pitchFamily="34" charset="-120"/>
              </a:defRPr>
            </a:lvl1pPr>
          </a:lstStyle>
          <a:p>
            <a:pPr marL="0" indent="0">
              <a:buNone/>
            </a:pPr>
            <a:r>
              <a:rPr lang="en-US" sz="1200" b="1" kern="0" spc="300" dirty="0">
                <a:solidFill>
                  <a:srgbClr val="3FD0C9"/>
                </a:solidFill>
                <a:latin typeface="Calibri" pitchFamily="34" charset="0"/>
                <a:ea typeface="Calibri" pitchFamily="34" charset="-122"/>
                <a:cs typeface="Calibri" pitchFamily="34" charset="-120"/>
              </a:rPr>
              <a:t>PRESENTATION TYPE</a:t>
            </a:r>
            <a:endParaRPr lang="en-US" sz="1200" dirty="0"/>
          </a:p>
        </p:txBody>
      </p:sp>
      <p:sp>
        <p:nvSpPr>
          <p:cNvPr id="7" name="Text 3"/>
          <p:cNvSpPr>
            <a:spLocks noGrp="1"/>
          </p:cNvSpPr>
          <p:nvPr>
            <p:ph type="title" idx="105" hasCustomPrompt="1"/>
          </p:nvPr>
        </p:nvSpPr>
        <p:spPr>
          <a:xfrm>
            <a:off x="502920" y="2148840"/>
            <a:ext cx="5669280" cy="1234440"/>
          </a:xfrm>
          <a:prstGeom prst="rect">
            <a:avLst/>
          </a:prstGeom>
          <a:noFill/>
          <a:ln/>
        </p:spPr>
        <p:txBody>
          <a:bodyPr wrap="square" rtlCol="0"/>
          <a:lstStyle>
            <a:lvl1pPr marL="0" indent="0" algn="l">
              <a:buNone/>
              <a:defRPr lang="en-US" sz="4000" b="1" dirty="0">
                <a:solidFill>
                  <a:srgbClr val="FFFFFF"/>
                </a:solidFill>
                <a:latin typeface="Calibri" pitchFamily="34" charset="0"/>
                <a:ea typeface="Calibri" pitchFamily="34" charset="-122"/>
                <a:cs typeface="Calibri" pitchFamily="34" charset="-120"/>
              </a:defRPr>
            </a:lvl1pPr>
          </a:lstStyle>
          <a:p>
            <a:pPr marL="0" indent="0" algn="l">
              <a:buNone/>
            </a:pPr>
            <a:r>
              <a:rPr lang="en-US" sz="4000" b="1" dirty="0">
                <a:solidFill>
                  <a:srgbClr val="FFFFFF"/>
                </a:solidFill>
                <a:latin typeface="Calibri" pitchFamily="34" charset="0"/>
                <a:ea typeface="Calibri" pitchFamily="34" charset="-122"/>
                <a:cs typeface="Calibri" pitchFamily="34" charset="-120"/>
              </a:rPr>
              <a:t>Presentation title</a:t>
            </a:r>
            <a:endParaRPr lang="en-US" sz="4000" dirty="0"/>
          </a:p>
        </p:txBody>
      </p:sp>
      <p:sp>
        <p:nvSpPr>
          <p:cNvPr id="8" name="Text 3"/>
          <p:cNvSpPr>
            <a:spLocks noGrp="1"/>
          </p:cNvSpPr>
          <p:nvPr>
            <p:ph type="body" idx="106" hasCustomPrompt="1"/>
          </p:nvPr>
        </p:nvSpPr>
        <p:spPr>
          <a:xfrm>
            <a:off x="502920" y="3383280"/>
            <a:ext cx="5669280" cy="548640"/>
          </a:xfrm>
          <a:prstGeom prst="rect">
            <a:avLst/>
          </a:prstGeom>
          <a:noFill/>
          <a:ln/>
        </p:spPr>
        <p:txBody>
          <a:bodyPr wrap="square" rtlCol="0"/>
          <a:lstStyle>
            <a:lvl1pPr marL="0" indent="0">
              <a:buNone/>
              <a:defRPr lang="en-US" sz="1800" dirty="0">
                <a:solidFill>
                  <a:srgbClr val="C9CED6"/>
                </a:solidFill>
                <a:latin typeface="Calibri" pitchFamily="34" charset="0"/>
                <a:ea typeface="Calibri" pitchFamily="34" charset="-122"/>
                <a:cs typeface="Calibri" pitchFamily="34" charset="-120"/>
              </a:defRPr>
            </a:lvl1pPr>
          </a:lstStyle>
          <a:p>
            <a:pPr marL="0" indent="0">
              <a:buNone/>
            </a:pPr>
            <a:r>
              <a:rPr lang="en-US" sz="1800" dirty="0">
                <a:solidFill>
                  <a:srgbClr val="C9CED6"/>
                </a:solidFill>
                <a:latin typeface="Calibri" pitchFamily="34" charset="0"/>
                <a:ea typeface="Calibri" pitchFamily="34" charset="-122"/>
                <a:cs typeface="Calibri" pitchFamily="34" charset="-120"/>
              </a:rPr>
              <a:t>Subtitle or one-line description</a:t>
            </a:r>
            <a:endParaRPr lang="en-US" sz="1800" dirty="0"/>
          </a:p>
        </p:txBody>
      </p:sp>
      <p:sp>
        <p:nvSpPr>
          <p:cNvPr id="9" name="Text 3"/>
          <p:cNvSpPr>
            <a:spLocks noGrp="1"/>
          </p:cNvSpPr>
          <p:nvPr>
            <p:ph type="body" idx="107" hasCustomPrompt="1"/>
          </p:nvPr>
        </p:nvSpPr>
        <p:spPr>
          <a:xfrm>
            <a:off x="502920" y="4251960"/>
            <a:ext cx="3657600" cy="502920"/>
          </a:xfrm>
          <a:prstGeom prst="rect">
            <a:avLst/>
          </a:prstGeom>
          <a:noFill/>
          <a:ln/>
        </p:spPr>
        <p:txBody>
          <a:bodyPr wrap="square" rtlCol="0"/>
          <a:lstStyle>
            <a:lvl1pPr marL="0" indent="0">
              <a:buNone/>
              <a:defRPr lang="en-US" sz="1200" dirty="0">
                <a:solidFill>
                  <a:srgbClr val="C9CED6"/>
                </a:solidFill>
                <a:latin typeface="Calibri" pitchFamily="34" charset="0"/>
                <a:ea typeface="Calibri" pitchFamily="34" charset="-122"/>
                <a:cs typeface="Calibri" pitchFamily="34" charset="-120"/>
              </a:defRPr>
            </a:lvl1pPr>
          </a:lstStyle>
          <a:p>
            <a:pPr marL="0" indent="0">
              <a:buNone/>
            </a:pPr>
            <a:r>
              <a:rPr lang="en-US" sz="1200" dirty="0">
                <a:solidFill>
                  <a:srgbClr val="C9CED6"/>
                </a:solidFill>
                <a:latin typeface="Calibri" pitchFamily="34" charset="0"/>
                <a:ea typeface="Calibri" pitchFamily="34" charset="-122"/>
                <a:cs typeface="Calibri" pitchFamily="34" charset="-120"/>
              </a:rPr>
              <a:t>Presenter name, role</a:t>
            </a:r>
            <a:endParaRPr lang="en-US" sz="1200" dirty="0"/>
          </a:p>
        </p:txBody>
      </p:sp>
      <p:sp>
        <p:nvSpPr>
          <p:cNvPr id="10" name="Text 3"/>
          <p:cNvSpPr>
            <a:spLocks noGrp="1"/>
          </p:cNvSpPr>
          <p:nvPr>
            <p:ph type="body" idx="108" hasCustomPrompt="1"/>
          </p:nvPr>
        </p:nvSpPr>
        <p:spPr>
          <a:xfrm>
            <a:off x="5943600" y="4251960"/>
            <a:ext cx="2697480" cy="502920"/>
          </a:xfrm>
          <a:prstGeom prst="rect">
            <a:avLst/>
          </a:prstGeom>
          <a:noFill/>
          <a:ln/>
        </p:spPr>
        <p:txBody>
          <a:bodyPr wrap="square" rtlCol="0"/>
          <a:lstStyle>
            <a:lvl1pPr marL="0" indent="0" algn="r">
              <a:buNone/>
              <a:defRPr lang="en-US" sz="1200" dirty="0">
                <a:solidFill>
                  <a:srgbClr val="C9CED6"/>
                </a:solidFill>
                <a:latin typeface="Calibri" pitchFamily="34" charset="0"/>
                <a:ea typeface="Calibri" pitchFamily="34" charset="-122"/>
                <a:cs typeface="Calibri" pitchFamily="34" charset="-120"/>
              </a:defRPr>
            </a:lvl1pPr>
          </a:lstStyle>
          <a:p>
            <a:pPr marL="0" indent="0" algn="r">
              <a:buNone/>
            </a:pPr>
            <a:r>
              <a:rPr lang="en-US" sz="1200" dirty="0">
                <a:solidFill>
                  <a:srgbClr val="C9CED6"/>
                </a:solidFill>
                <a:latin typeface="Calibri" pitchFamily="34" charset="0"/>
                <a:ea typeface="Calibri" pitchFamily="34" charset="-122"/>
                <a:cs typeface="Calibri" pitchFamily="34" charset="-120"/>
              </a:rPr>
              <a:t>Month Year</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TS Cover (light)">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309360" y="0"/>
            <a:ext cx="2834640" cy="5143500"/>
          </a:xfrm>
          <a:prstGeom prst="rect">
            <a:avLst/>
          </a:prstGeom>
          <a:solidFill>
            <a:srgbClr val="1A1A1A"/>
          </a:solidFill>
          <a:ln w="12700">
            <a:solidFill>
              <a:srgbClr val="1A1A1A"/>
            </a:solidFill>
            <a:prstDash val="solid"/>
          </a:ln>
        </p:spPr>
      </p:sp>
      <p:sp>
        <p:nvSpPr>
          <p:cNvPr id="3" name="Shape 1"/>
          <p:cNvSpPr/>
          <p:nvPr/>
        </p:nvSpPr>
        <p:spPr>
          <a:xfrm>
            <a:off x="5943600" y="365760"/>
            <a:ext cx="2971800" cy="2971800"/>
          </a:xfrm>
          <a:prstGeom prst="ellipse">
            <a:avLst/>
          </a:prstGeom>
          <a:solidFill>
            <a:srgbClr val="3FD0C9">
              <a:alpha val="85000"/>
            </a:srgbClr>
          </a:solidFill>
          <a:ln w="12700">
            <a:solidFill>
              <a:srgbClr val="3FD0C9">
                <a:alpha val="0"/>
              </a:srgbClr>
            </a:solidFill>
            <a:prstDash val="solid"/>
          </a:ln>
        </p:spPr>
      </p:sp>
      <p:sp>
        <p:nvSpPr>
          <p:cNvPr id="4" name="Shape 2"/>
          <p:cNvSpPr/>
          <p:nvPr/>
        </p:nvSpPr>
        <p:spPr>
          <a:xfrm>
            <a:off x="7486650" y="1508760"/>
            <a:ext cx="2971800" cy="2971800"/>
          </a:xfrm>
          <a:prstGeom prst="ellipse">
            <a:avLst/>
          </a:prstGeom>
          <a:solidFill>
            <a:srgbClr val="6D71FF">
              <a:alpha val="75000"/>
            </a:srgbClr>
          </a:solidFill>
          <a:ln w="12700">
            <a:solidFill>
              <a:srgbClr val="6D71FF">
                <a:alpha val="0"/>
              </a:srgbClr>
            </a:solidFill>
            <a:prstDash val="solid"/>
          </a:ln>
        </p:spPr>
      </p:sp>
      <p:sp>
        <p:nvSpPr>
          <p:cNvPr id="5" name="Shape 3"/>
          <p:cNvSpPr/>
          <p:nvPr/>
        </p:nvSpPr>
        <p:spPr>
          <a:xfrm>
            <a:off x="6343650" y="2766060"/>
            <a:ext cx="2971800" cy="2971800"/>
          </a:xfrm>
          <a:prstGeom prst="ellipse">
            <a:avLst/>
          </a:prstGeom>
          <a:solidFill>
            <a:srgbClr val="F33844">
              <a:alpha val="70000"/>
            </a:srgbClr>
          </a:solidFill>
          <a:ln w="12700">
            <a:solidFill>
              <a:srgbClr val="F33844">
                <a:alpha val="0"/>
              </a:srgbClr>
            </a:solidFill>
            <a:prstDash val="solid"/>
          </a:ln>
        </p:spPr>
      </p:sp>
      <p:sp>
        <p:nvSpPr>
          <p:cNvPr id="6" name="Shape 4"/>
          <p:cNvSpPr/>
          <p:nvPr/>
        </p:nvSpPr>
        <p:spPr>
          <a:xfrm>
            <a:off x="0" y="0"/>
            <a:ext cx="6309360" cy="5143500"/>
          </a:xfrm>
          <a:prstGeom prst="rect">
            <a:avLst/>
          </a:prstGeom>
          <a:solidFill>
            <a:srgbClr val="FFFFFF"/>
          </a:solidFill>
          <a:ln w="12700">
            <a:solidFill>
              <a:srgbClr val="FFFFFF"/>
            </a:solidFill>
            <a:prstDash val="solid"/>
          </a:ln>
        </p:spPr>
      </p:sp>
      <p:pic>
        <p:nvPicPr>
          <p:cNvPr id="7" name="Image 0" descr="/home/user/Claude/presentation/assets/cts-logo.png"/>
          <p:cNvPicPr>
            <a:picLocks noChangeAspect="1"/>
          </p:cNvPicPr>
          <p:nvPr/>
        </p:nvPicPr>
        <p:blipFill>
          <a:blip r:embed="rId2"/>
          <a:stretch>
            <a:fillRect/>
          </a:stretch>
        </p:blipFill>
        <p:spPr>
          <a:xfrm>
            <a:off x="502920" y="411480"/>
            <a:ext cx="1143440" cy="777240"/>
          </a:xfrm>
          <a:prstGeom prst="rect">
            <a:avLst/>
          </a:prstGeom>
        </p:spPr>
      </p:pic>
      <p:sp>
        <p:nvSpPr>
          <p:cNvPr id="8" name="Text 5"/>
          <p:cNvSpPr>
            <a:spLocks noGrp="1"/>
          </p:cNvSpPr>
          <p:nvPr>
            <p:ph type="body" idx="106" hasCustomPrompt="1"/>
          </p:nvPr>
        </p:nvSpPr>
        <p:spPr>
          <a:xfrm>
            <a:off x="502920" y="1828800"/>
            <a:ext cx="5394960" cy="320040"/>
          </a:xfrm>
          <a:prstGeom prst="rect">
            <a:avLst/>
          </a:prstGeom>
          <a:noFill/>
          <a:ln/>
        </p:spPr>
        <p:txBody>
          <a:bodyPr wrap="square" rtlCol="0"/>
          <a:lstStyle>
            <a:lvl1pPr marL="0" indent="0">
              <a:buNone/>
              <a:defRPr lang="en-US" sz="1200" b="1" kern="0" spc="300" dirty="0">
                <a:solidFill>
                  <a:srgbClr val="122B82"/>
                </a:solidFill>
                <a:latin typeface="Calibri" pitchFamily="34" charset="0"/>
                <a:ea typeface="Calibri" pitchFamily="34" charset="-122"/>
                <a:cs typeface="Calibri" pitchFamily="34" charset="-120"/>
              </a:defRPr>
            </a:lvl1pPr>
          </a:lstStyle>
          <a:p>
            <a:pPr marL="0" indent="0">
              <a:buNone/>
            </a:pPr>
            <a:r>
              <a:rPr lang="en-US" sz="1200" b="1" kern="0" spc="300" dirty="0">
                <a:solidFill>
                  <a:srgbClr val="122B82"/>
                </a:solidFill>
                <a:latin typeface="Calibri" pitchFamily="34" charset="0"/>
                <a:ea typeface="Calibri" pitchFamily="34" charset="-122"/>
                <a:cs typeface="Calibri" pitchFamily="34" charset="-120"/>
              </a:rPr>
              <a:t>PRESENTATION TYPE</a:t>
            </a:r>
            <a:endParaRPr lang="en-US" sz="1200" dirty="0"/>
          </a:p>
        </p:txBody>
      </p:sp>
      <p:sp>
        <p:nvSpPr>
          <p:cNvPr id="9" name="Text 5"/>
          <p:cNvSpPr>
            <a:spLocks noGrp="1"/>
          </p:cNvSpPr>
          <p:nvPr>
            <p:ph type="title" idx="107" hasCustomPrompt="1"/>
          </p:nvPr>
        </p:nvSpPr>
        <p:spPr>
          <a:xfrm>
            <a:off x="502920" y="2148840"/>
            <a:ext cx="5394960" cy="1234440"/>
          </a:xfrm>
          <a:prstGeom prst="rect">
            <a:avLst/>
          </a:prstGeom>
          <a:noFill/>
          <a:ln/>
        </p:spPr>
        <p:txBody>
          <a:bodyPr wrap="square" rtlCol="0"/>
          <a:lstStyle>
            <a:lvl1pPr marL="0" indent="0" algn="l">
              <a:buNone/>
              <a:defRPr lang="en-US" sz="3600" b="1" dirty="0">
                <a:solidFill>
                  <a:srgbClr val="1A1A1A"/>
                </a:solidFill>
                <a:latin typeface="Calibri" pitchFamily="34" charset="0"/>
                <a:ea typeface="Calibri" pitchFamily="34" charset="-122"/>
                <a:cs typeface="Calibri" pitchFamily="34" charset="-120"/>
              </a:defRPr>
            </a:lvl1pPr>
          </a:lstStyle>
          <a:p>
            <a:pPr marL="0" indent="0" algn="l">
              <a:buNone/>
            </a:pPr>
            <a:r>
              <a:rPr lang="en-US" sz="3600" b="1" dirty="0">
                <a:solidFill>
                  <a:srgbClr val="1A1A1A"/>
                </a:solidFill>
                <a:latin typeface="Calibri" pitchFamily="34" charset="0"/>
                <a:ea typeface="Calibri" pitchFamily="34" charset="-122"/>
                <a:cs typeface="Calibri" pitchFamily="34" charset="-120"/>
              </a:rPr>
              <a:t>Presentation title</a:t>
            </a:r>
            <a:endParaRPr lang="en-US" sz="3600" dirty="0"/>
          </a:p>
        </p:txBody>
      </p:sp>
      <p:sp>
        <p:nvSpPr>
          <p:cNvPr id="10" name="Text 5"/>
          <p:cNvSpPr>
            <a:spLocks noGrp="1"/>
          </p:cNvSpPr>
          <p:nvPr>
            <p:ph type="body" idx="108" hasCustomPrompt="1"/>
          </p:nvPr>
        </p:nvSpPr>
        <p:spPr>
          <a:xfrm>
            <a:off x="502920" y="3383280"/>
            <a:ext cx="5394960" cy="548640"/>
          </a:xfrm>
          <a:prstGeom prst="rect">
            <a:avLst/>
          </a:prstGeom>
          <a:noFill/>
          <a:ln/>
        </p:spPr>
        <p:txBody>
          <a:bodyPr wrap="square" rtlCol="0"/>
          <a:lstStyle>
            <a:lvl1pPr marL="0" indent="0">
              <a:buNone/>
              <a:defRPr lang="en-US" sz="1800" dirty="0">
                <a:solidFill>
                  <a:srgbClr val="5F6670"/>
                </a:solidFill>
                <a:latin typeface="Calibri" pitchFamily="34" charset="0"/>
                <a:ea typeface="Calibri" pitchFamily="34" charset="-122"/>
                <a:cs typeface="Calibri" pitchFamily="34" charset="-120"/>
              </a:defRPr>
            </a:lvl1pPr>
          </a:lstStyle>
          <a:p>
            <a:pPr marL="0" indent="0">
              <a:buNone/>
            </a:pPr>
            <a:r>
              <a:rPr lang="en-US" sz="1800" dirty="0">
                <a:solidFill>
                  <a:srgbClr val="5F6670"/>
                </a:solidFill>
                <a:latin typeface="Calibri" pitchFamily="34" charset="0"/>
                <a:ea typeface="Calibri" pitchFamily="34" charset="-122"/>
                <a:cs typeface="Calibri" pitchFamily="34" charset="-120"/>
              </a:rPr>
              <a:t>Subtitle or one-line description</a:t>
            </a:r>
            <a:endParaRPr lang="en-US" sz="1800" dirty="0"/>
          </a:p>
        </p:txBody>
      </p:sp>
      <p:sp>
        <p:nvSpPr>
          <p:cNvPr id="11" name="Text 5"/>
          <p:cNvSpPr>
            <a:spLocks noGrp="1"/>
          </p:cNvSpPr>
          <p:nvPr>
            <p:ph type="body" idx="109" hasCustomPrompt="1"/>
          </p:nvPr>
        </p:nvSpPr>
        <p:spPr>
          <a:xfrm>
            <a:off x="502920" y="4251960"/>
            <a:ext cx="3657600" cy="502920"/>
          </a:xfrm>
          <a:prstGeom prst="rect">
            <a:avLst/>
          </a:prstGeom>
          <a:noFill/>
          <a:ln/>
        </p:spPr>
        <p:txBody>
          <a:bodyPr wrap="square" rtlCol="0"/>
          <a:lstStyle>
            <a:lvl1pPr marL="0" indent="0">
              <a:buNone/>
              <a:defRPr lang="en-US" sz="1200" dirty="0">
                <a:solidFill>
                  <a:srgbClr val="5F6670"/>
                </a:solidFill>
                <a:latin typeface="Calibri" pitchFamily="34" charset="0"/>
                <a:ea typeface="Calibri" pitchFamily="34" charset="-122"/>
                <a:cs typeface="Calibri" pitchFamily="34" charset="-120"/>
              </a:defRPr>
            </a:lvl1pPr>
          </a:lstStyle>
          <a:p>
            <a:pPr marL="0" indent="0">
              <a:buNone/>
            </a:pPr>
            <a:r>
              <a:rPr lang="en-US" sz="1200" dirty="0">
                <a:solidFill>
                  <a:srgbClr val="5F6670"/>
                </a:solidFill>
                <a:latin typeface="Calibri" pitchFamily="34" charset="0"/>
                <a:ea typeface="Calibri" pitchFamily="34" charset="-122"/>
                <a:cs typeface="Calibri" pitchFamily="34" charset="-120"/>
              </a:rPr>
              <a:t>Presenter name, role</a:t>
            </a:r>
            <a:endParaRPr lang="en-US" sz="1200" dirty="0"/>
          </a:p>
        </p:txBody>
      </p:sp>
      <p:sp>
        <p:nvSpPr>
          <p:cNvPr id="12" name="Text 5"/>
          <p:cNvSpPr>
            <a:spLocks noGrp="1"/>
          </p:cNvSpPr>
          <p:nvPr>
            <p:ph type="body" idx="110" hasCustomPrompt="1"/>
          </p:nvPr>
        </p:nvSpPr>
        <p:spPr>
          <a:xfrm>
            <a:off x="3840480" y="4251960"/>
            <a:ext cx="2194560" cy="502920"/>
          </a:xfrm>
          <a:prstGeom prst="rect">
            <a:avLst/>
          </a:prstGeom>
          <a:noFill/>
          <a:ln/>
        </p:spPr>
        <p:txBody>
          <a:bodyPr wrap="square" rtlCol="0"/>
          <a:lstStyle>
            <a:lvl1pPr marL="0" indent="0" algn="r">
              <a:buNone/>
              <a:defRPr lang="en-US" sz="1200" dirty="0">
                <a:solidFill>
                  <a:srgbClr val="5F6670"/>
                </a:solidFill>
                <a:latin typeface="Calibri" pitchFamily="34" charset="0"/>
                <a:ea typeface="Calibri" pitchFamily="34" charset="-122"/>
                <a:cs typeface="Calibri" pitchFamily="34" charset="-120"/>
              </a:defRPr>
            </a:lvl1pPr>
          </a:lstStyle>
          <a:p>
            <a:pPr marL="0" indent="0" algn="r">
              <a:buNone/>
            </a:pPr>
            <a:r>
              <a:rPr lang="en-US" sz="1200" dirty="0">
                <a:solidFill>
                  <a:srgbClr val="5F6670"/>
                </a:solidFill>
                <a:latin typeface="Calibri" pitchFamily="34" charset="0"/>
                <a:ea typeface="Calibri" pitchFamily="34" charset="-122"/>
                <a:cs typeface="Calibri" pitchFamily="34" charset="-120"/>
              </a:rPr>
              <a:t>Month Year</a:t>
            </a:r>
            <a:endParaRPr lang="en-US" sz="1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TS Cover (20 years)">
    <p:bg>
      <p:bgPr>
        <a:solidFill>
          <a:srgbClr val="1A1A1A"/>
        </a:solidFill>
        <a:effectLst/>
      </p:bgPr>
    </p:bg>
    <p:spTree>
      <p:nvGrpSpPr>
        <p:cNvPr id="1" name=""/>
        <p:cNvGrpSpPr/>
        <p:nvPr/>
      </p:nvGrpSpPr>
      <p:grpSpPr>
        <a:xfrm>
          <a:off x="0" y="0"/>
          <a:ext cx="0" cy="0"/>
          <a:chOff x="0" y="0"/>
          <a:chExt cx="0" cy="0"/>
        </a:xfrm>
      </p:grpSpPr>
      <p:sp>
        <p:nvSpPr>
          <p:cNvPr id="2" name="Shape 0"/>
          <p:cNvSpPr/>
          <p:nvPr/>
        </p:nvSpPr>
        <p:spPr>
          <a:xfrm>
            <a:off x="6035040" y="2011680"/>
            <a:ext cx="4754880" cy="4754880"/>
          </a:xfrm>
          <a:prstGeom prst="ellipse">
            <a:avLst/>
          </a:prstGeom>
          <a:solidFill>
            <a:srgbClr val="122B82">
              <a:alpha val="45000"/>
            </a:srgbClr>
          </a:solidFill>
          <a:ln w="12700">
            <a:solidFill>
              <a:srgbClr val="122B82">
                <a:alpha val="0"/>
              </a:srgbClr>
            </a:solidFill>
            <a:prstDash val="solid"/>
          </a:ln>
        </p:spPr>
      </p:sp>
      <p:pic>
        <p:nvPicPr>
          <p:cNvPr id="3" name="Image 0" descr="/home/user/Claude/presentation/assets/cts-logo-20yrs-dark.png"/>
          <p:cNvPicPr>
            <a:picLocks noChangeAspect="1"/>
          </p:cNvPicPr>
          <p:nvPr/>
        </p:nvPicPr>
        <p:blipFill>
          <a:blip r:embed="rId2"/>
          <a:stretch>
            <a:fillRect/>
          </a:stretch>
        </p:blipFill>
        <p:spPr>
          <a:xfrm>
            <a:off x="502920" y="457200"/>
            <a:ext cx="3388659" cy="960120"/>
          </a:xfrm>
          <a:prstGeom prst="rect">
            <a:avLst/>
          </a:prstGeom>
        </p:spPr>
      </p:pic>
      <p:sp>
        <p:nvSpPr>
          <p:cNvPr id="4" name="Text 1"/>
          <p:cNvSpPr>
            <a:spLocks noGrp="1"/>
          </p:cNvSpPr>
          <p:nvPr>
            <p:ph type="body" idx="102" hasCustomPrompt="1"/>
          </p:nvPr>
        </p:nvSpPr>
        <p:spPr>
          <a:xfrm>
            <a:off x="502920" y="1828800"/>
            <a:ext cx="5852160" cy="320040"/>
          </a:xfrm>
          <a:prstGeom prst="rect">
            <a:avLst/>
          </a:prstGeom>
          <a:noFill/>
          <a:ln/>
        </p:spPr>
        <p:txBody>
          <a:bodyPr wrap="square" rtlCol="0"/>
          <a:lstStyle>
            <a:lvl1pPr marL="0" indent="0">
              <a:buNone/>
              <a:defRPr lang="en-US" sz="1200" b="1" kern="0" spc="300" dirty="0">
                <a:solidFill>
                  <a:srgbClr val="3FD0C9"/>
                </a:solidFill>
                <a:latin typeface="Calibri" pitchFamily="34" charset="0"/>
                <a:ea typeface="Calibri" pitchFamily="34" charset="-122"/>
                <a:cs typeface="Calibri" pitchFamily="34" charset="-120"/>
              </a:defRPr>
            </a:lvl1pPr>
          </a:lstStyle>
          <a:p>
            <a:pPr marL="0" indent="0">
              <a:buNone/>
            </a:pPr>
            <a:r>
              <a:rPr lang="en-US" sz="1200" b="1" kern="0" spc="300" dirty="0">
                <a:solidFill>
                  <a:srgbClr val="3FD0C9"/>
                </a:solidFill>
                <a:latin typeface="Calibri" pitchFamily="34" charset="0"/>
                <a:ea typeface="Calibri" pitchFamily="34" charset="-122"/>
                <a:cs typeface="Calibri" pitchFamily="34" charset="-120"/>
              </a:rPr>
              <a:t>PRESENTATION TYPE</a:t>
            </a:r>
            <a:endParaRPr lang="en-US" sz="1200" dirty="0"/>
          </a:p>
        </p:txBody>
      </p:sp>
      <p:sp>
        <p:nvSpPr>
          <p:cNvPr id="5" name="Text 1"/>
          <p:cNvSpPr>
            <a:spLocks noGrp="1"/>
          </p:cNvSpPr>
          <p:nvPr>
            <p:ph type="title" idx="103" hasCustomPrompt="1"/>
          </p:nvPr>
        </p:nvSpPr>
        <p:spPr>
          <a:xfrm>
            <a:off x="502920" y="2148840"/>
            <a:ext cx="5852160" cy="1234440"/>
          </a:xfrm>
          <a:prstGeom prst="rect">
            <a:avLst/>
          </a:prstGeom>
          <a:noFill/>
          <a:ln/>
        </p:spPr>
        <p:txBody>
          <a:bodyPr wrap="square" rtlCol="0"/>
          <a:lstStyle>
            <a:lvl1pPr marL="0" indent="0" algn="l">
              <a:buNone/>
              <a:defRPr lang="en-US" sz="4000" b="1" dirty="0">
                <a:solidFill>
                  <a:srgbClr val="FFFFFF"/>
                </a:solidFill>
                <a:latin typeface="Calibri" pitchFamily="34" charset="0"/>
                <a:ea typeface="Calibri" pitchFamily="34" charset="-122"/>
                <a:cs typeface="Calibri" pitchFamily="34" charset="-120"/>
              </a:defRPr>
            </a:lvl1pPr>
          </a:lstStyle>
          <a:p>
            <a:pPr marL="0" indent="0" algn="l">
              <a:buNone/>
            </a:pPr>
            <a:r>
              <a:rPr lang="en-US" sz="4000" b="1" dirty="0">
                <a:solidFill>
                  <a:srgbClr val="FFFFFF"/>
                </a:solidFill>
                <a:latin typeface="Calibri" pitchFamily="34" charset="0"/>
                <a:ea typeface="Calibri" pitchFamily="34" charset="-122"/>
                <a:cs typeface="Calibri" pitchFamily="34" charset="-120"/>
              </a:rPr>
              <a:t>Presentation title</a:t>
            </a:r>
            <a:endParaRPr lang="en-US" sz="4000" dirty="0"/>
          </a:p>
        </p:txBody>
      </p:sp>
      <p:sp>
        <p:nvSpPr>
          <p:cNvPr id="6" name="Text 1"/>
          <p:cNvSpPr>
            <a:spLocks noGrp="1"/>
          </p:cNvSpPr>
          <p:nvPr>
            <p:ph type="body" idx="104" hasCustomPrompt="1"/>
          </p:nvPr>
        </p:nvSpPr>
        <p:spPr>
          <a:xfrm>
            <a:off x="502920" y="3383280"/>
            <a:ext cx="5852160" cy="548640"/>
          </a:xfrm>
          <a:prstGeom prst="rect">
            <a:avLst/>
          </a:prstGeom>
          <a:noFill/>
          <a:ln/>
        </p:spPr>
        <p:txBody>
          <a:bodyPr wrap="square" rtlCol="0"/>
          <a:lstStyle>
            <a:lvl1pPr marL="0" indent="0">
              <a:buNone/>
              <a:defRPr lang="en-US" sz="1800" dirty="0">
                <a:solidFill>
                  <a:srgbClr val="C9CED6"/>
                </a:solidFill>
                <a:latin typeface="Calibri" pitchFamily="34" charset="0"/>
                <a:ea typeface="Calibri" pitchFamily="34" charset="-122"/>
                <a:cs typeface="Calibri" pitchFamily="34" charset="-120"/>
              </a:defRPr>
            </a:lvl1pPr>
          </a:lstStyle>
          <a:p>
            <a:pPr marL="0" indent="0">
              <a:buNone/>
            </a:pPr>
            <a:r>
              <a:rPr lang="en-US" sz="1800" dirty="0">
                <a:solidFill>
                  <a:srgbClr val="C9CED6"/>
                </a:solidFill>
                <a:latin typeface="Calibri" pitchFamily="34" charset="0"/>
                <a:ea typeface="Calibri" pitchFamily="34" charset="-122"/>
                <a:cs typeface="Calibri" pitchFamily="34" charset="-120"/>
              </a:rPr>
              <a:t>Subtitle or one-line description</a:t>
            </a:r>
            <a:endParaRPr lang="en-US" sz="1800" dirty="0"/>
          </a:p>
        </p:txBody>
      </p:sp>
      <p:sp>
        <p:nvSpPr>
          <p:cNvPr id="7" name="Text 1"/>
          <p:cNvSpPr>
            <a:spLocks noGrp="1"/>
          </p:cNvSpPr>
          <p:nvPr>
            <p:ph type="body" idx="105" hasCustomPrompt="1"/>
          </p:nvPr>
        </p:nvSpPr>
        <p:spPr>
          <a:xfrm>
            <a:off x="502920" y="4251960"/>
            <a:ext cx="3657600" cy="502920"/>
          </a:xfrm>
          <a:prstGeom prst="rect">
            <a:avLst/>
          </a:prstGeom>
          <a:noFill/>
          <a:ln/>
        </p:spPr>
        <p:txBody>
          <a:bodyPr wrap="square" rtlCol="0"/>
          <a:lstStyle>
            <a:lvl1pPr marL="0" indent="0">
              <a:buNone/>
              <a:defRPr lang="en-US" sz="1200" dirty="0">
                <a:solidFill>
                  <a:srgbClr val="C9CED6"/>
                </a:solidFill>
                <a:latin typeface="Calibri" pitchFamily="34" charset="0"/>
                <a:ea typeface="Calibri" pitchFamily="34" charset="-122"/>
                <a:cs typeface="Calibri" pitchFamily="34" charset="-120"/>
              </a:defRPr>
            </a:lvl1pPr>
          </a:lstStyle>
          <a:p>
            <a:pPr marL="0" indent="0">
              <a:buNone/>
            </a:pPr>
            <a:r>
              <a:rPr lang="en-US" sz="1200" dirty="0">
                <a:solidFill>
                  <a:srgbClr val="C9CED6"/>
                </a:solidFill>
                <a:latin typeface="Calibri" pitchFamily="34" charset="0"/>
                <a:ea typeface="Calibri" pitchFamily="34" charset="-122"/>
                <a:cs typeface="Calibri" pitchFamily="34" charset="-120"/>
              </a:rPr>
              <a:t>Presenter name, role</a:t>
            </a:r>
            <a:endParaRPr lang="en-US" sz="1200" dirty="0"/>
          </a:p>
        </p:txBody>
      </p:sp>
      <p:sp>
        <p:nvSpPr>
          <p:cNvPr id="8" name="Text 1"/>
          <p:cNvSpPr>
            <a:spLocks noGrp="1"/>
          </p:cNvSpPr>
          <p:nvPr>
            <p:ph type="body" idx="106" hasCustomPrompt="1"/>
          </p:nvPr>
        </p:nvSpPr>
        <p:spPr>
          <a:xfrm>
            <a:off x="5943600" y="4251960"/>
            <a:ext cx="2697480" cy="502920"/>
          </a:xfrm>
          <a:prstGeom prst="rect">
            <a:avLst/>
          </a:prstGeom>
          <a:noFill/>
          <a:ln/>
        </p:spPr>
        <p:txBody>
          <a:bodyPr wrap="square" rtlCol="0"/>
          <a:lstStyle>
            <a:lvl1pPr marL="0" indent="0" algn="r">
              <a:buNone/>
              <a:defRPr lang="en-US" sz="1200" dirty="0">
                <a:solidFill>
                  <a:srgbClr val="C9CED6"/>
                </a:solidFill>
                <a:latin typeface="Calibri" pitchFamily="34" charset="0"/>
                <a:ea typeface="Calibri" pitchFamily="34" charset="-122"/>
                <a:cs typeface="Calibri" pitchFamily="34" charset="-120"/>
              </a:defRPr>
            </a:lvl1pPr>
          </a:lstStyle>
          <a:p>
            <a:pPr marL="0" indent="0" algn="r">
              <a:buNone/>
            </a:pPr>
            <a:r>
              <a:rPr lang="en-US" sz="1200" dirty="0">
                <a:solidFill>
                  <a:srgbClr val="C9CED6"/>
                </a:solidFill>
                <a:latin typeface="Calibri" pitchFamily="34" charset="0"/>
                <a:ea typeface="Calibri" pitchFamily="34" charset="-122"/>
                <a:cs typeface="Calibri" pitchFamily="34" charset="-120"/>
              </a:rPr>
              <a:t>Month Year</a:t>
            </a:r>
            <a:endParaRPr lang="en-US" sz="12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TS Production Cover">
    <p:bg>
      <p:bgPr>
        <a:solidFill>
          <a:srgbClr val="1A1A1A"/>
        </a:solidFill>
        <a:effectLst/>
      </p:bgPr>
    </p:bg>
    <p:spTree>
      <p:nvGrpSpPr>
        <p:cNvPr id="1" name=""/>
        <p:cNvGrpSpPr/>
        <p:nvPr/>
      </p:nvGrpSpPr>
      <p:grpSpPr>
        <a:xfrm>
          <a:off x="0" y="0"/>
          <a:ext cx="0" cy="0"/>
          <a:chOff x="0" y="0"/>
          <a:chExt cx="0" cy="0"/>
        </a:xfrm>
      </p:grpSpPr>
      <p:sp>
        <p:nvSpPr>
          <p:cNvPr id="2" name="Shape 0"/>
          <p:cNvSpPr/>
          <p:nvPr/>
        </p:nvSpPr>
        <p:spPr>
          <a:xfrm>
            <a:off x="5852160" y="-1463040"/>
            <a:ext cx="4206240" cy="4206240"/>
          </a:xfrm>
          <a:prstGeom prst="ellipse">
            <a:avLst/>
          </a:prstGeom>
          <a:solidFill>
            <a:srgbClr val="3FD0C9">
              <a:alpha val="90000"/>
            </a:srgbClr>
          </a:solidFill>
          <a:ln w="12700">
            <a:solidFill>
              <a:srgbClr val="3FD0C9">
                <a:alpha val="0"/>
              </a:srgbClr>
            </a:solidFill>
            <a:prstDash val="solid"/>
          </a:ln>
        </p:spPr>
      </p:sp>
      <p:sp>
        <p:nvSpPr>
          <p:cNvPr id="3" name="Shape 1"/>
          <p:cNvSpPr/>
          <p:nvPr/>
        </p:nvSpPr>
        <p:spPr>
          <a:xfrm>
            <a:off x="6949440" y="2194560"/>
            <a:ext cx="3840480" cy="3840480"/>
          </a:xfrm>
          <a:prstGeom prst="ellipse">
            <a:avLst/>
          </a:prstGeom>
          <a:solidFill>
            <a:srgbClr val="005358">
              <a:alpha val="80000"/>
            </a:srgbClr>
          </a:solidFill>
          <a:ln w="12700">
            <a:solidFill>
              <a:srgbClr val="005358">
                <a:alpha val="0"/>
              </a:srgbClr>
            </a:solidFill>
            <a:prstDash val="solid"/>
          </a:ln>
        </p:spPr>
      </p:sp>
      <p:pic>
        <p:nvPicPr>
          <p:cNvPr id="4" name="Image 0" descr="/home/user/Claude/presentation/assets/cts-production-dark.png"/>
          <p:cNvPicPr>
            <a:picLocks noChangeAspect="1"/>
          </p:cNvPicPr>
          <p:nvPr/>
        </p:nvPicPr>
        <p:blipFill>
          <a:blip r:embed="rId2"/>
          <a:stretch>
            <a:fillRect/>
          </a:stretch>
        </p:blipFill>
        <p:spPr>
          <a:xfrm>
            <a:off x="502920" y="411480"/>
            <a:ext cx="1143440" cy="777240"/>
          </a:xfrm>
          <a:prstGeom prst="rect">
            <a:avLst/>
          </a:prstGeom>
        </p:spPr>
      </p:pic>
      <p:sp>
        <p:nvSpPr>
          <p:cNvPr id="5" name="Text 2"/>
          <p:cNvSpPr>
            <a:spLocks noGrp="1"/>
          </p:cNvSpPr>
          <p:nvPr>
            <p:ph type="body" idx="103" hasCustomPrompt="1"/>
          </p:nvPr>
        </p:nvSpPr>
        <p:spPr>
          <a:xfrm>
            <a:off x="502920" y="1828800"/>
            <a:ext cx="5486400" cy="320040"/>
          </a:xfrm>
          <a:prstGeom prst="rect">
            <a:avLst/>
          </a:prstGeom>
          <a:noFill/>
          <a:ln/>
        </p:spPr>
        <p:txBody>
          <a:bodyPr wrap="square" rtlCol="0"/>
          <a:lstStyle>
            <a:lvl1pPr marL="0" indent="0">
              <a:buNone/>
              <a:defRPr lang="en-US" sz="1200" b="1" kern="0" spc="300" dirty="0">
                <a:solidFill>
                  <a:srgbClr val="3FD0C9"/>
                </a:solidFill>
                <a:latin typeface="Calibri" pitchFamily="34" charset="0"/>
                <a:ea typeface="Calibri" pitchFamily="34" charset="-122"/>
                <a:cs typeface="Calibri" pitchFamily="34" charset="-120"/>
              </a:defRPr>
            </a:lvl1pPr>
          </a:lstStyle>
          <a:p>
            <a:pPr marL="0" indent="0">
              <a:buNone/>
            </a:pPr>
            <a:r>
              <a:rPr lang="en-US" sz="1200" b="1" kern="0" spc="300" dirty="0">
                <a:solidFill>
                  <a:srgbClr val="3FD0C9"/>
                </a:solidFill>
                <a:latin typeface="Calibri" pitchFamily="34" charset="0"/>
                <a:ea typeface="Calibri" pitchFamily="34" charset="-122"/>
                <a:cs typeface="Calibri" pitchFamily="34" charset="-120"/>
              </a:rPr>
              <a:t>PRESENTATION TYPE</a:t>
            </a:r>
            <a:endParaRPr lang="en-US" sz="1200" dirty="0"/>
          </a:p>
        </p:txBody>
      </p:sp>
      <p:sp>
        <p:nvSpPr>
          <p:cNvPr id="6" name="Text 2"/>
          <p:cNvSpPr>
            <a:spLocks noGrp="1"/>
          </p:cNvSpPr>
          <p:nvPr>
            <p:ph type="title" idx="104" hasCustomPrompt="1"/>
          </p:nvPr>
        </p:nvSpPr>
        <p:spPr>
          <a:xfrm>
            <a:off x="502920" y="2148840"/>
            <a:ext cx="5486400" cy="1234440"/>
          </a:xfrm>
          <a:prstGeom prst="rect">
            <a:avLst/>
          </a:prstGeom>
          <a:noFill/>
          <a:ln/>
        </p:spPr>
        <p:txBody>
          <a:bodyPr wrap="square" rtlCol="0"/>
          <a:lstStyle>
            <a:lvl1pPr marL="0" indent="0" algn="l">
              <a:buNone/>
              <a:defRPr lang="en-US" sz="4000" b="1" dirty="0">
                <a:solidFill>
                  <a:srgbClr val="FFFFFF"/>
                </a:solidFill>
                <a:latin typeface="Calibri" pitchFamily="34" charset="0"/>
                <a:ea typeface="Calibri" pitchFamily="34" charset="-122"/>
                <a:cs typeface="Calibri" pitchFamily="34" charset="-120"/>
              </a:defRPr>
            </a:lvl1pPr>
          </a:lstStyle>
          <a:p>
            <a:pPr marL="0" indent="0" algn="l">
              <a:buNone/>
            </a:pPr>
            <a:r>
              <a:rPr lang="en-US" sz="4000" b="1" dirty="0">
                <a:solidFill>
                  <a:srgbClr val="FFFFFF"/>
                </a:solidFill>
                <a:latin typeface="Calibri" pitchFamily="34" charset="0"/>
                <a:ea typeface="Calibri" pitchFamily="34" charset="-122"/>
                <a:cs typeface="Calibri" pitchFamily="34" charset="-120"/>
              </a:rPr>
              <a:t>Presentation title</a:t>
            </a:r>
            <a:endParaRPr lang="en-US" sz="4000" dirty="0"/>
          </a:p>
        </p:txBody>
      </p:sp>
      <p:sp>
        <p:nvSpPr>
          <p:cNvPr id="7" name="Text 2"/>
          <p:cNvSpPr>
            <a:spLocks noGrp="1"/>
          </p:cNvSpPr>
          <p:nvPr>
            <p:ph type="body" idx="105" hasCustomPrompt="1"/>
          </p:nvPr>
        </p:nvSpPr>
        <p:spPr>
          <a:xfrm>
            <a:off x="502920" y="3383280"/>
            <a:ext cx="5486400" cy="548640"/>
          </a:xfrm>
          <a:prstGeom prst="rect">
            <a:avLst/>
          </a:prstGeom>
          <a:noFill/>
          <a:ln/>
        </p:spPr>
        <p:txBody>
          <a:bodyPr wrap="square" rtlCol="0"/>
          <a:lstStyle>
            <a:lvl1pPr marL="0" indent="0">
              <a:buNone/>
              <a:defRPr lang="en-US" sz="1800" dirty="0">
                <a:solidFill>
                  <a:srgbClr val="C9CED6"/>
                </a:solidFill>
                <a:latin typeface="Calibri" pitchFamily="34" charset="0"/>
                <a:ea typeface="Calibri" pitchFamily="34" charset="-122"/>
                <a:cs typeface="Calibri" pitchFamily="34" charset="-120"/>
              </a:defRPr>
            </a:lvl1pPr>
          </a:lstStyle>
          <a:p>
            <a:pPr marL="0" indent="0">
              <a:buNone/>
            </a:pPr>
            <a:r>
              <a:rPr lang="en-US" sz="1800" dirty="0">
                <a:solidFill>
                  <a:srgbClr val="C9CED6"/>
                </a:solidFill>
                <a:latin typeface="Calibri" pitchFamily="34" charset="0"/>
                <a:ea typeface="Calibri" pitchFamily="34" charset="-122"/>
                <a:cs typeface="Calibri" pitchFamily="34" charset="-120"/>
              </a:rPr>
              <a:t>Subtitle or one-line description</a:t>
            </a:r>
            <a:endParaRPr lang="en-US" sz="1800" dirty="0"/>
          </a:p>
        </p:txBody>
      </p:sp>
      <p:sp>
        <p:nvSpPr>
          <p:cNvPr id="8" name="Text 2"/>
          <p:cNvSpPr>
            <a:spLocks noGrp="1"/>
          </p:cNvSpPr>
          <p:nvPr>
            <p:ph type="body" idx="106" hasCustomPrompt="1"/>
          </p:nvPr>
        </p:nvSpPr>
        <p:spPr>
          <a:xfrm>
            <a:off x="502920" y="4251960"/>
            <a:ext cx="3657600" cy="502920"/>
          </a:xfrm>
          <a:prstGeom prst="rect">
            <a:avLst/>
          </a:prstGeom>
          <a:noFill/>
          <a:ln/>
        </p:spPr>
        <p:txBody>
          <a:bodyPr wrap="square" rtlCol="0"/>
          <a:lstStyle>
            <a:lvl1pPr marL="0" indent="0">
              <a:buNone/>
              <a:defRPr lang="en-US" sz="1200" dirty="0">
                <a:solidFill>
                  <a:srgbClr val="C9CED6"/>
                </a:solidFill>
                <a:latin typeface="Calibri" pitchFamily="34" charset="0"/>
                <a:ea typeface="Calibri" pitchFamily="34" charset="-122"/>
                <a:cs typeface="Calibri" pitchFamily="34" charset="-120"/>
              </a:defRPr>
            </a:lvl1pPr>
          </a:lstStyle>
          <a:p>
            <a:pPr marL="0" indent="0">
              <a:buNone/>
            </a:pPr>
            <a:r>
              <a:rPr lang="en-US" sz="1200" dirty="0">
                <a:solidFill>
                  <a:srgbClr val="C9CED6"/>
                </a:solidFill>
                <a:latin typeface="Calibri" pitchFamily="34" charset="0"/>
                <a:ea typeface="Calibri" pitchFamily="34" charset="-122"/>
                <a:cs typeface="Calibri" pitchFamily="34" charset="-120"/>
              </a:rPr>
              <a:t>Presenter name, role</a:t>
            </a:r>
            <a:endParaRPr lang="en-US" sz="1200" dirty="0"/>
          </a:p>
        </p:txBody>
      </p:sp>
      <p:sp>
        <p:nvSpPr>
          <p:cNvPr id="9" name="Text 2"/>
          <p:cNvSpPr>
            <a:spLocks noGrp="1"/>
          </p:cNvSpPr>
          <p:nvPr>
            <p:ph type="body" idx="107" hasCustomPrompt="1"/>
          </p:nvPr>
        </p:nvSpPr>
        <p:spPr>
          <a:xfrm>
            <a:off x="5943600" y="4251960"/>
            <a:ext cx="2697480" cy="502920"/>
          </a:xfrm>
          <a:prstGeom prst="rect">
            <a:avLst/>
          </a:prstGeom>
          <a:noFill/>
          <a:ln/>
        </p:spPr>
        <p:txBody>
          <a:bodyPr wrap="square" rtlCol="0"/>
          <a:lstStyle>
            <a:lvl1pPr marL="0" indent="0" algn="r">
              <a:buNone/>
              <a:defRPr lang="en-US" sz="1200" dirty="0">
                <a:solidFill>
                  <a:srgbClr val="C9CED6"/>
                </a:solidFill>
                <a:latin typeface="Calibri" pitchFamily="34" charset="0"/>
                <a:ea typeface="Calibri" pitchFamily="34" charset="-122"/>
                <a:cs typeface="Calibri" pitchFamily="34" charset="-120"/>
              </a:defRPr>
            </a:lvl1pPr>
          </a:lstStyle>
          <a:p>
            <a:pPr marL="0" indent="0" algn="r">
              <a:buNone/>
            </a:pPr>
            <a:r>
              <a:rPr lang="en-US" sz="1200" dirty="0">
                <a:solidFill>
                  <a:srgbClr val="C9CED6"/>
                </a:solidFill>
                <a:latin typeface="Calibri" pitchFamily="34" charset="0"/>
                <a:ea typeface="Calibri" pitchFamily="34" charset="-122"/>
                <a:cs typeface="Calibri" pitchFamily="34" charset="-120"/>
              </a:rPr>
              <a:t>Month Year</a:t>
            </a:r>
            <a:endParaRPr lang="en-US" sz="12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CTS Consulting Cover">
    <p:bg>
      <p:bgPr>
        <a:solidFill>
          <a:srgbClr val="1A1A1A"/>
        </a:solidFill>
        <a:effectLst/>
      </p:bgPr>
    </p:bg>
    <p:spTree>
      <p:nvGrpSpPr>
        <p:cNvPr id="1" name=""/>
        <p:cNvGrpSpPr/>
        <p:nvPr/>
      </p:nvGrpSpPr>
      <p:grpSpPr>
        <a:xfrm>
          <a:off x="0" y="0"/>
          <a:ext cx="0" cy="0"/>
          <a:chOff x="0" y="0"/>
          <a:chExt cx="0" cy="0"/>
        </a:xfrm>
      </p:grpSpPr>
      <p:sp>
        <p:nvSpPr>
          <p:cNvPr id="2" name="Shape 0"/>
          <p:cNvSpPr/>
          <p:nvPr/>
        </p:nvSpPr>
        <p:spPr>
          <a:xfrm>
            <a:off x="5852160" y="-1463040"/>
            <a:ext cx="4206240" cy="4206240"/>
          </a:xfrm>
          <a:prstGeom prst="ellipse">
            <a:avLst/>
          </a:prstGeom>
          <a:solidFill>
            <a:srgbClr val="6D71FF">
              <a:alpha val="90000"/>
            </a:srgbClr>
          </a:solidFill>
          <a:ln w="12700">
            <a:solidFill>
              <a:srgbClr val="6D71FF">
                <a:alpha val="0"/>
              </a:srgbClr>
            </a:solidFill>
            <a:prstDash val="solid"/>
          </a:ln>
        </p:spPr>
      </p:sp>
      <p:sp>
        <p:nvSpPr>
          <p:cNvPr id="3" name="Shape 1"/>
          <p:cNvSpPr/>
          <p:nvPr/>
        </p:nvSpPr>
        <p:spPr>
          <a:xfrm>
            <a:off x="6949440" y="2194560"/>
            <a:ext cx="3840480" cy="3840480"/>
          </a:xfrm>
          <a:prstGeom prst="ellipse">
            <a:avLst/>
          </a:prstGeom>
          <a:solidFill>
            <a:srgbClr val="122B82">
              <a:alpha val="80000"/>
            </a:srgbClr>
          </a:solidFill>
          <a:ln w="12700">
            <a:solidFill>
              <a:srgbClr val="122B82">
                <a:alpha val="0"/>
              </a:srgbClr>
            </a:solidFill>
            <a:prstDash val="solid"/>
          </a:ln>
        </p:spPr>
      </p:sp>
      <p:pic>
        <p:nvPicPr>
          <p:cNvPr id="4" name="Image 0" descr="/home/user/Claude/presentation/assets/cts-consulting-dark.png"/>
          <p:cNvPicPr>
            <a:picLocks noChangeAspect="1"/>
          </p:cNvPicPr>
          <p:nvPr/>
        </p:nvPicPr>
        <p:blipFill>
          <a:blip r:embed="rId2"/>
          <a:stretch>
            <a:fillRect/>
          </a:stretch>
        </p:blipFill>
        <p:spPr>
          <a:xfrm>
            <a:off x="502920" y="411480"/>
            <a:ext cx="1143440" cy="777240"/>
          </a:xfrm>
          <a:prstGeom prst="rect">
            <a:avLst/>
          </a:prstGeom>
        </p:spPr>
      </p:pic>
      <p:sp>
        <p:nvSpPr>
          <p:cNvPr id="5" name="Text 2"/>
          <p:cNvSpPr>
            <a:spLocks noGrp="1"/>
          </p:cNvSpPr>
          <p:nvPr>
            <p:ph type="body" idx="103" hasCustomPrompt="1"/>
          </p:nvPr>
        </p:nvSpPr>
        <p:spPr>
          <a:xfrm>
            <a:off x="502920" y="1828800"/>
            <a:ext cx="5486400" cy="320040"/>
          </a:xfrm>
          <a:prstGeom prst="rect">
            <a:avLst/>
          </a:prstGeom>
          <a:noFill/>
          <a:ln/>
        </p:spPr>
        <p:txBody>
          <a:bodyPr wrap="square" rtlCol="0"/>
          <a:lstStyle>
            <a:lvl1pPr marL="0" indent="0">
              <a:buNone/>
              <a:defRPr lang="en-US" sz="1200" b="1" kern="0" spc="300" dirty="0">
                <a:solidFill>
                  <a:srgbClr val="6D71FF"/>
                </a:solidFill>
                <a:latin typeface="Calibri" pitchFamily="34" charset="0"/>
                <a:ea typeface="Calibri" pitchFamily="34" charset="-122"/>
                <a:cs typeface="Calibri" pitchFamily="34" charset="-120"/>
              </a:defRPr>
            </a:lvl1pPr>
          </a:lstStyle>
          <a:p>
            <a:pPr marL="0" indent="0">
              <a:buNone/>
            </a:pPr>
            <a:r>
              <a:rPr lang="en-US" sz="1200" b="1" kern="0" spc="300" dirty="0">
                <a:solidFill>
                  <a:srgbClr val="6D71FF"/>
                </a:solidFill>
                <a:latin typeface="Calibri" pitchFamily="34" charset="0"/>
                <a:ea typeface="Calibri" pitchFamily="34" charset="-122"/>
                <a:cs typeface="Calibri" pitchFamily="34" charset="-120"/>
              </a:rPr>
              <a:t>PRESENTATION TYPE</a:t>
            </a:r>
            <a:endParaRPr lang="en-US" sz="1200" dirty="0"/>
          </a:p>
        </p:txBody>
      </p:sp>
      <p:sp>
        <p:nvSpPr>
          <p:cNvPr id="6" name="Text 2"/>
          <p:cNvSpPr>
            <a:spLocks noGrp="1"/>
          </p:cNvSpPr>
          <p:nvPr>
            <p:ph type="title" idx="104" hasCustomPrompt="1"/>
          </p:nvPr>
        </p:nvSpPr>
        <p:spPr>
          <a:xfrm>
            <a:off x="502920" y="2148840"/>
            <a:ext cx="5486400" cy="1234440"/>
          </a:xfrm>
          <a:prstGeom prst="rect">
            <a:avLst/>
          </a:prstGeom>
          <a:noFill/>
          <a:ln/>
        </p:spPr>
        <p:txBody>
          <a:bodyPr wrap="square" rtlCol="0"/>
          <a:lstStyle>
            <a:lvl1pPr marL="0" indent="0" algn="l">
              <a:buNone/>
              <a:defRPr lang="en-US" sz="4000" b="1" dirty="0">
                <a:solidFill>
                  <a:srgbClr val="FFFFFF"/>
                </a:solidFill>
                <a:latin typeface="Calibri" pitchFamily="34" charset="0"/>
                <a:ea typeface="Calibri" pitchFamily="34" charset="-122"/>
                <a:cs typeface="Calibri" pitchFamily="34" charset="-120"/>
              </a:defRPr>
            </a:lvl1pPr>
          </a:lstStyle>
          <a:p>
            <a:pPr marL="0" indent="0" algn="l">
              <a:buNone/>
            </a:pPr>
            <a:r>
              <a:rPr lang="en-US" sz="4000" b="1" dirty="0">
                <a:solidFill>
                  <a:srgbClr val="FFFFFF"/>
                </a:solidFill>
                <a:latin typeface="Calibri" pitchFamily="34" charset="0"/>
                <a:ea typeface="Calibri" pitchFamily="34" charset="-122"/>
                <a:cs typeface="Calibri" pitchFamily="34" charset="-120"/>
              </a:rPr>
              <a:t>Presentation title</a:t>
            </a:r>
            <a:endParaRPr lang="en-US" sz="4000" dirty="0"/>
          </a:p>
        </p:txBody>
      </p:sp>
      <p:sp>
        <p:nvSpPr>
          <p:cNvPr id="7" name="Text 2"/>
          <p:cNvSpPr>
            <a:spLocks noGrp="1"/>
          </p:cNvSpPr>
          <p:nvPr>
            <p:ph type="body" idx="105" hasCustomPrompt="1"/>
          </p:nvPr>
        </p:nvSpPr>
        <p:spPr>
          <a:xfrm>
            <a:off x="502920" y="3383280"/>
            <a:ext cx="5486400" cy="548640"/>
          </a:xfrm>
          <a:prstGeom prst="rect">
            <a:avLst/>
          </a:prstGeom>
          <a:noFill/>
          <a:ln/>
        </p:spPr>
        <p:txBody>
          <a:bodyPr wrap="square" rtlCol="0"/>
          <a:lstStyle>
            <a:lvl1pPr marL="0" indent="0">
              <a:buNone/>
              <a:defRPr lang="en-US" sz="1800" dirty="0">
                <a:solidFill>
                  <a:srgbClr val="C9CED6"/>
                </a:solidFill>
                <a:latin typeface="Calibri" pitchFamily="34" charset="0"/>
                <a:ea typeface="Calibri" pitchFamily="34" charset="-122"/>
                <a:cs typeface="Calibri" pitchFamily="34" charset="-120"/>
              </a:defRPr>
            </a:lvl1pPr>
          </a:lstStyle>
          <a:p>
            <a:pPr marL="0" indent="0">
              <a:buNone/>
            </a:pPr>
            <a:r>
              <a:rPr lang="en-US" sz="1800" dirty="0">
                <a:solidFill>
                  <a:srgbClr val="C9CED6"/>
                </a:solidFill>
                <a:latin typeface="Calibri" pitchFamily="34" charset="0"/>
                <a:ea typeface="Calibri" pitchFamily="34" charset="-122"/>
                <a:cs typeface="Calibri" pitchFamily="34" charset="-120"/>
              </a:rPr>
              <a:t>Subtitle or one-line description</a:t>
            </a:r>
            <a:endParaRPr lang="en-US" sz="1800" dirty="0"/>
          </a:p>
        </p:txBody>
      </p:sp>
      <p:sp>
        <p:nvSpPr>
          <p:cNvPr id="8" name="Text 2"/>
          <p:cNvSpPr>
            <a:spLocks noGrp="1"/>
          </p:cNvSpPr>
          <p:nvPr>
            <p:ph type="body" idx="106" hasCustomPrompt="1"/>
          </p:nvPr>
        </p:nvSpPr>
        <p:spPr>
          <a:xfrm>
            <a:off x="502920" y="4251960"/>
            <a:ext cx="3657600" cy="502920"/>
          </a:xfrm>
          <a:prstGeom prst="rect">
            <a:avLst/>
          </a:prstGeom>
          <a:noFill/>
          <a:ln/>
        </p:spPr>
        <p:txBody>
          <a:bodyPr wrap="square" rtlCol="0"/>
          <a:lstStyle>
            <a:lvl1pPr marL="0" indent="0">
              <a:buNone/>
              <a:defRPr lang="en-US" sz="1200" dirty="0">
                <a:solidFill>
                  <a:srgbClr val="C9CED6"/>
                </a:solidFill>
                <a:latin typeface="Calibri" pitchFamily="34" charset="0"/>
                <a:ea typeface="Calibri" pitchFamily="34" charset="-122"/>
                <a:cs typeface="Calibri" pitchFamily="34" charset="-120"/>
              </a:defRPr>
            </a:lvl1pPr>
          </a:lstStyle>
          <a:p>
            <a:pPr marL="0" indent="0">
              <a:buNone/>
            </a:pPr>
            <a:r>
              <a:rPr lang="en-US" sz="1200" dirty="0">
                <a:solidFill>
                  <a:srgbClr val="C9CED6"/>
                </a:solidFill>
                <a:latin typeface="Calibri" pitchFamily="34" charset="0"/>
                <a:ea typeface="Calibri" pitchFamily="34" charset="-122"/>
                <a:cs typeface="Calibri" pitchFamily="34" charset="-120"/>
              </a:rPr>
              <a:t>Presenter name, role</a:t>
            </a:r>
            <a:endParaRPr lang="en-US" sz="1200" dirty="0"/>
          </a:p>
        </p:txBody>
      </p:sp>
      <p:sp>
        <p:nvSpPr>
          <p:cNvPr id="9" name="Text 2"/>
          <p:cNvSpPr>
            <a:spLocks noGrp="1"/>
          </p:cNvSpPr>
          <p:nvPr>
            <p:ph type="body" idx="107" hasCustomPrompt="1"/>
          </p:nvPr>
        </p:nvSpPr>
        <p:spPr>
          <a:xfrm>
            <a:off x="5943600" y="4251960"/>
            <a:ext cx="2697480" cy="502920"/>
          </a:xfrm>
          <a:prstGeom prst="rect">
            <a:avLst/>
          </a:prstGeom>
          <a:noFill/>
          <a:ln/>
        </p:spPr>
        <p:txBody>
          <a:bodyPr wrap="square" rtlCol="0"/>
          <a:lstStyle>
            <a:lvl1pPr marL="0" indent="0" algn="r">
              <a:buNone/>
              <a:defRPr lang="en-US" sz="1200" dirty="0">
                <a:solidFill>
                  <a:srgbClr val="C9CED6"/>
                </a:solidFill>
                <a:latin typeface="Calibri" pitchFamily="34" charset="0"/>
                <a:ea typeface="Calibri" pitchFamily="34" charset="-122"/>
                <a:cs typeface="Calibri" pitchFamily="34" charset="-120"/>
              </a:defRPr>
            </a:lvl1pPr>
          </a:lstStyle>
          <a:p>
            <a:pPr marL="0" indent="0" algn="r">
              <a:buNone/>
            </a:pPr>
            <a:r>
              <a:rPr lang="en-US" sz="1200" dirty="0">
                <a:solidFill>
                  <a:srgbClr val="C9CED6"/>
                </a:solidFill>
                <a:latin typeface="Calibri" pitchFamily="34" charset="0"/>
                <a:ea typeface="Calibri" pitchFamily="34" charset="-122"/>
                <a:cs typeface="Calibri" pitchFamily="34" charset="-120"/>
              </a:rPr>
              <a:t>Month Year</a:t>
            </a:r>
            <a:endParaRPr lang="en-US" sz="12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CTS Support Cover">
    <p:bg>
      <p:bgPr>
        <a:solidFill>
          <a:srgbClr val="1A1A1A"/>
        </a:solidFill>
        <a:effectLst/>
      </p:bgPr>
    </p:bg>
    <p:spTree>
      <p:nvGrpSpPr>
        <p:cNvPr id="1" name=""/>
        <p:cNvGrpSpPr/>
        <p:nvPr/>
      </p:nvGrpSpPr>
      <p:grpSpPr>
        <a:xfrm>
          <a:off x="0" y="0"/>
          <a:ext cx="0" cy="0"/>
          <a:chOff x="0" y="0"/>
          <a:chExt cx="0" cy="0"/>
        </a:xfrm>
      </p:grpSpPr>
      <p:sp>
        <p:nvSpPr>
          <p:cNvPr id="2" name="Shape 0"/>
          <p:cNvSpPr/>
          <p:nvPr/>
        </p:nvSpPr>
        <p:spPr>
          <a:xfrm>
            <a:off x="5852160" y="-1463040"/>
            <a:ext cx="4206240" cy="4206240"/>
          </a:xfrm>
          <a:prstGeom prst="ellipse">
            <a:avLst/>
          </a:prstGeom>
          <a:solidFill>
            <a:srgbClr val="F33844">
              <a:alpha val="90000"/>
            </a:srgbClr>
          </a:solidFill>
          <a:ln w="12700">
            <a:solidFill>
              <a:srgbClr val="F33844">
                <a:alpha val="0"/>
              </a:srgbClr>
            </a:solidFill>
            <a:prstDash val="solid"/>
          </a:ln>
        </p:spPr>
      </p:sp>
      <p:sp>
        <p:nvSpPr>
          <p:cNvPr id="3" name="Shape 1"/>
          <p:cNvSpPr/>
          <p:nvPr/>
        </p:nvSpPr>
        <p:spPr>
          <a:xfrm>
            <a:off x="6949440" y="2194560"/>
            <a:ext cx="3840480" cy="3840480"/>
          </a:xfrm>
          <a:prstGeom prst="ellipse">
            <a:avLst/>
          </a:prstGeom>
          <a:solidFill>
            <a:srgbClr val="A8052E">
              <a:alpha val="80000"/>
            </a:srgbClr>
          </a:solidFill>
          <a:ln w="12700">
            <a:solidFill>
              <a:srgbClr val="A8052E">
                <a:alpha val="0"/>
              </a:srgbClr>
            </a:solidFill>
            <a:prstDash val="solid"/>
          </a:ln>
        </p:spPr>
      </p:sp>
      <p:pic>
        <p:nvPicPr>
          <p:cNvPr id="4" name="Image 0" descr="/home/user/Claude/presentation/assets/cts-support-dark.png"/>
          <p:cNvPicPr>
            <a:picLocks noChangeAspect="1"/>
          </p:cNvPicPr>
          <p:nvPr/>
        </p:nvPicPr>
        <p:blipFill>
          <a:blip r:embed="rId2"/>
          <a:stretch>
            <a:fillRect/>
          </a:stretch>
        </p:blipFill>
        <p:spPr>
          <a:xfrm>
            <a:off x="502920" y="411480"/>
            <a:ext cx="1143440" cy="777240"/>
          </a:xfrm>
          <a:prstGeom prst="rect">
            <a:avLst/>
          </a:prstGeom>
        </p:spPr>
      </p:pic>
      <p:sp>
        <p:nvSpPr>
          <p:cNvPr id="5" name="Text 2"/>
          <p:cNvSpPr>
            <a:spLocks noGrp="1"/>
          </p:cNvSpPr>
          <p:nvPr>
            <p:ph type="body" idx="103" hasCustomPrompt="1"/>
          </p:nvPr>
        </p:nvSpPr>
        <p:spPr>
          <a:xfrm>
            <a:off x="502920" y="1828800"/>
            <a:ext cx="5486400" cy="320040"/>
          </a:xfrm>
          <a:prstGeom prst="rect">
            <a:avLst/>
          </a:prstGeom>
          <a:noFill/>
          <a:ln/>
        </p:spPr>
        <p:txBody>
          <a:bodyPr wrap="square" rtlCol="0"/>
          <a:lstStyle>
            <a:lvl1pPr marL="0" indent="0">
              <a:buNone/>
              <a:defRPr lang="en-US" sz="1200" b="1" kern="0" spc="300" dirty="0">
                <a:solidFill>
                  <a:srgbClr val="F33844"/>
                </a:solidFill>
                <a:latin typeface="Calibri" pitchFamily="34" charset="0"/>
                <a:ea typeface="Calibri" pitchFamily="34" charset="-122"/>
                <a:cs typeface="Calibri" pitchFamily="34" charset="-120"/>
              </a:defRPr>
            </a:lvl1pPr>
          </a:lstStyle>
          <a:p>
            <a:pPr marL="0" indent="0">
              <a:buNone/>
            </a:pPr>
            <a:r>
              <a:rPr lang="en-US" sz="1200" b="1" kern="0" spc="300" dirty="0">
                <a:solidFill>
                  <a:srgbClr val="F33844"/>
                </a:solidFill>
                <a:latin typeface="Calibri" pitchFamily="34" charset="0"/>
                <a:ea typeface="Calibri" pitchFamily="34" charset="-122"/>
                <a:cs typeface="Calibri" pitchFamily="34" charset="-120"/>
              </a:rPr>
              <a:t>PRESENTATION TYPE</a:t>
            </a:r>
            <a:endParaRPr lang="en-US" sz="1200" dirty="0"/>
          </a:p>
        </p:txBody>
      </p:sp>
      <p:sp>
        <p:nvSpPr>
          <p:cNvPr id="6" name="Text 2"/>
          <p:cNvSpPr>
            <a:spLocks noGrp="1"/>
          </p:cNvSpPr>
          <p:nvPr>
            <p:ph type="title" idx="104" hasCustomPrompt="1"/>
          </p:nvPr>
        </p:nvSpPr>
        <p:spPr>
          <a:xfrm>
            <a:off x="502920" y="2148840"/>
            <a:ext cx="5486400" cy="1234440"/>
          </a:xfrm>
          <a:prstGeom prst="rect">
            <a:avLst/>
          </a:prstGeom>
          <a:noFill/>
          <a:ln/>
        </p:spPr>
        <p:txBody>
          <a:bodyPr wrap="square" rtlCol="0"/>
          <a:lstStyle>
            <a:lvl1pPr marL="0" indent="0" algn="l">
              <a:buNone/>
              <a:defRPr lang="en-US" sz="4000" b="1" dirty="0">
                <a:solidFill>
                  <a:srgbClr val="FFFFFF"/>
                </a:solidFill>
                <a:latin typeface="Calibri" pitchFamily="34" charset="0"/>
                <a:ea typeface="Calibri" pitchFamily="34" charset="-122"/>
                <a:cs typeface="Calibri" pitchFamily="34" charset="-120"/>
              </a:defRPr>
            </a:lvl1pPr>
          </a:lstStyle>
          <a:p>
            <a:pPr marL="0" indent="0" algn="l">
              <a:buNone/>
            </a:pPr>
            <a:r>
              <a:rPr lang="en-US" sz="4000" b="1" dirty="0">
                <a:solidFill>
                  <a:srgbClr val="FFFFFF"/>
                </a:solidFill>
                <a:latin typeface="Calibri" pitchFamily="34" charset="0"/>
                <a:ea typeface="Calibri" pitchFamily="34" charset="-122"/>
                <a:cs typeface="Calibri" pitchFamily="34" charset="-120"/>
              </a:rPr>
              <a:t>Presentation title</a:t>
            </a:r>
            <a:endParaRPr lang="en-US" sz="4000" dirty="0"/>
          </a:p>
        </p:txBody>
      </p:sp>
      <p:sp>
        <p:nvSpPr>
          <p:cNvPr id="7" name="Text 2"/>
          <p:cNvSpPr>
            <a:spLocks noGrp="1"/>
          </p:cNvSpPr>
          <p:nvPr>
            <p:ph type="body" idx="105" hasCustomPrompt="1"/>
          </p:nvPr>
        </p:nvSpPr>
        <p:spPr>
          <a:xfrm>
            <a:off x="502920" y="3383280"/>
            <a:ext cx="5486400" cy="548640"/>
          </a:xfrm>
          <a:prstGeom prst="rect">
            <a:avLst/>
          </a:prstGeom>
          <a:noFill/>
          <a:ln/>
        </p:spPr>
        <p:txBody>
          <a:bodyPr wrap="square" rtlCol="0"/>
          <a:lstStyle>
            <a:lvl1pPr marL="0" indent="0">
              <a:buNone/>
              <a:defRPr lang="en-US" sz="1800" dirty="0">
                <a:solidFill>
                  <a:srgbClr val="C9CED6"/>
                </a:solidFill>
                <a:latin typeface="Calibri" pitchFamily="34" charset="0"/>
                <a:ea typeface="Calibri" pitchFamily="34" charset="-122"/>
                <a:cs typeface="Calibri" pitchFamily="34" charset="-120"/>
              </a:defRPr>
            </a:lvl1pPr>
          </a:lstStyle>
          <a:p>
            <a:pPr marL="0" indent="0">
              <a:buNone/>
            </a:pPr>
            <a:r>
              <a:rPr lang="en-US" sz="1800" dirty="0">
                <a:solidFill>
                  <a:srgbClr val="C9CED6"/>
                </a:solidFill>
                <a:latin typeface="Calibri" pitchFamily="34" charset="0"/>
                <a:ea typeface="Calibri" pitchFamily="34" charset="-122"/>
                <a:cs typeface="Calibri" pitchFamily="34" charset="-120"/>
              </a:rPr>
              <a:t>Subtitle or one-line description</a:t>
            </a:r>
            <a:endParaRPr lang="en-US" sz="1800" dirty="0"/>
          </a:p>
        </p:txBody>
      </p:sp>
      <p:sp>
        <p:nvSpPr>
          <p:cNvPr id="8" name="Text 2"/>
          <p:cNvSpPr>
            <a:spLocks noGrp="1"/>
          </p:cNvSpPr>
          <p:nvPr>
            <p:ph type="body" idx="106" hasCustomPrompt="1"/>
          </p:nvPr>
        </p:nvSpPr>
        <p:spPr>
          <a:xfrm>
            <a:off x="502920" y="4251960"/>
            <a:ext cx="3657600" cy="502920"/>
          </a:xfrm>
          <a:prstGeom prst="rect">
            <a:avLst/>
          </a:prstGeom>
          <a:noFill/>
          <a:ln/>
        </p:spPr>
        <p:txBody>
          <a:bodyPr wrap="square" rtlCol="0"/>
          <a:lstStyle>
            <a:lvl1pPr marL="0" indent="0">
              <a:buNone/>
              <a:defRPr lang="en-US" sz="1200" dirty="0">
                <a:solidFill>
                  <a:srgbClr val="C9CED6"/>
                </a:solidFill>
                <a:latin typeface="Calibri" pitchFamily="34" charset="0"/>
                <a:ea typeface="Calibri" pitchFamily="34" charset="-122"/>
                <a:cs typeface="Calibri" pitchFamily="34" charset="-120"/>
              </a:defRPr>
            </a:lvl1pPr>
          </a:lstStyle>
          <a:p>
            <a:pPr marL="0" indent="0">
              <a:buNone/>
            </a:pPr>
            <a:r>
              <a:rPr lang="en-US" sz="1200" dirty="0">
                <a:solidFill>
                  <a:srgbClr val="C9CED6"/>
                </a:solidFill>
                <a:latin typeface="Calibri" pitchFamily="34" charset="0"/>
                <a:ea typeface="Calibri" pitchFamily="34" charset="-122"/>
                <a:cs typeface="Calibri" pitchFamily="34" charset="-120"/>
              </a:rPr>
              <a:t>Presenter name, role</a:t>
            </a:r>
            <a:endParaRPr lang="en-US" sz="1200" dirty="0"/>
          </a:p>
        </p:txBody>
      </p:sp>
      <p:sp>
        <p:nvSpPr>
          <p:cNvPr id="9" name="Text 2"/>
          <p:cNvSpPr>
            <a:spLocks noGrp="1"/>
          </p:cNvSpPr>
          <p:nvPr>
            <p:ph type="body" idx="107" hasCustomPrompt="1"/>
          </p:nvPr>
        </p:nvSpPr>
        <p:spPr>
          <a:xfrm>
            <a:off x="5943600" y="4251960"/>
            <a:ext cx="2697480" cy="502920"/>
          </a:xfrm>
          <a:prstGeom prst="rect">
            <a:avLst/>
          </a:prstGeom>
          <a:noFill/>
          <a:ln/>
        </p:spPr>
        <p:txBody>
          <a:bodyPr wrap="square" rtlCol="0"/>
          <a:lstStyle>
            <a:lvl1pPr marL="0" indent="0" algn="r">
              <a:buNone/>
              <a:defRPr lang="en-US" sz="1200" dirty="0">
                <a:solidFill>
                  <a:srgbClr val="C9CED6"/>
                </a:solidFill>
                <a:latin typeface="Calibri" pitchFamily="34" charset="0"/>
                <a:ea typeface="Calibri" pitchFamily="34" charset="-122"/>
                <a:cs typeface="Calibri" pitchFamily="34" charset="-120"/>
              </a:defRPr>
            </a:lvl1pPr>
          </a:lstStyle>
          <a:p>
            <a:pPr marL="0" indent="0" algn="r">
              <a:buNone/>
            </a:pPr>
            <a:r>
              <a:rPr lang="en-US" sz="1200" dirty="0">
                <a:solidFill>
                  <a:srgbClr val="C9CED6"/>
                </a:solidFill>
                <a:latin typeface="Calibri" pitchFamily="34" charset="0"/>
                <a:ea typeface="Calibri" pitchFamily="34" charset="-122"/>
                <a:cs typeface="Calibri" pitchFamily="34" charset="-120"/>
              </a:rPr>
              <a:t>Month Year</a:t>
            </a:r>
            <a:endParaRPr lang="en-US" sz="120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TS Section (navy)">
    <p:bg>
      <p:bgPr>
        <a:solidFill>
          <a:srgbClr val="122B82"/>
        </a:solidFill>
        <a:effectLst/>
      </p:bgPr>
    </p:bg>
    <p:spTree>
      <p:nvGrpSpPr>
        <p:cNvPr id="1" name=""/>
        <p:cNvGrpSpPr/>
        <p:nvPr/>
      </p:nvGrpSpPr>
      <p:grpSpPr>
        <a:xfrm>
          <a:off x="0" y="0"/>
          <a:ext cx="0" cy="0"/>
          <a:chOff x="0" y="0"/>
          <a:chExt cx="0" cy="0"/>
        </a:xfrm>
      </p:grpSpPr>
      <p:sp>
        <p:nvSpPr>
          <p:cNvPr id="2" name="Shape 0"/>
          <p:cNvSpPr/>
          <p:nvPr/>
        </p:nvSpPr>
        <p:spPr>
          <a:xfrm>
            <a:off x="6400800" y="2194560"/>
            <a:ext cx="4206240" cy="4206240"/>
          </a:xfrm>
          <a:prstGeom prst="ellipse">
            <a:avLst/>
          </a:prstGeom>
          <a:solidFill>
            <a:srgbClr val="6D71FF">
              <a:alpha val="45000"/>
            </a:srgbClr>
          </a:solidFill>
          <a:ln w="12700">
            <a:solidFill>
              <a:srgbClr val="6D71FF">
                <a:alpha val="0"/>
              </a:srgbClr>
            </a:solidFill>
            <a:prstDash val="solid"/>
          </a:ln>
        </p:spPr>
      </p:sp>
      <p:pic>
        <p:nvPicPr>
          <p:cNvPr id="3" name="Image 0" descr="/home/user/Claude/presentation/assets/cts-logo-dark.png"/>
          <p:cNvPicPr>
            <a:picLocks noChangeAspect="1"/>
          </p:cNvPicPr>
          <p:nvPr/>
        </p:nvPicPr>
        <p:blipFill>
          <a:blip r:embed="rId2"/>
          <a:stretch>
            <a:fillRect/>
          </a:stretch>
        </p:blipFill>
        <p:spPr>
          <a:xfrm>
            <a:off x="7833946" y="384048"/>
            <a:ext cx="807134" cy="548640"/>
          </a:xfrm>
          <a:prstGeom prst="rect">
            <a:avLst/>
          </a:prstGeom>
        </p:spPr>
      </p:pic>
      <p:sp>
        <p:nvSpPr>
          <p:cNvPr id="4" name="Text 1"/>
          <p:cNvSpPr/>
          <p:nvPr/>
        </p:nvSpPr>
        <p:spPr>
          <a:xfrm>
            <a:off x="502920" y="411480"/>
            <a:ext cx="2743200" cy="320040"/>
          </a:xfrm>
          <a:prstGeom prst="rect">
            <a:avLst/>
          </a:prstGeom>
          <a:noFill/>
          <a:ln/>
        </p:spPr>
        <p:txBody>
          <a:bodyPr wrap="square" lIns="0" tIns="0" rIns="0" bIns="0" rtlCol="0" anchor="ctr"/>
          <a:lstStyle/>
          <a:p>
            <a:pPr marL="0" indent="0">
              <a:buNone/>
            </a:pPr>
            <a:r>
              <a:rPr lang="en-US" sz="1100" b="1" kern="0" spc="300" dirty="0">
                <a:solidFill>
                  <a:srgbClr val="3FD0C9"/>
                </a:solidFill>
                <a:latin typeface="Calibri" pitchFamily="34" charset="0"/>
                <a:ea typeface="Calibri" pitchFamily="34" charset="-122"/>
                <a:cs typeface="Calibri" pitchFamily="34" charset="-120"/>
              </a:rPr>
              <a:t>SECTION</a:t>
            </a:r>
            <a:endParaRPr lang="en-US" sz="1100" dirty="0"/>
          </a:p>
        </p:txBody>
      </p:sp>
      <p:sp>
        <p:nvSpPr>
          <p:cNvPr id="5" name="Shape 2"/>
          <p:cNvSpPr/>
          <p:nvPr/>
        </p:nvSpPr>
        <p:spPr>
          <a:xfrm>
            <a:off x="502920" y="1874520"/>
            <a:ext cx="1280160" cy="1280160"/>
          </a:xfrm>
          <a:prstGeom prst="rect">
            <a:avLst/>
          </a:prstGeom>
          <a:solidFill>
            <a:srgbClr val="3FD0C9"/>
          </a:solidFill>
          <a:ln w="12700">
            <a:solidFill>
              <a:srgbClr val="3FD0C9"/>
            </a:solidFill>
            <a:prstDash val="solid"/>
          </a:ln>
        </p:spPr>
      </p:sp>
      <p:sp>
        <p:nvSpPr>
          <p:cNvPr id="6" name="Text 3"/>
          <p:cNvSpPr>
            <a:spLocks noGrp="1"/>
          </p:cNvSpPr>
          <p:nvPr>
            <p:ph type="body" idx="104" hasCustomPrompt="1"/>
          </p:nvPr>
        </p:nvSpPr>
        <p:spPr>
          <a:xfrm>
            <a:off x="502920" y="1874520"/>
            <a:ext cx="1280160" cy="1280160"/>
          </a:xfrm>
          <a:prstGeom prst="rect">
            <a:avLst/>
          </a:prstGeom>
          <a:noFill/>
          <a:ln/>
        </p:spPr>
        <p:txBody>
          <a:bodyPr wrap="square" rtlCol="0"/>
          <a:lstStyle>
            <a:lvl1pPr marL="0" indent="0" algn="ctr">
              <a:buNone/>
              <a:defRPr lang="en-US" sz="4800" b="1" dirty="0">
                <a:solidFill>
                  <a:srgbClr val="1A1A1A"/>
                </a:solidFill>
                <a:latin typeface="Calibri" pitchFamily="34" charset="0"/>
                <a:ea typeface="Calibri" pitchFamily="34" charset="-122"/>
                <a:cs typeface="Calibri" pitchFamily="34" charset="-120"/>
              </a:defRPr>
            </a:lvl1pPr>
          </a:lstStyle>
          <a:p>
            <a:pPr marL="0" indent="0" algn="ctr">
              <a:buNone/>
            </a:pPr>
            <a:r>
              <a:rPr lang="en-US" sz="4800" b="1" dirty="0">
                <a:solidFill>
                  <a:srgbClr val="1A1A1A"/>
                </a:solidFill>
                <a:latin typeface="Calibri" pitchFamily="34" charset="0"/>
                <a:ea typeface="Calibri" pitchFamily="34" charset="-122"/>
                <a:cs typeface="Calibri" pitchFamily="34" charset="-120"/>
              </a:rPr>
              <a:t>01</a:t>
            </a:r>
            <a:endParaRPr lang="en-US" sz="4800" dirty="0"/>
          </a:p>
        </p:txBody>
      </p:sp>
      <p:sp>
        <p:nvSpPr>
          <p:cNvPr id="7" name="Text 3"/>
          <p:cNvSpPr>
            <a:spLocks noGrp="1"/>
          </p:cNvSpPr>
          <p:nvPr>
            <p:ph type="title" idx="105" hasCustomPrompt="1"/>
          </p:nvPr>
        </p:nvSpPr>
        <p:spPr>
          <a:xfrm>
            <a:off x="2103120" y="1874520"/>
            <a:ext cx="6035040" cy="822960"/>
          </a:xfrm>
          <a:prstGeom prst="rect">
            <a:avLst/>
          </a:prstGeom>
          <a:noFill/>
          <a:ln/>
        </p:spPr>
        <p:txBody>
          <a:bodyPr wrap="square" rtlCol="0"/>
          <a:lstStyle>
            <a:lvl1pPr marL="0" indent="0" algn="l">
              <a:buNone/>
              <a:defRPr lang="en-US" sz="3600" b="1" dirty="0">
                <a:solidFill>
                  <a:srgbClr val="FFFFFF"/>
                </a:solidFill>
                <a:latin typeface="Calibri" pitchFamily="34" charset="0"/>
                <a:ea typeface="Calibri" pitchFamily="34" charset="-122"/>
                <a:cs typeface="Calibri" pitchFamily="34" charset="-120"/>
              </a:defRPr>
            </a:lvl1pPr>
          </a:lstStyle>
          <a:p>
            <a:pPr marL="0" indent="0" algn="l">
              <a:buNone/>
            </a:pPr>
            <a:r>
              <a:rPr lang="en-US" sz="3600" b="1" dirty="0">
                <a:solidFill>
                  <a:srgbClr val="FFFFFF"/>
                </a:solidFill>
                <a:latin typeface="Calibri" pitchFamily="34" charset="0"/>
                <a:ea typeface="Calibri" pitchFamily="34" charset="-122"/>
                <a:cs typeface="Calibri" pitchFamily="34" charset="-120"/>
              </a:rPr>
              <a:t>Section title</a:t>
            </a:r>
            <a:endParaRPr lang="en-US" sz="3600" dirty="0"/>
          </a:p>
        </p:txBody>
      </p:sp>
      <p:sp>
        <p:nvSpPr>
          <p:cNvPr id="8" name="Text 3"/>
          <p:cNvSpPr>
            <a:spLocks noGrp="1"/>
          </p:cNvSpPr>
          <p:nvPr>
            <p:ph type="body" idx="106" hasCustomPrompt="1"/>
          </p:nvPr>
        </p:nvSpPr>
        <p:spPr>
          <a:xfrm>
            <a:off x="2103120" y="2724912"/>
            <a:ext cx="6035040" cy="457200"/>
          </a:xfrm>
          <a:prstGeom prst="rect">
            <a:avLst/>
          </a:prstGeom>
          <a:noFill/>
          <a:ln/>
        </p:spPr>
        <p:txBody>
          <a:bodyPr wrap="square" rtlCol="0"/>
          <a:lstStyle>
            <a:lvl1pPr marL="0" indent="0">
              <a:buNone/>
              <a:defRPr lang="en-US" sz="1600" dirty="0">
                <a:solidFill>
                  <a:srgbClr val="C9CED6"/>
                </a:solidFill>
                <a:latin typeface="Calibri" pitchFamily="34" charset="0"/>
                <a:ea typeface="Calibri" pitchFamily="34" charset="-122"/>
                <a:cs typeface="Calibri" pitchFamily="34" charset="-120"/>
              </a:defRPr>
            </a:lvl1pPr>
          </a:lstStyle>
          <a:p>
            <a:pPr marL="0" indent="0">
              <a:buNone/>
            </a:pPr>
            <a:r>
              <a:rPr lang="en-US" sz="1600" dirty="0">
                <a:solidFill>
                  <a:srgbClr val="C9CED6"/>
                </a:solidFill>
                <a:latin typeface="Calibri" pitchFamily="34" charset="0"/>
                <a:ea typeface="Calibri" pitchFamily="34" charset="-122"/>
                <a:cs typeface="Calibri" pitchFamily="34" charset="-120"/>
              </a:rPr>
              <a:t>One line describing what this section covers</a:t>
            </a:r>
            <a:endParaRPr lang="en-US" sz="1600" dirty="0"/>
          </a:p>
        </p:txBody>
      </p:sp>
      <p:sp>
        <p:nvSpPr>
          <p:cNvPr id="9" name="Text 3"/>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C9CED6"/>
                </a:solidFill>
                <a:latin typeface="Calibri" pitchFamily="34" charset="0"/>
                <a:ea typeface="Calibri" pitchFamily="34" charset="-122"/>
                <a:cs typeface="Calibri" pitchFamily="34" charset="-120"/>
              </a:rPr>
              <a:t>Corporate Technology Services  |  Seamless AV</a:t>
            </a:r>
            <a:endParaRPr lang="en-US" sz="9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C9CED6"/>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CTS Section (light)">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0" y="2194560"/>
            <a:ext cx="4206240" cy="4206240"/>
          </a:xfrm>
          <a:prstGeom prst="ellipse">
            <a:avLst/>
          </a:prstGeom>
          <a:solidFill>
            <a:srgbClr val="3FD0C9">
              <a:alpha val="20000"/>
            </a:srgbClr>
          </a:solidFill>
          <a:ln w="12700">
            <a:solidFill>
              <a:srgbClr val="3FD0C9">
                <a:alpha val="0"/>
              </a:srgbClr>
            </a:solidFill>
            <a:prstDash val="solid"/>
          </a:ln>
        </p:spPr>
      </p:sp>
      <p:pic>
        <p:nvPicPr>
          <p:cNvPr id="3" name="Image 0" descr="/home/user/Claude/presentation/assets/cts-logo.png"/>
          <p:cNvPicPr>
            <a:picLocks noChangeAspect="1"/>
          </p:cNvPicPr>
          <p:nvPr/>
        </p:nvPicPr>
        <p:blipFill>
          <a:blip r:embed="rId2"/>
          <a:stretch>
            <a:fillRect/>
          </a:stretch>
        </p:blipFill>
        <p:spPr>
          <a:xfrm>
            <a:off x="7833946" y="384048"/>
            <a:ext cx="807134" cy="548640"/>
          </a:xfrm>
          <a:prstGeom prst="rect">
            <a:avLst/>
          </a:prstGeom>
        </p:spPr>
      </p:pic>
      <p:sp>
        <p:nvSpPr>
          <p:cNvPr id="4" name="Text 1"/>
          <p:cNvSpPr/>
          <p:nvPr/>
        </p:nvSpPr>
        <p:spPr>
          <a:xfrm>
            <a:off x="502920" y="411480"/>
            <a:ext cx="2743200" cy="320040"/>
          </a:xfrm>
          <a:prstGeom prst="rect">
            <a:avLst/>
          </a:prstGeom>
          <a:noFill/>
          <a:ln/>
        </p:spPr>
        <p:txBody>
          <a:bodyPr wrap="square" lIns="0" tIns="0" rIns="0" bIns="0" rtlCol="0" anchor="ctr"/>
          <a:lstStyle/>
          <a:p>
            <a:pPr marL="0" indent="0">
              <a:buNone/>
            </a:pPr>
            <a:r>
              <a:rPr lang="en-US" sz="1100" b="1" kern="0" spc="300" dirty="0">
                <a:solidFill>
                  <a:srgbClr val="122B82"/>
                </a:solidFill>
                <a:latin typeface="Calibri" pitchFamily="34" charset="0"/>
                <a:ea typeface="Calibri" pitchFamily="34" charset="-122"/>
                <a:cs typeface="Calibri" pitchFamily="34" charset="-120"/>
              </a:rPr>
              <a:t>SECTION</a:t>
            </a:r>
            <a:endParaRPr lang="en-US" sz="1100" dirty="0"/>
          </a:p>
        </p:txBody>
      </p:sp>
      <p:sp>
        <p:nvSpPr>
          <p:cNvPr id="5" name="Shape 2"/>
          <p:cNvSpPr/>
          <p:nvPr/>
        </p:nvSpPr>
        <p:spPr>
          <a:xfrm>
            <a:off x="502920" y="1874520"/>
            <a:ext cx="1280160" cy="1280160"/>
          </a:xfrm>
          <a:prstGeom prst="rect">
            <a:avLst/>
          </a:prstGeom>
          <a:solidFill>
            <a:srgbClr val="1A1A1A"/>
          </a:solidFill>
          <a:ln w="12700">
            <a:solidFill>
              <a:srgbClr val="1A1A1A"/>
            </a:solidFill>
            <a:prstDash val="solid"/>
          </a:ln>
        </p:spPr>
      </p:sp>
      <p:sp>
        <p:nvSpPr>
          <p:cNvPr id="6" name="Text 3"/>
          <p:cNvSpPr>
            <a:spLocks noGrp="1"/>
          </p:cNvSpPr>
          <p:nvPr>
            <p:ph type="body" idx="104" hasCustomPrompt="1"/>
          </p:nvPr>
        </p:nvSpPr>
        <p:spPr>
          <a:xfrm>
            <a:off x="502920" y="1874520"/>
            <a:ext cx="1280160" cy="1280160"/>
          </a:xfrm>
          <a:prstGeom prst="rect">
            <a:avLst/>
          </a:prstGeom>
          <a:noFill/>
          <a:ln/>
        </p:spPr>
        <p:txBody>
          <a:bodyPr wrap="square" rtlCol="0"/>
          <a:lstStyle>
            <a:lvl1pPr marL="0" indent="0" algn="ctr">
              <a:buNone/>
              <a:defRPr lang="en-US" sz="4800" b="1" dirty="0">
                <a:solidFill>
                  <a:srgbClr val="FFFFFF"/>
                </a:solidFill>
                <a:latin typeface="Calibri" pitchFamily="34" charset="0"/>
                <a:ea typeface="Calibri" pitchFamily="34" charset="-122"/>
                <a:cs typeface="Calibri" pitchFamily="34" charset="-120"/>
              </a:defRPr>
            </a:lvl1pPr>
          </a:lstStyle>
          <a:p>
            <a:pPr marL="0" indent="0" algn="ctr">
              <a:buNone/>
            </a:pPr>
            <a:r>
              <a:rPr lang="en-US" sz="4800" b="1" dirty="0">
                <a:solidFill>
                  <a:srgbClr val="FFFFFF"/>
                </a:solidFill>
                <a:latin typeface="Calibri" pitchFamily="34" charset="0"/>
                <a:ea typeface="Calibri" pitchFamily="34" charset="-122"/>
                <a:cs typeface="Calibri" pitchFamily="34" charset="-120"/>
              </a:rPr>
              <a:t>01</a:t>
            </a:r>
            <a:endParaRPr lang="en-US" sz="4800" dirty="0"/>
          </a:p>
        </p:txBody>
      </p:sp>
      <p:sp>
        <p:nvSpPr>
          <p:cNvPr id="7" name="Text 3"/>
          <p:cNvSpPr>
            <a:spLocks noGrp="1"/>
          </p:cNvSpPr>
          <p:nvPr>
            <p:ph type="title" idx="105" hasCustomPrompt="1"/>
          </p:nvPr>
        </p:nvSpPr>
        <p:spPr>
          <a:xfrm>
            <a:off x="2103120" y="1874520"/>
            <a:ext cx="6035040" cy="822960"/>
          </a:xfrm>
          <a:prstGeom prst="rect">
            <a:avLst/>
          </a:prstGeom>
          <a:noFill/>
          <a:ln/>
        </p:spPr>
        <p:txBody>
          <a:bodyPr wrap="square" rtlCol="0"/>
          <a:lstStyle>
            <a:lvl1pPr marL="0" indent="0" algn="l">
              <a:buNone/>
              <a:defRPr lang="en-US" sz="3600" b="1" dirty="0">
                <a:solidFill>
                  <a:srgbClr val="1A1A1A"/>
                </a:solidFill>
                <a:latin typeface="Calibri" pitchFamily="34" charset="0"/>
                <a:ea typeface="Calibri" pitchFamily="34" charset="-122"/>
                <a:cs typeface="Calibri" pitchFamily="34" charset="-120"/>
              </a:defRPr>
            </a:lvl1pPr>
          </a:lstStyle>
          <a:p>
            <a:pPr marL="0" indent="0" algn="l">
              <a:buNone/>
            </a:pPr>
            <a:r>
              <a:rPr lang="en-US" sz="3600" b="1" dirty="0">
                <a:solidFill>
                  <a:srgbClr val="1A1A1A"/>
                </a:solidFill>
                <a:latin typeface="Calibri" pitchFamily="34" charset="0"/>
                <a:ea typeface="Calibri" pitchFamily="34" charset="-122"/>
                <a:cs typeface="Calibri" pitchFamily="34" charset="-120"/>
              </a:rPr>
              <a:t>Section title</a:t>
            </a:r>
            <a:endParaRPr lang="en-US" sz="3600" dirty="0"/>
          </a:p>
        </p:txBody>
      </p:sp>
      <p:sp>
        <p:nvSpPr>
          <p:cNvPr id="8" name="Text 3"/>
          <p:cNvSpPr>
            <a:spLocks noGrp="1"/>
          </p:cNvSpPr>
          <p:nvPr>
            <p:ph type="body" idx="106" hasCustomPrompt="1"/>
          </p:nvPr>
        </p:nvSpPr>
        <p:spPr>
          <a:xfrm>
            <a:off x="2103120" y="2724912"/>
            <a:ext cx="6035040" cy="457200"/>
          </a:xfrm>
          <a:prstGeom prst="rect">
            <a:avLst/>
          </a:prstGeom>
          <a:noFill/>
          <a:ln/>
        </p:spPr>
        <p:txBody>
          <a:bodyPr wrap="square" rtlCol="0"/>
          <a:lstStyle>
            <a:lvl1pPr marL="0" indent="0">
              <a:buNone/>
              <a:defRPr lang="en-US" sz="1600" dirty="0">
                <a:solidFill>
                  <a:srgbClr val="5F6670"/>
                </a:solidFill>
                <a:latin typeface="Calibri" pitchFamily="34" charset="0"/>
                <a:ea typeface="Calibri" pitchFamily="34" charset="-122"/>
                <a:cs typeface="Calibri" pitchFamily="34" charset="-120"/>
              </a:defRPr>
            </a:lvl1pPr>
          </a:lstStyle>
          <a:p>
            <a:pPr marL="0" indent="0">
              <a:buNone/>
            </a:pPr>
            <a:r>
              <a:rPr lang="en-US" sz="1600" dirty="0">
                <a:solidFill>
                  <a:srgbClr val="5F6670"/>
                </a:solidFill>
                <a:latin typeface="Calibri" pitchFamily="34" charset="0"/>
                <a:ea typeface="Calibri" pitchFamily="34" charset="-122"/>
                <a:cs typeface="Calibri" pitchFamily="34" charset="-120"/>
              </a:rPr>
              <a:t>One line describing what this section covers</a:t>
            </a:r>
            <a:endParaRPr lang="en-US" sz="1600" dirty="0"/>
          </a:p>
        </p:txBody>
      </p:sp>
      <p:sp>
        <p:nvSpPr>
          <p:cNvPr id="9" name="Text 3"/>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5F6670"/>
                </a:solidFill>
                <a:latin typeface="Calibri" pitchFamily="34" charset="0"/>
                <a:ea typeface="Calibri" pitchFamily="34" charset="-122"/>
                <a:cs typeface="Calibri" pitchFamily="34" charset="-120"/>
              </a:rPr>
              <a:t>Corporate Technology Services  |  Seamless AV</a:t>
            </a:r>
            <a:endParaRPr lang="en-US" sz="9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CTS Production Section">
    <p:bg>
      <p:bgPr>
        <a:solidFill>
          <a:srgbClr val="005358"/>
        </a:solidFill>
        <a:effectLst/>
      </p:bgPr>
    </p:bg>
    <p:spTree>
      <p:nvGrpSpPr>
        <p:cNvPr id="1" name=""/>
        <p:cNvGrpSpPr/>
        <p:nvPr/>
      </p:nvGrpSpPr>
      <p:grpSpPr>
        <a:xfrm>
          <a:off x="0" y="0"/>
          <a:ext cx="0" cy="0"/>
          <a:chOff x="0" y="0"/>
          <a:chExt cx="0" cy="0"/>
        </a:xfrm>
      </p:grpSpPr>
      <p:sp>
        <p:nvSpPr>
          <p:cNvPr id="2" name="Shape 0"/>
          <p:cNvSpPr/>
          <p:nvPr/>
        </p:nvSpPr>
        <p:spPr>
          <a:xfrm>
            <a:off x="6400800" y="2194560"/>
            <a:ext cx="4206240" cy="4206240"/>
          </a:xfrm>
          <a:prstGeom prst="ellipse">
            <a:avLst/>
          </a:prstGeom>
          <a:solidFill>
            <a:srgbClr val="3FD0C9">
              <a:alpha val="40000"/>
            </a:srgbClr>
          </a:solidFill>
          <a:ln w="12700">
            <a:solidFill>
              <a:srgbClr val="3FD0C9">
                <a:alpha val="0"/>
              </a:srgbClr>
            </a:solidFill>
            <a:prstDash val="solid"/>
          </a:ln>
        </p:spPr>
      </p:sp>
      <p:pic>
        <p:nvPicPr>
          <p:cNvPr id="3" name="Image 0" descr="/home/user/Claude/presentation/assets/cts-production-white.png"/>
          <p:cNvPicPr>
            <a:picLocks noChangeAspect="1"/>
          </p:cNvPicPr>
          <p:nvPr/>
        </p:nvPicPr>
        <p:blipFill>
          <a:blip r:embed="rId2"/>
          <a:stretch>
            <a:fillRect/>
          </a:stretch>
        </p:blipFill>
        <p:spPr>
          <a:xfrm>
            <a:off x="7833946" y="384048"/>
            <a:ext cx="807134" cy="548640"/>
          </a:xfrm>
          <a:prstGeom prst="rect">
            <a:avLst/>
          </a:prstGeom>
        </p:spPr>
      </p:pic>
      <p:sp>
        <p:nvSpPr>
          <p:cNvPr id="4" name="Text 1"/>
          <p:cNvSpPr/>
          <p:nvPr/>
        </p:nvSpPr>
        <p:spPr>
          <a:xfrm>
            <a:off x="502920" y="411480"/>
            <a:ext cx="2743200" cy="320040"/>
          </a:xfrm>
          <a:prstGeom prst="rect">
            <a:avLst/>
          </a:prstGeom>
          <a:noFill/>
          <a:ln/>
        </p:spPr>
        <p:txBody>
          <a:bodyPr wrap="square" lIns="0" tIns="0" rIns="0" bIns="0" rtlCol="0" anchor="ctr"/>
          <a:lstStyle/>
          <a:p>
            <a:pPr marL="0" indent="0">
              <a:buNone/>
            </a:pPr>
            <a:r>
              <a:rPr lang="en-US" sz="1100" b="1" kern="0" spc="300" dirty="0">
                <a:solidFill>
                  <a:srgbClr val="3FD0C9"/>
                </a:solidFill>
                <a:latin typeface="Calibri" pitchFamily="34" charset="0"/>
                <a:ea typeface="Calibri" pitchFamily="34" charset="-122"/>
                <a:cs typeface="Calibri" pitchFamily="34" charset="-120"/>
              </a:rPr>
              <a:t>SECTION</a:t>
            </a:r>
            <a:endParaRPr lang="en-US" sz="1100" dirty="0"/>
          </a:p>
        </p:txBody>
      </p:sp>
      <p:sp>
        <p:nvSpPr>
          <p:cNvPr id="5" name="Shape 2"/>
          <p:cNvSpPr/>
          <p:nvPr/>
        </p:nvSpPr>
        <p:spPr>
          <a:xfrm>
            <a:off x="502920" y="1874520"/>
            <a:ext cx="1280160" cy="1280160"/>
          </a:xfrm>
          <a:prstGeom prst="rect">
            <a:avLst/>
          </a:prstGeom>
          <a:solidFill>
            <a:srgbClr val="3FD0C9"/>
          </a:solidFill>
          <a:ln w="12700">
            <a:solidFill>
              <a:srgbClr val="3FD0C9"/>
            </a:solidFill>
            <a:prstDash val="solid"/>
          </a:ln>
        </p:spPr>
      </p:sp>
      <p:sp>
        <p:nvSpPr>
          <p:cNvPr id="6" name="Text 3"/>
          <p:cNvSpPr>
            <a:spLocks noGrp="1"/>
          </p:cNvSpPr>
          <p:nvPr>
            <p:ph type="body" idx="104" hasCustomPrompt="1"/>
          </p:nvPr>
        </p:nvSpPr>
        <p:spPr>
          <a:xfrm>
            <a:off x="502920" y="1874520"/>
            <a:ext cx="1280160" cy="1280160"/>
          </a:xfrm>
          <a:prstGeom prst="rect">
            <a:avLst/>
          </a:prstGeom>
          <a:noFill/>
          <a:ln/>
        </p:spPr>
        <p:txBody>
          <a:bodyPr wrap="square" rtlCol="0"/>
          <a:lstStyle>
            <a:lvl1pPr marL="0" indent="0" algn="ctr">
              <a:buNone/>
              <a:defRPr lang="en-US" sz="4800" b="1" dirty="0">
                <a:solidFill>
                  <a:srgbClr val="1A1A1A"/>
                </a:solidFill>
                <a:latin typeface="Calibri" pitchFamily="34" charset="0"/>
                <a:ea typeface="Calibri" pitchFamily="34" charset="-122"/>
                <a:cs typeface="Calibri" pitchFamily="34" charset="-120"/>
              </a:defRPr>
            </a:lvl1pPr>
          </a:lstStyle>
          <a:p>
            <a:pPr marL="0" indent="0" algn="ctr">
              <a:buNone/>
            </a:pPr>
            <a:r>
              <a:rPr lang="en-US" sz="4800" b="1" dirty="0">
                <a:solidFill>
                  <a:srgbClr val="1A1A1A"/>
                </a:solidFill>
                <a:latin typeface="Calibri" pitchFamily="34" charset="0"/>
                <a:ea typeface="Calibri" pitchFamily="34" charset="-122"/>
                <a:cs typeface="Calibri" pitchFamily="34" charset="-120"/>
              </a:rPr>
              <a:t>01</a:t>
            </a:r>
            <a:endParaRPr lang="en-US" sz="4800" dirty="0"/>
          </a:p>
        </p:txBody>
      </p:sp>
      <p:sp>
        <p:nvSpPr>
          <p:cNvPr id="7" name="Text 3"/>
          <p:cNvSpPr>
            <a:spLocks noGrp="1"/>
          </p:cNvSpPr>
          <p:nvPr>
            <p:ph type="title" idx="105" hasCustomPrompt="1"/>
          </p:nvPr>
        </p:nvSpPr>
        <p:spPr>
          <a:xfrm>
            <a:off x="2103120" y="1874520"/>
            <a:ext cx="6035040" cy="822960"/>
          </a:xfrm>
          <a:prstGeom prst="rect">
            <a:avLst/>
          </a:prstGeom>
          <a:noFill/>
          <a:ln/>
        </p:spPr>
        <p:txBody>
          <a:bodyPr wrap="square" rtlCol="0"/>
          <a:lstStyle>
            <a:lvl1pPr marL="0" indent="0" algn="l">
              <a:buNone/>
              <a:defRPr lang="en-US" sz="3600" b="1" dirty="0">
                <a:solidFill>
                  <a:srgbClr val="FFFFFF"/>
                </a:solidFill>
                <a:latin typeface="Calibri" pitchFamily="34" charset="0"/>
                <a:ea typeface="Calibri" pitchFamily="34" charset="-122"/>
                <a:cs typeface="Calibri" pitchFamily="34" charset="-120"/>
              </a:defRPr>
            </a:lvl1pPr>
          </a:lstStyle>
          <a:p>
            <a:pPr marL="0" indent="0" algn="l">
              <a:buNone/>
            </a:pPr>
            <a:r>
              <a:rPr lang="en-US" sz="3600" b="1" dirty="0">
                <a:solidFill>
                  <a:srgbClr val="FFFFFF"/>
                </a:solidFill>
                <a:latin typeface="Calibri" pitchFamily="34" charset="0"/>
                <a:ea typeface="Calibri" pitchFamily="34" charset="-122"/>
                <a:cs typeface="Calibri" pitchFamily="34" charset="-120"/>
              </a:rPr>
              <a:t>Section title</a:t>
            </a:r>
            <a:endParaRPr lang="en-US" sz="3600" dirty="0"/>
          </a:p>
        </p:txBody>
      </p:sp>
      <p:sp>
        <p:nvSpPr>
          <p:cNvPr id="8" name="Text 3"/>
          <p:cNvSpPr>
            <a:spLocks noGrp="1"/>
          </p:cNvSpPr>
          <p:nvPr>
            <p:ph type="body" idx="106" hasCustomPrompt="1"/>
          </p:nvPr>
        </p:nvSpPr>
        <p:spPr>
          <a:xfrm>
            <a:off x="2103120" y="2724912"/>
            <a:ext cx="6035040" cy="457200"/>
          </a:xfrm>
          <a:prstGeom prst="rect">
            <a:avLst/>
          </a:prstGeom>
          <a:noFill/>
          <a:ln/>
        </p:spPr>
        <p:txBody>
          <a:bodyPr wrap="square" rtlCol="0"/>
          <a:lstStyle>
            <a:lvl1pPr marL="0" indent="0">
              <a:buNone/>
              <a:defRPr lang="en-US" sz="1600" dirty="0">
                <a:solidFill>
                  <a:srgbClr val="C9CED6"/>
                </a:solidFill>
                <a:latin typeface="Calibri" pitchFamily="34" charset="0"/>
                <a:ea typeface="Calibri" pitchFamily="34" charset="-122"/>
                <a:cs typeface="Calibri" pitchFamily="34" charset="-120"/>
              </a:defRPr>
            </a:lvl1pPr>
          </a:lstStyle>
          <a:p>
            <a:pPr marL="0" indent="0">
              <a:buNone/>
            </a:pPr>
            <a:r>
              <a:rPr lang="en-US" sz="1600" dirty="0">
                <a:solidFill>
                  <a:srgbClr val="C9CED6"/>
                </a:solidFill>
                <a:latin typeface="Calibri" pitchFamily="34" charset="0"/>
                <a:ea typeface="Calibri" pitchFamily="34" charset="-122"/>
                <a:cs typeface="Calibri" pitchFamily="34" charset="-120"/>
              </a:rPr>
              <a:t>One line describing what this section covers</a:t>
            </a:r>
            <a:endParaRPr lang="en-US" sz="1600" dirty="0"/>
          </a:p>
        </p:txBody>
      </p:sp>
      <p:sp>
        <p:nvSpPr>
          <p:cNvPr id="9" name="Text 3"/>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C9CED6"/>
                </a:solidFill>
                <a:latin typeface="Calibri" pitchFamily="34" charset="0"/>
                <a:ea typeface="Calibri" pitchFamily="34" charset="-122"/>
                <a:cs typeface="Calibri" pitchFamily="34" charset="-120"/>
              </a:rPr>
              <a:t>CTS Production  |  Engaging Experiences</a:t>
            </a:r>
            <a:endParaRPr lang="en-US" sz="9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C9CED6"/>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TS Consulting Section">
    <p:bg>
      <p:bgPr>
        <a:solidFill>
          <a:srgbClr val="122B82"/>
        </a:solidFill>
        <a:effectLst/>
      </p:bgPr>
    </p:bg>
    <p:spTree>
      <p:nvGrpSpPr>
        <p:cNvPr id="1" name=""/>
        <p:cNvGrpSpPr/>
        <p:nvPr/>
      </p:nvGrpSpPr>
      <p:grpSpPr>
        <a:xfrm>
          <a:off x="0" y="0"/>
          <a:ext cx="0" cy="0"/>
          <a:chOff x="0" y="0"/>
          <a:chExt cx="0" cy="0"/>
        </a:xfrm>
      </p:grpSpPr>
      <p:sp>
        <p:nvSpPr>
          <p:cNvPr id="2" name="Shape 0"/>
          <p:cNvSpPr/>
          <p:nvPr/>
        </p:nvSpPr>
        <p:spPr>
          <a:xfrm>
            <a:off x="6400800" y="2194560"/>
            <a:ext cx="4206240" cy="4206240"/>
          </a:xfrm>
          <a:prstGeom prst="ellipse">
            <a:avLst/>
          </a:prstGeom>
          <a:solidFill>
            <a:srgbClr val="6D71FF">
              <a:alpha val="40000"/>
            </a:srgbClr>
          </a:solidFill>
          <a:ln w="12700">
            <a:solidFill>
              <a:srgbClr val="6D71FF">
                <a:alpha val="0"/>
              </a:srgbClr>
            </a:solidFill>
            <a:prstDash val="solid"/>
          </a:ln>
        </p:spPr>
      </p:sp>
      <p:pic>
        <p:nvPicPr>
          <p:cNvPr id="3" name="Image 0" descr="/home/user/Claude/presentation/assets/cts-consulting-white.png"/>
          <p:cNvPicPr>
            <a:picLocks noChangeAspect="1"/>
          </p:cNvPicPr>
          <p:nvPr/>
        </p:nvPicPr>
        <p:blipFill>
          <a:blip r:embed="rId2"/>
          <a:stretch>
            <a:fillRect/>
          </a:stretch>
        </p:blipFill>
        <p:spPr>
          <a:xfrm>
            <a:off x="7833946" y="384048"/>
            <a:ext cx="807134" cy="548640"/>
          </a:xfrm>
          <a:prstGeom prst="rect">
            <a:avLst/>
          </a:prstGeom>
        </p:spPr>
      </p:pic>
      <p:sp>
        <p:nvSpPr>
          <p:cNvPr id="4" name="Text 1"/>
          <p:cNvSpPr/>
          <p:nvPr/>
        </p:nvSpPr>
        <p:spPr>
          <a:xfrm>
            <a:off x="502920" y="411480"/>
            <a:ext cx="2743200" cy="320040"/>
          </a:xfrm>
          <a:prstGeom prst="rect">
            <a:avLst/>
          </a:prstGeom>
          <a:noFill/>
          <a:ln/>
        </p:spPr>
        <p:txBody>
          <a:bodyPr wrap="square" lIns="0" tIns="0" rIns="0" bIns="0" rtlCol="0" anchor="ctr"/>
          <a:lstStyle/>
          <a:p>
            <a:pPr marL="0" indent="0">
              <a:buNone/>
            </a:pPr>
            <a:r>
              <a:rPr lang="en-US" sz="1100" b="1" kern="0" spc="300" dirty="0">
                <a:solidFill>
                  <a:srgbClr val="6D71FF"/>
                </a:solidFill>
                <a:latin typeface="Calibri" pitchFamily="34" charset="0"/>
                <a:ea typeface="Calibri" pitchFamily="34" charset="-122"/>
                <a:cs typeface="Calibri" pitchFamily="34" charset="-120"/>
              </a:rPr>
              <a:t>SECTION</a:t>
            </a:r>
            <a:endParaRPr lang="en-US" sz="1100" dirty="0"/>
          </a:p>
        </p:txBody>
      </p:sp>
      <p:sp>
        <p:nvSpPr>
          <p:cNvPr id="5" name="Shape 2"/>
          <p:cNvSpPr/>
          <p:nvPr/>
        </p:nvSpPr>
        <p:spPr>
          <a:xfrm>
            <a:off x="502920" y="1874520"/>
            <a:ext cx="1280160" cy="1280160"/>
          </a:xfrm>
          <a:prstGeom prst="rect">
            <a:avLst/>
          </a:prstGeom>
          <a:solidFill>
            <a:srgbClr val="6D71FF"/>
          </a:solidFill>
          <a:ln w="12700">
            <a:solidFill>
              <a:srgbClr val="6D71FF"/>
            </a:solidFill>
            <a:prstDash val="solid"/>
          </a:ln>
        </p:spPr>
      </p:sp>
      <p:sp>
        <p:nvSpPr>
          <p:cNvPr id="6" name="Text 3"/>
          <p:cNvSpPr>
            <a:spLocks noGrp="1"/>
          </p:cNvSpPr>
          <p:nvPr>
            <p:ph type="body" idx="104" hasCustomPrompt="1"/>
          </p:nvPr>
        </p:nvSpPr>
        <p:spPr>
          <a:xfrm>
            <a:off x="502920" y="1874520"/>
            <a:ext cx="1280160" cy="1280160"/>
          </a:xfrm>
          <a:prstGeom prst="rect">
            <a:avLst/>
          </a:prstGeom>
          <a:noFill/>
          <a:ln/>
        </p:spPr>
        <p:txBody>
          <a:bodyPr wrap="square" rtlCol="0"/>
          <a:lstStyle>
            <a:lvl1pPr marL="0" indent="0" algn="ctr">
              <a:buNone/>
              <a:defRPr lang="en-US" sz="4800" b="1" dirty="0">
                <a:solidFill>
                  <a:srgbClr val="1A1A1A"/>
                </a:solidFill>
                <a:latin typeface="Calibri" pitchFamily="34" charset="0"/>
                <a:ea typeface="Calibri" pitchFamily="34" charset="-122"/>
                <a:cs typeface="Calibri" pitchFamily="34" charset="-120"/>
              </a:defRPr>
            </a:lvl1pPr>
          </a:lstStyle>
          <a:p>
            <a:pPr marL="0" indent="0" algn="ctr">
              <a:buNone/>
            </a:pPr>
            <a:r>
              <a:rPr lang="en-US" sz="4800" b="1" dirty="0">
                <a:solidFill>
                  <a:srgbClr val="1A1A1A"/>
                </a:solidFill>
                <a:latin typeface="Calibri" pitchFamily="34" charset="0"/>
                <a:ea typeface="Calibri" pitchFamily="34" charset="-122"/>
                <a:cs typeface="Calibri" pitchFamily="34" charset="-120"/>
              </a:rPr>
              <a:t>01</a:t>
            </a:r>
            <a:endParaRPr lang="en-US" sz="4800" dirty="0"/>
          </a:p>
        </p:txBody>
      </p:sp>
      <p:sp>
        <p:nvSpPr>
          <p:cNvPr id="7" name="Text 3"/>
          <p:cNvSpPr>
            <a:spLocks noGrp="1"/>
          </p:cNvSpPr>
          <p:nvPr>
            <p:ph type="title" idx="105" hasCustomPrompt="1"/>
          </p:nvPr>
        </p:nvSpPr>
        <p:spPr>
          <a:xfrm>
            <a:off x="2103120" y="1874520"/>
            <a:ext cx="6035040" cy="822960"/>
          </a:xfrm>
          <a:prstGeom prst="rect">
            <a:avLst/>
          </a:prstGeom>
          <a:noFill/>
          <a:ln/>
        </p:spPr>
        <p:txBody>
          <a:bodyPr wrap="square" rtlCol="0"/>
          <a:lstStyle>
            <a:lvl1pPr marL="0" indent="0" algn="l">
              <a:buNone/>
              <a:defRPr lang="en-US" sz="3600" b="1" dirty="0">
                <a:solidFill>
                  <a:srgbClr val="FFFFFF"/>
                </a:solidFill>
                <a:latin typeface="Calibri" pitchFamily="34" charset="0"/>
                <a:ea typeface="Calibri" pitchFamily="34" charset="-122"/>
                <a:cs typeface="Calibri" pitchFamily="34" charset="-120"/>
              </a:defRPr>
            </a:lvl1pPr>
          </a:lstStyle>
          <a:p>
            <a:pPr marL="0" indent="0" algn="l">
              <a:buNone/>
            </a:pPr>
            <a:r>
              <a:rPr lang="en-US" sz="3600" b="1" dirty="0">
                <a:solidFill>
                  <a:srgbClr val="FFFFFF"/>
                </a:solidFill>
                <a:latin typeface="Calibri" pitchFamily="34" charset="0"/>
                <a:ea typeface="Calibri" pitchFamily="34" charset="-122"/>
                <a:cs typeface="Calibri" pitchFamily="34" charset="-120"/>
              </a:rPr>
              <a:t>Section title</a:t>
            </a:r>
            <a:endParaRPr lang="en-US" sz="3600" dirty="0"/>
          </a:p>
        </p:txBody>
      </p:sp>
      <p:sp>
        <p:nvSpPr>
          <p:cNvPr id="8" name="Text 3"/>
          <p:cNvSpPr>
            <a:spLocks noGrp="1"/>
          </p:cNvSpPr>
          <p:nvPr>
            <p:ph type="body" idx="106" hasCustomPrompt="1"/>
          </p:nvPr>
        </p:nvSpPr>
        <p:spPr>
          <a:xfrm>
            <a:off x="2103120" y="2724912"/>
            <a:ext cx="6035040" cy="457200"/>
          </a:xfrm>
          <a:prstGeom prst="rect">
            <a:avLst/>
          </a:prstGeom>
          <a:noFill/>
          <a:ln/>
        </p:spPr>
        <p:txBody>
          <a:bodyPr wrap="square" rtlCol="0"/>
          <a:lstStyle>
            <a:lvl1pPr marL="0" indent="0">
              <a:buNone/>
              <a:defRPr lang="en-US" sz="1600" dirty="0">
                <a:solidFill>
                  <a:srgbClr val="C9CED6"/>
                </a:solidFill>
                <a:latin typeface="Calibri" pitchFamily="34" charset="0"/>
                <a:ea typeface="Calibri" pitchFamily="34" charset="-122"/>
                <a:cs typeface="Calibri" pitchFamily="34" charset="-120"/>
              </a:defRPr>
            </a:lvl1pPr>
          </a:lstStyle>
          <a:p>
            <a:pPr marL="0" indent="0">
              <a:buNone/>
            </a:pPr>
            <a:r>
              <a:rPr lang="en-US" sz="1600" dirty="0">
                <a:solidFill>
                  <a:srgbClr val="C9CED6"/>
                </a:solidFill>
                <a:latin typeface="Calibri" pitchFamily="34" charset="0"/>
                <a:ea typeface="Calibri" pitchFamily="34" charset="-122"/>
                <a:cs typeface="Calibri" pitchFamily="34" charset="-120"/>
              </a:rPr>
              <a:t>One line describing what this section covers</a:t>
            </a:r>
            <a:endParaRPr lang="en-US" sz="1600" dirty="0"/>
          </a:p>
        </p:txBody>
      </p:sp>
      <p:sp>
        <p:nvSpPr>
          <p:cNvPr id="9" name="Text 3"/>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C9CED6"/>
                </a:solidFill>
                <a:latin typeface="Calibri" pitchFamily="34" charset="0"/>
                <a:ea typeface="Calibri" pitchFamily="34" charset="-122"/>
                <a:cs typeface="Calibri" pitchFamily="34" charset="-120"/>
              </a:rPr>
              <a:t>CTS Consulting  |  End to End collaboration</a:t>
            </a:r>
            <a:endParaRPr lang="en-US" sz="9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C9CED6"/>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TS Support Section">
    <p:bg>
      <p:bgPr>
        <a:solidFill>
          <a:srgbClr val="A8052E"/>
        </a:solidFill>
        <a:effectLst/>
      </p:bgPr>
    </p:bg>
    <p:spTree>
      <p:nvGrpSpPr>
        <p:cNvPr id="1" name=""/>
        <p:cNvGrpSpPr/>
        <p:nvPr/>
      </p:nvGrpSpPr>
      <p:grpSpPr>
        <a:xfrm>
          <a:off x="0" y="0"/>
          <a:ext cx="0" cy="0"/>
          <a:chOff x="0" y="0"/>
          <a:chExt cx="0" cy="0"/>
        </a:xfrm>
      </p:grpSpPr>
      <p:sp>
        <p:nvSpPr>
          <p:cNvPr id="2" name="Shape 0"/>
          <p:cNvSpPr/>
          <p:nvPr/>
        </p:nvSpPr>
        <p:spPr>
          <a:xfrm>
            <a:off x="6400800" y="2194560"/>
            <a:ext cx="4206240" cy="4206240"/>
          </a:xfrm>
          <a:prstGeom prst="ellipse">
            <a:avLst/>
          </a:prstGeom>
          <a:solidFill>
            <a:srgbClr val="F33844">
              <a:alpha val="40000"/>
            </a:srgbClr>
          </a:solidFill>
          <a:ln w="12700">
            <a:solidFill>
              <a:srgbClr val="F33844">
                <a:alpha val="0"/>
              </a:srgbClr>
            </a:solidFill>
            <a:prstDash val="solid"/>
          </a:ln>
        </p:spPr>
      </p:sp>
      <p:pic>
        <p:nvPicPr>
          <p:cNvPr id="3" name="Image 0" descr="/home/user/Claude/presentation/assets/cts-support-white.png"/>
          <p:cNvPicPr>
            <a:picLocks noChangeAspect="1"/>
          </p:cNvPicPr>
          <p:nvPr/>
        </p:nvPicPr>
        <p:blipFill>
          <a:blip r:embed="rId2"/>
          <a:stretch>
            <a:fillRect/>
          </a:stretch>
        </p:blipFill>
        <p:spPr>
          <a:xfrm>
            <a:off x="7833946" y="384048"/>
            <a:ext cx="807134" cy="548640"/>
          </a:xfrm>
          <a:prstGeom prst="rect">
            <a:avLst/>
          </a:prstGeom>
        </p:spPr>
      </p:pic>
      <p:sp>
        <p:nvSpPr>
          <p:cNvPr id="4" name="Text 1"/>
          <p:cNvSpPr/>
          <p:nvPr/>
        </p:nvSpPr>
        <p:spPr>
          <a:xfrm>
            <a:off x="502920" y="411480"/>
            <a:ext cx="2743200" cy="320040"/>
          </a:xfrm>
          <a:prstGeom prst="rect">
            <a:avLst/>
          </a:prstGeom>
          <a:noFill/>
          <a:ln/>
        </p:spPr>
        <p:txBody>
          <a:bodyPr wrap="square" lIns="0" tIns="0" rIns="0" bIns="0" rtlCol="0" anchor="ctr"/>
          <a:lstStyle/>
          <a:p>
            <a:pPr marL="0" indent="0">
              <a:buNone/>
            </a:pPr>
            <a:r>
              <a:rPr lang="en-US" sz="1100" b="1" kern="0" spc="300" dirty="0">
                <a:solidFill>
                  <a:srgbClr val="F33844"/>
                </a:solidFill>
                <a:latin typeface="Calibri" pitchFamily="34" charset="0"/>
                <a:ea typeface="Calibri" pitchFamily="34" charset="-122"/>
                <a:cs typeface="Calibri" pitchFamily="34" charset="-120"/>
              </a:rPr>
              <a:t>SECTION</a:t>
            </a:r>
            <a:endParaRPr lang="en-US" sz="1100" dirty="0"/>
          </a:p>
        </p:txBody>
      </p:sp>
      <p:sp>
        <p:nvSpPr>
          <p:cNvPr id="5" name="Shape 2"/>
          <p:cNvSpPr/>
          <p:nvPr/>
        </p:nvSpPr>
        <p:spPr>
          <a:xfrm>
            <a:off x="502920" y="1874520"/>
            <a:ext cx="1280160" cy="1280160"/>
          </a:xfrm>
          <a:prstGeom prst="rect">
            <a:avLst/>
          </a:prstGeom>
          <a:solidFill>
            <a:srgbClr val="F33844"/>
          </a:solidFill>
          <a:ln w="12700">
            <a:solidFill>
              <a:srgbClr val="F33844"/>
            </a:solidFill>
            <a:prstDash val="solid"/>
          </a:ln>
        </p:spPr>
      </p:sp>
      <p:sp>
        <p:nvSpPr>
          <p:cNvPr id="6" name="Text 3"/>
          <p:cNvSpPr>
            <a:spLocks noGrp="1"/>
          </p:cNvSpPr>
          <p:nvPr>
            <p:ph type="body" idx="104" hasCustomPrompt="1"/>
          </p:nvPr>
        </p:nvSpPr>
        <p:spPr>
          <a:xfrm>
            <a:off x="502920" y="1874520"/>
            <a:ext cx="1280160" cy="1280160"/>
          </a:xfrm>
          <a:prstGeom prst="rect">
            <a:avLst/>
          </a:prstGeom>
          <a:noFill/>
          <a:ln/>
        </p:spPr>
        <p:txBody>
          <a:bodyPr wrap="square" rtlCol="0"/>
          <a:lstStyle>
            <a:lvl1pPr marL="0" indent="0" algn="ctr">
              <a:buNone/>
              <a:defRPr lang="en-US" sz="4800" b="1" dirty="0">
                <a:solidFill>
                  <a:srgbClr val="1A1A1A"/>
                </a:solidFill>
                <a:latin typeface="Calibri" pitchFamily="34" charset="0"/>
                <a:ea typeface="Calibri" pitchFamily="34" charset="-122"/>
                <a:cs typeface="Calibri" pitchFamily="34" charset="-120"/>
              </a:defRPr>
            </a:lvl1pPr>
          </a:lstStyle>
          <a:p>
            <a:pPr marL="0" indent="0" algn="ctr">
              <a:buNone/>
            </a:pPr>
            <a:r>
              <a:rPr lang="en-US" sz="4800" b="1" dirty="0">
                <a:solidFill>
                  <a:srgbClr val="1A1A1A"/>
                </a:solidFill>
                <a:latin typeface="Calibri" pitchFamily="34" charset="0"/>
                <a:ea typeface="Calibri" pitchFamily="34" charset="-122"/>
                <a:cs typeface="Calibri" pitchFamily="34" charset="-120"/>
              </a:rPr>
              <a:t>01</a:t>
            </a:r>
            <a:endParaRPr lang="en-US" sz="4800" dirty="0"/>
          </a:p>
        </p:txBody>
      </p:sp>
      <p:sp>
        <p:nvSpPr>
          <p:cNvPr id="7" name="Text 3"/>
          <p:cNvSpPr>
            <a:spLocks noGrp="1"/>
          </p:cNvSpPr>
          <p:nvPr>
            <p:ph type="title" idx="105" hasCustomPrompt="1"/>
          </p:nvPr>
        </p:nvSpPr>
        <p:spPr>
          <a:xfrm>
            <a:off x="2103120" y="1874520"/>
            <a:ext cx="6035040" cy="822960"/>
          </a:xfrm>
          <a:prstGeom prst="rect">
            <a:avLst/>
          </a:prstGeom>
          <a:noFill/>
          <a:ln/>
        </p:spPr>
        <p:txBody>
          <a:bodyPr wrap="square" rtlCol="0"/>
          <a:lstStyle>
            <a:lvl1pPr marL="0" indent="0" algn="l">
              <a:buNone/>
              <a:defRPr lang="en-US" sz="3600" b="1" dirty="0">
                <a:solidFill>
                  <a:srgbClr val="FFFFFF"/>
                </a:solidFill>
                <a:latin typeface="Calibri" pitchFamily="34" charset="0"/>
                <a:ea typeface="Calibri" pitchFamily="34" charset="-122"/>
                <a:cs typeface="Calibri" pitchFamily="34" charset="-120"/>
              </a:defRPr>
            </a:lvl1pPr>
          </a:lstStyle>
          <a:p>
            <a:pPr marL="0" indent="0" algn="l">
              <a:buNone/>
            </a:pPr>
            <a:r>
              <a:rPr lang="en-US" sz="3600" b="1" dirty="0">
                <a:solidFill>
                  <a:srgbClr val="FFFFFF"/>
                </a:solidFill>
                <a:latin typeface="Calibri" pitchFamily="34" charset="0"/>
                <a:ea typeface="Calibri" pitchFamily="34" charset="-122"/>
                <a:cs typeface="Calibri" pitchFamily="34" charset="-120"/>
              </a:rPr>
              <a:t>Section title</a:t>
            </a:r>
            <a:endParaRPr lang="en-US" sz="3600" dirty="0"/>
          </a:p>
        </p:txBody>
      </p:sp>
      <p:sp>
        <p:nvSpPr>
          <p:cNvPr id="8" name="Text 3"/>
          <p:cNvSpPr>
            <a:spLocks noGrp="1"/>
          </p:cNvSpPr>
          <p:nvPr>
            <p:ph type="body" idx="106" hasCustomPrompt="1"/>
          </p:nvPr>
        </p:nvSpPr>
        <p:spPr>
          <a:xfrm>
            <a:off x="2103120" y="2724912"/>
            <a:ext cx="6035040" cy="457200"/>
          </a:xfrm>
          <a:prstGeom prst="rect">
            <a:avLst/>
          </a:prstGeom>
          <a:noFill/>
          <a:ln/>
        </p:spPr>
        <p:txBody>
          <a:bodyPr wrap="square" rtlCol="0"/>
          <a:lstStyle>
            <a:lvl1pPr marL="0" indent="0">
              <a:buNone/>
              <a:defRPr lang="en-US" sz="1600" dirty="0">
                <a:solidFill>
                  <a:srgbClr val="C9CED6"/>
                </a:solidFill>
                <a:latin typeface="Calibri" pitchFamily="34" charset="0"/>
                <a:ea typeface="Calibri" pitchFamily="34" charset="-122"/>
                <a:cs typeface="Calibri" pitchFamily="34" charset="-120"/>
              </a:defRPr>
            </a:lvl1pPr>
          </a:lstStyle>
          <a:p>
            <a:pPr marL="0" indent="0">
              <a:buNone/>
            </a:pPr>
            <a:r>
              <a:rPr lang="en-US" sz="1600" dirty="0">
                <a:solidFill>
                  <a:srgbClr val="C9CED6"/>
                </a:solidFill>
                <a:latin typeface="Calibri" pitchFamily="34" charset="0"/>
                <a:ea typeface="Calibri" pitchFamily="34" charset="-122"/>
                <a:cs typeface="Calibri" pitchFamily="34" charset="-120"/>
              </a:rPr>
              <a:t>One line describing what this section covers</a:t>
            </a:r>
            <a:endParaRPr lang="en-US" sz="1600" dirty="0"/>
          </a:p>
        </p:txBody>
      </p:sp>
      <p:sp>
        <p:nvSpPr>
          <p:cNvPr id="9" name="Text 3"/>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C9CED6"/>
                </a:solidFill>
                <a:latin typeface="Calibri" pitchFamily="34" charset="0"/>
                <a:ea typeface="Calibri" pitchFamily="34" charset="-122"/>
                <a:cs typeface="Calibri" pitchFamily="34" charset="-120"/>
              </a:rPr>
              <a:t>CTS Support  |  Personalised Service</a:t>
            </a:r>
            <a:endParaRPr lang="en-US" sz="9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C9CED6"/>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TS Header Only">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rtlCol="0"/>
          <a:lstStyle>
            <a:lvl1pPr marL="0" indent="0">
              <a:buNone/>
              <a:defRPr lang="en-US" sz="1000" b="1" kern="0" spc="300" dirty="0">
                <a:solidFill>
                  <a:srgbClr val="122B82"/>
                </a:solidFill>
                <a:latin typeface="Calibri" pitchFamily="34" charset="0"/>
                <a:ea typeface="Calibri" pitchFamily="34" charset="-122"/>
                <a:cs typeface="Calibri" pitchFamily="34" charset="-120"/>
              </a:defRPr>
            </a:lvl1pPr>
          </a:lstStyle>
          <a:p>
            <a:pPr marL="0" indent="0">
              <a:buNone/>
            </a:pPr>
            <a:r>
              <a:rPr lang="en-US" sz="1000" b="1" kern="0" spc="300" dirty="0">
                <a:solidFill>
                  <a:srgbClr val="122B82"/>
                </a:solidFill>
                <a:latin typeface="Calibri" pitchFamily="34" charset="0"/>
                <a:ea typeface="Calibri" pitchFamily="34" charset="-122"/>
                <a:cs typeface="Calibri" pitchFamily="34" charset="-120"/>
              </a:rPr>
              <a:t>SECTION NAME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rtlCol="0"/>
          <a:lstStyle>
            <a:lvl1pPr marL="0" indent="0" algn="l">
              <a:buNone/>
              <a:defRPr lang="en-US" sz="2800" b="1" dirty="0">
                <a:solidFill>
                  <a:srgbClr val="1A1A1A"/>
                </a:solidFill>
                <a:latin typeface="Calibri" pitchFamily="34" charset="0"/>
                <a:ea typeface="Calibri" pitchFamily="34" charset="-122"/>
                <a:cs typeface="Calibri" pitchFamily="34" charset="-120"/>
              </a:defRPr>
            </a:lvl1pPr>
          </a:lstStyle>
          <a:p>
            <a:pPr marL="0" indent="0" algn="l">
              <a:buNone/>
            </a:pPr>
            <a:r>
              <a:rPr lang="en-US" sz="2800" b="1" dirty="0">
                <a:solidFill>
                  <a:srgbClr val="1A1A1A"/>
                </a:solidFill>
                <a:latin typeface="Calibri" pitchFamily="34" charset="0"/>
                <a:ea typeface="Calibri" pitchFamily="34" charset="-122"/>
                <a:cs typeface="Calibri" pitchFamily="34" charset="-120"/>
              </a:rPr>
              <a:t>Slide heading</a:t>
            </a:r>
            <a:endParaRPr lang="en-US" sz="2800" dirty="0"/>
          </a:p>
        </p:txBody>
      </p:sp>
      <p:pic>
        <p:nvPicPr>
          <p:cNvPr id="4" name="Image 0" descr="/home/user/Claude/presentation/assets/cts-logo.png"/>
          <p:cNvPicPr>
            <a:picLocks noChangeAspect="1"/>
          </p:cNvPicPr>
          <p:nvPr/>
        </p:nvPicPr>
        <p:blipFill>
          <a:blip r:embed="rId2"/>
          <a:stretch>
            <a:fillRect/>
          </a:stretch>
        </p:blipFill>
        <p:spPr>
          <a:xfrm>
            <a:off x="7833946" y="384048"/>
            <a:ext cx="807134" cy="548640"/>
          </a:xfrm>
          <a:prstGeom prst="rect">
            <a:avLst/>
          </a:prstGeom>
        </p:spPr>
      </p:pic>
      <p:sp>
        <p:nvSpPr>
          <p:cNvPr id="5" name="Text 0"/>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5F6670"/>
                </a:solidFill>
                <a:latin typeface="Calibri" pitchFamily="34" charset="0"/>
                <a:ea typeface="Calibri" pitchFamily="34" charset="-122"/>
                <a:cs typeface="Calibri" pitchFamily="34" charset="-120"/>
              </a:rPr>
              <a:t>Corporate Technology Services  |  Seamless AV</a:t>
            </a:r>
            <a:endParaRPr lang="en-US" sz="9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TS Header and Tex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rtlCol="0"/>
          <a:lstStyle>
            <a:lvl1pPr marL="0" indent="0">
              <a:buNone/>
              <a:defRPr lang="en-US" sz="1000" b="1" kern="0" spc="300" dirty="0">
                <a:solidFill>
                  <a:srgbClr val="122B82"/>
                </a:solidFill>
                <a:latin typeface="Calibri" pitchFamily="34" charset="0"/>
                <a:ea typeface="Calibri" pitchFamily="34" charset="-122"/>
                <a:cs typeface="Calibri" pitchFamily="34" charset="-120"/>
              </a:defRPr>
            </a:lvl1pPr>
          </a:lstStyle>
          <a:p>
            <a:pPr marL="0" indent="0">
              <a:buNone/>
            </a:pPr>
            <a:r>
              <a:rPr lang="en-US" sz="1000" b="1" kern="0" spc="300" dirty="0">
                <a:solidFill>
                  <a:srgbClr val="122B82"/>
                </a:solidFill>
                <a:latin typeface="Calibri" pitchFamily="34" charset="0"/>
                <a:ea typeface="Calibri" pitchFamily="34" charset="-122"/>
                <a:cs typeface="Calibri" pitchFamily="34" charset="-120"/>
              </a:rPr>
              <a:t>SECTION NAME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rtlCol="0"/>
          <a:lstStyle>
            <a:lvl1pPr marL="0" indent="0" algn="l">
              <a:buNone/>
              <a:defRPr lang="en-US" sz="2800" b="1" dirty="0">
                <a:solidFill>
                  <a:srgbClr val="1A1A1A"/>
                </a:solidFill>
                <a:latin typeface="Calibri" pitchFamily="34" charset="0"/>
                <a:ea typeface="Calibri" pitchFamily="34" charset="-122"/>
                <a:cs typeface="Calibri" pitchFamily="34" charset="-120"/>
              </a:defRPr>
            </a:lvl1pPr>
          </a:lstStyle>
          <a:p>
            <a:pPr marL="0" indent="0" algn="l">
              <a:buNone/>
            </a:pPr>
            <a:r>
              <a:rPr lang="en-US" sz="2800" b="1" dirty="0">
                <a:solidFill>
                  <a:srgbClr val="1A1A1A"/>
                </a:solidFill>
                <a:latin typeface="Calibri" pitchFamily="34" charset="0"/>
                <a:ea typeface="Calibri" pitchFamily="34" charset="-122"/>
                <a:cs typeface="Calibri" pitchFamily="34" charset="-120"/>
              </a:rPr>
              <a:t>Slide heading</a:t>
            </a:r>
            <a:endParaRPr lang="en-US" sz="2800" dirty="0"/>
          </a:p>
        </p:txBody>
      </p:sp>
      <p:pic>
        <p:nvPicPr>
          <p:cNvPr id="4" name="Image 0" descr="/home/user/Claude/presentation/assets/cts-logo.png"/>
          <p:cNvPicPr>
            <a:picLocks noChangeAspect="1"/>
          </p:cNvPicPr>
          <p:nvPr/>
        </p:nvPicPr>
        <p:blipFill>
          <a:blip r:embed="rId2"/>
          <a:stretch>
            <a:fillRect/>
          </a:stretch>
        </p:blipFill>
        <p:spPr>
          <a:xfrm>
            <a:off x="7833946" y="384048"/>
            <a:ext cx="807134" cy="548640"/>
          </a:xfrm>
          <a:prstGeom prst="rect">
            <a:avLst/>
          </a:prstGeom>
        </p:spPr>
      </p:pic>
      <p:sp>
        <p:nvSpPr>
          <p:cNvPr id="5" name="Text 0"/>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5F6670"/>
                </a:solidFill>
                <a:latin typeface="Calibri" pitchFamily="34" charset="0"/>
                <a:ea typeface="Calibri" pitchFamily="34" charset="-122"/>
                <a:cs typeface="Calibri" pitchFamily="34" charset="-120"/>
              </a:rPr>
              <a:t>Corporate Technology Services  |  Seamless AV</a:t>
            </a:r>
            <a:endParaRPr lang="en-US" sz="900" dirty="0"/>
          </a:p>
        </p:txBody>
      </p:sp>
      <p:sp>
        <p:nvSpPr>
          <p:cNvPr id="6" name="Text 1"/>
          <p:cNvSpPr>
            <a:spLocks noGrp="1"/>
          </p:cNvSpPr>
          <p:nvPr>
            <p:ph type="body" idx="104" hasCustomPrompt="1"/>
          </p:nvPr>
        </p:nvSpPr>
        <p:spPr>
          <a:xfrm>
            <a:off x="502920" y="1554480"/>
            <a:ext cx="8138160" cy="3017520"/>
          </a:xfrm>
          <a:prstGeom prst="rect">
            <a:avLst/>
          </a:prstGeom>
          <a:noFill/>
          <a:ln/>
        </p:spPr>
        <p:txBody>
          <a:bodyPr wrap="square" rtlCol="0"/>
          <a:lstStyle>
            <a:lvl1pPr marL="228600" indent="-228600">
              <a:spcAft>
                <a:spcPts val="800"/>
              </a:spcAft>
              <a:buSzPct val="100000"/>
              <a:buChar char="•"/>
              <a:defRPr lang="en-US" sz="1600" dirty="0">
                <a:solidFill>
                  <a:srgbClr val="1A1A1A"/>
                </a:solidFill>
                <a:latin typeface="Calibri" pitchFamily="34" charset="0"/>
                <a:ea typeface="Calibri" pitchFamily="34" charset="-122"/>
                <a:cs typeface="Calibri" pitchFamily="34" charset="-120"/>
              </a:defRPr>
            </a:lvl1pPr>
          </a:lstStyle>
          <a:p>
            <a:pPr marL="228600" indent="-228600">
              <a:spcAft>
                <a:spcPts val="800"/>
              </a:spcAft>
              <a:buSzPct val="100000"/>
              <a:buChar char="•"/>
            </a:pPr>
            <a:r>
              <a:rPr lang="en-US" sz="1600" dirty="0">
                <a:solidFill>
                  <a:srgbClr val="1A1A1A"/>
                </a:solidFill>
                <a:latin typeface="Calibri" pitchFamily="34" charset="0"/>
                <a:ea typeface="Calibri" pitchFamily="34" charset="-122"/>
                <a:cs typeface="Calibri" pitchFamily="34" charset="-120"/>
              </a:rPr>
              <a:t>Body text</a:t>
            </a:r>
            <a:endParaRPr lang="en-US" sz="16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TS Production Header Only">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rtlCol="0"/>
          <a:lstStyle>
            <a:lvl1pPr marL="0" indent="0">
              <a:buNone/>
              <a:defRPr lang="en-US" sz="1000" b="1" kern="0" spc="300" dirty="0">
                <a:solidFill>
                  <a:srgbClr val="005358"/>
                </a:solidFill>
                <a:latin typeface="Calibri" pitchFamily="34" charset="0"/>
                <a:ea typeface="Calibri" pitchFamily="34" charset="-122"/>
                <a:cs typeface="Calibri" pitchFamily="34" charset="-120"/>
              </a:defRPr>
            </a:lvl1pPr>
          </a:lstStyle>
          <a:p>
            <a:pPr marL="0" indent="0">
              <a:buNone/>
            </a:pPr>
            <a:r>
              <a:rPr lang="en-US" sz="1000" b="1" kern="0" spc="300" dirty="0">
                <a:solidFill>
                  <a:srgbClr val="005358"/>
                </a:solidFill>
                <a:latin typeface="Calibri" pitchFamily="34" charset="0"/>
                <a:ea typeface="Calibri" pitchFamily="34" charset="-122"/>
                <a:cs typeface="Calibri" pitchFamily="34" charset="-120"/>
              </a:rPr>
              <a:t>SECTION NAME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rtlCol="0"/>
          <a:lstStyle>
            <a:lvl1pPr marL="0" indent="0" algn="l">
              <a:buNone/>
              <a:defRPr lang="en-US" sz="2800" b="1" dirty="0">
                <a:solidFill>
                  <a:srgbClr val="1A1A1A"/>
                </a:solidFill>
                <a:latin typeface="Calibri" pitchFamily="34" charset="0"/>
                <a:ea typeface="Calibri" pitchFamily="34" charset="-122"/>
                <a:cs typeface="Calibri" pitchFamily="34" charset="-120"/>
              </a:defRPr>
            </a:lvl1pPr>
          </a:lstStyle>
          <a:p>
            <a:pPr marL="0" indent="0" algn="l">
              <a:buNone/>
            </a:pPr>
            <a:r>
              <a:rPr lang="en-US" sz="2800" b="1" dirty="0">
                <a:solidFill>
                  <a:srgbClr val="1A1A1A"/>
                </a:solidFill>
                <a:latin typeface="Calibri" pitchFamily="34" charset="0"/>
                <a:ea typeface="Calibri" pitchFamily="34" charset="-122"/>
                <a:cs typeface="Calibri" pitchFamily="34" charset="-120"/>
              </a:rPr>
              <a:t>Slide heading</a:t>
            </a:r>
            <a:endParaRPr lang="en-US" sz="2800" dirty="0"/>
          </a:p>
        </p:txBody>
      </p:sp>
      <p:pic>
        <p:nvPicPr>
          <p:cNvPr id="4" name="Image 0" descr="/home/user/Claude/presentation/assets/cts-production.png"/>
          <p:cNvPicPr>
            <a:picLocks noChangeAspect="1"/>
          </p:cNvPicPr>
          <p:nvPr/>
        </p:nvPicPr>
        <p:blipFill>
          <a:blip r:embed="rId2"/>
          <a:stretch>
            <a:fillRect/>
          </a:stretch>
        </p:blipFill>
        <p:spPr>
          <a:xfrm>
            <a:off x="7833946" y="384048"/>
            <a:ext cx="807134" cy="548640"/>
          </a:xfrm>
          <a:prstGeom prst="rect">
            <a:avLst/>
          </a:prstGeom>
        </p:spPr>
      </p:pic>
      <p:sp>
        <p:nvSpPr>
          <p:cNvPr id="5" name="Text 0"/>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5F6670"/>
                </a:solidFill>
                <a:latin typeface="Calibri" pitchFamily="34" charset="0"/>
                <a:ea typeface="Calibri" pitchFamily="34" charset="-122"/>
                <a:cs typeface="Calibri" pitchFamily="34" charset="-120"/>
              </a:rPr>
              <a:t>CTS Production  |  Engaging Experiences</a:t>
            </a:r>
            <a:endParaRPr lang="en-US" sz="9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TS Production Header and Tex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rtlCol="0"/>
          <a:lstStyle>
            <a:lvl1pPr marL="0" indent="0">
              <a:buNone/>
              <a:defRPr lang="en-US" sz="1000" b="1" kern="0" spc="300" dirty="0">
                <a:solidFill>
                  <a:srgbClr val="005358"/>
                </a:solidFill>
                <a:latin typeface="Calibri" pitchFamily="34" charset="0"/>
                <a:ea typeface="Calibri" pitchFamily="34" charset="-122"/>
                <a:cs typeface="Calibri" pitchFamily="34" charset="-120"/>
              </a:defRPr>
            </a:lvl1pPr>
          </a:lstStyle>
          <a:p>
            <a:pPr marL="0" indent="0">
              <a:buNone/>
            </a:pPr>
            <a:r>
              <a:rPr lang="en-US" sz="1000" b="1" kern="0" spc="300" dirty="0">
                <a:solidFill>
                  <a:srgbClr val="005358"/>
                </a:solidFill>
                <a:latin typeface="Calibri" pitchFamily="34" charset="0"/>
                <a:ea typeface="Calibri" pitchFamily="34" charset="-122"/>
                <a:cs typeface="Calibri" pitchFamily="34" charset="-120"/>
              </a:rPr>
              <a:t>SECTION NAME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rtlCol="0"/>
          <a:lstStyle>
            <a:lvl1pPr marL="0" indent="0" algn="l">
              <a:buNone/>
              <a:defRPr lang="en-US" sz="2800" b="1" dirty="0">
                <a:solidFill>
                  <a:srgbClr val="1A1A1A"/>
                </a:solidFill>
                <a:latin typeface="Calibri" pitchFamily="34" charset="0"/>
                <a:ea typeface="Calibri" pitchFamily="34" charset="-122"/>
                <a:cs typeface="Calibri" pitchFamily="34" charset="-120"/>
              </a:defRPr>
            </a:lvl1pPr>
          </a:lstStyle>
          <a:p>
            <a:pPr marL="0" indent="0" algn="l">
              <a:buNone/>
            </a:pPr>
            <a:r>
              <a:rPr lang="en-US" sz="2800" b="1" dirty="0">
                <a:solidFill>
                  <a:srgbClr val="1A1A1A"/>
                </a:solidFill>
                <a:latin typeface="Calibri" pitchFamily="34" charset="0"/>
                <a:ea typeface="Calibri" pitchFamily="34" charset="-122"/>
                <a:cs typeface="Calibri" pitchFamily="34" charset="-120"/>
              </a:rPr>
              <a:t>Slide heading</a:t>
            </a:r>
            <a:endParaRPr lang="en-US" sz="2800" dirty="0"/>
          </a:p>
        </p:txBody>
      </p:sp>
      <p:pic>
        <p:nvPicPr>
          <p:cNvPr id="4" name="Image 0" descr="/home/user/Claude/presentation/assets/cts-production.png"/>
          <p:cNvPicPr>
            <a:picLocks noChangeAspect="1"/>
          </p:cNvPicPr>
          <p:nvPr/>
        </p:nvPicPr>
        <p:blipFill>
          <a:blip r:embed="rId2"/>
          <a:stretch>
            <a:fillRect/>
          </a:stretch>
        </p:blipFill>
        <p:spPr>
          <a:xfrm>
            <a:off x="7833946" y="384048"/>
            <a:ext cx="807134" cy="548640"/>
          </a:xfrm>
          <a:prstGeom prst="rect">
            <a:avLst/>
          </a:prstGeom>
        </p:spPr>
      </p:pic>
      <p:sp>
        <p:nvSpPr>
          <p:cNvPr id="5" name="Text 0"/>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5F6670"/>
                </a:solidFill>
                <a:latin typeface="Calibri" pitchFamily="34" charset="0"/>
                <a:ea typeface="Calibri" pitchFamily="34" charset="-122"/>
                <a:cs typeface="Calibri" pitchFamily="34" charset="-120"/>
              </a:rPr>
              <a:t>CTS Production  |  Engaging Experiences</a:t>
            </a:r>
            <a:endParaRPr lang="en-US" sz="900" dirty="0"/>
          </a:p>
        </p:txBody>
      </p:sp>
      <p:sp>
        <p:nvSpPr>
          <p:cNvPr id="6" name="Text 1"/>
          <p:cNvSpPr>
            <a:spLocks noGrp="1"/>
          </p:cNvSpPr>
          <p:nvPr>
            <p:ph type="body" idx="104" hasCustomPrompt="1"/>
          </p:nvPr>
        </p:nvSpPr>
        <p:spPr>
          <a:xfrm>
            <a:off x="502920" y="1554480"/>
            <a:ext cx="8138160" cy="3017520"/>
          </a:xfrm>
          <a:prstGeom prst="rect">
            <a:avLst/>
          </a:prstGeom>
          <a:noFill/>
          <a:ln/>
        </p:spPr>
        <p:txBody>
          <a:bodyPr wrap="square" rtlCol="0"/>
          <a:lstStyle>
            <a:lvl1pPr marL="228600" indent="-228600">
              <a:spcAft>
                <a:spcPts val="800"/>
              </a:spcAft>
              <a:buSzPct val="100000"/>
              <a:buChar char="•"/>
              <a:defRPr lang="en-US" sz="1600" dirty="0">
                <a:solidFill>
                  <a:srgbClr val="1A1A1A"/>
                </a:solidFill>
                <a:latin typeface="Calibri" pitchFamily="34" charset="0"/>
                <a:ea typeface="Calibri" pitchFamily="34" charset="-122"/>
                <a:cs typeface="Calibri" pitchFamily="34" charset="-120"/>
              </a:defRPr>
            </a:lvl1pPr>
          </a:lstStyle>
          <a:p>
            <a:pPr marL="228600" indent="-228600">
              <a:spcAft>
                <a:spcPts val="800"/>
              </a:spcAft>
              <a:buSzPct val="100000"/>
              <a:buChar char="•"/>
            </a:pPr>
            <a:r>
              <a:rPr lang="en-US" sz="1600" dirty="0">
                <a:solidFill>
                  <a:srgbClr val="1A1A1A"/>
                </a:solidFill>
                <a:latin typeface="Calibri" pitchFamily="34" charset="0"/>
                <a:ea typeface="Calibri" pitchFamily="34" charset="-122"/>
                <a:cs typeface="Calibri" pitchFamily="34" charset="-120"/>
              </a:rPr>
              <a:t>Body text</a:t>
            </a:r>
            <a:endParaRPr lang="en-US" sz="16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TS Consulting Header Only">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rtlCol="0"/>
          <a:lstStyle>
            <a:lvl1pPr marL="0" indent="0">
              <a:buNone/>
              <a:defRPr lang="en-US" sz="1000" b="1" kern="0" spc="300" dirty="0">
                <a:solidFill>
                  <a:srgbClr val="122B82"/>
                </a:solidFill>
                <a:latin typeface="Calibri" pitchFamily="34" charset="0"/>
                <a:ea typeface="Calibri" pitchFamily="34" charset="-122"/>
                <a:cs typeface="Calibri" pitchFamily="34" charset="-120"/>
              </a:defRPr>
            </a:lvl1pPr>
          </a:lstStyle>
          <a:p>
            <a:pPr marL="0" indent="0">
              <a:buNone/>
            </a:pPr>
            <a:r>
              <a:rPr lang="en-US" sz="1000" b="1" kern="0" spc="300" dirty="0">
                <a:solidFill>
                  <a:srgbClr val="122B82"/>
                </a:solidFill>
                <a:latin typeface="Calibri" pitchFamily="34" charset="0"/>
                <a:ea typeface="Calibri" pitchFamily="34" charset="-122"/>
                <a:cs typeface="Calibri" pitchFamily="34" charset="-120"/>
              </a:rPr>
              <a:t>SECTION NAME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rtlCol="0"/>
          <a:lstStyle>
            <a:lvl1pPr marL="0" indent="0" algn="l">
              <a:buNone/>
              <a:defRPr lang="en-US" sz="2800" b="1" dirty="0">
                <a:solidFill>
                  <a:srgbClr val="1A1A1A"/>
                </a:solidFill>
                <a:latin typeface="Calibri" pitchFamily="34" charset="0"/>
                <a:ea typeface="Calibri" pitchFamily="34" charset="-122"/>
                <a:cs typeface="Calibri" pitchFamily="34" charset="-120"/>
              </a:defRPr>
            </a:lvl1pPr>
          </a:lstStyle>
          <a:p>
            <a:pPr marL="0" indent="0" algn="l">
              <a:buNone/>
            </a:pPr>
            <a:r>
              <a:rPr lang="en-US" sz="2800" b="1" dirty="0">
                <a:solidFill>
                  <a:srgbClr val="1A1A1A"/>
                </a:solidFill>
                <a:latin typeface="Calibri" pitchFamily="34" charset="0"/>
                <a:ea typeface="Calibri" pitchFamily="34" charset="-122"/>
                <a:cs typeface="Calibri" pitchFamily="34" charset="-120"/>
              </a:rPr>
              <a:t>Slide heading</a:t>
            </a:r>
            <a:endParaRPr lang="en-US" sz="2800" dirty="0"/>
          </a:p>
        </p:txBody>
      </p:sp>
      <p:pic>
        <p:nvPicPr>
          <p:cNvPr id="4" name="Image 0" descr="/home/user/Claude/presentation/assets/cts-consulting.png"/>
          <p:cNvPicPr>
            <a:picLocks noChangeAspect="1"/>
          </p:cNvPicPr>
          <p:nvPr/>
        </p:nvPicPr>
        <p:blipFill>
          <a:blip r:embed="rId2"/>
          <a:stretch>
            <a:fillRect/>
          </a:stretch>
        </p:blipFill>
        <p:spPr>
          <a:xfrm>
            <a:off x="7833946" y="384048"/>
            <a:ext cx="807134" cy="548640"/>
          </a:xfrm>
          <a:prstGeom prst="rect">
            <a:avLst/>
          </a:prstGeom>
        </p:spPr>
      </p:pic>
      <p:sp>
        <p:nvSpPr>
          <p:cNvPr id="5" name="Text 0"/>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5F6670"/>
                </a:solidFill>
                <a:latin typeface="Calibri" pitchFamily="34" charset="0"/>
                <a:ea typeface="Calibri" pitchFamily="34" charset="-122"/>
                <a:cs typeface="Calibri" pitchFamily="34" charset="-120"/>
              </a:rPr>
              <a:t>CTS Consulting  |  End to End collaboration</a:t>
            </a:r>
            <a:endParaRPr lang="en-US" sz="9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TS Consulting Header and Tex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rtlCol="0"/>
          <a:lstStyle>
            <a:lvl1pPr marL="0" indent="0">
              <a:buNone/>
              <a:defRPr lang="en-US" sz="1000" b="1" kern="0" spc="300" dirty="0">
                <a:solidFill>
                  <a:srgbClr val="122B82"/>
                </a:solidFill>
                <a:latin typeface="Calibri" pitchFamily="34" charset="0"/>
                <a:ea typeface="Calibri" pitchFamily="34" charset="-122"/>
                <a:cs typeface="Calibri" pitchFamily="34" charset="-120"/>
              </a:defRPr>
            </a:lvl1pPr>
          </a:lstStyle>
          <a:p>
            <a:pPr marL="0" indent="0">
              <a:buNone/>
            </a:pPr>
            <a:r>
              <a:rPr lang="en-US" sz="1000" b="1" kern="0" spc="300" dirty="0">
                <a:solidFill>
                  <a:srgbClr val="122B82"/>
                </a:solidFill>
                <a:latin typeface="Calibri" pitchFamily="34" charset="0"/>
                <a:ea typeface="Calibri" pitchFamily="34" charset="-122"/>
                <a:cs typeface="Calibri" pitchFamily="34" charset="-120"/>
              </a:rPr>
              <a:t>SECTION NAME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rtlCol="0"/>
          <a:lstStyle>
            <a:lvl1pPr marL="0" indent="0" algn="l">
              <a:buNone/>
              <a:defRPr lang="en-US" sz="2800" b="1" dirty="0">
                <a:solidFill>
                  <a:srgbClr val="1A1A1A"/>
                </a:solidFill>
                <a:latin typeface="Calibri" pitchFamily="34" charset="0"/>
                <a:ea typeface="Calibri" pitchFamily="34" charset="-122"/>
                <a:cs typeface="Calibri" pitchFamily="34" charset="-120"/>
              </a:defRPr>
            </a:lvl1pPr>
          </a:lstStyle>
          <a:p>
            <a:pPr marL="0" indent="0" algn="l">
              <a:buNone/>
            </a:pPr>
            <a:r>
              <a:rPr lang="en-US" sz="2800" b="1" dirty="0">
                <a:solidFill>
                  <a:srgbClr val="1A1A1A"/>
                </a:solidFill>
                <a:latin typeface="Calibri" pitchFamily="34" charset="0"/>
                <a:ea typeface="Calibri" pitchFamily="34" charset="-122"/>
                <a:cs typeface="Calibri" pitchFamily="34" charset="-120"/>
              </a:rPr>
              <a:t>Slide heading</a:t>
            </a:r>
            <a:endParaRPr lang="en-US" sz="2800" dirty="0"/>
          </a:p>
        </p:txBody>
      </p:sp>
      <p:pic>
        <p:nvPicPr>
          <p:cNvPr id="4" name="Image 0" descr="/home/user/Claude/presentation/assets/cts-consulting.png"/>
          <p:cNvPicPr>
            <a:picLocks noChangeAspect="1"/>
          </p:cNvPicPr>
          <p:nvPr/>
        </p:nvPicPr>
        <p:blipFill>
          <a:blip r:embed="rId2"/>
          <a:stretch>
            <a:fillRect/>
          </a:stretch>
        </p:blipFill>
        <p:spPr>
          <a:xfrm>
            <a:off x="7833946" y="384048"/>
            <a:ext cx="807134" cy="548640"/>
          </a:xfrm>
          <a:prstGeom prst="rect">
            <a:avLst/>
          </a:prstGeom>
        </p:spPr>
      </p:pic>
      <p:sp>
        <p:nvSpPr>
          <p:cNvPr id="5" name="Text 0"/>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5F6670"/>
                </a:solidFill>
                <a:latin typeface="Calibri" pitchFamily="34" charset="0"/>
                <a:ea typeface="Calibri" pitchFamily="34" charset="-122"/>
                <a:cs typeface="Calibri" pitchFamily="34" charset="-120"/>
              </a:rPr>
              <a:t>CTS Consulting  |  End to End collaboration</a:t>
            </a:r>
            <a:endParaRPr lang="en-US" sz="900" dirty="0"/>
          </a:p>
        </p:txBody>
      </p:sp>
      <p:sp>
        <p:nvSpPr>
          <p:cNvPr id="6" name="Text 1"/>
          <p:cNvSpPr>
            <a:spLocks noGrp="1"/>
          </p:cNvSpPr>
          <p:nvPr>
            <p:ph type="body" idx="104" hasCustomPrompt="1"/>
          </p:nvPr>
        </p:nvSpPr>
        <p:spPr>
          <a:xfrm>
            <a:off x="502920" y="1554480"/>
            <a:ext cx="8138160" cy="3017520"/>
          </a:xfrm>
          <a:prstGeom prst="rect">
            <a:avLst/>
          </a:prstGeom>
          <a:noFill/>
          <a:ln/>
        </p:spPr>
        <p:txBody>
          <a:bodyPr wrap="square" rtlCol="0"/>
          <a:lstStyle>
            <a:lvl1pPr marL="228600" indent="-228600">
              <a:spcAft>
                <a:spcPts val="800"/>
              </a:spcAft>
              <a:buSzPct val="100000"/>
              <a:buChar char="•"/>
              <a:defRPr lang="en-US" sz="1600" dirty="0">
                <a:solidFill>
                  <a:srgbClr val="1A1A1A"/>
                </a:solidFill>
                <a:latin typeface="Calibri" pitchFamily="34" charset="0"/>
                <a:ea typeface="Calibri" pitchFamily="34" charset="-122"/>
                <a:cs typeface="Calibri" pitchFamily="34" charset="-120"/>
              </a:defRPr>
            </a:lvl1pPr>
          </a:lstStyle>
          <a:p>
            <a:pPr marL="228600" indent="-228600">
              <a:spcAft>
                <a:spcPts val="800"/>
              </a:spcAft>
              <a:buSzPct val="100000"/>
              <a:buChar char="•"/>
            </a:pPr>
            <a:r>
              <a:rPr lang="en-US" sz="1600" dirty="0">
                <a:solidFill>
                  <a:srgbClr val="1A1A1A"/>
                </a:solidFill>
                <a:latin typeface="Calibri" pitchFamily="34" charset="0"/>
                <a:ea typeface="Calibri" pitchFamily="34" charset="-122"/>
                <a:cs typeface="Calibri" pitchFamily="34" charset="-120"/>
              </a:rPr>
              <a:t>Body text</a:t>
            </a:r>
            <a:endParaRPr lang="en-US" sz="16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CTS Support Header Only">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rtlCol="0"/>
          <a:lstStyle>
            <a:lvl1pPr marL="0" indent="0">
              <a:buNone/>
              <a:defRPr lang="en-US" sz="1000" b="1" kern="0" spc="300" dirty="0">
                <a:solidFill>
                  <a:srgbClr val="A8052E"/>
                </a:solidFill>
                <a:latin typeface="Calibri" pitchFamily="34" charset="0"/>
                <a:ea typeface="Calibri" pitchFamily="34" charset="-122"/>
                <a:cs typeface="Calibri" pitchFamily="34" charset="-120"/>
              </a:defRPr>
            </a:lvl1pPr>
          </a:lstStyle>
          <a:p>
            <a:pPr marL="0" indent="0">
              <a:buNone/>
            </a:pPr>
            <a:r>
              <a:rPr lang="en-US" sz="1000" b="1" kern="0" spc="300" dirty="0">
                <a:solidFill>
                  <a:srgbClr val="A8052E"/>
                </a:solidFill>
                <a:latin typeface="Calibri" pitchFamily="34" charset="0"/>
                <a:ea typeface="Calibri" pitchFamily="34" charset="-122"/>
                <a:cs typeface="Calibri" pitchFamily="34" charset="-120"/>
              </a:rPr>
              <a:t>SECTION NAME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rtlCol="0"/>
          <a:lstStyle>
            <a:lvl1pPr marL="0" indent="0" algn="l">
              <a:buNone/>
              <a:defRPr lang="en-US" sz="2800" b="1" dirty="0">
                <a:solidFill>
                  <a:srgbClr val="1A1A1A"/>
                </a:solidFill>
                <a:latin typeface="Calibri" pitchFamily="34" charset="0"/>
                <a:ea typeface="Calibri" pitchFamily="34" charset="-122"/>
                <a:cs typeface="Calibri" pitchFamily="34" charset="-120"/>
              </a:defRPr>
            </a:lvl1pPr>
          </a:lstStyle>
          <a:p>
            <a:pPr marL="0" indent="0" algn="l">
              <a:buNone/>
            </a:pPr>
            <a:r>
              <a:rPr lang="en-US" sz="2800" b="1" dirty="0">
                <a:solidFill>
                  <a:srgbClr val="1A1A1A"/>
                </a:solidFill>
                <a:latin typeface="Calibri" pitchFamily="34" charset="0"/>
                <a:ea typeface="Calibri" pitchFamily="34" charset="-122"/>
                <a:cs typeface="Calibri" pitchFamily="34" charset="-120"/>
              </a:rPr>
              <a:t>Slide heading</a:t>
            </a:r>
            <a:endParaRPr lang="en-US" sz="2800" dirty="0"/>
          </a:p>
        </p:txBody>
      </p:sp>
      <p:pic>
        <p:nvPicPr>
          <p:cNvPr id="4" name="Image 0" descr="/home/user/Claude/presentation/assets/cts-support.png"/>
          <p:cNvPicPr>
            <a:picLocks noChangeAspect="1"/>
          </p:cNvPicPr>
          <p:nvPr/>
        </p:nvPicPr>
        <p:blipFill>
          <a:blip r:embed="rId2"/>
          <a:stretch>
            <a:fillRect/>
          </a:stretch>
        </p:blipFill>
        <p:spPr>
          <a:xfrm>
            <a:off x="7833946" y="384048"/>
            <a:ext cx="807134" cy="548640"/>
          </a:xfrm>
          <a:prstGeom prst="rect">
            <a:avLst/>
          </a:prstGeom>
        </p:spPr>
      </p:pic>
      <p:sp>
        <p:nvSpPr>
          <p:cNvPr id="5" name="Text 0"/>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5F6670"/>
                </a:solidFill>
                <a:latin typeface="Calibri" pitchFamily="34" charset="0"/>
                <a:ea typeface="Calibri" pitchFamily="34" charset="-122"/>
                <a:cs typeface="Calibri" pitchFamily="34" charset="-120"/>
              </a:rPr>
              <a:t>CTS Support  |  Personalised Service</a:t>
            </a:r>
            <a:endParaRPr lang="en-US" sz="9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CTS Support Header and Tex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rtlCol="0"/>
          <a:lstStyle>
            <a:lvl1pPr marL="0" indent="0">
              <a:buNone/>
              <a:defRPr lang="en-US" sz="1000" b="1" kern="0" spc="300" dirty="0">
                <a:solidFill>
                  <a:srgbClr val="A8052E"/>
                </a:solidFill>
                <a:latin typeface="Calibri" pitchFamily="34" charset="0"/>
                <a:ea typeface="Calibri" pitchFamily="34" charset="-122"/>
                <a:cs typeface="Calibri" pitchFamily="34" charset="-120"/>
              </a:defRPr>
            </a:lvl1pPr>
          </a:lstStyle>
          <a:p>
            <a:pPr marL="0" indent="0">
              <a:buNone/>
            </a:pPr>
            <a:r>
              <a:rPr lang="en-US" sz="1000" b="1" kern="0" spc="300" dirty="0">
                <a:solidFill>
                  <a:srgbClr val="A8052E"/>
                </a:solidFill>
                <a:latin typeface="Calibri" pitchFamily="34" charset="0"/>
                <a:ea typeface="Calibri" pitchFamily="34" charset="-122"/>
                <a:cs typeface="Calibri" pitchFamily="34" charset="-120"/>
              </a:rPr>
              <a:t>SECTION NAME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rtlCol="0"/>
          <a:lstStyle>
            <a:lvl1pPr marL="0" indent="0" algn="l">
              <a:buNone/>
              <a:defRPr lang="en-US" sz="2800" b="1" dirty="0">
                <a:solidFill>
                  <a:srgbClr val="1A1A1A"/>
                </a:solidFill>
                <a:latin typeface="Calibri" pitchFamily="34" charset="0"/>
                <a:ea typeface="Calibri" pitchFamily="34" charset="-122"/>
                <a:cs typeface="Calibri" pitchFamily="34" charset="-120"/>
              </a:defRPr>
            </a:lvl1pPr>
          </a:lstStyle>
          <a:p>
            <a:pPr marL="0" indent="0" algn="l">
              <a:buNone/>
            </a:pPr>
            <a:r>
              <a:rPr lang="en-US" sz="2800" b="1" dirty="0">
                <a:solidFill>
                  <a:srgbClr val="1A1A1A"/>
                </a:solidFill>
                <a:latin typeface="Calibri" pitchFamily="34" charset="0"/>
                <a:ea typeface="Calibri" pitchFamily="34" charset="-122"/>
                <a:cs typeface="Calibri" pitchFamily="34" charset="-120"/>
              </a:rPr>
              <a:t>Slide heading</a:t>
            </a:r>
            <a:endParaRPr lang="en-US" sz="2800" dirty="0"/>
          </a:p>
        </p:txBody>
      </p:sp>
      <p:pic>
        <p:nvPicPr>
          <p:cNvPr id="4" name="Image 0" descr="/home/user/Claude/presentation/assets/cts-support.png"/>
          <p:cNvPicPr>
            <a:picLocks noChangeAspect="1"/>
          </p:cNvPicPr>
          <p:nvPr/>
        </p:nvPicPr>
        <p:blipFill>
          <a:blip r:embed="rId2"/>
          <a:stretch>
            <a:fillRect/>
          </a:stretch>
        </p:blipFill>
        <p:spPr>
          <a:xfrm>
            <a:off x="7833946" y="384048"/>
            <a:ext cx="807134" cy="548640"/>
          </a:xfrm>
          <a:prstGeom prst="rect">
            <a:avLst/>
          </a:prstGeom>
        </p:spPr>
      </p:pic>
      <p:sp>
        <p:nvSpPr>
          <p:cNvPr id="5" name="Text 0"/>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5F6670"/>
                </a:solidFill>
                <a:latin typeface="Calibri" pitchFamily="34" charset="0"/>
                <a:ea typeface="Calibri" pitchFamily="34" charset="-122"/>
                <a:cs typeface="Calibri" pitchFamily="34" charset="-120"/>
              </a:rPr>
              <a:t>CTS Support  |  Personalised Service</a:t>
            </a:r>
            <a:endParaRPr lang="en-US" sz="900" dirty="0"/>
          </a:p>
        </p:txBody>
      </p:sp>
      <p:sp>
        <p:nvSpPr>
          <p:cNvPr id="6" name="Text 1"/>
          <p:cNvSpPr>
            <a:spLocks noGrp="1"/>
          </p:cNvSpPr>
          <p:nvPr>
            <p:ph type="body" idx="104" hasCustomPrompt="1"/>
          </p:nvPr>
        </p:nvSpPr>
        <p:spPr>
          <a:xfrm>
            <a:off x="502920" y="1554480"/>
            <a:ext cx="8138160" cy="3017520"/>
          </a:xfrm>
          <a:prstGeom prst="rect">
            <a:avLst/>
          </a:prstGeom>
          <a:noFill/>
          <a:ln/>
        </p:spPr>
        <p:txBody>
          <a:bodyPr wrap="square" rtlCol="0"/>
          <a:lstStyle>
            <a:lvl1pPr marL="228600" indent="-228600">
              <a:spcAft>
                <a:spcPts val="800"/>
              </a:spcAft>
              <a:buSzPct val="100000"/>
              <a:buChar char="•"/>
              <a:defRPr lang="en-US" sz="1600" dirty="0">
                <a:solidFill>
                  <a:srgbClr val="1A1A1A"/>
                </a:solidFill>
                <a:latin typeface="Calibri" pitchFamily="34" charset="0"/>
                <a:ea typeface="Calibri" pitchFamily="34" charset="-122"/>
                <a:cs typeface="Calibri" pitchFamily="34" charset="-120"/>
              </a:defRPr>
            </a:lvl1pPr>
          </a:lstStyle>
          <a:p>
            <a:pPr marL="228600" indent="-228600">
              <a:spcAft>
                <a:spcPts val="800"/>
              </a:spcAft>
              <a:buSzPct val="100000"/>
              <a:buChar char="•"/>
            </a:pPr>
            <a:r>
              <a:rPr lang="en-US" sz="1600" dirty="0">
                <a:solidFill>
                  <a:srgbClr val="1A1A1A"/>
                </a:solidFill>
                <a:latin typeface="Calibri" pitchFamily="34" charset="0"/>
                <a:ea typeface="Calibri" pitchFamily="34" charset="-122"/>
                <a:cs typeface="Calibri" pitchFamily="34" charset="-120"/>
              </a:rPr>
              <a:t>Body text</a:t>
            </a:r>
            <a:endParaRPr lang="en-US" sz="16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C9CED6"/>
                </a:solidFill>
                <a:latin typeface="Calibri"/>
                <a:ea typeface="Calibri"/>
                <a:cs typeface="Calibri"/>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 Id="rId3" Type="http://schemas.openxmlformats.org/officeDocument/2006/relationships/chart" Target="../charts/chart1.xml"/><Relationship Id="rId4"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 Id="rId3" Type="http://schemas.openxmlformats.org/officeDocument/2006/relationships/chart" Target="../charts/chart2.xml"/><Relationship Id="rId4" Type="http://schemas.openxmlformats.org/officeDocument/2006/relationships/image" Target="../media/image1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xml"/><Relationship Id="rId3" Type="http://schemas.openxmlformats.org/officeDocument/2006/relationships/chart" Target="../charts/chart3.xml"/><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7.png"/><Relationship Id="rId3" Type="http://schemas.openxmlformats.org/officeDocument/2006/relationships/chart" Target="../charts/chart5.xml"/><Relationship Id="rId4" Type="http://schemas.openxmlformats.org/officeDocument/2006/relationships/notesSlide" Target="../notesSlides/notesSlide1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 Id="rId3" Type="http://schemas.openxmlformats.org/officeDocument/2006/relationships/chart" Target="../charts/chart4.xml"/><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1.xml"/><Relationship Id="rId3" Type="http://schemas.openxmlformats.org/officeDocument/2006/relationships/chart" Target="../charts/chart5.xml"/><Relationship Id="rId4" Type="http://schemas.openxmlformats.org/officeDocument/2006/relationships/image" Target="../media/image1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3.xml"/><Relationship Id="rId3" Type="http://schemas.openxmlformats.org/officeDocument/2006/relationships/chart" Target="../charts/chart6.xml"/><Relationship Id="rId4" Type="http://schemas.openxmlformats.org/officeDocument/2006/relationships/image" Target="../media/image2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3"/>
          <p:cNvSpPr>
            <a:spLocks noGrp="1"/>
          </p:cNvSpPr>
          <p:nvPr>
            <p:ph type="body" idx="104" hasCustomPrompt="1"/>
          </p:nvPr>
        </p:nvSpPr>
        <p:spPr>
          <a:xfrm>
            <a:off x="502920" y="1828800"/>
            <a:ext cx="5669280" cy="320040"/>
          </a:xfrm>
          <a:prstGeom prst="rect">
            <a:avLst/>
          </a:prstGeom>
          <a:noFill/>
          <a:ln/>
        </p:spPr>
        <p:txBody>
          <a:bodyPr wrap="square" lIns="0" tIns="0" rIns="0" bIns="0" rtlCol="0"/>
          <a:lstStyle/>
          <a:p>
            <a:pPr marL="0" indent="0">
              <a:buNone/>
            </a:pPr>
            <a:r>
              <a:rPr lang="en-US" sz="1200" b="1" kern="0" spc="300" dirty="0">
                <a:solidFill>
                  <a:srgbClr val="3FD0C9"/>
                </a:solidFill>
                <a:latin typeface="Calibri" pitchFamily="34" charset="0"/>
                <a:ea typeface="Calibri" pitchFamily="34" charset="-122"/>
                <a:cs typeface="Calibri" pitchFamily="34" charset="-120"/>
              </a:rPr>
              <a:t>MONTHLY BUSINESS REVIEW</a:t>
            </a:r>
            <a:endParaRPr lang="en-US" sz="1200" dirty="0"/>
          </a:p>
        </p:txBody>
      </p:sp>
      <p:sp>
        <p:nvSpPr>
          <p:cNvPr id="3" name="Text 3"/>
          <p:cNvSpPr>
            <a:spLocks noGrp="1"/>
          </p:cNvSpPr>
          <p:nvPr>
            <p:ph type="title" idx="105" hasCustomPrompt="1"/>
          </p:nvPr>
        </p:nvSpPr>
        <p:spPr>
          <a:xfrm>
            <a:off x="502920" y="2148840"/>
            <a:ext cx="5669280" cy="1234440"/>
          </a:xfrm>
          <a:prstGeom prst="rect">
            <a:avLst/>
          </a:prstGeom>
          <a:noFill/>
          <a:ln/>
        </p:spPr>
        <p:txBody>
          <a:bodyPr wrap="square" lIns="0" tIns="0" rIns="0" bIns="0" rtlCol="0" anchor="t"/>
          <a:lstStyle/>
          <a:p>
            <a:pPr marL="0" indent="0" algn="l">
              <a:buNone/>
            </a:pPr>
            <a:r>
              <a:rPr lang="en-US" sz="4000" b="1" dirty="0">
                <a:solidFill>
                  <a:srgbClr val="FFFFFF"/>
                </a:solidFill>
                <a:latin typeface="Calibri" pitchFamily="34" charset="0"/>
                <a:ea typeface="Calibri" pitchFamily="34" charset="-122"/>
                <a:cs typeface="Calibri" pitchFamily="34" charset="-120"/>
              </a:rPr>
              <a:t>September 2026</a:t>
            </a:r>
            <a:endParaRPr lang="en-US" sz="4000" dirty="0"/>
          </a:p>
        </p:txBody>
      </p:sp>
      <p:sp>
        <p:nvSpPr>
          <p:cNvPr id="4" name="Text 3"/>
          <p:cNvSpPr>
            <a:spLocks noGrp="1"/>
          </p:cNvSpPr>
          <p:nvPr>
            <p:ph type="body" idx="106" hasCustomPrompt="1"/>
          </p:nvPr>
        </p:nvSpPr>
        <p:spPr>
          <a:xfrm>
            <a:off x="502920" y="3383280"/>
            <a:ext cx="5669280" cy="548640"/>
          </a:xfrm>
          <a:prstGeom prst="rect">
            <a:avLst/>
          </a:prstGeom>
          <a:noFill/>
          <a:ln/>
        </p:spPr>
        <p:txBody>
          <a:bodyPr wrap="square" lIns="0" tIns="0" rIns="0" bIns="0" rtlCol="0" anchor="t"/>
          <a:lstStyle/>
          <a:p>
            <a:pPr marL="0" indent="0">
              <a:buNone/>
            </a:pPr>
            <a:r>
              <a:rPr lang="en-US" sz="1800" dirty="0">
                <a:solidFill>
                  <a:srgbClr val="C9CED6"/>
                </a:solidFill>
                <a:latin typeface="Calibri" pitchFamily="34" charset="0"/>
                <a:ea typeface="Calibri" pitchFamily="34" charset="-122"/>
                <a:cs typeface="Calibri" pitchFamily="34" charset="-120"/>
              </a:rPr>
              <a:t>Results, risk revenue, customers, cash and utilisation</a:t>
            </a:r>
            <a:endParaRPr lang="en-US" sz="1800" dirty="0"/>
          </a:p>
        </p:txBody>
      </p:sp>
      <p:sp>
        <p:nvSpPr>
          <p:cNvPr id="5" name="Text 3"/>
          <p:cNvSpPr>
            <a:spLocks noGrp="1"/>
          </p:cNvSpPr>
          <p:nvPr>
            <p:ph type="body" idx="107" hasCustomPrompt="1"/>
          </p:nvPr>
        </p:nvSpPr>
        <p:spPr>
          <a:xfrm>
            <a:off x="502920" y="4251960"/>
            <a:ext cx="3657600" cy="502920"/>
          </a:xfrm>
          <a:prstGeom prst="rect">
            <a:avLst/>
          </a:prstGeom>
          <a:noFill/>
          <a:ln/>
        </p:spPr>
        <p:txBody>
          <a:bodyPr wrap="square" lIns="0" tIns="0" rIns="0" bIns="0" rtlCol="0" anchor="b"/>
          <a:lstStyle/>
          <a:p>
            <a:pPr marL="0" indent="0">
              <a:buNone/>
            </a:pPr>
            <a:r>
              <a:rPr lang="en-US" sz="1200" dirty="0">
                <a:solidFill>
                  <a:srgbClr val="C9CED6"/>
                </a:solidFill>
                <a:latin typeface="Calibri" pitchFamily="34" charset="0"/>
                <a:ea typeface="Calibri" pitchFamily="34" charset="-122"/>
                <a:cs typeface="Calibri" pitchFamily="34" charset="-120"/>
              </a:rPr>
              <a:t>Financial Controller</a:t>
            </a:r>
            <a:endParaRPr lang="en-US" sz="1200" dirty="0"/>
          </a:p>
        </p:txBody>
      </p:sp>
      <p:sp>
        <p:nvSpPr>
          <p:cNvPr id="6" name="Text 3"/>
          <p:cNvSpPr>
            <a:spLocks noGrp="1"/>
          </p:cNvSpPr>
          <p:nvPr>
            <p:ph type="body" idx="108" hasCustomPrompt="1"/>
          </p:nvPr>
        </p:nvSpPr>
        <p:spPr>
          <a:xfrm>
            <a:off x="5943600" y="4251960"/>
            <a:ext cx="2697480" cy="502920"/>
          </a:xfrm>
          <a:prstGeom prst="rect">
            <a:avLst/>
          </a:prstGeom>
          <a:noFill/>
          <a:ln/>
        </p:spPr>
        <p:txBody>
          <a:bodyPr wrap="square" lIns="0" tIns="0" rIns="0" bIns="0" rtlCol="0" anchor="b"/>
          <a:lstStyle/>
          <a:p>
            <a:pPr marL="0" indent="0" algn="r">
              <a:buNone/>
            </a:pPr>
            <a:r>
              <a:rPr lang="en-US" sz="1200" dirty="0">
                <a:solidFill>
                  <a:srgbClr val="C9CED6"/>
                </a:solidFill>
                <a:latin typeface="Calibri" pitchFamily="34" charset="0"/>
                <a:ea typeface="Calibri" pitchFamily="34" charset="-122"/>
                <a:cs typeface="Calibri" pitchFamily="34" charset="-120"/>
              </a:rPr>
              <a:t>September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AGENDA</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1A1A1A"/>
                </a:solidFill>
                <a:latin typeface="Calibri" pitchFamily="34" charset="0"/>
                <a:ea typeface="Calibri" pitchFamily="34" charset="-122"/>
                <a:cs typeface="Calibri" pitchFamily="34" charset="-120"/>
              </a:rPr>
              <a:t>What we will cover</a:t>
            </a:r>
            <a:endParaRPr lang="en-US" sz="2800" dirty="0"/>
          </a:p>
        </p:txBody>
      </p:sp>
      <p:sp>
        <p:nvSpPr>
          <p:cNvPr id="4" name="Text 1"/>
          <p:cNvSpPr>
            <a:spLocks noGrp="1"/>
          </p:cNvSpPr>
          <p:nvPr>
            <p:ph type="body" idx="104" hasCustomPrompt="1"/>
          </p:nvPr>
        </p:nvSpPr>
        <p:spPr>
          <a:xfrm>
            <a:off x="502920" y="1554480"/>
            <a:ext cx="8138160" cy="30175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1A1A1A"/>
                </a:solidFill>
                <a:latin typeface="Calibri" pitchFamily="34" charset="0"/>
                <a:ea typeface="Calibri" pitchFamily="34" charset="-122"/>
                <a:cs typeface="Calibri" pitchFamily="34" charset="-120"/>
              </a:rPr>
              <a:t>Financial performance: P&amp;L summary, P&amp;L per department, risk revenue profile</a:t>
            </a:r>
            <a:endParaRPr lang="en-US" sz="1600" dirty="0"/>
          </a:p>
          <a:p>
            <a:pPr marL="342900" indent="-342900">
              <a:spcAft>
                <a:spcPts val="800"/>
              </a:spcAft>
              <a:buSzPct val="100000"/>
              <a:buChar char="•"/>
            </a:pPr>
            <a:r>
              <a:rPr lang="en-US" sz="1600" dirty="0">
                <a:solidFill>
                  <a:srgbClr val="1A1A1A"/>
                </a:solidFill>
                <a:latin typeface="Calibri" pitchFamily="34" charset="0"/>
                <a:ea typeface="Calibri" pitchFamily="34" charset="-122"/>
                <a:cs typeface="Calibri" pitchFamily="34" charset="-120"/>
              </a:rPr>
              <a:t>Customers and cash: top 10 customers, DSO and receivables, top customers year on year</a:t>
            </a:r>
            <a:endParaRPr lang="en-US" sz="1600" dirty="0"/>
          </a:p>
          <a:p>
            <a:pPr marL="342900" indent="-342900">
              <a:spcAft>
                <a:spcPts val="800"/>
              </a:spcAft>
              <a:buSzPct val="100000"/>
              <a:buChar char="•"/>
            </a:pPr>
            <a:r>
              <a:rPr lang="en-US" sz="1600" dirty="0">
                <a:solidFill>
                  <a:srgbClr val="1A1A1A"/>
                </a:solidFill>
                <a:latin typeface="Calibri" pitchFamily="34" charset="0"/>
                <a:ea typeface="Calibri" pitchFamily="34" charset="-122"/>
                <a:cs typeface="Calibri" pitchFamily="34" charset="-120"/>
              </a:rPr>
              <a:t>People and utilisation: utilisation by department, profit based on utilisation</a:t>
            </a:r>
            <a:endParaRPr lang="en-US" sz="1600" dirty="0"/>
          </a:p>
          <a:p>
            <a:pPr marL="342900" indent="-342900">
              <a:spcAft>
                <a:spcPts val="800"/>
              </a:spcAft>
              <a:buSzPct val="100000"/>
              <a:buChar char="•"/>
            </a:pPr>
            <a:r>
              <a:rPr lang="en-US" sz="1600" dirty="0">
                <a:solidFill>
                  <a:srgbClr val="1A1A1A"/>
                </a:solidFill>
                <a:latin typeface="Calibri" pitchFamily="34" charset="0"/>
                <a:ea typeface="Calibri" pitchFamily="34" charset="-122"/>
                <a:cs typeface="Calibri" pitchFamily="34" charset="-120"/>
              </a:rPr>
              <a:t>Summary and actions</a:t>
            </a:r>
            <a:endParaRPr lang="en-US" sz="16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3"/>
          <p:cNvSpPr>
            <a:spLocks noGrp="1"/>
          </p:cNvSpPr>
          <p:nvPr>
            <p:ph type="body" idx="104" hasCustomPrompt="1"/>
          </p:nvPr>
        </p:nvSpPr>
        <p:spPr>
          <a:xfrm>
            <a:off x="502920" y="1874520"/>
            <a:ext cx="1280160" cy="1280160"/>
          </a:xfrm>
          <a:prstGeom prst="rect">
            <a:avLst/>
          </a:prstGeom>
          <a:noFill/>
          <a:ln/>
        </p:spPr>
        <p:txBody>
          <a:bodyPr wrap="square" lIns="0" tIns="0" rIns="0" bIns="0" rtlCol="0" anchor="ctr"/>
          <a:lstStyle/>
          <a:p>
            <a:pPr marL="0" indent="0" algn="ctr">
              <a:buNone/>
            </a:pPr>
            <a:r>
              <a:rPr lang="en-US" sz="4800" b="1" dirty="0">
                <a:solidFill>
                  <a:srgbClr val="1A1A1A"/>
                </a:solidFill>
                <a:latin typeface="Calibri" pitchFamily="34" charset="0"/>
                <a:ea typeface="Calibri" pitchFamily="34" charset="-122"/>
                <a:cs typeface="Calibri" pitchFamily="34" charset="-120"/>
              </a:rPr>
              <a:t>01</a:t>
            </a:r>
            <a:endParaRPr lang="en-US" sz="4800" dirty="0"/>
          </a:p>
        </p:txBody>
      </p:sp>
      <p:sp>
        <p:nvSpPr>
          <p:cNvPr id="3" name="Text 3"/>
          <p:cNvSpPr>
            <a:spLocks noGrp="1"/>
          </p:cNvSpPr>
          <p:nvPr>
            <p:ph type="title" idx="105" hasCustomPrompt="1"/>
          </p:nvPr>
        </p:nvSpPr>
        <p:spPr>
          <a:xfrm>
            <a:off x="2103120" y="1874520"/>
            <a:ext cx="6035040" cy="822960"/>
          </a:xfrm>
          <a:prstGeom prst="rect">
            <a:avLst/>
          </a:prstGeom>
          <a:noFill/>
          <a:ln/>
        </p:spPr>
        <p:txBody>
          <a:bodyPr wrap="square" lIns="0" tIns="0" rIns="0" bIns="0" rtlCol="0" anchor="b"/>
          <a:lstStyle/>
          <a:p>
            <a:pPr marL="0" indent="0" algn="l">
              <a:buNone/>
            </a:pPr>
            <a:r>
              <a:rPr lang="en-US" sz="3600" b="1" dirty="0">
                <a:solidFill>
                  <a:srgbClr val="FFFFFF"/>
                </a:solidFill>
                <a:latin typeface="Calibri" pitchFamily="34" charset="0"/>
                <a:ea typeface="Calibri" pitchFamily="34" charset="-122"/>
                <a:cs typeface="Calibri" pitchFamily="34" charset="-120"/>
              </a:rPr>
              <a:t>Financial performance</a:t>
            </a:r>
            <a:endParaRPr lang="en-US" sz="3600" dirty="0"/>
          </a:p>
        </p:txBody>
      </p:sp>
      <p:sp>
        <p:nvSpPr>
          <p:cNvPr id="4" name="Text 3"/>
          <p:cNvSpPr>
            <a:spLocks noGrp="1"/>
          </p:cNvSpPr>
          <p:nvPr>
            <p:ph type="body" idx="106" hasCustomPrompt="1"/>
          </p:nvPr>
        </p:nvSpPr>
        <p:spPr>
          <a:xfrm>
            <a:off x="2103120" y="2724912"/>
            <a:ext cx="6035040" cy="457200"/>
          </a:xfrm>
          <a:prstGeom prst="rect">
            <a:avLst/>
          </a:prstGeom>
          <a:noFill/>
          <a:ln/>
        </p:spPr>
        <p:txBody>
          <a:bodyPr wrap="square" lIns="0" tIns="0" rIns="0" bIns="0" rtlCol="0" anchor="t"/>
          <a:lstStyle/>
          <a:p>
            <a:pPr marL="0" indent="0">
              <a:buNone/>
            </a:pPr>
            <a:r>
              <a:rPr lang="en-US" sz="1600" dirty="0">
                <a:solidFill>
                  <a:srgbClr val="C9CED6"/>
                </a:solidFill>
                <a:latin typeface="Calibri" pitchFamily="34" charset="0"/>
                <a:ea typeface="Calibri" pitchFamily="34" charset="-122"/>
                <a:cs typeface="Calibri" pitchFamily="34" charset="-120"/>
              </a:rPr>
              <a:t>P&amp;L for September 2026 and YTD (Jul to Sep)</a:t>
            </a:r>
            <a:endParaRPr lang="en-US" sz="16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C9CED6"/>
                </a:solidFill>
                <a:latin typeface="Calibri"/>
                <a:ea typeface="Calibri"/>
                <a:cs typeface="Calibri"/>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FINANCIAL PERFORMANCE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1A1A1A"/>
                </a:solidFill>
                <a:latin typeface="Calibri" pitchFamily="34" charset="0"/>
                <a:ea typeface="Calibri" pitchFamily="34" charset="-122"/>
                <a:cs typeface="Calibri" pitchFamily="34" charset="-120"/>
              </a:rPr>
              <a:t>P&amp;L summary</a:t>
            </a:r>
            <a:endParaRPr lang="en-US" sz="28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5577840" cy="1975104"/>
        </p:xfrm>
        <a:graphic>
          <a:graphicData uri="http://schemas.openxmlformats.org/drawingml/2006/table">
            <a:tbl>
              <a:tblPr/>
              <a:tblGrid>
                <a:gridCol w="1371600">
                  <a:extLst>
                    <a:ext uri="{9D8B030D-6E8A-4147-A177-3AD203B41FA5}">
                      <a16:colId xmlns:a16="http://schemas.microsoft.com/office/drawing/2014/main" val="20000"/>
                    </a:ext>
                  </a:extLst>
                </a:gridCol>
                <a:gridCol w="603504">
                  <a:extLst>
                    <a:ext uri="{9D8B030D-6E8A-4147-A177-3AD203B41FA5}">
                      <a16:colId xmlns:a16="http://schemas.microsoft.com/office/drawing/2014/main" val="20001"/>
                    </a:ext>
                  </a:extLst>
                </a:gridCol>
                <a:gridCol w="603504">
                  <a:extLst>
                    <a:ext uri="{9D8B030D-6E8A-4147-A177-3AD203B41FA5}">
                      <a16:colId xmlns:a16="http://schemas.microsoft.com/office/drawing/2014/main" val="20002"/>
                    </a:ext>
                  </a:extLst>
                </a:gridCol>
                <a:gridCol w="603504">
                  <a:extLst>
                    <a:ext uri="{9D8B030D-6E8A-4147-A177-3AD203B41FA5}">
                      <a16:colId xmlns:a16="http://schemas.microsoft.com/office/drawing/2014/main" val="20003"/>
                    </a:ext>
                  </a:extLst>
                </a:gridCol>
                <a:gridCol w="603504">
                  <a:extLst>
                    <a:ext uri="{9D8B030D-6E8A-4147-A177-3AD203B41FA5}">
                      <a16:colId xmlns:a16="http://schemas.microsoft.com/office/drawing/2014/main" val="20004"/>
                    </a:ext>
                  </a:extLst>
                </a:gridCol>
                <a:gridCol w="603504">
                  <a:extLst>
                    <a:ext uri="{9D8B030D-6E8A-4147-A177-3AD203B41FA5}">
                      <a16:colId xmlns:a16="http://schemas.microsoft.com/office/drawing/2014/main" val="20005"/>
                    </a:ext>
                  </a:extLst>
                </a:gridCol>
                <a:gridCol w="603504">
                  <a:extLst>
                    <a:ext uri="{9D8B030D-6E8A-4147-A177-3AD203B41FA5}">
                      <a16:colId xmlns:a16="http://schemas.microsoft.com/office/drawing/2014/main" val="20006"/>
                    </a:ext>
                  </a:extLst>
                </a:gridCol>
                <a:gridCol w="585216">
                  <a:extLst>
                    <a:ext uri="{9D8B030D-6E8A-4147-A177-3AD203B41FA5}">
                      <a16:colId xmlns:a16="http://schemas.microsoft.com/office/drawing/2014/main" val="20007"/>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A$ thousands</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Sep 26</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Budget</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Var</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YTD</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Budget</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Var</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Sep 25</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extLst>
                  <a:ext uri="{0D108BD9-81ED-4DB2-BD59-A6C34878D82A}">
                    <a16:rowId xmlns:a16="http://schemas.microsoft.com/office/drawing/2014/main" val="10000"/>
                  </a:ext>
                </a:extLst>
              </a:tr>
              <a:tr h="246888">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Revenue</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562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414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+148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1,624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1,996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-372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356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246888">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Cost of sales</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(374)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(289)</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-85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(992)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(1,084)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+92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(194)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246888">
                <a:tc>
                  <a:txBody>
                    <a:bodyPr/>
                    <a:lstStyle/>
                    <a:p>
                      <a:pPr marL="0" indent="0" algn="l">
                        <a:buNone/>
                      </a:pPr>
                      <a:r>
                        <a:rPr lang="en-US" sz="950" b="1" dirty="0">
                          <a:solidFill>
                            <a:srgbClr val="1A1A1A"/>
                          </a:solidFill>
                          <a:latin typeface="Calibri" pitchFamily="34" charset="0"/>
                          <a:ea typeface="Calibri" pitchFamily="34" charset="-122"/>
                          <a:cs typeface="Calibri" pitchFamily="34" charset="-120"/>
                        </a:rPr>
                        <a:t>Gross profit</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188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124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005358"/>
                          </a:solidFill>
                          <a:latin typeface="Calibri" pitchFamily="34" charset="0"/>
                          <a:ea typeface="Calibri" pitchFamily="34" charset="-122"/>
                          <a:cs typeface="Calibri" pitchFamily="34" charset="-120"/>
                        </a:rPr>
                        <a:t>+63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632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912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A8052E"/>
                          </a:solidFill>
                          <a:latin typeface="Calibri" pitchFamily="34" charset="0"/>
                          <a:ea typeface="Calibri" pitchFamily="34" charset="-122"/>
                          <a:cs typeface="Calibri" pitchFamily="34" charset="-120"/>
                        </a:rPr>
                        <a:t>-280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162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extLst>
                  <a:ext uri="{0D108BD9-81ED-4DB2-BD59-A6C34878D82A}">
                    <a16:rowId xmlns:a16="http://schemas.microsoft.com/office/drawing/2014/main" val="10003"/>
                  </a:ext>
                </a:extLst>
              </a:tr>
              <a:tr h="246888">
                <a:tc>
                  <a:txBody>
                    <a:bodyPr/>
                    <a:lstStyle/>
                    <a:p>
                      <a:pPr marL="0" indent="0" algn="l">
                        <a:buNone/>
                      </a:pPr>
                      <a:r>
                        <a:rPr lang="en-US" sz="850" dirty="0">
                          <a:solidFill>
                            <a:srgbClr val="1A1A1A"/>
                          </a:solidFill>
                          <a:latin typeface="Calibri" pitchFamily="34" charset="0"/>
                          <a:ea typeface="Calibri" pitchFamily="34" charset="-122"/>
                          <a:cs typeface="Calibri" pitchFamily="34" charset="-120"/>
                        </a:rPr>
                        <a:t>Gross margin %</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33.4%</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30.1%</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005358"/>
                          </a:solidFill>
                          <a:latin typeface="Calibri" pitchFamily="34" charset="0"/>
                          <a:ea typeface="Calibri" pitchFamily="34" charset="-122"/>
                          <a:cs typeface="Calibri" pitchFamily="34" charset="-120"/>
                        </a:rPr>
                        <a:t>+3.3 pts</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38.9%</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45.7%</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A8052E"/>
                          </a:solidFill>
                          <a:latin typeface="Calibri" pitchFamily="34" charset="0"/>
                          <a:ea typeface="Calibri" pitchFamily="34" charset="-122"/>
                          <a:cs typeface="Calibri" pitchFamily="34" charset="-120"/>
                        </a:rPr>
                        <a:t>-6.8 pts</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45.5%</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246888">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Overheads</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(230)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(232)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(642)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(690)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+48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(215)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r h="246888">
                <a:tc>
                  <a:txBody>
                    <a:bodyPr/>
                    <a:lstStyle/>
                    <a:p>
                      <a:pPr marL="0" indent="0" algn="l">
                        <a:buNone/>
                      </a:pPr>
                      <a:r>
                        <a:rPr lang="en-US" sz="950" b="1" dirty="0">
                          <a:solidFill>
                            <a:srgbClr val="1A1A1A"/>
                          </a:solidFill>
                          <a:latin typeface="Calibri" pitchFamily="34" charset="0"/>
                          <a:ea typeface="Calibri" pitchFamily="34" charset="-122"/>
                          <a:cs typeface="Calibri" pitchFamily="34" charset="-120"/>
                        </a:rPr>
                        <a:t>EBITDA</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(32)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(107)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005358"/>
                          </a:solidFill>
                          <a:latin typeface="Calibri" pitchFamily="34" charset="0"/>
                          <a:ea typeface="Calibri" pitchFamily="34" charset="-122"/>
                          <a:cs typeface="Calibri" pitchFamily="34" charset="-120"/>
                        </a:rPr>
                        <a:t>+75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223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A8052E"/>
                          </a:solidFill>
                          <a:latin typeface="Calibri" pitchFamily="34" charset="0"/>
                          <a:ea typeface="Calibri" pitchFamily="34" charset="-122"/>
                          <a:cs typeface="Calibri" pitchFamily="34" charset="-120"/>
                        </a:rPr>
                        <a:t>-217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(53)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extLst>
                  <a:ext uri="{0D108BD9-81ED-4DB2-BD59-A6C34878D82A}">
                    <a16:rowId xmlns:a16="http://schemas.microsoft.com/office/drawing/2014/main" val="10006"/>
                  </a:ext>
                </a:extLst>
              </a:tr>
              <a:tr h="246888">
                <a:tc>
                  <a:txBody>
                    <a:bodyPr/>
                    <a:lstStyle/>
                    <a:p>
                      <a:pPr marL="0" indent="0" algn="l">
                        <a:buNone/>
                      </a:pPr>
                      <a:r>
                        <a:rPr lang="en-US" sz="850" dirty="0">
                          <a:solidFill>
                            <a:srgbClr val="1A1A1A"/>
                          </a:solidFill>
                          <a:latin typeface="Calibri" pitchFamily="34" charset="0"/>
                          <a:ea typeface="Calibri" pitchFamily="34" charset="-122"/>
                          <a:cs typeface="Calibri" pitchFamily="34" charset="-120"/>
                        </a:rPr>
                        <a:t>EBITDA margin %</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-5.8%</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-25.9%</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005358"/>
                          </a:solidFill>
                          <a:latin typeface="Calibri" pitchFamily="34" charset="0"/>
                          <a:ea typeface="Calibri" pitchFamily="34" charset="-122"/>
                          <a:cs typeface="Calibri" pitchFamily="34" charset="-120"/>
                        </a:rPr>
                        <a:t>+20.1 pts</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0.4%</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11.2%</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A8052E"/>
                          </a:solidFill>
                          <a:latin typeface="Calibri" pitchFamily="34" charset="0"/>
                          <a:ea typeface="Calibri" pitchFamily="34" charset="-122"/>
                          <a:cs typeface="Calibri" pitchFamily="34" charset="-120"/>
                        </a:rPr>
                        <a:t>-10.8 pts</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-14.8%</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4" name="Text 2"/>
          <p:cNvSpPr txBox="1"/>
          <p:nvPr/>
        </p:nvSpPr>
        <p:spPr>
          <a:xfrm>
            <a:off x="502920" y="3547872"/>
            <a:ext cx="5577840" cy="201168"/>
          </a:xfrm>
          <a:prstGeom prst="rect">
            <a:avLst/>
          </a:prstGeom>
          <a:noFill/>
          <a:ln/>
        </p:spPr>
        <p:txBody>
          <a:bodyPr wrap="square" lIns="0" tIns="0" rIns="0" bIns="0" rtlCol="0" anchor="ctr"/>
          <a:lstStyle/>
          <a:p>
            <a:pPr marL="0" indent="0">
              <a:buNone/>
            </a:pPr>
            <a:r>
              <a:rPr lang="en-US" sz="900" b="1" dirty="0">
                <a:solidFill>
                  <a:srgbClr val="5F6670"/>
                </a:solidFill>
                <a:latin typeface="Calibri" pitchFamily="34" charset="0"/>
                <a:ea typeface="Calibri" pitchFamily="34" charset="-122"/>
                <a:cs typeface="Calibri" pitchFamily="34" charset="-120"/>
              </a:rPr>
              <a:t>Revenue and EBITDA, Jul to Sep actual, Oct to Dec budget</a:t>
            </a:r>
            <a:endParaRPr lang="en-US" sz="900" dirty="0"/>
          </a:p>
        </p:txBody>
      </p:sp>
      <p:sp>
        <p:nvSpPr>
          <p:cNvPr id="7" name="Shape 3"/>
          <p:cNvSpPr/>
          <p:nvPr/>
        </p:nvSpPr>
        <p:spPr>
          <a:xfrm>
            <a:off x="6263640" y="1463040"/>
            <a:ext cx="2377440" cy="3154680"/>
          </a:xfrm>
          <a:prstGeom prst="rect">
            <a:avLst/>
          </a:prstGeom>
          <a:solidFill>
            <a:srgbClr val="E8F9F8"/>
          </a:solidFill>
          <a:ln w="12700">
            <a:solidFill>
              <a:srgbClr val="E8F9F8"/>
            </a:solidFill>
            <a:prstDash val="solid"/>
          </a:ln>
        </p:spPr>
        <p:txBody>
          <a:bodyPr/>
          <a:lstStyle/>
          <a:p>
            <a:endParaRPr lang="en-AU"/>
          </a:p>
        </p:txBody>
      </p:sp>
      <p:sp>
        <p:nvSpPr>
          <p:cNvPr id="8"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200" dirty="0">
                <a:solidFill>
                  <a:srgbClr val="005358"/>
                </a:solidFill>
                <a:latin typeface="Calibri" pitchFamily="34" charset="0"/>
                <a:ea typeface="Calibri" pitchFamily="34" charset="-122"/>
                <a:cs typeface="Calibri" pitchFamily="34" charset="-120"/>
              </a:rPr>
              <a:t>COMMENTARY</a:t>
            </a:r>
            <a:endParaRPr lang="en-US" sz="900" dirty="0"/>
          </a:p>
        </p:txBody>
      </p:sp>
      <p:sp>
        <p:nvSpPr>
          <p:cNvPr id="9" name="Text 5"/>
          <p:cNvSpPr txBox="1"/>
          <p:nvPr/>
        </p:nvSpPr>
        <p:spPr>
          <a:xfrm>
            <a:off x="6446520" y="1901952"/>
            <a:ext cx="2011680" cy="260604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Break even needs 549k of revenue a month. We are running at 541k.</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The EBITDA miss is all margin. Overheads came in 48k under budget.</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Gross profit missed 280k: 170k on volume, 110k on a 6.8 point margin drop.</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At this run rate we meet the revenue budget and still lose 37k.</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Reforecast on margin, not revenue. Cost is not the lever here.</a:t>
            </a:r>
            <a:endParaRPr lang="en-US" sz="105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4</a:t>
            </a:fld>
            <a:endParaRPr lang="en-US"/>
          </a:p>
        </p:txBody>
      </p:sp>
      <p:pic>
        <p:nvPicPr>
          <p:cNvPr id="26" name="Picture 25" descr="rev_ebitda.png"/>
          <p:cNvPicPr>
            <a:picLocks noChangeAspect="1"/>
          </p:cNvPicPr>
          <p:nvPr/>
        </p:nvPicPr>
        <p:blipFill>
          <a:blip r:embed="rId4"/>
          <a:stretch>
            <a:fillRect/>
          </a:stretch>
        </p:blipFill>
        <p:spPr>
          <a:xfrm>
            <a:off x="884803" y="3730752"/>
            <a:ext cx="4814073" cy="886968"/>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FINANCIAL PERFORMANCE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1A1A1A"/>
                </a:solidFill>
                <a:latin typeface="Calibri" pitchFamily="34" charset="0"/>
                <a:ea typeface="Calibri" pitchFamily="34" charset="-122"/>
                <a:cs typeface="Calibri" pitchFamily="34" charset="-120"/>
              </a:rPr>
              <a:t>P&amp;L per department, Sep 26</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5577840" cy="1975104"/>
        </p:xfrm>
        <a:graphic>
          <a:graphicData uri="http://schemas.openxmlformats.org/drawingml/2006/table">
            <a:tbl>
              <a:tblPr/>
              <a:tblGrid>
                <a:gridCol w="1097280">
                  <a:extLst>
                    <a:ext uri="{9D8B030D-6E8A-4147-A177-3AD203B41FA5}">
                      <a16:colId xmlns:a16="http://schemas.microsoft.com/office/drawing/2014/main" val="20000"/>
                    </a:ext>
                  </a:extLst>
                </a:gridCol>
                <a:gridCol w="64008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gridCol w="548640">
                  <a:extLst>
                    <a:ext uri="{9D8B030D-6E8A-4147-A177-3AD203B41FA5}">
                      <a16:colId xmlns:a16="http://schemas.microsoft.com/office/drawing/2014/main" val="20003"/>
                    </a:ext>
                  </a:extLst>
                </a:gridCol>
                <a:gridCol w="713232">
                  <a:extLst>
                    <a:ext uri="{9D8B030D-6E8A-4147-A177-3AD203B41FA5}">
                      <a16:colId xmlns:a16="http://schemas.microsoft.com/office/drawing/2014/main" val="20004"/>
                    </a:ext>
                  </a:extLst>
                </a:gridCol>
                <a:gridCol w="548640">
                  <a:extLst>
                    <a:ext uri="{9D8B030D-6E8A-4147-A177-3AD203B41FA5}">
                      <a16:colId xmlns:a16="http://schemas.microsoft.com/office/drawing/2014/main" val="20005"/>
                    </a:ext>
                  </a:extLst>
                </a:gridCol>
                <a:gridCol w="640080">
                  <a:extLst>
                    <a:ext uri="{9D8B030D-6E8A-4147-A177-3AD203B41FA5}">
                      <a16:colId xmlns:a16="http://schemas.microsoft.com/office/drawing/2014/main" val="20006"/>
                    </a:ext>
                  </a:extLst>
                </a:gridCol>
                <a:gridCol w="749808">
                  <a:extLst>
                    <a:ext uri="{9D8B030D-6E8A-4147-A177-3AD203B41FA5}">
                      <a16:colId xmlns:a16="http://schemas.microsoft.com/office/drawing/2014/main" val="20007"/>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A$ thousands</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Revenue</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Budget</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Var</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Gross profit</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GM %</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All overhead</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Result</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extLst>
                  <a:ext uri="{0D108BD9-81ED-4DB2-BD59-A6C34878D82A}">
                    <a16:rowId xmlns:a16="http://schemas.microsoft.com/office/drawing/2014/main" val="10000"/>
                  </a:ext>
                </a:extLst>
              </a:tr>
              <a:tr h="246888">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Support</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243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248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101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41.7%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(72)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29</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246888">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Events</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73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66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57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77.6%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(111)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(54)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246888">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Video</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17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79.6%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246888">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Integration</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235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59</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+176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10.1%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246888">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Consulting</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-20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r h="246888">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Admin</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6"/>
                  </a:ext>
                </a:extLst>
              </a:tr>
              <a:tr h="246888">
                <a:tc>
                  <a:txBody>
                    <a:bodyPr/>
                    <a:lstStyle/>
                    <a:p>
                      <a:pPr marL="0" indent="0" algn="l">
                        <a:buNone/>
                      </a:pPr>
                      <a:r>
                        <a:rPr lang="en-US" sz="950" b="1" dirty="0">
                          <a:solidFill>
                            <a:srgbClr val="1A1A1A"/>
                          </a:solidFill>
                          <a:latin typeface="Calibri" pitchFamily="34" charset="0"/>
                          <a:ea typeface="Calibri" pitchFamily="34" charset="-122"/>
                          <a:cs typeface="Calibri" pitchFamily="34" charset="-120"/>
                        </a:rPr>
                        <a:t>CTS</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562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414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005358"/>
                          </a:solidFill>
                          <a:latin typeface="Calibri" pitchFamily="34" charset="0"/>
                          <a:ea typeface="Calibri" pitchFamily="34" charset="-122"/>
                          <a:cs typeface="Calibri" pitchFamily="34" charset="-120"/>
                        </a:rPr>
                        <a:t>+148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188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33.4%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(230)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(41)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extLst>
                  <a:ext uri="{0D108BD9-81ED-4DB2-BD59-A6C34878D82A}">
                    <a16:rowId xmlns:a16="http://schemas.microsoft.com/office/drawing/2014/main" val="10007"/>
                  </a:ext>
                </a:extLst>
              </a:tr>
            </a:tbl>
          </a:graphicData>
        </a:graphic>
      </p:graphicFrame>
      <p:sp>
        <p:nvSpPr>
          <p:cNvPr id="5" name="Text 2"/>
          <p:cNvSpPr txBox="1"/>
          <p:nvPr/>
        </p:nvSpPr>
        <p:spPr>
          <a:xfrm>
            <a:off x="502920" y="3547872"/>
            <a:ext cx="5577840" cy="457200"/>
          </a:xfrm>
          <a:prstGeom prst="rect">
            <a:avLst/>
          </a:prstGeom>
          <a:noFill/>
          <a:ln/>
        </p:spPr>
        <p:txBody>
          <a:bodyPr wrap="square" lIns="0" tIns="0" rIns="0" bIns="0" rtlCol="0" anchor="t"/>
          <a:lstStyle/>
          <a:p>
            <a:pPr marL="0" indent="0">
              <a:buNone/>
            </a:pPr>
            <a:r>
              <a:rPr lang="en-US" sz="900" dirty="0">
                <a:solidFill>
                  <a:srgbClr val="5F6670"/>
                </a:solidFill>
                <a:latin typeface="Calibri" pitchFamily="34" charset="0"/>
                <a:ea typeface="Calibri" pitchFamily="34" charset="-122"/>
                <a:cs typeface="Calibri" pitchFamily="34" charset="-120"/>
              </a:rPr>
              <a:t>All overhead is the department's own overhead plus its share of admin, spread on the preset keys. Admin itself carries nothing once its overhead is charged out. Result is revenue less direct costs less all overhead, and the five departments add back to net profit exactly.</a:t>
            </a:r>
            <a:endParaRPr lang="en-US" sz="900" dirty="0"/>
          </a:p>
        </p:txBody>
      </p:sp>
      <p:sp>
        <p:nvSpPr>
          <p:cNvPr id="4" name="Shape 3"/>
          <p:cNvSpPr/>
          <p:nvPr/>
        </p:nvSpPr>
        <p:spPr>
          <a:xfrm>
            <a:off x="6263640" y="1463040"/>
            <a:ext cx="2377440" cy="3154680"/>
          </a:xfrm>
          <a:prstGeom prst="rect">
            <a:avLst/>
          </a:prstGeom>
          <a:solidFill>
            <a:srgbClr val="E8F9F8"/>
          </a:solidFill>
          <a:ln w="12700">
            <a:solidFill>
              <a:srgbClr val="E8F9F8"/>
            </a:solidFill>
            <a:prstDash val="solid"/>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200" dirty="0">
                <a:solidFill>
                  <a:srgbClr val="005358"/>
                </a:solidFill>
                <a:latin typeface="Calibri" pitchFamily="34" charset="0"/>
                <a:ea typeface="Calibri" pitchFamily="34" charset="-122"/>
                <a:cs typeface="Calibri" pitchFamily="34" charset="-120"/>
              </a:rPr>
              <a:t>COMMENTARY</a:t>
            </a:r>
            <a:endParaRPr lang="en-US" sz="900" dirty="0"/>
          </a:p>
        </p:txBody>
      </p:sp>
      <p:sp>
        <p:nvSpPr>
          <p:cNvPr id="8" name="Text 5"/>
          <p:cNvSpPr txBox="1"/>
          <p:nvPr/>
        </p:nvSpPr>
        <p:spPr>
          <a:xfrm>
            <a:off x="6446520" y="1901952"/>
            <a:ext cx="2011680" cy="260604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Only Support covers its overhead. It returned 12 per cent on revenue.</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Events is charged 87.5 per cent of premises on 13 per cent of revenue.</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On that key Events cannot be profitable, whatever it sells.</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Integration made 10k on 235k. A fit-out at that margin carries risk for nothing.</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Consulting holds 20k of overhead on a 3.5k fee base. Its future needs a decision.</a:t>
            </a:r>
            <a:endParaRPr lang="en-US" sz="105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FINANCIAL PERFORMANCE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1A1A1A"/>
                </a:solidFill>
                <a:latin typeface="Calibri" pitchFamily="34" charset="0"/>
                <a:ea typeface="Calibri" pitchFamily="34" charset="-122"/>
                <a:cs typeface="Calibri" pitchFamily="34" charset="-120"/>
              </a:rPr>
              <a:t>Revenue and contribution by department</a:t>
            </a:r>
            <a:endParaRPr lang="en-US" sz="2800" dirty="0"/>
          </a:p>
        </p:txBody>
      </p:sp>
      <p:sp>
        <p:nvSpPr>
          <p:cNvPr id="5" name="Shape 2"/>
          <p:cNvSpPr/>
          <p:nvPr/>
        </p:nvSpPr>
        <p:spPr>
          <a:xfrm>
            <a:off x="6263640" y="1463040"/>
            <a:ext cx="2377440" cy="3154680"/>
          </a:xfrm>
          <a:prstGeom prst="rect">
            <a:avLst/>
          </a:prstGeom>
          <a:solidFill>
            <a:srgbClr val="E8F9F8"/>
          </a:solidFill>
          <a:ln w="12700">
            <a:solidFill>
              <a:srgbClr val="E8F9F8"/>
            </a:solidFill>
            <a:prstDash val="solid"/>
          </a:ln>
        </p:spPr>
        <p:txBody>
          <a:bodyPr/>
          <a:lstStyle/>
          <a:p>
            <a:endParaRPr lang="en-AU"/>
          </a:p>
        </p:txBody>
      </p:sp>
      <p:sp>
        <p:nvSpPr>
          <p:cNvPr id="6" name="Text 3"/>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200" dirty="0">
                <a:solidFill>
                  <a:srgbClr val="005358"/>
                </a:solidFill>
                <a:latin typeface="Calibri" pitchFamily="34" charset="0"/>
                <a:ea typeface="Calibri" pitchFamily="34" charset="-122"/>
                <a:cs typeface="Calibri" pitchFamily="34" charset="-120"/>
              </a:rPr>
              <a:t>COMMENTARY</a:t>
            </a:r>
            <a:endParaRPr lang="en-US" sz="900" dirty="0"/>
          </a:p>
        </p:txBody>
      </p:sp>
      <p:sp>
        <p:nvSpPr>
          <p:cNvPr id="7" name="Text 4"/>
          <p:cNvSpPr txBox="1"/>
          <p:nvPr/>
        </p:nvSpPr>
        <p:spPr>
          <a:xfrm>
            <a:off x="6446520" y="1901952"/>
            <a:ext cx="2011680" cy="260604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Two of five departments clear their overhead. Three do not.</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Integration's bar is one project. Underlying it is a 60k a quarter unit.</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Events is the structural problem: heavy overhead, thin and falling fee income.</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The overhead keys were set for a different shape of business.</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Test the Office Dept key before the FY28 budget, not mid year.</a:t>
            </a:r>
            <a:endParaRPr lang="en-US" sz="105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6</a:t>
            </a:fld>
            <a:endParaRPr lang="en-US"/>
          </a:p>
        </p:txBody>
      </p:sp>
      <p:pic>
        <p:nvPicPr>
          <p:cNvPr id="26" name="Picture 25" descr="dept.png"/>
          <p:cNvPicPr>
            <a:picLocks noChangeAspect="1"/>
          </p:cNvPicPr>
          <p:nvPr/>
        </p:nvPicPr>
        <p:blipFill>
          <a:blip r:embed="rId4"/>
          <a:stretch>
            <a:fillRect/>
          </a:stretch>
        </p:blipFill>
        <p:spPr>
          <a:xfrm>
            <a:off x="589058" y="1463040"/>
            <a:ext cx="5405563" cy="315468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FINANCIAL PERFORMANCE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1A1A1A"/>
                </a:solidFill>
                <a:latin typeface="Calibri" pitchFamily="34" charset="0"/>
                <a:ea typeface="Calibri" pitchFamily="34" charset="-122"/>
                <a:cs typeface="Calibri" pitchFamily="34" charset="-120"/>
              </a:rPr>
              <a:t>Risk revenue profile</a:t>
            </a:r>
            <a:endParaRPr lang="en-US" sz="2800" dirty="0"/>
          </a:p>
        </p:txBody>
      </p:sp>
      <p:sp>
        <p:nvSpPr>
          <p:cNvPr id="4" name="Shape 2"/>
          <p:cNvSpPr/>
          <p:nvPr/>
        </p:nvSpPr>
        <p:spPr>
          <a:xfrm>
            <a:off x="502920" y="1463040"/>
            <a:ext cx="1737360" cy="640080"/>
          </a:xfrm>
          <a:prstGeom prst="rect">
            <a:avLst/>
          </a:prstGeom>
          <a:solidFill>
            <a:srgbClr val="F4F4F4"/>
          </a:solidFill>
          <a:ln w="12700">
            <a:solidFill>
              <a:srgbClr val="F4F4F4"/>
            </a:solidFill>
            <a:prstDash val="solid"/>
          </a:ln>
        </p:spPr>
        <p:txBody>
          <a:bodyPr/>
          <a:lstStyle/>
          <a:p>
            <a:endParaRPr lang="en-AU"/>
          </a:p>
        </p:txBody>
      </p:sp>
      <p:sp>
        <p:nvSpPr>
          <p:cNvPr id="5" name="Text 3"/>
          <p:cNvSpPr txBox="1"/>
          <p:nvPr/>
        </p:nvSpPr>
        <p:spPr>
          <a:xfrm>
            <a:off x="640080" y="1554480"/>
            <a:ext cx="1463040" cy="332842"/>
          </a:xfrm>
          <a:prstGeom prst="rect">
            <a:avLst/>
          </a:prstGeom>
          <a:noFill/>
          <a:ln/>
        </p:spPr>
        <p:txBody>
          <a:bodyPr wrap="square" lIns="0" tIns="0" rIns="0" bIns="0" rtlCol="0" anchor="b"/>
          <a:lstStyle/>
          <a:p>
            <a:pPr marL="0" indent="0">
              <a:buNone/>
            </a:pPr>
            <a:r>
              <a:rPr lang="en-US" sz="2200" b="1" dirty="0">
                <a:solidFill>
                  <a:srgbClr val="005358"/>
                </a:solidFill>
                <a:latin typeface="Calibri" pitchFamily="34" charset="0"/>
                <a:ea typeface="Calibri" pitchFamily="34" charset="-122"/>
                <a:cs typeface="Calibri" pitchFamily="34" charset="-120"/>
              </a:rPr>
              <a:t>43%</a:t>
            </a:r>
            <a:endParaRPr lang="en-US" sz="2200" dirty="0"/>
          </a:p>
        </p:txBody>
      </p:sp>
      <p:sp>
        <p:nvSpPr>
          <p:cNvPr id="6" name="Text 4"/>
          <p:cNvSpPr txBox="1"/>
          <p:nvPr/>
        </p:nvSpPr>
        <p:spPr>
          <a:xfrm>
            <a:off x="640080" y="1859890"/>
            <a:ext cx="1463040" cy="217627"/>
          </a:xfrm>
          <a:prstGeom prst="rect">
            <a:avLst/>
          </a:prstGeom>
          <a:noFill/>
          <a:ln/>
        </p:spPr>
        <p:txBody>
          <a:bodyPr wrap="square" lIns="0" tIns="0" rIns="0" bIns="0" rtlCol="0" anchor="t"/>
          <a:lstStyle/>
          <a:p>
            <a:pPr marL="0" indent="0">
              <a:buNone/>
            </a:pPr>
            <a:r>
              <a:rPr lang="en-US" sz="900" dirty="0">
                <a:solidFill>
                  <a:srgbClr val="5F6670"/>
                </a:solidFill>
                <a:latin typeface="Calibri" pitchFamily="34" charset="0"/>
                <a:ea typeface="Calibri" pitchFamily="34" charset="-122"/>
                <a:cs typeface="Calibri" pitchFamily="34" charset="-120"/>
              </a:rPr>
              <a:t>Contracted revenue, YTD</a:t>
            </a:r>
            <a:endParaRPr lang="en-US" sz="900" dirty="0"/>
          </a:p>
        </p:txBody>
      </p:sp>
      <p:sp>
        <p:nvSpPr>
          <p:cNvPr id="7" name="Shape 5"/>
          <p:cNvSpPr/>
          <p:nvPr/>
        </p:nvSpPr>
        <p:spPr>
          <a:xfrm>
            <a:off x="2377440" y="1463040"/>
            <a:ext cx="1737360" cy="640080"/>
          </a:xfrm>
          <a:prstGeom prst="rect">
            <a:avLst/>
          </a:prstGeom>
          <a:solidFill>
            <a:srgbClr val="F4F4F4"/>
          </a:solidFill>
          <a:ln w="12700">
            <a:solidFill>
              <a:srgbClr val="F4F4F4"/>
            </a:solidFill>
            <a:prstDash val="solid"/>
          </a:ln>
        </p:spPr>
        <p:txBody>
          <a:bodyPr/>
          <a:lstStyle/>
          <a:p>
            <a:endParaRPr lang="en-AU"/>
          </a:p>
        </p:txBody>
      </p:sp>
      <p:sp>
        <p:nvSpPr>
          <p:cNvPr id="8" name="Text 6"/>
          <p:cNvSpPr txBox="1"/>
          <p:nvPr/>
        </p:nvSpPr>
        <p:spPr>
          <a:xfrm>
            <a:off x="2514600" y="1554480"/>
            <a:ext cx="1463040" cy="332842"/>
          </a:xfrm>
          <a:prstGeom prst="rect">
            <a:avLst/>
          </a:prstGeom>
          <a:noFill/>
          <a:ln/>
        </p:spPr>
        <p:txBody>
          <a:bodyPr wrap="square" lIns="0" tIns="0" rIns="0" bIns="0" rtlCol="0" anchor="b"/>
          <a:lstStyle/>
          <a:p>
            <a:pPr marL="0" indent="0">
              <a:buNone/>
            </a:pPr>
            <a:r>
              <a:rPr lang="en-US" sz="2200" b="1" dirty="0">
                <a:solidFill>
                  <a:srgbClr val="A8052E"/>
                </a:solidFill>
                <a:latin typeface="Calibri" pitchFamily="34" charset="0"/>
                <a:ea typeface="Calibri" pitchFamily="34" charset="-122"/>
                <a:cs typeface="Calibri" pitchFamily="34" charset="-120"/>
              </a:rPr>
              <a:t>55%</a:t>
            </a:r>
            <a:endParaRPr lang="en-US" sz="2200" dirty="0"/>
          </a:p>
        </p:txBody>
      </p:sp>
      <p:sp>
        <p:nvSpPr>
          <p:cNvPr id="9" name="Text 7"/>
          <p:cNvSpPr txBox="1"/>
          <p:nvPr/>
        </p:nvSpPr>
        <p:spPr>
          <a:xfrm>
            <a:off x="2514600" y="1859890"/>
            <a:ext cx="1463040" cy="217627"/>
          </a:xfrm>
          <a:prstGeom prst="rect">
            <a:avLst/>
          </a:prstGeom>
          <a:noFill/>
          <a:ln/>
        </p:spPr>
        <p:txBody>
          <a:bodyPr wrap="square" lIns="0" tIns="0" rIns="0" bIns="0" rtlCol="0" anchor="t"/>
          <a:lstStyle/>
          <a:p>
            <a:pPr marL="0" indent="0">
              <a:buNone/>
            </a:pPr>
            <a:r>
              <a:rPr lang="en-US" sz="900" dirty="0">
                <a:solidFill>
                  <a:srgbClr val="5F6670"/>
                </a:solidFill>
                <a:latin typeface="Calibri" pitchFamily="34" charset="0"/>
                <a:ea typeface="Calibri" pitchFamily="34" charset="-122"/>
                <a:cs typeface="Calibri" pitchFamily="34" charset="-120"/>
              </a:rPr>
              <a:t>Non-contract revenue, at risk</a:t>
            </a:r>
            <a:endParaRPr lang="en-US" sz="900" dirty="0"/>
          </a:p>
        </p:txBody>
      </p:sp>
      <p:sp>
        <p:nvSpPr>
          <p:cNvPr id="10" name="Shape 8"/>
          <p:cNvSpPr/>
          <p:nvPr/>
        </p:nvSpPr>
        <p:spPr>
          <a:xfrm>
            <a:off x="4251960" y="1463040"/>
            <a:ext cx="1828800" cy="640080"/>
          </a:xfrm>
          <a:prstGeom prst="rect">
            <a:avLst/>
          </a:prstGeom>
          <a:solidFill>
            <a:srgbClr val="F4F4F4"/>
          </a:solidFill>
          <a:ln w="12700">
            <a:solidFill>
              <a:srgbClr val="F4F4F4"/>
            </a:solidFill>
            <a:prstDash val="solid"/>
          </a:ln>
        </p:spPr>
        <p:txBody>
          <a:bodyPr/>
          <a:lstStyle/>
          <a:p>
            <a:endParaRPr lang="en-AU"/>
          </a:p>
        </p:txBody>
      </p:sp>
      <p:sp>
        <p:nvSpPr>
          <p:cNvPr id="11" name="Text 9"/>
          <p:cNvSpPr txBox="1"/>
          <p:nvPr/>
        </p:nvSpPr>
        <p:spPr>
          <a:xfrm>
            <a:off x="4389120" y="1554480"/>
            <a:ext cx="1554480" cy="332842"/>
          </a:xfrm>
          <a:prstGeom prst="rect">
            <a:avLst/>
          </a:prstGeom>
          <a:noFill/>
          <a:ln/>
        </p:spPr>
        <p:txBody>
          <a:bodyPr wrap="square" lIns="0" tIns="0" rIns="0" bIns="0" rtlCol="0" anchor="b"/>
          <a:lstStyle/>
          <a:p>
            <a:pPr marL="0" indent="0">
              <a:buNone/>
            </a:pPr>
            <a:r>
              <a:rPr lang="en-US" sz="2200" b="1" dirty="0">
                <a:solidFill>
                  <a:srgbClr val="1A1A1A"/>
                </a:solidFill>
                <a:latin typeface="Calibri" pitchFamily="34" charset="0"/>
                <a:ea typeface="Calibri" pitchFamily="34" charset="-122"/>
                <a:cs typeface="Calibri" pitchFamily="34" charset="-120"/>
              </a:rPr>
              <a:t>5</a:t>
            </a:r>
            <a:endParaRPr lang="en-US" sz="2200" dirty="0"/>
          </a:p>
        </p:txBody>
      </p:sp>
      <p:sp>
        <p:nvSpPr>
          <p:cNvPr id="12" name="Text 10"/>
          <p:cNvSpPr txBox="1"/>
          <p:nvPr/>
        </p:nvSpPr>
        <p:spPr>
          <a:xfrm>
            <a:off x="4389120" y="1859890"/>
            <a:ext cx="1554480" cy="217627"/>
          </a:xfrm>
          <a:prstGeom prst="rect">
            <a:avLst/>
          </a:prstGeom>
          <a:noFill/>
          <a:ln/>
        </p:spPr>
        <p:txBody>
          <a:bodyPr wrap="square" lIns="0" tIns="0" rIns="0" bIns="0" rtlCol="0" anchor="t"/>
          <a:lstStyle/>
          <a:p>
            <a:pPr marL="0" indent="0">
              <a:buNone/>
            </a:pPr>
            <a:r>
              <a:rPr lang="en-US" sz="900" dirty="0">
                <a:solidFill>
                  <a:srgbClr val="5F6670"/>
                </a:solidFill>
                <a:latin typeface="Calibri" pitchFamily="34" charset="0"/>
                <a:ea typeface="Calibri" pitchFamily="34" charset="-122"/>
                <a:cs typeface="Calibri" pitchFamily="34" charset="-120"/>
              </a:rPr>
              <a:t>Revenue lines flagged Medium or High</a:t>
            </a:r>
            <a:endParaRPr lang="en-US" sz="9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3474720"/>
          <a:ext cx="5577840" cy="1124712"/>
        </p:xfrm>
        <a:graphic>
          <a:graphicData uri="http://schemas.openxmlformats.org/drawingml/2006/table">
            <a:tbl>
              <a:tblPr/>
              <a:tblGrid>
                <a:gridCol w="2286000">
                  <a:extLst>
                    <a:ext uri="{9D8B030D-6E8A-4147-A177-3AD203B41FA5}">
                      <a16:colId xmlns:a16="http://schemas.microsoft.com/office/drawing/2014/main" val="20000"/>
                    </a:ext>
                  </a:extLst>
                </a:gridCol>
                <a:gridCol w="658368">
                  <a:extLst>
                    <a:ext uri="{9D8B030D-6E8A-4147-A177-3AD203B41FA5}">
                      <a16:colId xmlns:a16="http://schemas.microsoft.com/office/drawing/2014/main" val="20001"/>
                    </a:ext>
                  </a:extLst>
                </a:gridCol>
                <a:gridCol w="658368">
                  <a:extLst>
                    <a:ext uri="{9D8B030D-6E8A-4147-A177-3AD203B41FA5}">
                      <a16:colId xmlns:a16="http://schemas.microsoft.com/office/drawing/2014/main" val="20002"/>
                    </a:ext>
                  </a:extLst>
                </a:gridCol>
                <a:gridCol w="566928">
                  <a:extLst>
                    <a:ext uri="{9D8B030D-6E8A-4147-A177-3AD203B41FA5}">
                      <a16:colId xmlns:a16="http://schemas.microsoft.com/office/drawing/2014/main" val="20003"/>
                    </a:ext>
                  </a:extLst>
                </a:gridCol>
                <a:gridCol w="658368">
                  <a:extLst>
                    <a:ext uri="{9D8B030D-6E8A-4147-A177-3AD203B41FA5}">
                      <a16:colId xmlns:a16="http://schemas.microsoft.com/office/drawing/2014/main" val="20004"/>
                    </a:ext>
                  </a:extLst>
                </a:gridCol>
                <a:gridCol w="749808">
                  <a:extLst>
                    <a:ext uri="{9D8B030D-6E8A-4147-A177-3AD203B41FA5}">
                      <a16:colId xmlns:a16="http://schemas.microsoft.com/office/drawing/2014/main" val="20005"/>
                    </a:ext>
                  </a:extLst>
                </a:gridCol>
              </a:tblGrid>
              <a:tr h="187452">
                <a:tc>
                  <a:txBody>
                    <a:bodyPr/>
                    <a:lstStyle/>
                    <a:p>
                      <a:pPr marL="0" indent="0" algn="l">
                        <a:buNone/>
                      </a:pPr>
                      <a:r>
                        <a:rPr lang="en-US" sz="800" b="1" dirty="0">
                          <a:solidFill>
                            <a:srgbClr val="FFFFFF"/>
                          </a:solidFill>
                          <a:latin typeface="Calibri" pitchFamily="34" charset="0"/>
                          <a:ea typeface="Calibri" pitchFamily="34" charset="-122"/>
                          <a:cs typeface="Calibri" pitchFamily="34" charset="-120"/>
                        </a:rPr>
                        <a:t>Revenue line, YTD</a:t>
                      </a:r>
                      <a:endParaRPr lang="en-US" sz="8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800" b="1" dirty="0">
                          <a:solidFill>
                            <a:srgbClr val="FFFFFF"/>
                          </a:solidFill>
                          <a:latin typeface="Calibri" pitchFamily="34" charset="0"/>
                          <a:ea typeface="Calibri" pitchFamily="34" charset="-122"/>
                          <a:cs typeface="Calibri" pitchFamily="34" charset="-120"/>
                        </a:rPr>
                        <a:t>Actual</a:t>
                      </a:r>
                      <a:endParaRPr lang="en-US" sz="8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800" b="1" dirty="0">
                          <a:solidFill>
                            <a:srgbClr val="FFFFFF"/>
                          </a:solidFill>
                          <a:latin typeface="Calibri" pitchFamily="34" charset="0"/>
                          <a:ea typeface="Calibri" pitchFamily="34" charset="-122"/>
                          <a:cs typeface="Calibri" pitchFamily="34" charset="-120"/>
                        </a:rPr>
                        <a:t>Budget</a:t>
                      </a:r>
                      <a:endParaRPr lang="en-US" sz="8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800" b="1" dirty="0">
                          <a:solidFill>
                            <a:srgbClr val="FFFFFF"/>
                          </a:solidFill>
                          <a:latin typeface="Calibri" pitchFamily="34" charset="0"/>
                          <a:ea typeface="Calibri" pitchFamily="34" charset="-122"/>
                          <a:cs typeface="Calibri" pitchFamily="34" charset="-120"/>
                        </a:rPr>
                        <a:t>Var</a:t>
                      </a:r>
                      <a:endParaRPr lang="en-US" sz="8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800" b="1" dirty="0">
                          <a:solidFill>
                            <a:srgbClr val="FFFFFF"/>
                          </a:solidFill>
                          <a:latin typeface="Calibri" pitchFamily="34" charset="0"/>
                          <a:ea typeface="Calibri" pitchFamily="34" charset="-122"/>
                          <a:cs typeface="Calibri" pitchFamily="34" charset="-120"/>
                        </a:rPr>
                        <a:t>Var %</a:t>
                      </a:r>
                      <a:endParaRPr lang="en-US" sz="8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800" b="1" dirty="0">
                          <a:solidFill>
                            <a:srgbClr val="FFFFFF"/>
                          </a:solidFill>
                          <a:latin typeface="Calibri" pitchFamily="34" charset="0"/>
                          <a:ea typeface="Calibri" pitchFamily="34" charset="-122"/>
                          <a:cs typeface="Calibri" pitchFamily="34" charset="-120"/>
                        </a:rPr>
                        <a:t>Risk</a:t>
                      </a:r>
                      <a:endParaRPr lang="en-US" sz="8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extLst>
                  <a:ext uri="{0D108BD9-81ED-4DB2-BD59-A6C34878D82A}">
                    <a16:rowId xmlns:a16="http://schemas.microsoft.com/office/drawing/2014/main" val="10000"/>
                  </a:ext>
                </a:extLst>
              </a:tr>
              <a:tr h="187452">
                <a:tc>
                  <a:txBody>
                    <a:bodyPr/>
                    <a:lstStyle/>
                    <a:p>
                      <a:pPr marL="0" indent="0" algn="l">
                        <a:buNone/>
                      </a:pPr>
                      <a:r>
                        <a:rPr lang="en-US" sz="850" dirty="0">
                          <a:solidFill>
                            <a:srgbClr val="1A1A1A"/>
                          </a:solidFill>
                          <a:latin typeface="Calibri" pitchFamily="34" charset="0"/>
                          <a:ea typeface="Calibri" pitchFamily="34" charset="-122"/>
                          <a:cs typeface="Calibri" pitchFamily="34" charset="-120"/>
                        </a:rPr>
                        <a:t>Integration, non contract</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355</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609</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A8052E"/>
                          </a:solidFill>
                          <a:latin typeface="Calibri" pitchFamily="34" charset="0"/>
                          <a:ea typeface="Calibri" pitchFamily="34" charset="-122"/>
                          <a:cs typeface="Calibri" pitchFamily="34" charset="-120"/>
                        </a:rPr>
                        <a:t>-254</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A8052E"/>
                          </a:solidFill>
                          <a:latin typeface="Calibri" pitchFamily="34" charset="0"/>
                          <a:ea typeface="Calibri" pitchFamily="34" charset="-122"/>
                          <a:cs typeface="Calibri" pitchFamily="34" charset="-120"/>
                        </a:rPr>
                        <a:t>-41.7%</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b="1" dirty="0">
                          <a:solidFill>
                            <a:srgbClr val="A8052E"/>
                          </a:solidFill>
                          <a:latin typeface="Calibri" pitchFamily="34" charset="0"/>
                          <a:ea typeface="Calibri" pitchFamily="34" charset="-122"/>
                          <a:cs typeface="Calibri" pitchFamily="34" charset="-120"/>
                        </a:rPr>
                        <a:t>High</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187452">
                <a:tc>
                  <a:txBody>
                    <a:bodyPr/>
                    <a:lstStyle/>
                    <a:p>
                      <a:pPr marL="0" indent="0" algn="l">
                        <a:buNone/>
                      </a:pPr>
                      <a:r>
                        <a:rPr lang="en-US" sz="850" dirty="0">
                          <a:solidFill>
                            <a:srgbClr val="1A1A1A"/>
                          </a:solidFill>
                          <a:latin typeface="Calibri" pitchFamily="34" charset="0"/>
                          <a:ea typeface="Calibri" pitchFamily="34" charset="-122"/>
                          <a:cs typeface="Calibri" pitchFamily="34" charset="-120"/>
                        </a:rPr>
                        <a:t>Consulting, non contract</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237</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A8052E"/>
                          </a:solidFill>
                          <a:latin typeface="Calibri" pitchFamily="34" charset="0"/>
                          <a:ea typeface="Calibri" pitchFamily="34" charset="-122"/>
                          <a:cs typeface="Calibri" pitchFamily="34" charset="-120"/>
                        </a:rPr>
                        <a:t>-233</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A8052E"/>
                          </a:solidFill>
                          <a:latin typeface="Calibri" pitchFamily="34" charset="0"/>
                          <a:ea typeface="Calibri" pitchFamily="34" charset="-122"/>
                          <a:cs typeface="Calibri" pitchFamily="34" charset="-120"/>
                        </a:rPr>
                        <a:t>-98.3%</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b="1" dirty="0">
                          <a:solidFill>
                            <a:srgbClr val="122B82"/>
                          </a:solidFill>
                          <a:latin typeface="Calibri" pitchFamily="34" charset="0"/>
                          <a:ea typeface="Calibri" pitchFamily="34" charset="-122"/>
                          <a:cs typeface="Calibri" pitchFamily="34" charset="-120"/>
                        </a:rPr>
                        <a:t>High</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A1A1A"/>
                          </a:solidFill>
                          <a:latin typeface="Calibri" pitchFamily="34" charset="0"/>
                          <a:ea typeface="Calibri" pitchFamily="34" charset="-122"/>
                          <a:cs typeface="Calibri" pitchFamily="34" charset="-120"/>
                        </a:rPr>
                        <a:t>Support, contract income</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610</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743</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A8052E"/>
                          </a:solidFill>
                          <a:latin typeface="Calibri" pitchFamily="34" charset="0"/>
                          <a:ea typeface="Calibri" pitchFamily="34" charset="-122"/>
                          <a:cs typeface="Calibri" pitchFamily="34" charset="-120"/>
                        </a:rPr>
                        <a:t>-134</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A8052E"/>
                          </a:solidFill>
                          <a:latin typeface="Calibri" pitchFamily="34" charset="0"/>
                          <a:ea typeface="Calibri" pitchFamily="34" charset="-122"/>
                          <a:cs typeface="Calibri" pitchFamily="34" charset="-120"/>
                        </a:rPr>
                        <a:t>-18.0%</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b="1" dirty="0">
                          <a:solidFill>
                            <a:srgbClr val="122B82"/>
                          </a:solidFill>
                          <a:latin typeface="Calibri" pitchFamily="34" charset="0"/>
                          <a:ea typeface="Calibri" pitchFamily="34" charset="-122"/>
                          <a:cs typeface="Calibri" pitchFamily="34" charset="-120"/>
                        </a:rPr>
                        <a:t>High</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A1A1A"/>
                          </a:solidFill>
                          <a:latin typeface="Calibri" pitchFamily="34" charset="0"/>
                          <a:ea typeface="Calibri" pitchFamily="34" charset="-122"/>
                          <a:cs typeface="Calibri" pitchFamily="34" charset="-120"/>
                        </a:rPr>
                        <a:t>Support, non contract</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95</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005358"/>
                          </a:solidFill>
                          <a:latin typeface="Calibri" pitchFamily="34" charset="0"/>
                          <a:ea typeface="Calibri" pitchFamily="34" charset="-122"/>
                          <a:cs typeface="Calibri" pitchFamily="34" charset="-120"/>
                        </a:rPr>
                        <a:t>+95</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no budget</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b="1" dirty="0">
                          <a:solidFill>
                            <a:srgbClr val="5F6670"/>
                          </a:solidFill>
                          <a:latin typeface="Calibri" pitchFamily="34" charset="0"/>
                          <a:ea typeface="Calibri" pitchFamily="34" charset="-122"/>
                          <a:cs typeface="Calibri" pitchFamily="34" charset="-120"/>
                        </a:rPr>
                        <a:t>High</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A1A1A"/>
                          </a:solidFill>
                          <a:latin typeface="Calibri" pitchFamily="34" charset="0"/>
                          <a:ea typeface="Calibri" pitchFamily="34" charset="-122"/>
                          <a:cs typeface="Calibri" pitchFamily="34" charset="-120"/>
                        </a:rPr>
                        <a:t>Integration, contract income</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85</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005358"/>
                          </a:solidFill>
                          <a:latin typeface="Calibri" pitchFamily="34" charset="0"/>
                          <a:ea typeface="Calibri" pitchFamily="34" charset="-122"/>
                          <a:cs typeface="Calibri" pitchFamily="34" charset="-120"/>
                        </a:rPr>
                        <a:t>+85</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no budget</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b="1" dirty="0">
                          <a:solidFill>
                            <a:srgbClr val="5F6670"/>
                          </a:solidFill>
                          <a:latin typeface="Calibri" pitchFamily="34" charset="0"/>
                          <a:ea typeface="Calibri" pitchFamily="34" charset="-122"/>
                          <a:cs typeface="Calibri" pitchFamily="34" charset="-120"/>
                        </a:rPr>
                        <a:t>High</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15" name="Shape 11"/>
          <p:cNvSpPr/>
          <p:nvPr/>
        </p:nvSpPr>
        <p:spPr>
          <a:xfrm>
            <a:off x="6263640" y="1463040"/>
            <a:ext cx="2377440" cy="3154680"/>
          </a:xfrm>
          <a:prstGeom prst="rect">
            <a:avLst/>
          </a:prstGeom>
          <a:solidFill>
            <a:srgbClr val="E8F9F8"/>
          </a:solidFill>
          <a:ln w="12700">
            <a:solidFill>
              <a:srgbClr val="E8F9F8"/>
            </a:solidFill>
            <a:prstDash val="solid"/>
          </a:ln>
        </p:spPr>
        <p:txBody>
          <a:bodyPr/>
          <a:lstStyle/>
          <a:p>
            <a:endParaRPr lang="en-AU"/>
          </a:p>
        </p:txBody>
      </p:sp>
      <p:sp>
        <p:nvSpPr>
          <p:cNvPr id="16" name="Text 12"/>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200" dirty="0">
                <a:solidFill>
                  <a:srgbClr val="005358"/>
                </a:solidFill>
                <a:latin typeface="Calibri" pitchFamily="34" charset="0"/>
                <a:ea typeface="Calibri" pitchFamily="34" charset="-122"/>
                <a:cs typeface="Calibri" pitchFamily="34" charset="-120"/>
              </a:rPr>
              <a:t>COMMENTARY</a:t>
            </a:r>
            <a:endParaRPr lang="en-US" sz="900" dirty="0"/>
          </a:p>
        </p:txBody>
      </p:sp>
      <p:sp>
        <p:nvSpPr>
          <p:cNvPr id="17" name="Text 13"/>
          <p:cNvSpPr txBox="1"/>
          <p:nvPr/>
        </p:nvSpPr>
        <p:spPr>
          <a:xfrm>
            <a:off x="6446520" y="1901952"/>
            <a:ext cx="2011680" cy="260604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Only 43 per cent of revenue is contracted. The rest is rebuilt every month.</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Integration and Consulting non-contract are 487k behind for the quarter.</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That budget is not recoverable across the remaining nine months.</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Recommend a formal reforecast of both lines before the half year.</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Two lines earn against no budget. A pack fix, not a trading issue.</a:t>
            </a:r>
            <a:endParaRPr lang="en-US" sz="105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7</a:t>
            </a:fld>
            <a:endParaRPr lang="en-US"/>
          </a:p>
        </p:txBody>
      </p:sp>
      <p:pic>
        <p:nvPicPr>
          <p:cNvPr id="26" name="Picture 25" descr="mix.png"/>
          <p:cNvPicPr>
            <a:picLocks noChangeAspect="1"/>
          </p:cNvPicPr>
          <p:nvPr/>
        </p:nvPicPr>
        <p:blipFill>
          <a:blip r:embed="rId4"/>
          <a:stretch>
            <a:fillRect/>
          </a:stretch>
        </p:blipFill>
        <p:spPr>
          <a:xfrm>
            <a:off x="744003" y="2194560"/>
            <a:ext cx="5095673" cy="118872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3"/>
          <p:cNvSpPr>
            <a:spLocks noGrp="1"/>
          </p:cNvSpPr>
          <p:nvPr>
            <p:ph type="body" idx="104" hasCustomPrompt="1"/>
          </p:nvPr>
        </p:nvSpPr>
        <p:spPr>
          <a:xfrm>
            <a:off x="502920" y="1874520"/>
            <a:ext cx="1280160" cy="1280160"/>
          </a:xfrm>
          <a:prstGeom prst="rect">
            <a:avLst/>
          </a:prstGeom>
          <a:noFill/>
          <a:ln/>
        </p:spPr>
        <p:txBody>
          <a:bodyPr wrap="square" lIns="0" tIns="0" rIns="0" bIns="0" rtlCol="0" anchor="ctr"/>
          <a:lstStyle/>
          <a:p>
            <a:pPr marL="0" indent="0" algn="ctr">
              <a:buNone/>
            </a:pPr>
            <a:r>
              <a:rPr lang="en-US" sz="4800" b="1" dirty="0">
                <a:solidFill>
                  <a:srgbClr val="1A1A1A"/>
                </a:solidFill>
                <a:latin typeface="Calibri" pitchFamily="34" charset="0"/>
                <a:ea typeface="Calibri" pitchFamily="34" charset="-122"/>
                <a:cs typeface="Calibri" pitchFamily="34" charset="-120"/>
              </a:rPr>
              <a:t>02</a:t>
            </a:r>
            <a:endParaRPr lang="en-US" sz="4800" dirty="0"/>
          </a:p>
        </p:txBody>
      </p:sp>
      <p:sp>
        <p:nvSpPr>
          <p:cNvPr id="3" name="Text 3"/>
          <p:cNvSpPr>
            <a:spLocks noGrp="1"/>
          </p:cNvSpPr>
          <p:nvPr>
            <p:ph type="title" idx="105" hasCustomPrompt="1"/>
          </p:nvPr>
        </p:nvSpPr>
        <p:spPr>
          <a:xfrm>
            <a:off x="2103120" y="1874520"/>
            <a:ext cx="6035040" cy="822960"/>
          </a:xfrm>
          <a:prstGeom prst="rect">
            <a:avLst/>
          </a:prstGeom>
          <a:noFill/>
          <a:ln/>
        </p:spPr>
        <p:txBody>
          <a:bodyPr wrap="square" lIns="0" tIns="0" rIns="0" bIns="0" rtlCol="0" anchor="b"/>
          <a:lstStyle/>
          <a:p>
            <a:pPr marL="0" indent="0" algn="l">
              <a:buNone/>
            </a:pPr>
            <a:r>
              <a:rPr lang="en-US" sz="3600" b="1" dirty="0">
                <a:solidFill>
                  <a:srgbClr val="FFFFFF"/>
                </a:solidFill>
                <a:latin typeface="Calibri" pitchFamily="34" charset="0"/>
                <a:ea typeface="Calibri" pitchFamily="34" charset="-122"/>
                <a:cs typeface="Calibri" pitchFamily="34" charset="-120"/>
              </a:rPr>
              <a:t>Customers and cash</a:t>
            </a:r>
            <a:endParaRPr lang="en-US" sz="3600" dirty="0"/>
          </a:p>
        </p:txBody>
      </p:sp>
      <p:sp>
        <p:nvSpPr>
          <p:cNvPr id="4" name="Text 3"/>
          <p:cNvSpPr>
            <a:spLocks noGrp="1"/>
          </p:cNvSpPr>
          <p:nvPr>
            <p:ph type="body" idx="106" hasCustomPrompt="1"/>
          </p:nvPr>
        </p:nvSpPr>
        <p:spPr>
          <a:xfrm>
            <a:off x="2103120" y="2724912"/>
            <a:ext cx="6035040" cy="457200"/>
          </a:xfrm>
          <a:prstGeom prst="rect">
            <a:avLst/>
          </a:prstGeom>
          <a:noFill/>
          <a:ln/>
        </p:spPr>
        <p:txBody>
          <a:bodyPr wrap="square" lIns="0" tIns="0" rIns="0" bIns="0" rtlCol="0" anchor="t"/>
          <a:lstStyle/>
          <a:p>
            <a:pPr marL="0" indent="0">
              <a:buNone/>
            </a:pPr>
            <a:r>
              <a:rPr lang="en-US" sz="1600" dirty="0">
                <a:solidFill>
                  <a:srgbClr val="C9CED6"/>
                </a:solidFill>
                <a:latin typeface="Calibri" pitchFamily="34" charset="0"/>
                <a:ea typeface="Calibri" pitchFamily="34" charset="-122"/>
                <a:cs typeface="Calibri" pitchFamily="34" charset="-120"/>
              </a:rPr>
              <a:t>Top customers, receivables and days sales outstanding</a:t>
            </a:r>
            <a:endParaRPr lang="en-US" sz="16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C9CED6"/>
                </a:solidFill>
                <a:latin typeface="Calibri"/>
                <a:ea typeface="Calibri"/>
                <a:cs typeface="Calibri"/>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CUSTOMERS AND CASH</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1A1A1A"/>
                </a:solidFill>
                <a:latin typeface="Calibri" pitchFamily="34" charset="0"/>
                <a:ea typeface="Calibri" pitchFamily="34" charset="-122"/>
                <a:cs typeface="Calibri" pitchFamily="34" charset="-120"/>
              </a:rPr>
              <a:t>Top 10 customers</a:t>
            </a:r>
            <a:endParaRPr lang="en-US" sz="2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5577840" cy="2798064"/>
        </p:xfrm>
        <a:graphic>
          <a:graphicData uri="http://schemas.openxmlformats.org/drawingml/2006/table">
            <a:tbl>
              <a:tblPr/>
              <a:tblGrid>
                <a:gridCol w="173736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822960">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731520">
                  <a:extLst>
                    <a:ext uri="{9D8B030D-6E8A-4147-A177-3AD203B41FA5}">
                      <a16:colId xmlns:a16="http://schemas.microsoft.com/office/drawing/2014/main" val="20005"/>
                    </a:ext>
                  </a:extLst>
                </a:gridCol>
              </a:tblGrid>
              <a:tr h="233172">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Customer, A$ thousands</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FY27 YTD</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Share of YTD</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FY26 YTD</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YoY %</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YoY A$k</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extLst>
                  <a:ext uri="{0D108BD9-81ED-4DB2-BD59-A6C34878D82A}">
                    <a16:rowId xmlns:a16="http://schemas.microsoft.com/office/drawing/2014/main" val="10000"/>
                  </a:ext>
                </a:extLst>
              </a:tr>
              <a:tr h="233172">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1.  Deloitte Services</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402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382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+20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233172">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2.  Aware Super</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285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18%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new</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+285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233172">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3.  CBA (Place South)</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105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120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-15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233172">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4.  Ventia</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98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59</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+65%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+38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233172">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5.  PwC Services</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88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58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+51%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+30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r h="233172">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6.  APT Management (APA)</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64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+1022%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+58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6"/>
                  </a:ext>
                </a:extLst>
              </a:tr>
              <a:tr h="233172">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7.  ASX Operations</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61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90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-32%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-29</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7"/>
                  </a:ext>
                </a:extLst>
              </a:tr>
              <a:tr h="233172">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8.  Bankwest</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55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61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8"/>
                  </a:ext>
                </a:extLst>
              </a:tr>
              <a:tr h="233172">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9.  Data#3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46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new</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+46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9"/>
                  </a:ext>
                </a:extLst>
              </a:tr>
              <a:tr h="233172">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10.  Generation-e</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37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new</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+37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10"/>
                  </a:ext>
                </a:extLst>
              </a:tr>
              <a:tr h="233172">
                <a:tc>
                  <a:txBody>
                    <a:bodyPr/>
                    <a:lstStyle/>
                    <a:p>
                      <a:pPr marL="0" indent="0" algn="l">
                        <a:buNone/>
                      </a:pPr>
                      <a:r>
                        <a:rPr lang="en-US" sz="950" b="1" dirty="0">
                          <a:solidFill>
                            <a:srgbClr val="1A1A1A"/>
                          </a:solidFill>
                          <a:latin typeface="Calibri" pitchFamily="34" charset="0"/>
                          <a:ea typeface="Calibri" pitchFamily="34" charset="-122"/>
                          <a:cs typeface="Calibri" pitchFamily="34" charset="-120"/>
                        </a:rPr>
                        <a:t>Top 10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1,240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76%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776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005358"/>
                          </a:solidFill>
                          <a:latin typeface="Calibri" pitchFamily="34" charset="0"/>
                          <a:ea typeface="Calibri" pitchFamily="34" charset="-122"/>
                          <a:cs typeface="Calibri" pitchFamily="34" charset="-120"/>
                        </a:rPr>
                        <a:t>+60%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005358"/>
                          </a:solidFill>
                          <a:latin typeface="Calibri" pitchFamily="34" charset="0"/>
                          <a:ea typeface="Calibri" pitchFamily="34" charset="-122"/>
                          <a:cs typeface="Calibri" pitchFamily="34" charset="-120"/>
                        </a:rPr>
                        <a:t>+464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extLst>
                  <a:ext uri="{0D108BD9-81ED-4DB2-BD59-A6C34878D82A}">
                    <a16:rowId xmlns:a16="http://schemas.microsoft.com/office/drawing/2014/main" val="10011"/>
                  </a:ext>
                </a:extLst>
              </a:tr>
            </a:tbl>
          </a:graphicData>
        </a:graphic>
      </p:graphicFrame>
      <p:sp>
        <p:nvSpPr>
          <p:cNvPr id="5" name="Text 2"/>
          <p:cNvSpPr txBox="1"/>
          <p:nvPr/>
        </p:nvSpPr>
        <p:spPr>
          <a:xfrm>
            <a:off x="502920" y="4352544"/>
            <a:ext cx="5577840" cy="365760"/>
          </a:xfrm>
          <a:prstGeom prst="rect">
            <a:avLst/>
          </a:prstGeom>
          <a:noFill/>
          <a:ln/>
        </p:spPr>
        <p:txBody>
          <a:bodyPr wrap="square" lIns="0" tIns="0" rIns="0" bIns="0" rtlCol="0" anchor="t"/>
          <a:lstStyle/>
          <a:p>
            <a:pPr marL="0" indent="0">
              <a:buNone/>
            </a:pPr>
            <a:r>
              <a:rPr lang="en-US" sz="900" dirty="0">
                <a:solidFill>
                  <a:srgbClr val="5F6670"/>
                </a:solidFill>
                <a:latin typeface="Calibri" pitchFamily="34" charset="0"/>
                <a:ea typeface="Calibri" pitchFamily="34" charset="-122"/>
                <a:cs typeface="Calibri" pitchFamily="34" charset="-120"/>
              </a:rPr>
              <a:t>FY27 is earned revenue from the Xero general ledger, ex GST, and ties to the P&amp;L. FY26 is invoices issued 1 Jul to 30 Sep 2025 from Xero, ex GST.</a:t>
            </a:r>
            <a:endParaRPr lang="en-US" sz="900" dirty="0"/>
          </a:p>
        </p:txBody>
      </p:sp>
      <p:sp>
        <p:nvSpPr>
          <p:cNvPr id="6" name="Shape 3"/>
          <p:cNvSpPr/>
          <p:nvPr/>
        </p:nvSpPr>
        <p:spPr>
          <a:xfrm>
            <a:off x="6263640" y="1463040"/>
            <a:ext cx="2377440" cy="3154680"/>
          </a:xfrm>
          <a:prstGeom prst="rect">
            <a:avLst/>
          </a:prstGeom>
          <a:solidFill>
            <a:srgbClr val="E8F9F8"/>
          </a:solidFill>
          <a:ln w="12700">
            <a:solidFill>
              <a:srgbClr val="E8F9F8"/>
            </a:solidFill>
            <a:prstDash val="solid"/>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200" dirty="0">
                <a:solidFill>
                  <a:srgbClr val="005358"/>
                </a:solidFill>
                <a:latin typeface="Calibri" pitchFamily="34" charset="0"/>
                <a:ea typeface="Calibri" pitchFamily="34" charset="-122"/>
                <a:cs typeface="Calibri" pitchFamily="34" charset="-120"/>
              </a:rPr>
              <a:t>COMMENTARY</a:t>
            </a:r>
            <a:endParaRPr lang="en-US" sz="900" dirty="0"/>
          </a:p>
        </p:txBody>
      </p:sp>
      <p:sp>
        <p:nvSpPr>
          <p:cNvPr id="8" name="Text 5"/>
          <p:cNvSpPr txBox="1"/>
          <p:nvPr/>
        </p:nvSpPr>
        <p:spPr>
          <a:xfrm>
            <a:off x="6446520" y="1901952"/>
            <a:ext cx="2011680" cy="260604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Top three customers are 49 per cent of revenue. That is the real exposure.</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Deloitte at 402k is close to the whole EBITDA base. Losing it ends the year.</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Aware Super at 285k is one fit-out and will not be there next quarter.</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Three of the ten are new, 368k, none contracted beyond the current job.</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Recommend a retention plan on Deloitte and contract cover on the new three.</a:t>
            </a:r>
            <a:endParaRPr lang="en-US" sz="105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CUSTOMERS AND CASH</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1A1A1A"/>
                </a:solidFill>
                <a:latin typeface="Calibri" pitchFamily="34" charset="0"/>
                <a:ea typeface="Calibri" pitchFamily="34" charset="-122"/>
                <a:cs typeface="Calibri" pitchFamily="34" charset="-120"/>
              </a:rPr>
              <a:t>Top 10 customers by revenue</a:t>
            </a:r>
            <a:endParaRPr lang="en-US" sz="2800" dirty="0"/>
          </a:p>
        </p:txBody>
      </p:sp>
      <p:sp>
        <p:nvSpPr>
          <p:cNvPr id="5" name="Text 2"/>
          <p:cNvSpPr txBox="1"/>
          <p:nvPr/>
        </p:nvSpPr>
        <p:spPr>
          <a:xfrm>
            <a:off x="502920" y="4343400"/>
            <a:ext cx="5577840" cy="274320"/>
          </a:xfrm>
          <a:prstGeom prst="rect">
            <a:avLst/>
          </a:prstGeom>
          <a:noFill/>
          <a:ln/>
        </p:spPr>
        <p:txBody>
          <a:bodyPr wrap="square" lIns="0" tIns="0" rIns="0" bIns="0" rtlCol="0" anchor="ctr"/>
          <a:lstStyle/>
          <a:p>
            <a:pPr marL="0" indent="0">
              <a:buNone/>
            </a:pPr>
            <a:r>
              <a:rPr lang="en-US" sz="800" dirty="0">
                <a:solidFill>
                  <a:srgbClr val="5F6670"/>
                </a:solidFill>
                <a:latin typeface="Calibri" pitchFamily="34" charset="0"/>
                <a:ea typeface="Calibri" pitchFamily="34" charset="-122"/>
                <a:cs typeface="Calibri" pitchFamily="34" charset="-120"/>
              </a:rPr>
              <a:t>Earned revenue from the Xero general ledger, ex GST, 1 Jul to 30 Sep 2026. Ties to total income on the P&amp;L.</a:t>
            </a:r>
            <a:endParaRPr lang="en-US" sz="800" dirty="0"/>
          </a:p>
        </p:txBody>
      </p:sp>
      <p:sp>
        <p:nvSpPr>
          <p:cNvPr id="6" name="Shape 3"/>
          <p:cNvSpPr/>
          <p:nvPr/>
        </p:nvSpPr>
        <p:spPr>
          <a:xfrm>
            <a:off x="6263640" y="1463040"/>
            <a:ext cx="2377440" cy="3154680"/>
          </a:xfrm>
          <a:prstGeom prst="rect">
            <a:avLst/>
          </a:prstGeom>
          <a:solidFill>
            <a:srgbClr val="E8F9F8"/>
          </a:solidFill>
          <a:ln w="12700">
            <a:solidFill>
              <a:srgbClr val="E8F9F8"/>
            </a:solidFill>
            <a:prstDash val="solid"/>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200" dirty="0">
                <a:solidFill>
                  <a:srgbClr val="005358"/>
                </a:solidFill>
                <a:latin typeface="Calibri" pitchFamily="34" charset="0"/>
                <a:ea typeface="Calibri" pitchFamily="34" charset="-122"/>
                <a:cs typeface="Calibri" pitchFamily="34" charset="-120"/>
              </a:rPr>
              <a:t>COMMENTARY</a:t>
            </a:r>
            <a:endParaRPr lang="en-US" sz="900" dirty="0"/>
          </a:p>
        </p:txBody>
      </p:sp>
      <p:sp>
        <p:nvSpPr>
          <p:cNvPr id="8" name="Text 5"/>
          <p:cNvSpPr txBox="1"/>
          <p:nvPr/>
        </p:nvSpPr>
        <p:spPr>
          <a:xfrm>
            <a:off x="6446520" y="1901952"/>
            <a:ext cx="2011680" cy="260604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The concentration is in project work, not in contracted revenue.</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Deloitte and Aware Super are 42 per cent of the year between them.</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Below the top five the book falls away fast. Number ten is 37k.</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Everything outside the top ten is 384k, with no depth behind it.</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Put the business development target on the second tier, not the top.</a:t>
            </a:r>
            <a:endParaRPr lang="en-US" sz="105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11</a:t>
            </a:fld>
            <a:endParaRPr lang="en-US"/>
          </a:p>
        </p:txBody>
      </p:sp>
      <p:pic>
        <p:nvPicPr>
          <p:cNvPr id="26" name="Picture 25" descr="top10.png"/>
          <p:cNvPicPr>
            <a:picLocks noChangeAspect="1"/>
          </p:cNvPicPr>
          <p:nvPr/>
        </p:nvPicPr>
        <p:blipFill>
          <a:blip r:embed="rId2"/>
          <a:stretch>
            <a:fillRect/>
          </a:stretch>
        </p:blipFill>
        <p:spPr>
          <a:xfrm>
            <a:off x="565724" y="1463040"/>
            <a:ext cx="5452232" cy="283464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CUSTOMERS AND CASH</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1A1A1A"/>
                </a:solidFill>
                <a:latin typeface="Calibri" pitchFamily="34" charset="0"/>
                <a:ea typeface="Calibri" pitchFamily="34" charset="-122"/>
                <a:cs typeface="Calibri" pitchFamily="34" charset="-120"/>
              </a:rPr>
              <a:t>Receivables and days sales outstanding</a:t>
            </a:r>
            <a:endParaRPr lang="en-US" sz="2800" dirty="0"/>
          </a:p>
        </p:txBody>
      </p:sp>
      <p:sp>
        <p:nvSpPr>
          <p:cNvPr id="4" name="Shape 2"/>
          <p:cNvSpPr/>
          <p:nvPr/>
        </p:nvSpPr>
        <p:spPr>
          <a:xfrm>
            <a:off x="502920" y="1463040"/>
            <a:ext cx="1737360" cy="777240"/>
          </a:xfrm>
          <a:prstGeom prst="rect">
            <a:avLst/>
          </a:prstGeom>
          <a:solidFill>
            <a:srgbClr val="F4F4F4"/>
          </a:solidFill>
          <a:ln w="12700">
            <a:solidFill>
              <a:srgbClr val="F4F4F4"/>
            </a:solidFill>
            <a:prstDash val="solid"/>
          </a:ln>
        </p:spPr>
        <p:txBody>
          <a:bodyPr/>
          <a:lstStyle/>
          <a:p>
            <a:endParaRPr lang="en-AU"/>
          </a:p>
        </p:txBody>
      </p:sp>
      <p:sp>
        <p:nvSpPr>
          <p:cNvPr id="5" name="Text 3"/>
          <p:cNvSpPr txBox="1"/>
          <p:nvPr/>
        </p:nvSpPr>
        <p:spPr>
          <a:xfrm>
            <a:off x="640080" y="1554480"/>
            <a:ext cx="1463040" cy="404165"/>
          </a:xfrm>
          <a:prstGeom prst="rect">
            <a:avLst/>
          </a:prstGeom>
          <a:noFill/>
          <a:ln/>
        </p:spPr>
        <p:txBody>
          <a:bodyPr wrap="square" lIns="0" tIns="0" rIns="0" bIns="0" rtlCol="0" anchor="b"/>
          <a:lstStyle/>
          <a:p>
            <a:pPr marL="0" indent="0">
              <a:buNone/>
            </a:pPr>
            <a:r>
              <a:rPr lang="en-US" sz="2200" b="1" dirty="0">
                <a:solidFill>
                  <a:srgbClr val="A8052E"/>
                </a:solidFill>
                <a:latin typeface="Calibri" pitchFamily="34" charset="0"/>
                <a:ea typeface="Calibri" pitchFamily="34" charset="-122"/>
                <a:cs typeface="Calibri" pitchFamily="34" charset="-120"/>
              </a:rPr>
              <a:t>47 days</a:t>
            </a:r>
            <a:endParaRPr lang="en-US" sz="2200" dirty="0"/>
          </a:p>
        </p:txBody>
      </p:sp>
      <p:sp>
        <p:nvSpPr>
          <p:cNvPr id="6" name="Text 4"/>
          <p:cNvSpPr txBox="1"/>
          <p:nvPr/>
        </p:nvSpPr>
        <p:spPr>
          <a:xfrm>
            <a:off x="640080" y="1944929"/>
            <a:ext cx="1463040" cy="264262"/>
          </a:xfrm>
          <a:prstGeom prst="rect">
            <a:avLst/>
          </a:prstGeom>
          <a:noFill/>
          <a:ln/>
        </p:spPr>
        <p:txBody>
          <a:bodyPr wrap="square" lIns="0" tIns="0" rIns="0" bIns="0" rtlCol="0" anchor="t"/>
          <a:lstStyle/>
          <a:p>
            <a:pPr marL="0" indent="0">
              <a:buNone/>
            </a:pPr>
            <a:r>
              <a:rPr lang="en-US" sz="900" dirty="0">
                <a:solidFill>
                  <a:srgbClr val="5F6670"/>
                </a:solidFill>
                <a:latin typeface="Calibri" pitchFamily="34" charset="0"/>
                <a:ea typeface="Calibri" pitchFamily="34" charset="-122"/>
                <a:cs typeface="Calibri" pitchFamily="34" charset="-120"/>
              </a:rPr>
              <a:t>DSO, target 30 days</a:t>
            </a:r>
            <a:endParaRPr lang="en-US" sz="900" dirty="0"/>
          </a:p>
        </p:txBody>
      </p:sp>
      <p:sp>
        <p:nvSpPr>
          <p:cNvPr id="7" name="Shape 5"/>
          <p:cNvSpPr/>
          <p:nvPr/>
        </p:nvSpPr>
        <p:spPr>
          <a:xfrm>
            <a:off x="2377440" y="1463040"/>
            <a:ext cx="1737360" cy="777240"/>
          </a:xfrm>
          <a:prstGeom prst="rect">
            <a:avLst/>
          </a:prstGeom>
          <a:solidFill>
            <a:srgbClr val="F4F4F4"/>
          </a:solidFill>
          <a:ln w="12700">
            <a:solidFill>
              <a:srgbClr val="F4F4F4"/>
            </a:solidFill>
            <a:prstDash val="solid"/>
          </a:ln>
        </p:spPr>
        <p:txBody>
          <a:bodyPr/>
          <a:lstStyle/>
          <a:p>
            <a:endParaRPr lang="en-AU"/>
          </a:p>
        </p:txBody>
      </p:sp>
      <p:sp>
        <p:nvSpPr>
          <p:cNvPr id="8" name="Text 6"/>
          <p:cNvSpPr txBox="1"/>
          <p:nvPr/>
        </p:nvSpPr>
        <p:spPr>
          <a:xfrm>
            <a:off x="2514600" y="1554480"/>
            <a:ext cx="1463040" cy="404165"/>
          </a:xfrm>
          <a:prstGeom prst="rect">
            <a:avLst/>
          </a:prstGeom>
          <a:noFill/>
          <a:ln/>
        </p:spPr>
        <p:txBody>
          <a:bodyPr wrap="square" lIns="0" tIns="0" rIns="0" bIns="0" rtlCol="0" anchor="b"/>
          <a:lstStyle/>
          <a:p>
            <a:pPr marL="0" indent="0">
              <a:buNone/>
            </a:pPr>
            <a:r>
              <a:rPr lang="en-US" sz="2200" b="1" dirty="0">
                <a:solidFill>
                  <a:srgbClr val="1A1A1A"/>
                </a:solidFill>
                <a:latin typeface="Calibri" pitchFamily="34" charset="0"/>
                <a:ea typeface="Calibri" pitchFamily="34" charset="-122"/>
                <a:cs typeface="Calibri" pitchFamily="34" charset="-120"/>
              </a:rPr>
              <a:t>$0.83m</a:t>
            </a:r>
            <a:endParaRPr lang="en-US" sz="2200" dirty="0"/>
          </a:p>
        </p:txBody>
      </p:sp>
      <p:sp>
        <p:nvSpPr>
          <p:cNvPr id="9" name="Text 7"/>
          <p:cNvSpPr txBox="1"/>
          <p:nvPr/>
        </p:nvSpPr>
        <p:spPr>
          <a:xfrm>
            <a:off x="2514600" y="1944929"/>
            <a:ext cx="1463040" cy="264262"/>
          </a:xfrm>
          <a:prstGeom prst="rect">
            <a:avLst/>
          </a:prstGeom>
          <a:noFill/>
          <a:ln/>
        </p:spPr>
        <p:txBody>
          <a:bodyPr wrap="square" lIns="0" tIns="0" rIns="0" bIns="0" rtlCol="0" anchor="t"/>
          <a:lstStyle/>
          <a:p>
            <a:pPr marL="0" indent="0">
              <a:buNone/>
            </a:pPr>
            <a:r>
              <a:rPr lang="en-US" sz="900" dirty="0">
                <a:solidFill>
                  <a:srgbClr val="5F6670"/>
                </a:solidFill>
                <a:latin typeface="Calibri" pitchFamily="34" charset="0"/>
                <a:ea typeface="Calibri" pitchFamily="34" charset="-122"/>
                <a:cs typeface="Calibri" pitchFamily="34" charset="-120"/>
              </a:rPr>
              <a:t>Trade receivables at month end</a:t>
            </a:r>
            <a:endParaRPr lang="en-US" sz="900" dirty="0"/>
          </a:p>
        </p:txBody>
      </p:sp>
      <p:sp>
        <p:nvSpPr>
          <p:cNvPr id="10" name="Shape 8"/>
          <p:cNvSpPr/>
          <p:nvPr/>
        </p:nvSpPr>
        <p:spPr>
          <a:xfrm>
            <a:off x="4251960" y="1463040"/>
            <a:ext cx="1828800" cy="777240"/>
          </a:xfrm>
          <a:prstGeom prst="rect">
            <a:avLst/>
          </a:prstGeom>
          <a:solidFill>
            <a:srgbClr val="F4F4F4"/>
          </a:solidFill>
          <a:ln w="12700">
            <a:solidFill>
              <a:srgbClr val="F4F4F4"/>
            </a:solidFill>
            <a:prstDash val="solid"/>
          </a:ln>
        </p:spPr>
        <p:txBody>
          <a:bodyPr/>
          <a:lstStyle/>
          <a:p>
            <a:endParaRPr lang="en-AU"/>
          </a:p>
        </p:txBody>
      </p:sp>
      <p:sp>
        <p:nvSpPr>
          <p:cNvPr id="11" name="Text 9"/>
          <p:cNvSpPr txBox="1"/>
          <p:nvPr/>
        </p:nvSpPr>
        <p:spPr>
          <a:xfrm>
            <a:off x="4389120" y="1554480"/>
            <a:ext cx="1554480" cy="404165"/>
          </a:xfrm>
          <a:prstGeom prst="rect">
            <a:avLst/>
          </a:prstGeom>
          <a:noFill/>
          <a:ln/>
        </p:spPr>
        <p:txBody>
          <a:bodyPr wrap="square" lIns="0" tIns="0" rIns="0" bIns="0" rtlCol="0" anchor="b"/>
          <a:lstStyle/>
          <a:p>
            <a:pPr marL="0" indent="0">
              <a:buNone/>
            </a:pPr>
            <a:r>
              <a:rPr lang="en-US" sz="2200" b="1" dirty="0">
                <a:solidFill>
                  <a:srgbClr val="A8052E"/>
                </a:solidFill>
                <a:latin typeface="Calibri" pitchFamily="34" charset="0"/>
                <a:ea typeface="Calibri" pitchFamily="34" charset="-122"/>
                <a:cs typeface="Calibri" pitchFamily="34" charset="-120"/>
              </a:rPr>
              <a:t>$25k</a:t>
            </a:r>
            <a:endParaRPr lang="en-US" sz="2200" dirty="0"/>
          </a:p>
        </p:txBody>
      </p:sp>
      <p:sp>
        <p:nvSpPr>
          <p:cNvPr id="12" name="Text 10"/>
          <p:cNvSpPr txBox="1"/>
          <p:nvPr/>
        </p:nvSpPr>
        <p:spPr>
          <a:xfrm>
            <a:off x="4389120" y="1944929"/>
            <a:ext cx="1554480" cy="264262"/>
          </a:xfrm>
          <a:prstGeom prst="rect">
            <a:avLst/>
          </a:prstGeom>
          <a:noFill/>
          <a:ln/>
        </p:spPr>
        <p:txBody>
          <a:bodyPr wrap="square" lIns="0" tIns="0" rIns="0" bIns="0" rtlCol="0" anchor="t"/>
          <a:lstStyle/>
          <a:p>
            <a:pPr marL="0" indent="0">
              <a:buNone/>
            </a:pPr>
            <a:r>
              <a:rPr lang="en-US" sz="900" dirty="0">
                <a:solidFill>
                  <a:srgbClr val="5F6670"/>
                </a:solidFill>
                <a:latin typeface="Calibri" pitchFamily="34" charset="0"/>
                <a:ea typeface="Calibri" pitchFamily="34" charset="-122"/>
                <a:cs typeface="Calibri" pitchFamily="34" charset="-120"/>
              </a:rPr>
              <a:t>Over 60 days</a:t>
            </a:r>
            <a:endParaRPr lang="en-US" sz="900" dirty="0"/>
          </a:p>
        </p:txBody>
      </p:sp>
      <p:sp>
        <p:nvSpPr>
          <p:cNvPr id="13" name="Text 11"/>
          <p:cNvSpPr txBox="1"/>
          <p:nvPr/>
        </p:nvSpPr>
        <p:spPr>
          <a:xfrm>
            <a:off x="502920" y="2377440"/>
            <a:ext cx="2926080" cy="201168"/>
          </a:xfrm>
          <a:prstGeom prst="rect">
            <a:avLst/>
          </a:prstGeom>
          <a:noFill/>
          <a:ln/>
        </p:spPr>
        <p:txBody>
          <a:bodyPr wrap="square" lIns="0" tIns="0" rIns="0" bIns="0" rtlCol="0" anchor="ctr"/>
          <a:lstStyle/>
          <a:p>
            <a:pPr marL="0" indent="0">
              <a:buNone/>
            </a:pPr>
            <a:r>
              <a:rPr lang="en-US" sz="900" b="1" dirty="0">
                <a:solidFill>
                  <a:srgbClr val="5F6670"/>
                </a:solidFill>
                <a:latin typeface="Calibri" pitchFamily="34" charset="0"/>
                <a:ea typeface="Calibri" pitchFamily="34" charset="-122"/>
                <a:cs typeface="Calibri" pitchFamily="34" charset="-120"/>
              </a:rPr>
              <a:t>Aged receivables at 30 September</a:t>
            </a:r>
            <a:endParaRPr lang="en-US" sz="900" dirty="0"/>
          </a:p>
        </p:txBody>
      </p:sp>
      <p:sp>
        <p:nvSpPr>
          <p:cNvPr id="15" name="Text 12"/>
          <p:cNvSpPr txBox="1"/>
          <p:nvPr/>
        </p:nvSpPr>
        <p:spPr>
          <a:xfrm>
            <a:off x="3611880" y="2377440"/>
            <a:ext cx="2468880" cy="201168"/>
          </a:xfrm>
          <a:prstGeom prst="rect">
            <a:avLst/>
          </a:prstGeom>
          <a:noFill/>
          <a:ln/>
        </p:spPr>
        <p:txBody>
          <a:bodyPr wrap="square" lIns="0" tIns="0" rIns="0" bIns="0" rtlCol="0" anchor="ctr"/>
          <a:lstStyle/>
          <a:p>
            <a:pPr marL="0" indent="0">
              <a:buNone/>
            </a:pPr>
            <a:r>
              <a:rPr lang="en-US" sz="900" b="1" dirty="0">
                <a:solidFill>
                  <a:srgbClr val="5F6670"/>
                </a:solidFill>
                <a:latin typeface="Calibri" pitchFamily="34" charset="0"/>
                <a:ea typeface="Calibri" pitchFamily="34" charset="-122"/>
                <a:cs typeface="Calibri" pitchFamily="34" charset="-120"/>
              </a:rPr>
              <a:t>Who owes the most, A$ thousands</a:t>
            </a:r>
            <a:endParaRPr lang="en-US" sz="9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11880" y="2606040"/>
          <a:ext cx="2468880" cy="1664208"/>
        </p:xfrm>
        <a:graphic>
          <a:graphicData uri="http://schemas.openxmlformats.org/drawingml/2006/table">
            <a:tbl>
              <a:tblPr/>
              <a:tblGrid>
                <a:gridCol w="137160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548640">
                  <a:extLst>
                    <a:ext uri="{9D8B030D-6E8A-4147-A177-3AD203B41FA5}">
                      <a16:colId xmlns:a16="http://schemas.microsoft.com/office/drawing/2014/main" val="20002"/>
                    </a:ext>
                  </a:extLst>
                </a:gridCol>
              </a:tblGrid>
              <a:tr h="237744">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Customer</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850" b="1" dirty="0">
                          <a:solidFill>
                            <a:srgbClr val="FFFFFF"/>
                          </a:solidFill>
                          <a:latin typeface="Calibri" pitchFamily="34" charset="0"/>
                          <a:ea typeface="Calibri" pitchFamily="34" charset="-122"/>
                          <a:cs typeface="Calibri" pitchFamily="34" charset="-120"/>
                        </a:rPr>
                        <a:t>A$k</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850" b="1" dirty="0">
                          <a:solidFill>
                            <a:srgbClr val="FFFFFF"/>
                          </a:solidFill>
                          <a:latin typeface="Calibri" pitchFamily="34" charset="0"/>
                          <a:ea typeface="Calibri" pitchFamily="34" charset="-122"/>
                          <a:cs typeface="Calibri" pitchFamily="34" charset="-120"/>
                        </a:rPr>
                        <a:t>Share</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extLst>
                  <a:ext uri="{0D108BD9-81ED-4DB2-BD59-A6C34878D82A}">
                    <a16:rowId xmlns:a16="http://schemas.microsoft.com/office/drawing/2014/main" val="10000"/>
                  </a:ext>
                </a:extLst>
              </a:tr>
              <a:tr h="237744">
                <a:tc>
                  <a:txBody>
                    <a:bodyPr/>
                    <a:lstStyle/>
                    <a:p>
                      <a:pPr marL="0" indent="0" algn="l">
                        <a:buNone/>
                      </a:pPr>
                      <a:r>
                        <a:rPr lang="en-US" sz="900" dirty="0">
                          <a:solidFill>
                            <a:srgbClr val="1A1A1A"/>
                          </a:solidFill>
                          <a:latin typeface="Calibri" pitchFamily="34" charset="0"/>
                          <a:ea typeface="Calibri" pitchFamily="34" charset="-122"/>
                          <a:cs typeface="Calibri" pitchFamily="34" charset="-120"/>
                        </a:rPr>
                        <a:t>Aware Super</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277</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33.3%</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237744">
                <a:tc>
                  <a:txBody>
                    <a:bodyPr/>
                    <a:lstStyle/>
                    <a:p>
                      <a:pPr marL="0" indent="0" algn="l">
                        <a:buNone/>
                      </a:pPr>
                      <a:r>
                        <a:rPr lang="en-US" sz="900" dirty="0">
                          <a:solidFill>
                            <a:srgbClr val="1A1A1A"/>
                          </a:solidFill>
                          <a:latin typeface="Calibri" pitchFamily="34" charset="0"/>
                          <a:ea typeface="Calibri" pitchFamily="34" charset="-122"/>
                          <a:cs typeface="Calibri" pitchFamily="34" charset="-120"/>
                        </a:rPr>
                        <a:t>Deloitte Services</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132</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15.8%</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237744">
                <a:tc>
                  <a:txBody>
                    <a:bodyPr/>
                    <a:lstStyle/>
                    <a:p>
                      <a:pPr marL="0" indent="0" algn="l">
                        <a:buNone/>
                      </a:pPr>
                      <a:r>
                        <a:rPr lang="en-US" sz="900" dirty="0">
                          <a:solidFill>
                            <a:srgbClr val="1A1A1A"/>
                          </a:solidFill>
                          <a:latin typeface="Calibri" pitchFamily="34" charset="0"/>
                          <a:ea typeface="Calibri" pitchFamily="34" charset="-122"/>
                          <a:cs typeface="Calibri" pitchFamily="34" charset="-120"/>
                        </a:rPr>
                        <a:t>Ventia</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95</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11.4%</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237744">
                <a:tc>
                  <a:txBody>
                    <a:bodyPr/>
                    <a:lstStyle/>
                    <a:p>
                      <a:pPr marL="0" indent="0" algn="l">
                        <a:buNone/>
                      </a:pPr>
                      <a:r>
                        <a:rPr lang="en-US" sz="900" dirty="0">
                          <a:solidFill>
                            <a:srgbClr val="1A1A1A"/>
                          </a:solidFill>
                          <a:latin typeface="Calibri" pitchFamily="34" charset="0"/>
                          <a:ea typeface="Calibri" pitchFamily="34" charset="-122"/>
                          <a:cs typeface="Calibri" pitchFamily="34" charset="-120"/>
                        </a:rPr>
                        <a:t>Downer EDI</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40</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4.8%</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237744">
                <a:tc>
                  <a:txBody>
                    <a:bodyPr/>
                    <a:lstStyle/>
                    <a:p>
                      <a:pPr marL="0" indent="0" algn="l">
                        <a:buNone/>
                      </a:pPr>
                      <a:r>
                        <a:rPr lang="en-US" sz="900" dirty="0">
                          <a:solidFill>
                            <a:srgbClr val="1A1A1A"/>
                          </a:solidFill>
                          <a:latin typeface="Calibri" pitchFamily="34" charset="0"/>
                          <a:ea typeface="Calibri" pitchFamily="34" charset="-122"/>
                          <a:cs typeface="Calibri" pitchFamily="34" charset="-120"/>
                        </a:rPr>
                        <a:t>Generation-e</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39</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4.7%</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r h="237744">
                <a:tc>
                  <a:txBody>
                    <a:bodyPr/>
                    <a:lstStyle/>
                    <a:p>
                      <a:pPr marL="0" indent="0" algn="l">
                        <a:buNone/>
                      </a:pPr>
                      <a:r>
                        <a:rPr lang="en-US" sz="900" b="1" dirty="0">
                          <a:solidFill>
                            <a:srgbClr val="1A1A1A"/>
                          </a:solidFill>
                          <a:latin typeface="Calibri" pitchFamily="34" charset="0"/>
                          <a:ea typeface="Calibri" pitchFamily="34" charset="-122"/>
                          <a:cs typeface="Calibri" pitchFamily="34" charset="-120"/>
                        </a:rPr>
                        <a:t>All others</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00" b="1" dirty="0">
                          <a:solidFill>
                            <a:srgbClr val="1A1A1A"/>
                          </a:solidFill>
                          <a:latin typeface="Calibri" pitchFamily="34" charset="0"/>
                          <a:ea typeface="Calibri" pitchFamily="34" charset="-122"/>
                          <a:cs typeface="Calibri" pitchFamily="34" charset="-120"/>
                        </a:rPr>
                        <a:t>251</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00" b="1" dirty="0">
                          <a:solidFill>
                            <a:srgbClr val="1A1A1A"/>
                          </a:solidFill>
                          <a:latin typeface="Calibri" pitchFamily="34" charset="0"/>
                          <a:ea typeface="Calibri" pitchFamily="34" charset="-122"/>
                          <a:cs typeface="Calibri" pitchFamily="34" charset="-120"/>
                        </a:rPr>
                        <a:t>30.0%</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extLst>
                  <a:ext uri="{0D108BD9-81ED-4DB2-BD59-A6C34878D82A}">
                    <a16:rowId xmlns:a16="http://schemas.microsoft.com/office/drawing/2014/main" val="10006"/>
                  </a:ext>
                </a:extLst>
              </a:tr>
            </a:tbl>
          </a:graphicData>
        </a:graphic>
      </p:graphicFrame>
      <p:sp>
        <p:nvSpPr>
          <p:cNvPr id="17" name="Text 13"/>
          <p:cNvSpPr txBox="1"/>
          <p:nvPr/>
        </p:nvSpPr>
        <p:spPr>
          <a:xfrm>
            <a:off x="3611880" y="4343400"/>
            <a:ext cx="2468880" cy="274320"/>
          </a:xfrm>
          <a:prstGeom prst="rect">
            <a:avLst/>
          </a:prstGeom>
          <a:noFill/>
          <a:ln/>
        </p:spPr>
        <p:txBody>
          <a:bodyPr wrap="square" lIns="0" tIns="0" rIns="0" bIns="0" rtlCol="0" anchor="ctr"/>
          <a:lstStyle/>
          <a:p>
            <a:pPr marL="0" indent="0">
              <a:buNone/>
            </a:pPr>
            <a:r>
              <a:rPr lang="en-US" sz="800" dirty="0">
                <a:solidFill>
                  <a:srgbClr val="5F6670"/>
                </a:solidFill>
                <a:latin typeface="Calibri" pitchFamily="34" charset="0"/>
                <a:ea typeface="Calibri" pitchFamily="34" charset="-122"/>
                <a:cs typeface="Calibri" pitchFamily="34" charset="-120"/>
              </a:rPr>
              <a:t>DSO = receivables / (last three months revenue / 92 days). Source: Xero aged receivables at 30 September 2026.</a:t>
            </a:r>
            <a:endParaRPr lang="en-US" sz="800" dirty="0"/>
          </a:p>
        </p:txBody>
      </p:sp>
      <p:sp>
        <p:nvSpPr>
          <p:cNvPr id="18" name="Shape 14"/>
          <p:cNvSpPr/>
          <p:nvPr/>
        </p:nvSpPr>
        <p:spPr>
          <a:xfrm>
            <a:off x="6263640" y="1463040"/>
            <a:ext cx="2377440" cy="3154680"/>
          </a:xfrm>
          <a:prstGeom prst="rect">
            <a:avLst/>
          </a:prstGeom>
          <a:solidFill>
            <a:srgbClr val="E8F9F8"/>
          </a:solidFill>
          <a:ln w="12700">
            <a:solidFill>
              <a:srgbClr val="E8F9F8"/>
            </a:solidFill>
            <a:prstDash val="solid"/>
          </a:ln>
        </p:spPr>
        <p:txBody>
          <a:bodyPr/>
          <a:lstStyle/>
          <a:p>
            <a:endParaRPr lang="en-AU"/>
          </a:p>
        </p:txBody>
      </p:sp>
      <p:sp>
        <p:nvSpPr>
          <p:cNvPr id="19" name="Text 15"/>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200" dirty="0">
                <a:solidFill>
                  <a:srgbClr val="005358"/>
                </a:solidFill>
                <a:latin typeface="Calibri" pitchFamily="34" charset="0"/>
                <a:ea typeface="Calibri" pitchFamily="34" charset="-122"/>
                <a:cs typeface="Calibri" pitchFamily="34" charset="-120"/>
              </a:rPr>
              <a:t>COMMENTARY</a:t>
            </a:r>
            <a:endParaRPr lang="en-US" sz="900" dirty="0"/>
          </a:p>
        </p:txBody>
      </p:sp>
      <p:sp>
        <p:nvSpPr>
          <p:cNvPr id="20" name="Text 16"/>
          <p:cNvSpPr txBox="1"/>
          <p:nvPr/>
        </p:nvSpPr>
        <p:spPr>
          <a:xfrm>
            <a:off x="6446520" y="1901952"/>
            <a:ext cx="2011680" cy="260604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DSO is 47.5 days against a 30 day target.</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Every day of DSO is 17.7k of cash. Seventeen days is 309k.</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309k sits in debtors against net debt of 723k. Fastest cash lever we have.</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Aware Super is 277k of the 833k, on one invoice due 9 October.</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Two invoices over 90 days, 25k. Chase or provide this month.</a:t>
            </a:r>
            <a:endParaRPr lang="en-US" sz="105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10</a:t>
            </a:fld>
            <a:endParaRPr lang="en-US"/>
          </a:p>
        </p:txBody>
      </p:sp>
      <p:pic>
        <p:nvPicPr>
          <p:cNvPr id="26" name="Picture 25" descr="ageing.png"/>
          <p:cNvPicPr>
            <a:picLocks noChangeAspect="1"/>
          </p:cNvPicPr>
          <p:nvPr/>
        </p:nvPicPr>
        <p:blipFill>
          <a:blip r:embed="rId4"/>
          <a:stretch>
            <a:fillRect/>
          </a:stretch>
        </p:blipFill>
        <p:spPr>
          <a:xfrm>
            <a:off x="508450" y="2560320"/>
            <a:ext cx="2915020" cy="20574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CUSTOMERS AND CASH</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1A1A1A"/>
                </a:solidFill>
                <a:latin typeface="Calibri" pitchFamily="34" charset="0"/>
                <a:ea typeface="Calibri" pitchFamily="34" charset="-122"/>
                <a:cs typeface="Calibri" pitchFamily="34" charset="-120"/>
              </a:rPr>
              <a:t>Top customers, FY27 vs FY26 year to date</a:t>
            </a:r>
            <a:endParaRPr lang="en-US" sz="2800" dirty="0"/>
          </a:p>
        </p:txBody>
      </p:sp>
      <p:sp>
        <p:nvSpPr>
          <p:cNvPr id="5" name="Text 2"/>
          <p:cNvSpPr txBox="1"/>
          <p:nvPr/>
        </p:nvSpPr>
        <p:spPr>
          <a:xfrm>
            <a:off x="502920" y="4343400"/>
            <a:ext cx="5577840" cy="274320"/>
          </a:xfrm>
          <a:prstGeom prst="rect">
            <a:avLst/>
          </a:prstGeom>
          <a:noFill/>
          <a:ln/>
        </p:spPr>
        <p:txBody>
          <a:bodyPr wrap="square" lIns="0" tIns="0" rIns="0" bIns="0" rtlCol="0" anchor="ctr"/>
          <a:lstStyle/>
          <a:p>
            <a:pPr marL="0" indent="0">
              <a:buNone/>
            </a:pPr>
            <a:r>
              <a:rPr lang="en-US" sz="800" dirty="0">
                <a:solidFill>
                  <a:srgbClr val="5F6670"/>
                </a:solidFill>
                <a:latin typeface="Calibri" pitchFamily="34" charset="0"/>
                <a:ea typeface="Calibri" pitchFamily="34" charset="-122"/>
                <a:cs typeface="Calibri" pitchFamily="34" charset="-120"/>
              </a:rPr>
              <a:t>FY27 is earned revenue from the Xero general ledger, ex GST. FY26 is invoices issued in the same period from Xero, ex GST. Ranked by this year.</a:t>
            </a:r>
            <a:endParaRPr lang="en-US" sz="800" dirty="0"/>
          </a:p>
        </p:txBody>
      </p:sp>
      <p:sp>
        <p:nvSpPr>
          <p:cNvPr id="6" name="Shape 3"/>
          <p:cNvSpPr/>
          <p:nvPr/>
        </p:nvSpPr>
        <p:spPr>
          <a:xfrm>
            <a:off x="6263640" y="1463040"/>
            <a:ext cx="2377440" cy="3154680"/>
          </a:xfrm>
          <a:prstGeom prst="rect">
            <a:avLst/>
          </a:prstGeom>
          <a:solidFill>
            <a:srgbClr val="E8F9F8"/>
          </a:solidFill>
          <a:ln w="12700">
            <a:solidFill>
              <a:srgbClr val="E8F9F8"/>
            </a:solidFill>
            <a:prstDash val="solid"/>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200" dirty="0">
                <a:solidFill>
                  <a:srgbClr val="005358"/>
                </a:solidFill>
                <a:latin typeface="Calibri" pitchFamily="34" charset="0"/>
                <a:ea typeface="Calibri" pitchFamily="34" charset="-122"/>
                <a:cs typeface="Calibri" pitchFamily="34" charset="-120"/>
              </a:rPr>
              <a:t>COMMENTARY</a:t>
            </a:r>
            <a:endParaRPr lang="en-US" sz="900" dirty="0"/>
          </a:p>
        </p:txBody>
      </p:sp>
      <p:sp>
        <p:nvSpPr>
          <p:cNvPr id="8" name="Text 5"/>
          <p:cNvSpPr txBox="1"/>
          <p:nvPr/>
        </p:nvSpPr>
        <p:spPr>
          <a:xfrm>
            <a:off x="6446520" y="1901952"/>
            <a:ext cx="2011680" cy="260604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All the growth is three new customers. The base we had is flat.</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Aware Super, Data#3 and Generation-e are 368k and none existed last year.</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On the existing base, gains of 146k against losses of 50k.</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ASX is down a third. That is a relationship to repair, not a market shift.</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If the three new names do not repeat, FY28 opens 368k behind.</a:t>
            </a:r>
            <a:endParaRPr lang="en-US" sz="105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11</a:t>
            </a:fld>
            <a:endParaRPr lang="en-US"/>
          </a:p>
        </p:txBody>
      </p:sp>
      <p:pic>
        <p:nvPicPr>
          <p:cNvPr id="26" name="Picture 25" descr="yoy.png"/>
          <p:cNvPicPr>
            <a:picLocks noChangeAspect="1"/>
          </p:cNvPicPr>
          <p:nvPr/>
        </p:nvPicPr>
        <p:blipFill>
          <a:blip r:embed="rId4"/>
          <a:stretch>
            <a:fillRect/>
          </a:stretch>
        </p:blipFill>
        <p:spPr>
          <a:xfrm>
            <a:off x="565724" y="1463040"/>
            <a:ext cx="5452232" cy="283464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3"/>
          <p:cNvSpPr>
            <a:spLocks noGrp="1"/>
          </p:cNvSpPr>
          <p:nvPr>
            <p:ph type="body" idx="104" hasCustomPrompt="1"/>
          </p:nvPr>
        </p:nvSpPr>
        <p:spPr>
          <a:xfrm>
            <a:off x="502920" y="1874520"/>
            <a:ext cx="1280160" cy="1280160"/>
          </a:xfrm>
          <a:prstGeom prst="rect">
            <a:avLst/>
          </a:prstGeom>
          <a:noFill/>
          <a:ln/>
        </p:spPr>
        <p:txBody>
          <a:bodyPr wrap="square" lIns="0" tIns="0" rIns="0" bIns="0" rtlCol="0" anchor="ctr"/>
          <a:lstStyle/>
          <a:p>
            <a:pPr marL="0" indent="0" algn="ctr">
              <a:buNone/>
            </a:pPr>
            <a:r>
              <a:rPr lang="en-US" sz="4800" b="1" dirty="0">
                <a:solidFill>
                  <a:srgbClr val="1A1A1A"/>
                </a:solidFill>
                <a:latin typeface="Calibri" pitchFamily="34" charset="0"/>
                <a:ea typeface="Calibri" pitchFamily="34" charset="-122"/>
                <a:cs typeface="Calibri" pitchFamily="34" charset="-120"/>
              </a:rPr>
              <a:t>03</a:t>
            </a:r>
            <a:endParaRPr lang="en-US" sz="4800" dirty="0"/>
          </a:p>
        </p:txBody>
      </p:sp>
      <p:sp>
        <p:nvSpPr>
          <p:cNvPr id="3" name="Text 3"/>
          <p:cNvSpPr>
            <a:spLocks noGrp="1"/>
          </p:cNvSpPr>
          <p:nvPr>
            <p:ph type="title" idx="105" hasCustomPrompt="1"/>
          </p:nvPr>
        </p:nvSpPr>
        <p:spPr>
          <a:xfrm>
            <a:off x="2103120" y="1874520"/>
            <a:ext cx="6035040" cy="822960"/>
          </a:xfrm>
          <a:prstGeom prst="rect">
            <a:avLst/>
          </a:prstGeom>
          <a:noFill/>
          <a:ln/>
        </p:spPr>
        <p:txBody>
          <a:bodyPr wrap="square" lIns="0" tIns="0" rIns="0" bIns="0" rtlCol="0" anchor="b"/>
          <a:lstStyle/>
          <a:p>
            <a:pPr marL="0" indent="0" algn="l">
              <a:buNone/>
            </a:pPr>
            <a:r>
              <a:rPr lang="en-US" sz="3600" b="1" dirty="0">
                <a:solidFill>
                  <a:srgbClr val="FFFFFF"/>
                </a:solidFill>
                <a:latin typeface="Calibri" pitchFamily="34" charset="0"/>
                <a:ea typeface="Calibri" pitchFamily="34" charset="-122"/>
                <a:cs typeface="Calibri" pitchFamily="34" charset="-120"/>
              </a:rPr>
              <a:t>People and utilisation</a:t>
            </a:r>
            <a:endParaRPr lang="en-US" sz="3600" dirty="0"/>
          </a:p>
        </p:txBody>
      </p:sp>
      <p:sp>
        <p:nvSpPr>
          <p:cNvPr id="4" name="Text 3"/>
          <p:cNvSpPr>
            <a:spLocks noGrp="1"/>
          </p:cNvSpPr>
          <p:nvPr>
            <p:ph type="body" idx="106" hasCustomPrompt="1"/>
          </p:nvPr>
        </p:nvSpPr>
        <p:spPr>
          <a:xfrm>
            <a:off x="2103120" y="2724912"/>
            <a:ext cx="6035040" cy="457200"/>
          </a:xfrm>
          <a:prstGeom prst="rect">
            <a:avLst/>
          </a:prstGeom>
          <a:noFill/>
          <a:ln/>
        </p:spPr>
        <p:txBody>
          <a:bodyPr wrap="square" lIns="0" tIns="0" rIns="0" bIns="0" rtlCol="0" anchor="t"/>
          <a:lstStyle/>
          <a:p>
            <a:pPr marL="0" indent="0">
              <a:buNone/>
            </a:pPr>
            <a:r>
              <a:rPr lang="en-US" sz="1600" dirty="0">
                <a:solidFill>
                  <a:srgbClr val="C9CED6"/>
                </a:solidFill>
                <a:latin typeface="Calibri" pitchFamily="34" charset="0"/>
                <a:ea typeface="Calibri" pitchFamily="34" charset="-122"/>
                <a:cs typeface="Calibri" pitchFamily="34" charset="-120"/>
              </a:rPr>
              <a:t>Chargeable hours, utilisation and the profit they produce</a:t>
            </a:r>
            <a:endParaRPr lang="en-US" sz="16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C9CED6"/>
                </a:solidFill>
                <a:latin typeface="Calibri"/>
                <a:ea typeface="Calibri"/>
                <a:cs typeface="Calibri"/>
              </a:defRPr>
            </a:lvl1pPr>
          </a:lstStyle>
          <a:p>
            <a:pPr algn="r"/>
            <a:fld id="{F7021451-1387-4CA6-816F-3879F97B5CBC}" type="slidenum">
              <a:rPr lang="en-US" b="0"/>
              <a:t>12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PEOPLE AND UTILISATION</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1A1A1A"/>
                </a:solidFill>
                <a:latin typeface="Calibri" pitchFamily="34" charset="0"/>
                <a:ea typeface="Calibri" pitchFamily="34" charset="-122"/>
                <a:cs typeface="Calibri" pitchFamily="34" charset="-120"/>
              </a:rPr>
              <a:t>Utilisation by department, Sep 26</a:t>
            </a:r>
            <a:endParaRPr lang="en-US" sz="2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5577840" cy="1664208"/>
        </p:xfrm>
        <a:graphic>
          <a:graphicData uri="http://schemas.openxmlformats.org/drawingml/2006/table">
            <a:tbl>
              <a:tblPr/>
              <a:tblGrid>
                <a:gridCol w="1051560">
                  <a:extLst>
                    <a:ext uri="{9D8B030D-6E8A-4147-A177-3AD203B41FA5}">
                      <a16:colId xmlns:a16="http://schemas.microsoft.com/office/drawing/2014/main" val="20000"/>
                    </a:ext>
                  </a:extLst>
                </a:gridCol>
                <a:gridCol w="457200">
                  <a:extLst>
                    <a:ext uri="{9D8B030D-6E8A-4147-A177-3AD203B41FA5}">
                      <a16:colId xmlns:a16="http://schemas.microsoft.com/office/drawing/2014/main" val="20001"/>
                    </a:ext>
                  </a:extLst>
                </a:gridCol>
                <a:gridCol w="777240">
                  <a:extLst>
                    <a:ext uri="{9D8B030D-6E8A-4147-A177-3AD203B41FA5}">
                      <a16:colId xmlns:a16="http://schemas.microsoft.com/office/drawing/2014/main" val="20002"/>
                    </a:ext>
                  </a:extLst>
                </a:gridCol>
                <a:gridCol w="868680">
                  <a:extLst>
                    <a:ext uri="{9D8B030D-6E8A-4147-A177-3AD203B41FA5}">
                      <a16:colId xmlns:a16="http://schemas.microsoft.com/office/drawing/2014/main" val="20003"/>
                    </a:ext>
                  </a:extLst>
                </a:gridCol>
                <a:gridCol w="594360">
                  <a:extLst>
                    <a:ext uri="{9D8B030D-6E8A-4147-A177-3AD203B41FA5}">
                      <a16:colId xmlns:a16="http://schemas.microsoft.com/office/drawing/2014/main" val="20004"/>
                    </a:ext>
                  </a:extLst>
                </a:gridCol>
                <a:gridCol w="640080">
                  <a:extLst>
                    <a:ext uri="{9D8B030D-6E8A-4147-A177-3AD203B41FA5}">
                      <a16:colId xmlns:a16="http://schemas.microsoft.com/office/drawing/2014/main" val="20005"/>
                    </a:ext>
                  </a:extLst>
                </a:gridCol>
                <a:gridCol w="594360">
                  <a:extLst>
                    <a:ext uri="{9D8B030D-6E8A-4147-A177-3AD203B41FA5}">
                      <a16:colId xmlns:a16="http://schemas.microsoft.com/office/drawing/2014/main" val="20006"/>
                    </a:ext>
                  </a:extLst>
                </a:gridCol>
                <a:gridCol w="594360">
                  <a:extLst>
                    <a:ext uri="{9D8B030D-6E8A-4147-A177-3AD203B41FA5}">
                      <a16:colId xmlns:a16="http://schemas.microsoft.com/office/drawing/2014/main" val="20007"/>
                    </a:ext>
                  </a:extLst>
                </a:gridCol>
              </a:tblGrid>
              <a:tr h="237744">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September</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FTE</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Chargeable</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Non-chargeable</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Leave</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Chg %</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Prior</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vs target</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extLst>
                  <a:ext uri="{0D108BD9-81ED-4DB2-BD59-A6C34878D82A}">
                    <a16:rowId xmlns:a16="http://schemas.microsoft.com/office/drawing/2014/main" val="10000"/>
                  </a:ext>
                </a:extLst>
              </a:tr>
              <a:tr h="237744">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Support</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12.2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2,132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218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b="1" dirty="0">
                          <a:solidFill>
                            <a:srgbClr val="005358"/>
                          </a:solidFill>
                          <a:latin typeface="Calibri" pitchFamily="34" charset="0"/>
                          <a:ea typeface="Calibri" pitchFamily="34" charset="-122"/>
                          <a:cs typeface="Calibri" pitchFamily="34" charset="-120"/>
                        </a:rPr>
                        <a:t>99.5%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237744">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Events</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240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249</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333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b="1" dirty="0">
                          <a:solidFill>
                            <a:srgbClr val="A8052E"/>
                          </a:solidFill>
                          <a:latin typeface="Calibri" pitchFamily="34" charset="0"/>
                          <a:ea typeface="Calibri" pitchFamily="34" charset="-122"/>
                          <a:cs typeface="Calibri" pitchFamily="34" charset="-120"/>
                        </a:rPr>
                        <a:t>49.1%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237744">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Video</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0.2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b="1" dirty="0">
                          <a:solidFill>
                            <a:srgbClr val="A8052E"/>
                          </a:solidFill>
                          <a:latin typeface="Calibri" pitchFamily="34" charset="0"/>
                          <a:ea typeface="Calibri" pitchFamily="34" charset="-122"/>
                          <a:cs typeface="Calibri" pitchFamily="34" charset="-120"/>
                        </a:rPr>
                        <a:t>76.0%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237744">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Integration</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0.1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b="1" dirty="0">
                          <a:solidFill>
                            <a:srgbClr val="A8052E"/>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237744">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Consulting</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0.7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31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84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53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b="1" dirty="0">
                          <a:solidFill>
                            <a:srgbClr val="A8052E"/>
                          </a:solidFill>
                          <a:latin typeface="Calibri" pitchFamily="34" charset="0"/>
                          <a:ea typeface="Calibri" pitchFamily="34" charset="-122"/>
                          <a:cs typeface="Calibri" pitchFamily="34" charset="-120"/>
                        </a:rPr>
                        <a:t>26.8%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r h="237744">
                <a:tc>
                  <a:txBody>
                    <a:bodyPr/>
                    <a:lstStyle/>
                    <a:p>
                      <a:pPr marL="0" indent="0" algn="l">
                        <a:buNone/>
                      </a:pPr>
                      <a:r>
                        <a:rPr lang="en-US" sz="950" b="1" dirty="0">
                          <a:solidFill>
                            <a:srgbClr val="1A1A1A"/>
                          </a:solidFill>
                          <a:latin typeface="Calibri" pitchFamily="34" charset="0"/>
                          <a:ea typeface="Calibri" pitchFamily="34" charset="-122"/>
                          <a:cs typeface="Calibri" pitchFamily="34" charset="-120"/>
                        </a:rPr>
                        <a:t>CTS</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15.8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2,437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366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604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A8052E"/>
                          </a:solidFill>
                          <a:latin typeface="Calibri" pitchFamily="34" charset="0"/>
                          <a:ea typeface="Calibri" pitchFamily="34" charset="-122"/>
                          <a:cs typeface="Calibri" pitchFamily="34" charset="-120"/>
                        </a:rPr>
                        <a:t>87.0%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A8052E"/>
                          </a:solidFill>
                          <a:latin typeface="Calibri" pitchFamily="34" charset="0"/>
                          <a:ea typeface="Calibri" pitchFamily="34" charset="-122"/>
                          <a:cs typeface="Calibri" pitchFamily="34" charset="-120"/>
                        </a:rPr>
                        <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extLst>
                  <a:ext uri="{0D108BD9-81ED-4DB2-BD59-A6C34878D82A}">
                    <a16:rowId xmlns:a16="http://schemas.microsoft.com/office/drawing/2014/main" val="10006"/>
                  </a:ext>
                </a:extLst>
              </a:tr>
            </a:tbl>
          </a:graphicData>
        </a:graphic>
      </p:graphicFrame>
      <p:sp>
        <p:nvSpPr>
          <p:cNvPr id="7" name="Shape 2"/>
          <p:cNvSpPr/>
          <p:nvPr/>
        </p:nvSpPr>
        <p:spPr>
          <a:xfrm>
            <a:off x="6263640" y="1463040"/>
            <a:ext cx="2377440" cy="3154680"/>
          </a:xfrm>
          <a:prstGeom prst="rect">
            <a:avLst/>
          </a:prstGeom>
          <a:solidFill>
            <a:srgbClr val="E8F9F8"/>
          </a:solidFill>
          <a:ln w="12700">
            <a:solidFill>
              <a:srgbClr val="E8F9F8"/>
            </a:solidFill>
            <a:prstDash val="solid"/>
          </a:ln>
        </p:spPr>
        <p:txBody>
          <a:bodyPr/>
          <a:lstStyle/>
          <a:p>
            <a:endParaRPr lang="en-AU"/>
          </a:p>
        </p:txBody>
      </p:sp>
      <p:sp>
        <p:nvSpPr>
          <p:cNvPr id="8" name="Text 3"/>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200" dirty="0">
                <a:solidFill>
                  <a:srgbClr val="005358"/>
                </a:solidFill>
                <a:latin typeface="Calibri" pitchFamily="34" charset="0"/>
                <a:ea typeface="Calibri" pitchFamily="34" charset="-122"/>
                <a:cs typeface="Calibri" pitchFamily="34" charset="-120"/>
              </a:rPr>
              <a:t>COMMENTARY</a:t>
            </a:r>
            <a:endParaRPr lang="en-US" sz="900" dirty="0"/>
          </a:p>
        </p:txBody>
      </p:sp>
      <p:sp>
        <p:nvSpPr>
          <p:cNvPr id="9" name="Text 4"/>
          <p:cNvSpPr txBox="1"/>
          <p:nvPr/>
        </p:nvSpPr>
        <p:spPr>
          <a:xfrm>
            <a:off x="6446520" y="1901952"/>
            <a:ext cx="2011680" cy="260604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Support records 11 non-chargeable hours in a month. That is not credible.</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Until it is fixed the 99.5 per cent means nothing, and nor does the target.</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Events is at 49 per cent with 333 hours of leave. Capacity is sitting idle.</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Consulting at 27 per cent confirms there is no fee base to utilise.</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Hours are split by the job, the same basis revenue is split on.</a:t>
            </a:r>
            <a:endParaRPr lang="en-US" sz="105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13</a:t>
            </a:fld>
            <a:endParaRPr lang="en-US"/>
          </a:p>
        </p:txBody>
      </p:sp>
      <p:pic>
        <p:nvPicPr>
          <p:cNvPr id="26" name="Picture 25" descr="util.png"/>
          <p:cNvPicPr>
            <a:picLocks noChangeAspect="1"/>
          </p:cNvPicPr>
          <p:nvPr/>
        </p:nvPicPr>
        <p:blipFill>
          <a:blip r:embed="rId4"/>
          <a:stretch>
            <a:fillRect/>
          </a:stretch>
        </p:blipFill>
        <p:spPr>
          <a:xfrm>
            <a:off x="502920" y="3675887"/>
            <a:ext cx="5577840" cy="9144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PEOPLE AND UTILISATION</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1A1A1A"/>
                </a:solidFill>
                <a:latin typeface="Calibri" pitchFamily="34" charset="0"/>
                <a:ea typeface="Calibri" pitchFamily="34" charset="-122"/>
                <a:cs typeface="Calibri" pitchFamily="34" charset="-120"/>
              </a:rPr>
              <a:t>Profit based on utilisation</a:t>
            </a:r>
            <a:endParaRPr lang="en-US" sz="28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5577840" cy="1740408"/>
        </p:xfrm>
        <a:graphic>
          <a:graphicData uri="http://schemas.openxmlformats.org/drawingml/2006/table">
            <a:tbl>
              <a:tblPr/>
              <a:tblGrid>
                <a:gridCol w="91440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gridCol w="502920">
                  <a:extLst>
                    <a:ext uri="{9D8B030D-6E8A-4147-A177-3AD203B41FA5}">
                      <a16:colId xmlns:a16="http://schemas.microsoft.com/office/drawing/2014/main" val="20003"/>
                    </a:ext>
                  </a:extLst>
                </a:gridCol>
                <a:gridCol w="731520">
                  <a:extLst>
                    <a:ext uri="{9D8B030D-6E8A-4147-A177-3AD203B41FA5}">
                      <a16:colId xmlns:a16="http://schemas.microsoft.com/office/drawing/2014/main" val="20004"/>
                    </a:ext>
                  </a:extLst>
                </a:gridCol>
                <a:gridCol w="685800">
                  <a:extLst>
                    <a:ext uri="{9D8B030D-6E8A-4147-A177-3AD203B41FA5}">
                      <a16:colId xmlns:a16="http://schemas.microsoft.com/office/drawing/2014/main" val="20005"/>
                    </a:ext>
                  </a:extLst>
                </a:gridCol>
                <a:gridCol w="640080">
                  <a:extLst>
                    <a:ext uri="{9D8B030D-6E8A-4147-A177-3AD203B41FA5}">
                      <a16:colId xmlns:a16="http://schemas.microsoft.com/office/drawing/2014/main" val="20006"/>
                    </a:ext>
                  </a:extLst>
                </a:gridCol>
                <a:gridCol w="457200">
                  <a:extLst>
                    <a:ext uri="{9D8B030D-6E8A-4147-A177-3AD203B41FA5}">
                      <a16:colId xmlns:a16="http://schemas.microsoft.com/office/drawing/2014/main" val="20007"/>
                    </a:ext>
                  </a:extLst>
                </a:gridCol>
                <a:gridCol w="457200">
                  <a:extLst>
                    <a:ext uri="{9D8B030D-6E8A-4147-A177-3AD203B41FA5}">
                      <a16:colId xmlns:a16="http://schemas.microsoft.com/office/drawing/2014/main" val="20008"/>
                    </a:ext>
                  </a:extLst>
                </a:gridCol>
              </a:tblGrid>
              <a:tr h="43510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September</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850" b="1" dirty="0">
                          <a:solidFill>
                            <a:srgbClr val="FFFFFF"/>
                          </a:solidFill>
                          <a:latin typeface="Calibri" pitchFamily="34" charset="0"/>
                          <a:ea typeface="Calibri" pitchFamily="34" charset="-122"/>
                          <a:cs typeface="Calibri" pitchFamily="34" charset="-120"/>
                        </a:rPr>
                        <a:t>Chg %</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850" b="1" dirty="0">
                          <a:solidFill>
                            <a:srgbClr val="FFFFFF"/>
                          </a:solidFill>
                          <a:latin typeface="Calibri" pitchFamily="34" charset="0"/>
                          <a:ea typeface="Calibri" pitchFamily="34" charset="-122"/>
                          <a:cs typeface="Calibri" pitchFamily="34" charset="-120"/>
                        </a:rPr>
                        <a:t>Chg hrs</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850" b="1" dirty="0">
                          <a:solidFill>
                            <a:srgbClr val="FFFFFF"/>
                          </a:solidFill>
                          <a:latin typeface="Calibri" pitchFamily="34" charset="0"/>
                          <a:ea typeface="Calibri" pitchFamily="34" charset="-122"/>
                          <a:cs typeface="Calibri" pitchFamily="34" charset="-120"/>
                        </a:rPr>
                        <a:t>Rev / hr</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850" b="1" dirty="0">
                          <a:solidFill>
                            <a:srgbClr val="FFFFFF"/>
                          </a:solidFill>
                          <a:latin typeface="Calibri" pitchFamily="34" charset="0"/>
                          <a:ea typeface="Calibri" pitchFamily="34" charset="-122"/>
                          <a:cs typeface="Calibri" pitchFamily="34" charset="-120"/>
                        </a:rPr>
                        <a:t>Revenue</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850" b="1" dirty="0">
                          <a:solidFill>
                            <a:srgbClr val="FFFFFF"/>
                          </a:solidFill>
                          <a:latin typeface="Calibri" pitchFamily="34" charset="0"/>
                          <a:ea typeface="Calibri" pitchFamily="34" charset="-122"/>
                          <a:cs typeface="Calibri" pitchFamily="34" charset="-120"/>
                        </a:rPr>
                        <a:t>Labour</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850" b="1" dirty="0">
                          <a:solidFill>
                            <a:srgbClr val="FFFFFF"/>
                          </a:solidFill>
                          <a:latin typeface="Calibri" pitchFamily="34" charset="0"/>
                          <a:ea typeface="Calibri" pitchFamily="34" charset="-122"/>
                          <a:cs typeface="Calibri" pitchFamily="34" charset="-120"/>
                        </a:rPr>
                        <a:t>After</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850" b="1" dirty="0">
                          <a:solidFill>
                            <a:srgbClr val="FFFFFF"/>
                          </a:solidFill>
                          <a:latin typeface="Calibri" pitchFamily="34" charset="0"/>
                          <a:ea typeface="Calibri" pitchFamily="34" charset="-122"/>
                          <a:cs typeface="Calibri" pitchFamily="34" charset="-120"/>
                        </a:rPr>
                        <a:t>Per hr</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850" b="1" dirty="0">
                          <a:solidFill>
                            <a:srgbClr val="FFFFFF"/>
                          </a:solidFill>
                          <a:latin typeface="Calibri" pitchFamily="34" charset="0"/>
                          <a:ea typeface="Calibri" pitchFamily="34" charset="-122"/>
                          <a:cs typeface="Calibri" pitchFamily="34" charset="-120"/>
                        </a:rPr>
                        <a:t>+5 pts</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extLst>
                  <a:ext uri="{0D108BD9-81ED-4DB2-BD59-A6C34878D82A}">
                    <a16:rowId xmlns:a16="http://schemas.microsoft.com/office/drawing/2014/main" val="10000"/>
                  </a:ext>
                </a:extLst>
              </a:tr>
              <a:tr h="435102">
                <a:tc>
                  <a:txBody>
                    <a:bodyPr/>
                    <a:lstStyle/>
                    <a:p>
                      <a:pPr marL="0" indent="0" algn="l">
                        <a:buNone/>
                      </a:pPr>
                      <a:r>
                        <a:rPr lang="en-US" sz="900" dirty="0">
                          <a:solidFill>
                            <a:srgbClr val="1A1A1A"/>
                          </a:solidFill>
                          <a:latin typeface="Calibri" pitchFamily="34" charset="0"/>
                          <a:ea typeface="Calibri" pitchFamily="34" charset="-122"/>
                          <a:cs typeface="Calibri" pitchFamily="34" charset="-120"/>
                        </a:rPr>
                        <a:t>Support</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99.5%</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2,132</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$114</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243</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(128)</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b="1" dirty="0">
                          <a:solidFill>
                            <a:srgbClr val="1A1A1A"/>
                          </a:solidFill>
                          <a:latin typeface="Calibri" pitchFamily="34" charset="0"/>
                          <a:ea typeface="Calibri" pitchFamily="34" charset="-122"/>
                          <a:cs typeface="Calibri" pitchFamily="34" charset="-120"/>
                        </a:rPr>
                        <a:t>115</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$54</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005358"/>
                          </a:solidFill>
                          <a:latin typeface="Calibri" pitchFamily="34" charset="0"/>
                          <a:ea typeface="Calibri" pitchFamily="34" charset="-122"/>
                          <a:cs typeface="Calibri" pitchFamily="34" charset="-120"/>
                        </a:rPr>
                        <a:t>+12</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435102">
                <a:tc>
                  <a:txBody>
                    <a:bodyPr/>
                    <a:lstStyle/>
                    <a:p>
                      <a:pPr marL="0" indent="0" algn="l">
                        <a:buNone/>
                      </a:pPr>
                      <a:r>
                        <a:rPr lang="en-US" sz="900" dirty="0">
                          <a:solidFill>
                            <a:srgbClr val="1A1A1A"/>
                          </a:solidFill>
                          <a:latin typeface="Calibri" pitchFamily="34" charset="0"/>
                          <a:ea typeface="Calibri" pitchFamily="34" charset="-122"/>
                          <a:cs typeface="Calibri" pitchFamily="34" charset="-120"/>
                        </a:rPr>
                        <a:t>Events</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49.1%</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240</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$305</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73</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(11)</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b="1" dirty="0">
                          <a:solidFill>
                            <a:srgbClr val="1A1A1A"/>
                          </a:solidFill>
                          <a:latin typeface="Calibri" pitchFamily="34" charset="0"/>
                          <a:ea typeface="Calibri" pitchFamily="34" charset="-122"/>
                          <a:cs typeface="Calibri" pitchFamily="34" charset="-120"/>
                        </a:rPr>
                        <a:t>62</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$258</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005358"/>
                          </a:solidFill>
                          <a:latin typeface="Calibri" pitchFamily="34" charset="0"/>
                          <a:ea typeface="Calibri" pitchFamily="34" charset="-122"/>
                          <a:cs typeface="Calibri" pitchFamily="34" charset="-120"/>
                        </a:rPr>
                        <a:t>+7</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435102">
                <a:tc>
                  <a:txBody>
                    <a:bodyPr/>
                    <a:lstStyle/>
                    <a:p>
                      <a:pPr marL="0" indent="0" algn="l">
                        <a:buNone/>
                      </a:pPr>
                      <a:r>
                        <a:rPr lang="en-US" sz="900" b="1" dirty="0">
                          <a:solidFill>
                            <a:srgbClr val="1A1A1A"/>
                          </a:solidFill>
                          <a:latin typeface="Calibri" pitchFamily="34" charset="0"/>
                          <a:ea typeface="Calibri" pitchFamily="34" charset="-122"/>
                          <a:cs typeface="Calibri" pitchFamily="34" charset="-120"/>
                        </a:rPr>
                        <a:t>CTS</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00" b="1" dirty="0">
                          <a:solidFill>
                            <a:srgbClr val="1A1A1A"/>
                          </a:solidFill>
                          <a:latin typeface="Calibri" pitchFamily="34" charset="0"/>
                          <a:ea typeface="Calibri" pitchFamily="34" charset="-122"/>
                          <a:cs typeface="Calibri" pitchFamily="34" charset="-120"/>
                        </a:rPr>
                        <a:t>87.0%</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00" b="1" dirty="0">
                          <a:solidFill>
                            <a:srgbClr val="1A1A1A"/>
                          </a:solidFill>
                          <a:latin typeface="Calibri" pitchFamily="34" charset="0"/>
                          <a:ea typeface="Calibri" pitchFamily="34" charset="-122"/>
                          <a:cs typeface="Calibri" pitchFamily="34" charset="-120"/>
                        </a:rPr>
                        <a:t>2,437</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00" b="1" dirty="0">
                          <a:solidFill>
                            <a:srgbClr val="1A1A1A"/>
                          </a:solidFill>
                          <a:latin typeface="Calibri" pitchFamily="34" charset="0"/>
                          <a:ea typeface="Calibri" pitchFamily="34" charset="-122"/>
                          <a:cs typeface="Calibri" pitchFamily="34" charset="-120"/>
                        </a:rPr>
                        <a:t>562</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00" b="1" dirty="0">
                          <a:solidFill>
                            <a:srgbClr val="1A1A1A"/>
                          </a:solidFill>
                          <a:latin typeface="Calibri" pitchFamily="34" charset="0"/>
                          <a:ea typeface="Calibri" pitchFamily="34" charset="-122"/>
                          <a:cs typeface="Calibri" pitchFamily="34" charset="-120"/>
                        </a:rPr>
                        <a:t>(141)</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00" b="1" dirty="0">
                          <a:solidFill>
                            <a:srgbClr val="1A1A1A"/>
                          </a:solidFill>
                          <a:latin typeface="Calibri" pitchFamily="34" charset="0"/>
                          <a:ea typeface="Calibri" pitchFamily="34" charset="-122"/>
                          <a:cs typeface="Calibri" pitchFamily="34" charset="-120"/>
                        </a:rPr>
                        <a:t>421</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00" b="1" dirty="0">
                          <a:solidFill>
                            <a:srgbClr val="1A1A1A"/>
                          </a:solidFill>
                          <a:latin typeface="Calibri" pitchFamily="34" charset="0"/>
                          <a:ea typeface="Calibri" pitchFamily="34" charset="-122"/>
                          <a:cs typeface="Calibri" pitchFamily="34" charset="-120"/>
                        </a:rPr>
                        <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00" b="1" dirty="0">
                          <a:solidFill>
                            <a:srgbClr val="005358"/>
                          </a:solidFill>
                          <a:latin typeface="Calibri" pitchFamily="34" charset="0"/>
                          <a:ea typeface="Calibri" pitchFamily="34" charset="-122"/>
                          <a:cs typeface="Calibri" pitchFamily="34" charset="-120"/>
                        </a:rPr>
                        <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extLst>
                  <a:ext uri="{0D108BD9-81ED-4DB2-BD59-A6C34878D82A}">
                    <a16:rowId xmlns:a16="http://schemas.microsoft.com/office/drawing/2014/main" val="10006"/>
                  </a:ext>
                </a:extLst>
              </a:tr>
            </a:tbl>
          </a:graphicData>
        </a:graphic>
      </p:graphicFrame>
      <p:sp>
        <p:nvSpPr>
          <p:cNvPr id="5" name="Shape 2"/>
          <p:cNvSpPr/>
          <p:nvPr/>
        </p:nvSpPr>
        <p:spPr>
          <a:xfrm>
            <a:off x="502920" y="3264408"/>
            <a:ext cx="2651760" cy="1353312"/>
          </a:xfrm>
          <a:prstGeom prst="rect">
            <a:avLst/>
          </a:prstGeom>
          <a:solidFill>
            <a:srgbClr val="E8F9F8"/>
          </a:solidFill>
          <a:ln w="12700">
            <a:solidFill>
              <a:srgbClr val="E8F9F8"/>
            </a:solidFill>
            <a:prstDash val="solid"/>
          </a:ln>
        </p:spPr>
        <p:txBody>
          <a:bodyPr/>
          <a:lstStyle/>
          <a:p>
            <a:endParaRPr lang="en-AU"/>
          </a:p>
        </p:txBody>
      </p:sp>
      <p:sp>
        <p:nvSpPr>
          <p:cNvPr id="6" name="Text 3"/>
          <p:cNvSpPr txBox="1"/>
          <p:nvPr/>
        </p:nvSpPr>
        <p:spPr>
          <a:xfrm>
            <a:off x="640080" y="3355848"/>
            <a:ext cx="2377440" cy="703722"/>
          </a:xfrm>
          <a:prstGeom prst="rect">
            <a:avLst/>
          </a:prstGeom>
          <a:noFill/>
          <a:ln/>
        </p:spPr>
        <p:txBody>
          <a:bodyPr wrap="square" lIns="0" tIns="0" rIns="0" bIns="0" rtlCol="0" anchor="b"/>
          <a:lstStyle/>
          <a:p>
            <a:pPr marL="0" indent="0">
              <a:buNone/>
            </a:pPr>
            <a:r>
              <a:rPr lang="en-US" sz="2200" b="1" dirty="0">
                <a:solidFill>
                  <a:srgbClr val="005358"/>
                </a:solidFill>
                <a:latin typeface="Calibri" pitchFamily="34" charset="0"/>
                <a:ea typeface="Calibri" pitchFamily="34" charset="-122"/>
                <a:cs typeface="Calibri" pitchFamily="34" charset="-120"/>
              </a:rPr>
              <a:t>+$20k a month</a:t>
            </a:r>
            <a:endParaRPr lang="en-US" sz="2200" dirty="0"/>
          </a:p>
        </p:txBody>
      </p:sp>
      <p:sp>
        <p:nvSpPr>
          <p:cNvPr id="7" name="Text 4"/>
          <p:cNvSpPr txBox="1"/>
          <p:nvPr/>
        </p:nvSpPr>
        <p:spPr>
          <a:xfrm>
            <a:off x="640080" y="4103461"/>
            <a:ext cx="2377440" cy="460126"/>
          </a:xfrm>
          <a:prstGeom prst="rect">
            <a:avLst/>
          </a:prstGeom>
          <a:noFill/>
          <a:ln/>
        </p:spPr>
        <p:txBody>
          <a:bodyPr wrap="square" lIns="0" tIns="0" rIns="0" bIns="0" rtlCol="0" anchor="t"/>
          <a:lstStyle/>
          <a:p>
            <a:pPr marL="0" indent="0">
              <a:buNone/>
            </a:pPr>
            <a:r>
              <a:rPr lang="en-US" sz="900" dirty="0">
                <a:solidFill>
                  <a:srgbClr val="5F6670"/>
                </a:solidFill>
                <a:latin typeface="Calibri" pitchFamily="34" charset="0"/>
                <a:ea typeface="Calibri" pitchFamily="34" charset="-122"/>
                <a:cs typeface="Calibri" pitchFamily="34" charset="-120"/>
              </a:rPr>
              <a:t>Five more points of utilisation on Support and Events, at the revenue per chargeable hour each already earns, before any extra cost</a:t>
            </a:r>
            <a:endParaRPr lang="en-US" sz="900" dirty="0"/>
          </a:p>
        </p:txBody>
      </p:sp>
      <p:sp>
        <p:nvSpPr>
          <p:cNvPr id="8" name="Text 5"/>
          <p:cNvSpPr txBox="1"/>
          <p:nvPr/>
        </p:nvSpPr>
        <p:spPr>
          <a:xfrm>
            <a:off x="3291840" y="3264408"/>
            <a:ext cx="2788920" cy="1353312"/>
          </a:xfrm>
          <a:prstGeom prst="rect">
            <a:avLst/>
          </a:prstGeom>
          <a:noFill/>
          <a:ln/>
        </p:spPr>
        <p:txBody>
          <a:bodyPr wrap="square" lIns="0" tIns="0" rIns="0" bIns="0" rtlCol="0" anchor="t"/>
          <a:lstStyle/>
          <a:p>
            <a:pPr marL="0" indent="0">
              <a:buNone/>
            </a:pPr>
            <a:r>
              <a:rPr lang="en-US" sz="850" dirty="0">
                <a:solidFill>
                  <a:srgbClr val="5F6670"/>
                </a:solidFill>
                <a:latin typeface="Calibri" pitchFamily="34" charset="0"/>
                <a:ea typeface="Calibri" pitchFamily="34" charset="-122"/>
                <a:cs typeface="Calibri" pitchFamily="34" charset="-120"/>
              </a:rPr>
              <a:t>Video and Integration are left out: 24 and 10 chargeable hours are too few for a rate to mean anything. Revenue per hour is department revenue divided by chargeable hours. It is not a charge rate, it includes equipment, hire and freight, and the pack does not hold charge rates. Labour is wages, salaries, superannuation and workers compensation coded to the department.</a:t>
            </a:r>
            <a:endParaRPr lang="en-US" sz="850" dirty="0"/>
          </a:p>
        </p:txBody>
      </p:sp>
      <p:sp>
        <p:nvSpPr>
          <p:cNvPr id="9" name="Shape 6"/>
          <p:cNvSpPr/>
          <p:nvPr/>
        </p:nvSpPr>
        <p:spPr>
          <a:xfrm>
            <a:off x="6263640" y="1463040"/>
            <a:ext cx="2377440" cy="3154680"/>
          </a:xfrm>
          <a:prstGeom prst="rect">
            <a:avLst/>
          </a:prstGeom>
          <a:solidFill>
            <a:srgbClr val="E8F9F8"/>
          </a:solidFill>
          <a:ln w="12700">
            <a:solidFill>
              <a:srgbClr val="E8F9F8"/>
            </a:solidFill>
            <a:prstDash val="solid"/>
          </a:ln>
        </p:spPr>
        <p:txBody>
          <a:bodyPr/>
          <a:lstStyle/>
          <a:p>
            <a:endParaRPr lang="en-AU"/>
          </a:p>
        </p:txBody>
      </p:sp>
      <p:sp>
        <p:nvSpPr>
          <p:cNvPr id="10" name="Text 7"/>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200" dirty="0">
                <a:solidFill>
                  <a:srgbClr val="005358"/>
                </a:solidFill>
                <a:latin typeface="Calibri" pitchFamily="34" charset="0"/>
                <a:ea typeface="Calibri" pitchFamily="34" charset="-122"/>
                <a:cs typeface="Calibri" pitchFamily="34" charset="-120"/>
              </a:rPr>
              <a:t>COMMENTARY</a:t>
            </a:r>
            <a:endParaRPr lang="en-US" sz="900" dirty="0"/>
          </a:p>
        </p:txBody>
      </p:sp>
      <p:sp>
        <p:nvSpPr>
          <p:cNvPr id="11" name="Text 8"/>
          <p:cNvSpPr txBox="1"/>
          <p:nvPr/>
        </p:nvSpPr>
        <p:spPr>
          <a:xfrm>
            <a:off x="6446520" y="1901952"/>
            <a:ext cx="2011680" cy="260604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Support returns $54 of margin an hour after direct labour. That is the engine.</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Events returns $258, but on equipment revenue. It is not a labour rate.</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Integration billed 235k on 9.5 chargeable hours. That work was bought in.</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That is why its margin is 10 per cent. We are reselling, not delivering.</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Five points on Support and Events is worth 20k a month at no extra cost.</a:t>
            </a:r>
            <a:endParaRPr lang="en-US" sz="105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14</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3"/>
          <p:cNvSpPr>
            <a:spLocks noGrp="1"/>
          </p:cNvSpPr>
          <p:nvPr>
            <p:ph type="body" idx="104" hasCustomPrompt="1"/>
          </p:nvPr>
        </p:nvSpPr>
        <p:spPr>
          <a:xfrm>
            <a:off x="502920" y="1874520"/>
            <a:ext cx="1280160" cy="1280160"/>
          </a:xfrm>
          <a:prstGeom prst="rect">
            <a:avLst/>
          </a:prstGeom>
          <a:noFill/>
          <a:ln/>
        </p:spPr>
        <p:txBody>
          <a:bodyPr wrap="square" lIns="0" tIns="0" rIns="0" bIns="0" rtlCol="0" anchor="ctr"/>
          <a:lstStyle/>
          <a:p>
            <a:pPr marL="0" indent="0" algn="ctr">
              <a:buNone/>
            </a:pPr>
            <a:r>
              <a:rPr lang="en-US" sz="4800" b="1" dirty="0">
                <a:solidFill>
                  <a:srgbClr val="FFFFFF"/>
                </a:solidFill>
                <a:latin typeface="Calibri" pitchFamily="34" charset="0"/>
                <a:ea typeface="Calibri" pitchFamily="34" charset="-122"/>
                <a:cs typeface="Calibri" pitchFamily="34" charset="-120"/>
              </a:rPr>
              <a:t>04</a:t>
            </a:r>
            <a:endParaRPr lang="en-US" sz="4800" dirty="0"/>
          </a:p>
        </p:txBody>
      </p:sp>
      <p:sp>
        <p:nvSpPr>
          <p:cNvPr id="3" name="Text 3"/>
          <p:cNvSpPr>
            <a:spLocks noGrp="1"/>
          </p:cNvSpPr>
          <p:nvPr>
            <p:ph type="title" idx="105" hasCustomPrompt="1"/>
          </p:nvPr>
        </p:nvSpPr>
        <p:spPr>
          <a:xfrm>
            <a:off x="2103120" y="1874520"/>
            <a:ext cx="6035040" cy="822960"/>
          </a:xfrm>
          <a:prstGeom prst="rect">
            <a:avLst/>
          </a:prstGeom>
          <a:noFill/>
          <a:ln/>
        </p:spPr>
        <p:txBody>
          <a:bodyPr wrap="square" lIns="0" tIns="0" rIns="0" bIns="0" rtlCol="0" anchor="b"/>
          <a:lstStyle/>
          <a:p>
            <a:pPr marL="0" indent="0" algn="l">
              <a:buNone/>
            </a:pPr>
            <a:r>
              <a:rPr lang="en-US" sz="3600" b="1" dirty="0">
                <a:solidFill>
                  <a:srgbClr val="1A1A1A"/>
                </a:solidFill>
                <a:latin typeface="Calibri" pitchFamily="34" charset="0"/>
                <a:ea typeface="Calibri" pitchFamily="34" charset="-122"/>
                <a:cs typeface="Calibri" pitchFamily="34" charset="-120"/>
              </a:rPr>
              <a:t>Summary and actions</a:t>
            </a:r>
            <a:endParaRPr lang="en-US" sz="3600" dirty="0"/>
          </a:p>
        </p:txBody>
      </p:sp>
      <p:sp>
        <p:nvSpPr>
          <p:cNvPr id="4" name="Text 3"/>
          <p:cNvSpPr>
            <a:spLocks noGrp="1"/>
          </p:cNvSpPr>
          <p:nvPr>
            <p:ph type="body" idx="106" hasCustomPrompt="1"/>
          </p:nvPr>
        </p:nvSpPr>
        <p:spPr>
          <a:xfrm>
            <a:off x="2103120" y="2724912"/>
            <a:ext cx="6035040" cy="457200"/>
          </a:xfrm>
          <a:prstGeom prst="rect">
            <a:avLst/>
          </a:prstGeom>
          <a:noFill/>
          <a:ln/>
        </p:spPr>
        <p:txBody>
          <a:bodyPr wrap="square" lIns="0" tIns="0" rIns="0" bIns="0" rtlCol="0" anchor="t"/>
          <a:lstStyle/>
          <a:p>
            <a:pPr marL="0" indent="0">
              <a:buNone/>
            </a:pPr>
            <a:r>
              <a:rPr lang="en-US" sz="1600" dirty="0">
                <a:solidFill>
                  <a:srgbClr val="5F6670"/>
                </a:solidFill>
                <a:latin typeface="Calibri" pitchFamily="34" charset="0"/>
                <a:ea typeface="Calibri" pitchFamily="34" charset="-122"/>
                <a:cs typeface="Calibri" pitchFamily="34" charset="-120"/>
              </a:rPr>
              <a:t>The commentary from each sheet, with an owner and a date</a:t>
            </a:r>
            <a:endParaRPr lang="en-US" sz="16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15</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SUMMARY AND ACTIONS</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1A1A1A"/>
                </a:solidFill>
                <a:latin typeface="Calibri" pitchFamily="34" charset="0"/>
                <a:ea typeface="Calibri" pitchFamily="34" charset="-122"/>
                <a:cs typeface="Calibri" pitchFamily="34" charset="-120"/>
              </a:rPr>
              <a:t>Commentary and actions from this review</a:t>
            </a:r>
            <a:endParaRPr lang="en-US" sz="28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8138160" cy="3017520"/>
        </p:xfrm>
        <a:graphic>
          <a:graphicData uri="http://schemas.openxmlformats.org/drawingml/2006/table">
            <a:tbl>
              <a:tblPr/>
              <a:tblGrid>
                <a:gridCol w="1371600">
                  <a:extLst>
                    <a:ext uri="{9D8B030D-6E8A-4147-A177-3AD203B41FA5}">
                      <a16:colId xmlns:a16="http://schemas.microsoft.com/office/drawing/2014/main" val="20000"/>
                    </a:ext>
                  </a:extLst>
                </a:gridCol>
                <a:gridCol w="493776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tblGrid>
              <a:tr h="274320">
                <a:tc>
                  <a:txBody>
                    <a:bodyPr/>
                    <a:lstStyle/>
                    <a:p>
                      <a:pPr marL="0" indent="0" algn="l">
                        <a:buNone/>
                      </a:pPr>
                      <a:r>
                        <a:rPr lang="en-US" sz="950" b="1" dirty="0">
                          <a:solidFill>
                            <a:srgbClr val="FFFFFF"/>
                          </a:solidFill>
                          <a:latin typeface="Calibri" pitchFamily="34" charset="0"/>
                          <a:ea typeface="Calibri" pitchFamily="34" charset="-122"/>
                          <a:cs typeface="Calibri" pitchFamily="34" charset="-120"/>
                        </a:rPr>
                        <a:t>Area</a:t>
                      </a:r>
                      <a:endParaRPr lang="en-US" sz="950" dirty="0">
                        <a:latin typeface="Calibri" charset="0"/>
                        <a:ea typeface="Calibri" charset="0"/>
                        <a:cs typeface="Calibri" charset="0"/>
                      </a:endParaRPr>
                    </a:p>
                  </a:txBody>
                  <a:tcPr marL="73152" marR="73152" marT="54864" marB="54864"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l">
                        <a:buNone/>
                      </a:pPr>
                      <a:r>
                        <a:rPr lang="en-US" sz="950" b="1" dirty="0">
                          <a:solidFill>
                            <a:srgbClr val="FFFFFF"/>
                          </a:solidFill>
                          <a:latin typeface="Calibri" pitchFamily="34" charset="0"/>
                          <a:ea typeface="Calibri" pitchFamily="34" charset="-122"/>
                          <a:cs typeface="Calibri" pitchFamily="34" charset="-120"/>
                        </a:rPr>
                        <a:t>What we agreed</a:t>
                      </a:r>
                      <a:endParaRPr lang="en-US" sz="950" dirty="0">
                        <a:latin typeface="Calibri" charset="0"/>
                        <a:ea typeface="Calibri" charset="0"/>
                        <a:cs typeface="Calibri" charset="0"/>
                      </a:endParaRPr>
                    </a:p>
                  </a:txBody>
                  <a:tcPr marL="73152" marR="73152" marT="54864" marB="54864"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l">
                        <a:buNone/>
                      </a:pPr>
                      <a:r>
                        <a:rPr lang="en-US" sz="950" b="1" dirty="0">
                          <a:solidFill>
                            <a:srgbClr val="FFFFFF"/>
                          </a:solidFill>
                          <a:latin typeface="Calibri" pitchFamily="34" charset="0"/>
                          <a:ea typeface="Calibri" pitchFamily="34" charset="-122"/>
                          <a:cs typeface="Calibri" pitchFamily="34" charset="-120"/>
                        </a:rPr>
                        <a:t>Owner</a:t>
                      </a:r>
                      <a:endParaRPr lang="en-US" sz="950" dirty="0">
                        <a:latin typeface="Calibri" charset="0"/>
                        <a:ea typeface="Calibri" charset="0"/>
                        <a:cs typeface="Calibri" charset="0"/>
                      </a:endParaRPr>
                    </a:p>
                  </a:txBody>
                  <a:tcPr marL="73152" marR="73152" marT="54864" marB="54864"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l">
                        <a:buNone/>
                      </a:pPr>
                      <a:r>
                        <a:rPr lang="en-US" sz="950" b="1" dirty="0">
                          <a:solidFill>
                            <a:srgbClr val="FFFFFF"/>
                          </a:solidFill>
                          <a:latin typeface="Calibri" pitchFamily="34" charset="0"/>
                          <a:ea typeface="Calibri" pitchFamily="34" charset="-122"/>
                          <a:cs typeface="Calibri" pitchFamily="34" charset="-120"/>
                        </a:rPr>
                        <a:t>Due</a:t>
                      </a:r>
                      <a:endParaRPr lang="en-US" sz="950" dirty="0">
                        <a:latin typeface="Calibri" charset="0"/>
                        <a:ea typeface="Calibri" charset="0"/>
                        <a:cs typeface="Calibri" charset="0"/>
                      </a:endParaRPr>
                    </a:p>
                  </a:txBody>
                  <a:tcPr marL="73152" marR="73152" marT="54864" marB="54864"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extLst>
                  <a:ext uri="{0D108BD9-81ED-4DB2-BD59-A6C34878D82A}">
                    <a16:rowId xmlns:a16="http://schemas.microsoft.com/office/drawing/2014/main" val="10000"/>
                  </a:ext>
                </a:extLst>
              </a:tr>
              <a:tr h="685800">
                <a:tc>
                  <a:txBody>
                    <a:bodyPr/>
                    <a:lstStyle/>
                    <a:p>
                      <a:pPr marL="0" indent="0" algn="l">
                        <a:buNone/>
                      </a:pPr>
                      <a:r>
                        <a:rPr lang="en-US" sz="1000" b="1" dirty="0">
                          <a:solidFill>
                            <a:srgbClr val="1A1A1A"/>
                          </a:solidFill>
                          <a:latin typeface="Calibri" pitchFamily="34" charset="0"/>
                          <a:ea typeface="Calibri" pitchFamily="34" charset="-122"/>
                          <a:cs typeface="Calibri" pitchFamily="34" charset="-120"/>
                        </a:rPr>
                        <a:t>P&amp;L</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5F6670"/>
                          </a:solidFill>
                          <a:latin typeface="Calibri" pitchFamily="34" charset="0"/>
                          <a:ea typeface="Calibri" pitchFamily="34" charset="-122"/>
                          <a:cs typeface="Calibri" pitchFamily="34" charset="-120"/>
                        </a:rPr>
                        <a:t>Reforecast FY27 on margin, not revenue. At the current run rate we meet the revenue budget and deliver an EBITDA loss of 37k against a 397k plan.</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5F6670"/>
                          </a:solidFill>
                          <a:latin typeface="Calibri" pitchFamily="34" charset="0"/>
                          <a:ea typeface="Calibri" pitchFamily="34" charset="-122"/>
                          <a:cs typeface="Calibri" pitchFamily="34" charset="-120"/>
                        </a:rPr>
                        <a:t>GC and FC</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5F6670"/>
                          </a:solidFill>
                          <a:latin typeface="Calibri" pitchFamily="34" charset="0"/>
                          <a:ea typeface="Calibri" pitchFamily="34" charset="-122"/>
                          <a:cs typeface="Calibri" pitchFamily="34" charset="-120"/>
                        </a:rPr>
                        <a:t>31 Oct 26</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685800">
                <a:tc>
                  <a:txBody>
                    <a:bodyPr/>
                    <a:lstStyle/>
                    <a:p>
                      <a:pPr marL="0" indent="0" algn="l">
                        <a:buNone/>
                      </a:pPr>
                      <a:r>
                        <a:rPr lang="en-US" sz="1000" b="1" dirty="0">
                          <a:solidFill>
                            <a:srgbClr val="1A1A1A"/>
                          </a:solidFill>
                          <a:latin typeface="Calibri" pitchFamily="34" charset="0"/>
                          <a:ea typeface="Calibri" pitchFamily="34" charset="-122"/>
                          <a:cs typeface="Calibri" pitchFamily="34" charset="-120"/>
                        </a:rPr>
                        <a:t>Overhead keys</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5F6670"/>
                          </a:solidFill>
                          <a:latin typeface="Calibri" pitchFamily="34" charset="0"/>
                          <a:ea typeface="Calibri" pitchFamily="34" charset="-122"/>
                          <a:cs typeface="Calibri" pitchFamily="34" charset="-120"/>
                        </a:rPr>
                        <a:t>Events carries 87.5 per cent of premises on 13 per cent of revenue and cannot be profitable on that key. Test it for FY28, do not change it mid year.</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5F6670"/>
                          </a:solidFill>
                          <a:latin typeface="Calibri" pitchFamily="34" charset="0"/>
                          <a:ea typeface="Calibri" pitchFamily="34" charset="-122"/>
                          <a:cs typeface="Calibri" pitchFamily="34" charset="-120"/>
                        </a:rPr>
                        <a:t>GC and FC</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5F6670"/>
                          </a:solidFill>
                          <a:latin typeface="Calibri" pitchFamily="34" charset="0"/>
                          <a:ea typeface="Calibri" pitchFamily="34" charset="-122"/>
                          <a:cs typeface="Calibri" pitchFamily="34" charset="-120"/>
                        </a:rPr>
                        <a:t>30 Nov 26</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685800">
                <a:tc>
                  <a:txBody>
                    <a:bodyPr/>
                    <a:lstStyle/>
                    <a:p>
                      <a:pPr marL="0" indent="0" algn="l">
                        <a:buNone/>
                      </a:pPr>
                      <a:r>
                        <a:rPr lang="en-US" sz="1000" b="1" dirty="0">
                          <a:solidFill>
                            <a:srgbClr val="1A1A1A"/>
                          </a:solidFill>
                          <a:latin typeface="Calibri" pitchFamily="34" charset="0"/>
                          <a:ea typeface="Calibri" pitchFamily="34" charset="-122"/>
                          <a:cs typeface="Calibri" pitchFamily="34" charset="-120"/>
                        </a:rPr>
                        <a:t>Customers</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5F6670"/>
                          </a:solidFill>
                          <a:latin typeface="Calibri" pitchFamily="34" charset="0"/>
                          <a:ea typeface="Calibri" pitchFamily="34" charset="-122"/>
                          <a:cs typeface="Calibri" pitchFamily="34" charset="-120"/>
                        </a:rPr>
                        <a:t>Top three are 49 per cent of revenue. Agree a retention plan for Deloitte and contract cover for Aware Super, Data#3 and Generation-e.</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5F6670"/>
                          </a:solidFill>
                          <a:latin typeface="Calibri" pitchFamily="34" charset="0"/>
                          <a:ea typeface="Calibri" pitchFamily="34" charset="-122"/>
                          <a:cs typeface="Calibri" pitchFamily="34" charset="-120"/>
                        </a:rPr>
                        <a:t>GC and Sales</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5F6670"/>
                          </a:solidFill>
                          <a:latin typeface="Calibri" pitchFamily="34" charset="0"/>
                          <a:ea typeface="Calibri" pitchFamily="34" charset="-122"/>
                          <a:cs typeface="Calibri" pitchFamily="34" charset="-120"/>
                        </a:rPr>
                        <a:t>14 Nov 26</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685800">
                <a:tc>
                  <a:txBody>
                    <a:bodyPr/>
                    <a:lstStyle/>
                    <a:p>
                      <a:pPr marL="0" indent="0" algn="l">
                        <a:buNone/>
                      </a:pPr>
                      <a:r>
                        <a:rPr lang="en-US" sz="1000" b="1" dirty="0">
                          <a:solidFill>
                            <a:srgbClr val="1A1A1A"/>
                          </a:solidFill>
                          <a:latin typeface="Calibri" pitchFamily="34" charset="0"/>
                          <a:ea typeface="Calibri" pitchFamily="34" charset="-122"/>
                          <a:cs typeface="Calibri" pitchFamily="34" charset="-120"/>
                        </a:rPr>
                        <a:t>Cash</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5F6670"/>
                          </a:solidFill>
                          <a:latin typeface="Calibri" pitchFamily="34" charset="0"/>
                          <a:ea typeface="Calibri" pitchFamily="34" charset="-122"/>
                          <a:cs typeface="Calibri" pitchFamily="34" charset="-120"/>
                        </a:rPr>
                        <a:t>DSO 47.5 days. Getting to 30 releases 309k against net debt of 723k. Chase Property NSW 19.7k and Meet Magic 5.1k, both over 90 days.</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5F6670"/>
                          </a:solidFill>
                          <a:latin typeface="Calibri" pitchFamily="34" charset="0"/>
                          <a:ea typeface="Calibri" pitchFamily="34" charset="-122"/>
                          <a:cs typeface="Calibri" pitchFamily="34" charset="-120"/>
                        </a:rPr>
                        <a:t>FC</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5F6670"/>
                          </a:solidFill>
                          <a:latin typeface="Calibri" pitchFamily="34" charset="0"/>
                          <a:ea typeface="Calibri" pitchFamily="34" charset="-122"/>
                          <a:cs typeface="Calibri" pitchFamily="34" charset="-120"/>
                        </a:rPr>
                        <a:t>24 Oct 26</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16</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554781D-8611-20E2-34CE-52607DF53740}"/>
              </a:ext>
            </a:extLst>
          </p:cNvPr>
          <p:cNvSpPr>
            <a:spLocks noGrp="1"/>
          </p:cNvSpPr>
          <p:nvPr>
            <p:ph type="title" idx="101"/>
          </p:nvPr>
        </p:nvSpPr>
        <p:spPr/>
        <p:txBody>
          <a:bodyPr/>
          <a:lstStyle/>
          <a:p>
            <a:r>
              <a:rPr lang="en-AU" dirty="0"/>
              <a:t>Thank you </a:t>
            </a:r>
          </a:p>
        </p:txBody>
      </p:sp>
      <p:pic>
        <p:nvPicPr>
          <p:cNvPr id="4" name="Picture 3">
            <a:extLst>
              <a:ext uri="{FF2B5EF4-FFF2-40B4-BE49-F238E27FC236}">
                <a16:creationId xmlns:a16="http://schemas.microsoft.com/office/drawing/2014/main" id="{2A73098B-389D-778D-8913-4697239AF26E}"/>
              </a:ext>
            </a:extLst>
          </p:cNvPr>
          <p:cNvPicPr>
            <a:picLocks noChangeAspect="1"/>
          </p:cNvPicPr>
          <p:nvPr/>
        </p:nvPicPr>
        <p:blipFill>
          <a:blip r:embed="rId2"/>
          <a:stretch>
            <a:fillRect/>
          </a:stretch>
        </p:blipFill>
        <p:spPr>
          <a:xfrm>
            <a:off x="0" y="0"/>
            <a:ext cx="9144000" cy="5143500"/>
          </a:xfrm>
          <a:prstGeom prst="rect">
            <a:avLst/>
          </a:prstGeom>
        </p:spPr>
      </p:pic>
    </p:spTree>
    <p:extLst>
      <p:ext uri="{BB962C8B-B14F-4D97-AF65-F5344CB8AC3E}">
        <p14:creationId xmlns:p14="http://schemas.microsoft.com/office/powerpoint/2010/main" val="121518213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TotalTime>
  <Words>1642</Words>
  <Application>Microsoft Office PowerPoint</Application>
  <PresentationFormat>On-screen Show (16:9)</PresentationFormat>
  <Paragraphs>537</Paragraphs>
  <Slides>17</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September 2026</vt:lpstr>
      <vt:lpstr>What we will cover</vt:lpstr>
      <vt:lpstr>Financial performance</vt:lpstr>
      <vt:lpstr>P&amp;L summary</vt:lpstr>
      <vt:lpstr>P&amp;L per department, Sep 26</vt:lpstr>
      <vt:lpstr>Revenue and contribution by department</vt:lpstr>
      <vt:lpstr>Risk revenue profile</vt:lpstr>
      <vt:lpstr>Customers and cash</vt:lpstr>
      <vt:lpstr>Top 10 customers</vt:lpstr>
      <vt:lpstr>Receivables and days sales outstanding</vt:lpstr>
      <vt:lpstr>Top customers, FY27 vs FY26 year to date</vt:lpstr>
      <vt:lpstr>People and utilisation</vt:lpstr>
      <vt:lpstr>Utilisation by department, Sep 26</vt:lpstr>
      <vt:lpstr>Profit based on utilisation</vt:lpstr>
      <vt:lpstr>Summary and actions</vt:lpstr>
      <vt:lpstr>Commentary and actions from this review</vt:lpstr>
      <vt:lpstr>Thank you </vt:lpstr>
    </vt:vector>
  </TitlesOfParts>
  <Company>Corporate Technology Services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CTS Monthly Business Review September 2026</dc:title>
  <dc:subject>PptxGenJS Presentation</dc:subject>
  <dc:creator>Corporate Technology Services</dc:creator>
  <cp:lastModifiedBy>Danica Nelson</cp:lastModifiedBy>
  <cp:revision>2</cp:revision>
  <dcterms:created xsi:type="dcterms:W3CDTF">2026-10-13T04:28:56Z</dcterms:created>
  <dcterms:modified xsi:type="dcterms:W3CDTF">2026-10-13T04:43:45Z</dcterms:modified>
</cp:coreProperties>
</file>