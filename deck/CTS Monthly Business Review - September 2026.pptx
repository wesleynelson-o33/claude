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month read three ways instead of five, which is how the Summary tab is actually built.
Production is the parent of Events and Video. Consulting is the parent of Integration and Consulting. Support has no children. Admin is not a trading department; its costs are spread across the three.
Support: revenue 242,948 against 248,017 budget. Gross profit 101,290 at 41.7%. All overhead 72,283. Result 29,007.
Production: revenue 80,607 against 83,326 budget. Gross profit 62,694 at 77.8%. All overhead 123,767. Result (61,073).
Consulting: revenue 238,389 against 82,322 budget. Gross profit 23,830 at 10.0%. All overhead 33,229. Result (9,398).
The three total (41,464), which is net profit for the month, and the check row on the tab proves it against the five department version above.
What the grouping shows that the five did not. Production, Events and Video together, keeps 77.8% of what it sells. That is the strongest margin we have anywhere. It loses money only because it carries 123,767 of running costs against 80,607 of sales. This is a volume problem, not a pricing problem, and it is the clearest growth case in the pack.
Consulting, Integration and Consulting together, is the opposite. It sold 156,068 more than plan and keeps only 10.0%, because almost all of that was resold equipment through Integration. Selling more of it will not fix the result.
Support is the whole profit of the business. On these three lines that is the decision: protect Support, give Production volume, and resolve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2,438 hours in September 2026 out of 3,395 it was available for, which is 72%.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Chargeable per cent for September 2026, calculated exactly as the monthly Utilisation Report calculates it.
The formula is billable hours divided by Workable Business Hours, the hours each person was available for in the month. Leave and public holidays stay in the bottom of the fraction, so a team that takes its leave shows a lower percentage. That is the business's own definition and this pack now uses it.
Production 30.2% against a 67.0% target, 36.8% under. Consulting 23.0% against 50.0%, 27.0% under.
Leave is the story on Production: 333 hours out of 882 available, which is 37.7% of the month. The people were paid for and the work was not there.
There are three person groups because the report groups by the department a person belongs to, and nobody is assigned to Video or Integration.
Workable Business Hours and the target are pastes. Neither can be calculated in the pack: the first needs each group's headcount and who is part time, the second is set per person and averaged up. The over or under reading and the leave share are calculated off them and reproduce the report's own columns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and the company, same basis.
Support 91.2% against an 88.0% target, 3.2% over, on 2,338 available hours. It has cleared its target in all three closed months.
The company 71.8% against 80.9%, 9.0% under. The company target moves a little month to month because it is an average over whoever was in the report that month, not a fixed number.
Leave took 17.8% of available hours this month against 7.5% in August. September is a heavy leave month and that is most of the movement in the company figure.
A correction to earlier versions of this pack. It divided billable hours by hours actually worked, leaving leave out of the sum, which put Support at 99.5 per cent and made it look like a coding error. It was not. On the report's own basis Support is 91.2% and the figure is sound.
OT and TIL is on the report but is not in the pack. Its August figure for Support reads 365.62, which cannot be hours in a month, so that column needs checking on the source sheet before anybody quotes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utilisation working for the two big cost centres, straight off the pack.
The top three rows set the month: working days, and working hours at eight hours a day. Every FTE figure divides into that.
For each cost centre the sheet holds billable hours, non-billable hours and leave, then two calculated lines. The percentage here is the billable share of the hours actually worked, which is not the same as the Chargeable per cent on the slide before: this one leaves leave out of the sum, your report keeps it in. Both are on the tab and each is labelled for what it is. FTE is billable plus non-billable divided by the month's working hours.
Support: 2,132 billable hours on 12.2 FTE. The 11 of non-billable time shown here is an artefact of the grouping, not a coding error. The monthly report shows Support with no non-billable hours at all in September 2026; this tab regroups by the job the work was for, which moves a small amount of other people's non-billable time into Support.
Events: 49.1% utilisation on 2.8 FTE, with 333 hours of leave. That is the genuine operational issue on this page. The people were paid for, the work was not there.
Three months sit side by side so the board reads a trend, not one month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small cost centres.
Video: 76.0% utilisation on 0.18 FTE. 24.5 billable hours in the month.
Integration: 100.0% on 0.05 FTE. The hundred per cent is arithmetic, not performance. 9.5 billable hours and no non-billable time booked at all. Integration's revenue this month came from resold equipment, not from our hours, which is why the money and the hours do not match.
Consulting: 26.8% on 0.65 FTE. 84 hours into work we cannot bill against 31 we can, plus 53 hours of leave. Three months of that pattern, against running costs that have not moved, is the clearest case in the pack for a decision.
A percentage on nine or twenty four hours is not a management number. Read the hours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On the Support bar: the small slice of non-billable time comes from the regrouping, not from bad coding. The monthly report shows Support with no non-billable hours in September 2026. This view regroups by the job the work was for, so a little of other people's non-billable time lands here.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mix for September 2026, rolled up to the three departments the P&amp;L is built on.
Production is Events and Video together. Consulting is Integration and Consulting together. Support stands alone.
Read each bar as a mix, not a size. Each is scaled to its own total, because Support works far more hours than the other two combined.
The pattern is the whole argument of this pack. Support is almost entirely billable and it is the only department that covers its costs. Production and Consulting both spend roughly half their paid hours, or more, on work no customer pays for, and both lose money.
Support reads 91.2% on the monthly report's own basis, which counts leave against it. That is the figure to quote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We need 549k of sales a month just to cover our costs. We are averaging 541k.</a:t>
            </a:r>
            <a:endParaRPr lang="en-US" sz="850" dirty="0"/>
          </a:p>
          <a:p>
            <a:pPr marL="342900" indent="-342900">
              <a:lnSpc>
                <a:spcPts val="1050"/>
              </a:lnSpc>
              <a:spcAft>
                <a:spcPts val="400"/>
              </a:spcAft>
              <a:buSzPct val="100000"/>
              <a:buChar char="•"/>
            </a:pPr>
            <a:r>
              <a:rPr lang="en-US" sz="850" dirty="0">
                <a:solidFill>
                  <a:srgbClr val="3A4453"/>
                </a:solidFill>
              </a:rPr>
              <a:t>Sep 26 sold 148k more than planned and still lost 32k. We sold enough. We did not keep enough of it.</a:t>
            </a:r>
            <a:endParaRPr lang="en-US" sz="850" dirty="0"/>
          </a:p>
          <a:p>
            <a:pPr marL="342900" indent="-342900">
              <a:lnSpc>
                <a:spcPts val="1050"/>
              </a:lnSpc>
              <a:spcAft>
                <a:spcPts val="400"/>
              </a:spcAft>
              <a:buSzPct val="100000"/>
              <a:buChar char="•"/>
            </a:pPr>
            <a:r>
              <a:rPr lang="en-US" sz="850" dirty="0">
                <a:solidFill>
                  <a:srgbClr val="3A4453"/>
                </a:solidFill>
              </a:rPr>
              <a:t>We kept 33% of every dollar sold. The plan said 30%, but last September we kept 46%.</a:t>
            </a:r>
            <a:endParaRPr lang="en-US" sz="850" dirty="0"/>
          </a:p>
          <a:p>
            <a:pPr marL="342900" indent="-342900">
              <a:lnSpc>
                <a:spcPts val="1050"/>
              </a:lnSpc>
              <a:spcAft>
                <a:spcPts val="400"/>
              </a:spcAft>
              <a:buSzPct val="100000"/>
              <a:buChar char="•"/>
            </a:pPr>
            <a:r>
              <a:rPr lang="en-US" sz="850" dirty="0">
                <a:solidFill>
                  <a:srgbClr val="3A4453"/>
                </a:solidFill>
              </a:rPr>
              <a:t>Running costs came in at 230k against 232k planned. Spending is not the problem.</a:t>
            </a:r>
            <a:endParaRPr lang="en-US" sz="850" dirty="0"/>
          </a:p>
          <a:p>
            <a:pPr marL="342900" indent="-342900">
              <a:lnSpc>
                <a:spcPts val="1050"/>
              </a:lnSpc>
              <a:spcAft>
                <a:spcPts val="400"/>
              </a:spcAft>
              <a:buSzPct val="100000"/>
              <a:buChar char="•"/>
            </a:pPr>
            <a:r>
              <a:rPr lang="en-US" sz="850" dirty="0">
                <a:solidFill>
                  <a:srgbClr val="3A4453"/>
                </a:solidFill>
              </a:rPr>
              <a:t>Profit for the quarter is 6k against 223k planned. The plan needs redoing around what we keep, not what we sell.</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Operating profit, or EBITDA, is 6k for the quarter against 223k planned. We are 217k short, which is 97% of it.</a:t>
            </a:r>
            <a:endParaRPr lang="en-US" sz="800" dirty="0"/>
          </a:p>
          <a:p>
            <a:pPr marL="342900" indent="-342900">
              <a:lnSpc>
                <a:spcPts val="1000"/>
              </a:lnSpc>
              <a:spcAft>
                <a:spcPts val="400"/>
              </a:spcAft>
              <a:buSzPct val="100000"/>
              <a:buChar char="•"/>
            </a:pPr>
            <a:r>
              <a:rPr lang="en-US" sz="800" dirty="0">
                <a:solidFill>
                  <a:srgbClr val="3A4453"/>
                </a:solidFill>
              </a:rPr>
              <a:t>The plan expected 56% of the year's profit in these first three months. It did not happen, so the whole year now rides on the nine months left.</a:t>
            </a:r>
            <a:endParaRPr lang="en-US" sz="800" dirty="0"/>
          </a:p>
          <a:p>
            <a:pPr marL="342900" indent="-342900">
              <a:lnSpc>
                <a:spcPts val="1000"/>
              </a:lnSpc>
              <a:spcAft>
                <a:spcPts val="400"/>
              </a:spcAft>
              <a:buSzPct val="100000"/>
              <a:buChar char="•"/>
            </a:pPr>
            <a:r>
              <a:rPr lang="en-US" sz="800" dirty="0">
                <a:solidFill>
                  <a:srgbClr val="3A4453"/>
                </a:solidFill>
              </a:rPr>
              <a:t>To still hit the 397k target those nine months have to make 391k. The plan only ever asked them for 175k.</a:t>
            </a:r>
            <a:endParaRPr lang="en-US" sz="800" dirty="0"/>
          </a:p>
          <a:p>
            <a:pPr marL="342900" indent="-342900">
              <a:lnSpc>
                <a:spcPts val="1000"/>
              </a:lnSpc>
              <a:spcAft>
                <a:spcPts val="400"/>
              </a:spcAft>
              <a:buSzPct val="100000"/>
              <a:buChar char="•"/>
            </a:pPr>
            <a:r>
              <a:rPr lang="en-US" sz="800" dirty="0">
                <a:solidFill>
                  <a:srgbClr val="3A4453"/>
                </a:solidFill>
              </a:rPr>
              <a:t>391k is 1.7 times what the whole of last year made, which was 235k. We will not get the year back.</a:t>
            </a:r>
            <a:endParaRPr lang="en-US" sz="800" dirty="0"/>
          </a:p>
          <a:p>
            <a:pPr marL="342900" indent="-342900">
              <a:lnSpc>
                <a:spcPts val="1000"/>
              </a:lnSpc>
              <a:spcAft>
                <a:spcPts val="400"/>
              </a:spcAft>
              <a:buSzPct val="100000"/>
              <a:buChar char="•"/>
            </a:pPr>
            <a:r>
              <a:rPr lang="en-US" sz="800" dirty="0">
                <a:solidFill>
                  <a:srgbClr val="3A4453"/>
                </a:solidFill>
              </a:rPr>
              <a:t>The problem is what we keep, not what we sell. Sales hit 81% of plan. What was left after direct costs hit only 69%.</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75123"/>
          </a:xfrm>
          <a:prstGeom prst="rect">
            <a:avLst/>
          </a:prstGeom>
        </p:spPr>
      </p:pic>
      <p:sp>
        <p:nvSpPr>
          <p:cNvPr id="5" name="Text 2"/>
          <p:cNvSpPr txBox="1"/>
          <p:nvPr/>
        </p:nvSpPr>
        <p:spPr>
          <a:xfrm>
            <a:off x="502920" y="31381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Support is the only department earning enough to cover its share of running costs. It made 29k on 243k of sales.</a:t>
            </a:r>
            <a:endParaRPr lang="en-US" sz="850" dirty="0"/>
          </a:p>
          <a:p>
            <a:pPr marL="342900" indent="-342900">
              <a:lnSpc>
                <a:spcPts val="1050"/>
              </a:lnSpc>
              <a:spcAft>
                <a:spcPts val="300"/>
              </a:spcAft>
              <a:buSzPct val="100000"/>
              <a:buChar char="•"/>
            </a:pPr>
            <a:r>
              <a:rPr lang="en-US" sz="850" dirty="0">
                <a:solidFill>
                  <a:srgbClr val="3A4453"/>
                </a:solidFill>
              </a:rPr>
              <a:t>Events is charged 111k of running costs and only billed 73k. It keeps 78% of what it sells and still loses 54k.</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Integration billed 235k against a 59k plan but keeps only 10% of it, so it made just 10k.</a:t>
            </a:r>
            <a:endParaRPr lang="en-US" sz="850" dirty="0"/>
          </a:p>
          <a:p>
            <a:pPr marL="342900" indent="-342900">
              <a:lnSpc>
                <a:spcPts val="1050"/>
              </a:lnSpc>
              <a:spcAft>
                <a:spcPts val="300"/>
              </a:spcAft>
              <a:buSzPct val="100000"/>
              <a:buChar char="•"/>
            </a:pPr>
            <a:r>
              <a:rPr lang="en-US" sz="850" dirty="0">
                <a:solidFill>
                  <a:srgbClr val="3A4453"/>
                </a:solidFill>
              </a:rPr>
              <a:t>Consulting is charged 20k of running costs and billed 4k. That needs a decision, not a forecast.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departments, Sep 26</a:t>
            </a:r>
            <a:endParaRPr lang="en-US" sz="2700" dirty="0"/>
          </a:p>
        </p:txBody>
      </p:sp>
      <p:pic>
        <p:nvPicPr>
          <p:cNvPr id="4" name="snip dept_three" descr="/home/user/Claude/deck/snips/dept_three.png">    </p:cNvPr>
          <p:cNvPicPr>
            <a:picLocks noChangeAspect="1"/>
          </p:cNvPicPr>
          <p:nvPr/>
        </p:nvPicPr>
        <p:blipFill>
          <a:blip r:embed="rId1"/>
          <a:stretch>
            <a:fillRect/>
          </a:stretch>
        </p:blipFill>
        <p:spPr>
          <a:xfrm>
            <a:off x="502920" y="1389888"/>
            <a:ext cx="8138160" cy="1316785"/>
          </a:xfrm>
          <a:prstGeom prst="rect">
            <a:avLst/>
          </a:prstGeom>
        </p:spPr>
      </p:pic>
      <p:sp>
        <p:nvSpPr>
          <p:cNvPr id="5" name="Text 2"/>
          <p:cNvSpPr txBox="1"/>
          <p:nvPr/>
        </p:nvSpPr>
        <p:spPr>
          <a:xfrm>
            <a:off x="502920" y="2779825"/>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8, the three departments the P&amp;L is built on.</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This is how the P&amp;L itself groups us. Production is Events and Video together. Consulting is Integration and Consulting together.</a:t>
            </a:r>
            <a:endParaRPr lang="en-US" sz="850" dirty="0"/>
          </a:p>
          <a:p>
            <a:pPr marL="342900" indent="-342900">
              <a:lnSpc>
                <a:spcPts val="1050"/>
              </a:lnSpc>
              <a:spcAft>
                <a:spcPts val="300"/>
              </a:spcAft>
              <a:buSzPct val="100000"/>
              <a:buChar char="•"/>
            </a:pPr>
            <a:r>
              <a:rPr lang="en-US" sz="850" dirty="0">
                <a:solidFill>
                  <a:srgbClr val="3A4453"/>
                </a:solidFill>
              </a:rPr>
              <a:t>Support made 29k on 243k of sales. It is the only one of the three that covers its own running costs.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Production sold 81k and keeps 78% of it, the best margin in the business, and still loses 61k on 124k of running costs.</a:t>
            </a:r>
            <a:endParaRPr lang="en-US" sz="850" dirty="0"/>
          </a:p>
          <a:p>
            <a:pPr marL="342900" indent="-342900">
              <a:lnSpc>
                <a:spcPts val="1050"/>
              </a:lnSpc>
              <a:spcAft>
                <a:spcPts val="300"/>
              </a:spcAft>
              <a:buSzPct val="100000"/>
              <a:buChar char="•"/>
            </a:pPr>
            <a:r>
              <a:rPr lang="en-US" sz="850" dirty="0">
                <a:solidFill>
                  <a:srgbClr val="3A4453"/>
                </a:solidFill>
              </a:rPr>
              <a:t>Consulting sold 238k against a 82k plan and keeps only 10%, so it still loses 9k.</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Billed 243k against 248k. Within 5k of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Keeps 42% of what it sells, the same as last September. Steady and predictable.</a:t>
            </a:r>
            <a:endParaRPr lang="en-US" sz="850" dirty="0"/>
          </a:p>
          <a:p>
            <a:pPr marL="342900" indent="-342900">
              <a:lnSpc>
                <a:spcPts val="1050"/>
              </a:lnSpc>
              <a:spcAft>
                <a:spcPts val="400"/>
              </a:spcAft>
              <a:buSzPct val="100000"/>
              <a:buChar char="•"/>
            </a:pPr>
            <a:r>
              <a:rPr lang="en-US" sz="850" dirty="0">
                <a:solidFill>
                  <a:srgbClr val="3A4453"/>
                </a:solidFill>
              </a:rPr>
              <a:t>After its 72k share of running costs it still made 29k. The only department that does.</a:t>
            </a:r>
            <a:endParaRPr lang="en-US" sz="850" dirty="0"/>
          </a:p>
          <a:p>
            <a:pPr marL="342900" indent="-342900">
              <a:lnSpc>
                <a:spcPts val="1050"/>
              </a:lnSpc>
              <a:spcAft>
                <a:spcPts val="400"/>
              </a:spcAft>
              <a:buSzPct val="100000"/>
              <a:buChar char="•"/>
            </a:pPr>
            <a:r>
              <a:rPr lang="en-US" sz="850" dirty="0">
                <a:solidFill>
                  <a:srgbClr val="3A4453"/>
                </a:solidFill>
              </a:rPr>
              <a:t>Of that share, 42,262 is office wages. Support picks up the most because it works the most hours.</a:t>
            </a:r>
            <a:endParaRPr lang="en-US" sz="850" dirty="0"/>
          </a:p>
          <a:p>
            <a:pPr marL="342900" indent="-342900">
              <a:lnSpc>
                <a:spcPts val="1050"/>
              </a:lnSpc>
              <a:spcAft>
                <a:spcPts val="400"/>
              </a:spcAft>
              <a:buSzPct val="100000"/>
              <a:buChar char="•"/>
            </a:pPr>
            <a:r>
              <a:rPr lang="en-US" sz="850" dirty="0">
                <a:solidFill>
                  <a:srgbClr val="3A4453"/>
                </a:solidFill>
              </a:rPr>
              <a:t>On the monthly report's basis Support bills 91% of the hours it is available for. The best in the business.</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73k against 66k, in a month between the busy results periods.</a:t>
            </a:r>
            <a:endParaRPr lang="en-US" sz="900" dirty="0"/>
          </a:p>
          <a:p>
            <a:pPr marL="342900" indent="-342900">
              <a:lnSpc>
                <a:spcPts val="1150"/>
              </a:lnSpc>
              <a:spcAft>
                <a:spcPts val="400"/>
              </a:spcAft>
              <a:buSzPct val="100000"/>
              <a:buChar char="•"/>
            </a:pPr>
            <a:r>
              <a:rPr lang="en-US" sz="900" dirty="0">
                <a:solidFill>
                  <a:srgbClr val="3A4453"/>
                </a:solidFill>
              </a:rPr>
              <a:t>Keeps 78% of what it sells, the second best in the business.</a:t>
            </a:r>
            <a:endParaRPr lang="en-US" sz="900" dirty="0"/>
          </a:p>
          <a:p>
            <a:pPr marL="342900" indent="-342900">
              <a:lnSpc>
                <a:spcPts val="1150"/>
              </a:lnSpc>
              <a:spcAft>
                <a:spcPts val="400"/>
              </a:spcAft>
              <a:buSzPct val="100000"/>
              <a:buChar char="•"/>
            </a:pPr>
            <a:r>
              <a:rPr lang="en-US" sz="900" dirty="0">
                <a:solidFill>
                  <a:srgbClr val="3A4453"/>
                </a:solidFill>
              </a:rPr>
              <a:t>And still loses 54k, because it is charged 111k of running costs on 73k of sales.</a:t>
            </a:r>
            <a:endParaRPr lang="en-US" sz="900" dirty="0"/>
          </a:p>
          <a:p>
            <a:pPr marL="342900" indent="-342900">
              <a:lnSpc>
                <a:spcPts val="1150"/>
              </a:lnSpc>
              <a:spcAft>
                <a:spcPts val="400"/>
              </a:spcAft>
              <a:buSzPct val="100000"/>
              <a:buChar char="•"/>
            </a:pPr>
            <a:r>
              <a:rPr lang="en-US" sz="900" dirty="0">
                <a:solidFill>
                  <a:srgbClr val="3A4453"/>
                </a:solidFill>
              </a:rPr>
              <a:t>72k of that is office cost, split on who uses the office. Events is not the department sitting in it.</a:t>
            </a:r>
            <a:endParaRPr lang="en-US" sz="900" dirty="0"/>
          </a:p>
          <a:p>
            <a:pPr marL="342900" indent="-342900">
              <a:lnSpc>
                <a:spcPts val="1150"/>
              </a:lnSpc>
              <a:spcAft>
                <a:spcPts val="400"/>
              </a:spcAft>
              <a:buSzPct val="100000"/>
              <a:buChar char="•"/>
            </a:pPr>
            <a:r>
              <a:rPr lang="en-US" sz="900" dirty="0">
                <a:solidFill>
                  <a:srgbClr val="3A4453"/>
                </a:solidFill>
              </a:rPr>
              <a:t>333 hours went to leave and only 241 onto jobs. The people were there, the work was not.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7k against 17k. Short of plan for the third month running.</a:t>
            </a:r>
            <a:endParaRPr lang="en-US" sz="950" dirty="0"/>
          </a:p>
          <a:p>
            <a:pPr marL="342900" indent="-342900">
              <a:lnSpc>
                <a:spcPts val="1200"/>
              </a:lnSpc>
              <a:spcAft>
                <a:spcPts val="400"/>
              </a:spcAft>
              <a:buSzPct val="100000"/>
              <a:buChar char="•"/>
            </a:pPr>
            <a:r>
              <a:rPr lang="en-US" sz="950" dirty="0">
                <a:solidFill>
                  <a:srgbClr val="3A4453"/>
                </a:solidFill>
              </a:rPr>
              <a:t>Keeps 80% of what it sells, the best margin in the business.</a:t>
            </a:r>
            <a:endParaRPr lang="en-US" sz="950" dirty="0"/>
          </a:p>
          <a:p>
            <a:pPr marL="342900" indent="-342900">
              <a:lnSpc>
                <a:spcPts val="1200"/>
              </a:lnSpc>
              <a:spcAft>
                <a:spcPts val="400"/>
              </a:spcAft>
              <a:buSzPct val="100000"/>
              <a:buChar char="•"/>
            </a:pPr>
            <a:r>
              <a:rPr lang="en-US" sz="950" dirty="0">
                <a:solidFill>
                  <a:srgbClr val="3A4453"/>
                </a:solidFill>
              </a:rPr>
              <a:t>But on 7k of sales that is only 6k, against 13k of running costs.</a:t>
            </a:r>
            <a:endParaRPr lang="en-US" sz="950" dirty="0"/>
          </a:p>
          <a:p>
            <a:pPr marL="342900" indent="-342900">
              <a:lnSpc>
                <a:spcPts val="1200"/>
              </a:lnSpc>
              <a:spcAft>
                <a:spcPts val="400"/>
              </a:spcAft>
              <a:buSzPct val="100000"/>
              <a:buChar char="•"/>
            </a:pPr>
            <a:r>
              <a:rPr lang="en-US" sz="950" dirty="0">
                <a:solidFill>
                  <a:srgbClr val="3A4453"/>
                </a:solidFill>
              </a:rPr>
              <a:t>The margin is not the problem. There is not enough work going through it.</a:t>
            </a:r>
            <a:endParaRPr lang="en-US" sz="950" dirty="0"/>
          </a:p>
          <a:p>
            <a:pPr marL="342900" indent="-342900">
              <a:lnSpc>
                <a:spcPts val="1200"/>
              </a:lnSpc>
              <a:spcAft>
                <a:spcPts val="400"/>
              </a:spcAft>
              <a:buSzPct val="100000"/>
              <a:buChar char="•"/>
            </a:pPr>
            <a:r>
              <a:rPr lang="en-US" sz="950" dirty="0">
                <a:solidFill>
                  <a:srgbClr val="3A4453"/>
                </a:solidFill>
              </a:rPr>
              <a:t>24.5 billable hours in the month. That is one person, part of the time.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235k against a 59k plan. Nearly all of it one installation job, now finished.</a:t>
            </a:r>
            <a:endParaRPr lang="en-US" sz="900" dirty="0"/>
          </a:p>
          <a:p>
            <a:pPr marL="342900" indent="-342900">
              <a:lnSpc>
                <a:spcPts val="1150"/>
              </a:lnSpc>
              <a:spcAft>
                <a:spcPts val="400"/>
              </a:spcAft>
              <a:buSzPct val="100000"/>
              <a:buChar char="•"/>
            </a:pPr>
            <a:r>
              <a:rPr lang="en-US" sz="900" dirty="0">
                <a:solidFill>
                  <a:srgbClr val="3A4453"/>
                </a:solidFill>
              </a:rPr>
              <a:t>Keeps only 10% of it. We bought the equipment and resold it, so the money went mostly to suppliers.</a:t>
            </a:r>
            <a:endParaRPr lang="en-US" sz="900" dirty="0"/>
          </a:p>
          <a:p>
            <a:pPr marL="342900" indent="-342900">
              <a:lnSpc>
                <a:spcPts val="1150"/>
              </a:lnSpc>
              <a:spcAft>
                <a:spcPts val="400"/>
              </a:spcAft>
              <a:buSzPct val="100000"/>
              <a:buChar char="•"/>
            </a:pPr>
            <a:r>
              <a:rPr lang="en-US" sz="900" dirty="0">
                <a:solidFill>
                  <a:srgbClr val="3A4453"/>
                </a:solidFill>
              </a:rPr>
              <a:t>235k of sales turned into 24k. Do not read the revenue line as a good month.</a:t>
            </a:r>
            <a:endParaRPr lang="en-US" sz="900" dirty="0"/>
          </a:p>
          <a:p>
            <a:pPr marL="342900" indent="-342900">
              <a:lnSpc>
                <a:spcPts val="1150"/>
              </a:lnSpc>
              <a:spcAft>
                <a:spcPts val="400"/>
              </a:spcAft>
              <a:buSzPct val="100000"/>
              <a:buChar char="•"/>
            </a:pPr>
            <a:r>
              <a:rPr lang="en-US" sz="900" dirty="0">
                <a:solidFill>
                  <a:srgbClr val="3A4453"/>
                </a:solidFill>
              </a:rPr>
              <a:t>It shows a 10k profit only because it carries almost no running costs, 13k.</a:t>
            </a:r>
            <a:endParaRPr lang="en-US" sz="900" dirty="0"/>
          </a:p>
          <a:p>
            <a:pPr marL="342900" indent="-342900">
              <a:lnSpc>
                <a:spcPts val="1150"/>
              </a:lnSpc>
              <a:spcAft>
                <a:spcPts val="400"/>
              </a:spcAft>
              <a:buSzPct val="100000"/>
              <a:buChar char="•"/>
            </a:pPr>
            <a:r>
              <a:rPr lang="en-US" sz="900" dirty="0">
                <a:solidFill>
                  <a:srgbClr val="3A4453"/>
                </a:solidFill>
              </a:rPr>
              <a:t>10 billable hours against 235k of sales. We resold, we did not deliver.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200"/>
              </a:lnSpc>
              <a:spcAft>
                <a:spcPts val="4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200"/>
              </a:lnSpc>
              <a:spcAft>
                <a:spcPts val="400"/>
              </a:spcAft>
              <a:buSzPct val="100000"/>
              <a:buChar char="•"/>
            </a:pPr>
            <a:r>
              <a:rPr lang="en-US" sz="950" dirty="0">
                <a:solidFill>
                  <a:srgbClr val="3A4453"/>
                </a:solidFill>
              </a:rPr>
              <a:t>84 hours went into work we cannot bill against 31 we can.</a:t>
            </a:r>
            <a:endParaRPr lang="en-US" sz="950" dirty="0"/>
          </a:p>
          <a:p>
            <a:pPr marL="342900" indent="-342900">
              <a:lnSpc>
                <a:spcPts val="1200"/>
              </a:lnSpc>
              <a:spcAft>
                <a:spcPts val="400"/>
              </a:spcAft>
              <a:buSzPct val="100000"/>
              <a:buChar char="•"/>
            </a:pPr>
            <a:r>
              <a:rPr lang="en-US" sz="950" dirty="0">
                <a:solidFill>
                  <a:srgbClr val="3A4453"/>
                </a:solidFill>
              </a:rPr>
              <a:t>Year to date it has billed 4k against a 237k plan.</a:t>
            </a:r>
            <a:endParaRPr lang="en-US" sz="950" dirty="0"/>
          </a:p>
          <a:p>
            <a:pPr marL="342900" indent="-342900">
              <a:lnSpc>
                <a:spcPts val="1200"/>
              </a:lnSpc>
              <a:spcAft>
                <a:spcPts val="4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Integration billed 235k against a 59k plan. Nearly all of it was one big installation job, now finished, so next month drops back.</a:t>
            </a:r>
            <a:endParaRPr lang="en-US" sz="850" dirty="0"/>
          </a:p>
          <a:p>
            <a:pPr marL="342900" indent="-342900">
              <a:lnSpc>
                <a:spcPts val="1050"/>
              </a:lnSpc>
              <a:spcAft>
                <a:spcPts val="400"/>
              </a:spcAft>
              <a:buSzPct val="100000"/>
              <a:buChar char="•"/>
            </a:pPr>
            <a:r>
              <a:rPr lang="en-US" sz="850" dirty="0">
                <a:solidFill>
                  <a:srgbClr val="3A4453"/>
                </a:solidFill>
              </a:rPr>
              <a:t>Support billed 243k against 248k. On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Events billed 73k against 66k, in a month that sits between the busy results periods.</a:t>
            </a:r>
            <a:endParaRPr lang="en-US" sz="850" dirty="0"/>
          </a:p>
          <a:p>
            <a:pPr marL="342900" indent="-342900">
              <a:lnSpc>
                <a:spcPts val="1050"/>
              </a:lnSpc>
              <a:spcAft>
                <a:spcPts val="400"/>
              </a:spcAft>
              <a:buSzPct val="100000"/>
              <a:buChar char="•"/>
            </a:pPr>
            <a:r>
              <a:rPr lang="en-US" sz="850" dirty="0">
                <a:solidFill>
                  <a:srgbClr val="3A4453"/>
                </a:solidFill>
              </a:rPr>
              <a:t>Video billed 7k against 17k and Consulting 4k against 23k. Both have been short every month this year.</a:t>
            </a:r>
            <a:endParaRPr lang="en-US" sz="850" dirty="0"/>
          </a:p>
          <a:p>
            <a:pPr marL="342900" indent="-342900">
              <a:lnSpc>
                <a:spcPts val="1050"/>
              </a:lnSpc>
              <a:spcAft>
                <a:spcPts val="400"/>
              </a:spcAft>
              <a:buSzPct val="100000"/>
              <a:buChar char="•"/>
            </a:pPr>
            <a:r>
              <a:rPr lang="en-US" sz="850" dirty="0">
                <a:solidFill>
                  <a:srgbClr val="3A4453"/>
                </a:solidFill>
              </a:rPr>
              <a:t>Company sales are 58% up on last September. We are selling more than last year and keeping less of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Wages for people on jobs (621)k, and wages for everyone else (369)k. Together that is most of what we spend.</a:t>
            </a:r>
            <a:endParaRPr lang="en-US" sz="850" dirty="0"/>
          </a:p>
          <a:p>
            <a:pPr marL="342900" indent="-342900">
              <a:lnSpc>
                <a:spcPts val="1050"/>
              </a:lnSpc>
              <a:spcAft>
                <a:spcPts val="400"/>
              </a:spcAft>
              <a:buSzPct val="100000"/>
              <a:buChar char="•"/>
            </a:pPr>
            <a:r>
              <a:rPr lang="en-US" sz="850" dirty="0">
                <a:solidFill>
                  <a:srgbClr val="3A4453"/>
                </a:solidFill>
              </a:rPr>
              <a:t>Wages are what this business spends its money on. Everything else is small next to them.</a:t>
            </a:r>
            <a:endParaRPr lang="en-US" sz="850" dirty="0"/>
          </a:p>
          <a:p>
            <a:pPr marL="342900" indent="-342900">
              <a:lnSpc>
                <a:spcPts val="1050"/>
              </a:lnSpc>
              <a:spcAft>
                <a:spcPts val="400"/>
              </a:spcAft>
              <a:buSzPct val="100000"/>
              <a:buChar char="•"/>
            </a:pPr>
            <a:r>
              <a:rPr lang="en-US" sz="850" dirty="0">
                <a:solidFill>
                  <a:srgbClr val="3A4453"/>
                </a:solidFill>
              </a:rPr>
              <a:t>The (369)k of wages for people not on jobs is the same every month. When sales drop this does not, so a bad month lands straight on the profit.</a:t>
            </a:r>
            <a:endParaRPr lang="en-US" sz="850" dirty="0"/>
          </a:p>
          <a:p>
            <a:pPr marL="342900" indent="-342900">
              <a:lnSpc>
                <a:spcPts val="1050"/>
              </a:lnSpc>
              <a:spcAft>
                <a:spcPts val="400"/>
              </a:spcAft>
              <a:buSzPct val="100000"/>
              <a:buChar char="•"/>
            </a:pPr>
            <a:r>
              <a:rPr lang="en-US" sz="850" dirty="0">
                <a:solidFill>
                  <a:srgbClr val="3A4453"/>
                </a:solidFill>
              </a:rPr>
              <a:t>Equipment and services at (347)k is the only cost that rises and falls with the work.</a:t>
            </a:r>
            <a:endParaRPr lang="en-US" sz="850" dirty="0"/>
          </a:p>
          <a:p>
            <a:pPr marL="342900" indent="-342900">
              <a:lnSpc>
                <a:spcPts val="1050"/>
              </a:lnSpc>
              <a:spcAft>
                <a:spcPts val="400"/>
              </a:spcAft>
              <a:buSzPct val="100000"/>
              <a:buChar char="•"/>
            </a:pPr>
            <a:r>
              <a:rPr lang="en-US" sz="850" dirty="0">
                <a:solidFill>
                  <a:srgbClr val="3A4453"/>
                </a:solidFill>
              </a:rPr>
              <a:t>If we have to cut cost it is people or the office. Nothing else is big enough to matter.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office is the big one: rent (62)k plus outgoings (15)k, 77k together.</a:t>
            </a:r>
            <a:endParaRPr lang="en-US" sz="900" dirty="0"/>
          </a:p>
          <a:p>
            <a:pPr marL="342900" indent="-342900">
              <a:lnSpc>
                <a:spcPts val="1150"/>
              </a:lnSpc>
              <a:spcAft>
                <a:spcPts val="400"/>
              </a:spcAft>
              <a:buSzPct val="100000"/>
              <a:buChar char="•"/>
            </a:pPr>
            <a:r>
              <a:rPr lang="en-US" sz="900" dirty="0">
                <a:solidFill>
                  <a:srgbClr val="3A4453"/>
                </a:solidFill>
              </a:rPr>
              <a:t>IT support at (40)k is next, and the only one that moves much month to month.</a:t>
            </a:r>
            <a:endParaRPr lang="en-US" sz="900" dirty="0"/>
          </a:p>
          <a:p>
            <a:pPr marL="342900" indent="-342900">
              <a:lnSpc>
                <a:spcPts val="1150"/>
              </a:lnSpc>
              <a:spcAft>
                <a:spcPts val="400"/>
              </a:spcAft>
              <a:buSzPct val="100000"/>
              <a:buChar char="•"/>
            </a:pPr>
            <a:r>
              <a:rPr lang="en-US" sz="900" dirty="0">
                <a:solidFill>
                  <a:srgbClr val="3A4453"/>
                </a:solidFill>
              </a:rPr>
              <a:t>Everything below the top three is under six thousand across a full quarter.</a:t>
            </a:r>
            <a:endParaRPr lang="en-US" sz="900" dirty="0"/>
          </a:p>
          <a:p>
            <a:pPr marL="342900" indent="-342900">
              <a:lnSpc>
                <a:spcPts val="1150"/>
              </a:lnSpc>
              <a:spcAft>
                <a:spcPts val="400"/>
              </a:spcAft>
              <a:buSzPct val="100000"/>
              <a:buChar char="•"/>
            </a:pPr>
            <a:r>
              <a:rPr lang="en-US" sz="900" dirty="0">
                <a:solidFill>
                  <a:srgbClr val="3A4453"/>
                </a:solidFill>
              </a:rPr>
              <a:t>There is nothing worth saving further down the list. Do not spend management time there.</a:t>
            </a:r>
            <a:endParaRPr lang="en-US" sz="900" dirty="0"/>
          </a:p>
          <a:p>
            <a:pPr marL="342900" indent="-342900">
              <a:lnSpc>
                <a:spcPts val="1150"/>
              </a:lnSpc>
              <a:spcAft>
                <a:spcPts val="400"/>
              </a:spcAft>
              <a:buSzPct val="100000"/>
              <a:buChar char="•"/>
            </a:pPr>
            <a:r>
              <a:rPr lang="en-US" sz="900" dirty="0">
                <a:solidFill>
                  <a:srgbClr val="3A4453"/>
                </a:solidFill>
              </a:rPr>
              <a:t>The office is the only real saving here, and that is a lease decision, not a budget one.</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Labour on jobs splits two ways: our own staff, and contractors we bring in.</a:t>
            </a:r>
            <a:endParaRPr lang="en-US" sz="850" dirty="0"/>
          </a:p>
          <a:p>
            <a:pPr marL="342900" indent="-342900">
              <a:lnSpc>
                <a:spcPts val="1050"/>
              </a:lnSpc>
              <a:spcAft>
                <a:spcPts val="400"/>
              </a:spcAft>
              <a:buSzPct val="100000"/>
              <a:buChar char="•"/>
            </a:pPr>
            <a:r>
              <a:rPr lang="en-US" sz="850" dirty="0">
                <a:solidFill>
                  <a:srgbClr val="3A4453"/>
                </a:solidFill>
              </a:rPr>
              <a:t>Salaries, wages and super are most of it, and we are committed to paying them.</a:t>
            </a:r>
            <a:endParaRPr lang="en-US" sz="850" dirty="0"/>
          </a:p>
          <a:p>
            <a:pPr marL="342900" indent="-342900">
              <a:lnSpc>
                <a:spcPts val="1050"/>
              </a:lnSpc>
              <a:spcAft>
                <a:spcPts val="400"/>
              </a:spcAft>
              <a:buSzPct val="100000"/>
              <a:buChar char="•"/>
            </a:pPr>
            <a:r>
              <a:rPr lang="en-US" sz="850" dirty="0">
                <a:solidFill>
                  <a:srgbClr val="3A4453"/>
                </a:solidFill>
              </a:rPr>
              <a:t>Contractors are the only labour cost that goes up and down with the work.</a:t>
            </a:r>
            <a:endParaRPr lang="en-US" sz="850" dirty="0"/>
          </a:p>
          <a:p>
            <a:pPr marL="342900" indent="-342900">
              <a:lnSpc>
                <a:spcPts val="1050"/>
              </a:lnSpc>
              <a:spcAft>
                <a:spcPts val="400"/>
              </a:spcAft>
              <a:buSzPct val="100000"/>
              <a:buChar char="•"/>
            </a:pPr>
            <a:r>
              <a:rPr lang="en-US" sz="850" dirty="0">
                <a:solidFill>
                  <a:srgbClr val="3A4453"/>
                </a:solidFill>
              </a:rPr>
              <a:t>It rises when our own team runs out of hours, so watch it against the utilisation page.</a:t>
            </a:r>
            <a:endParaRPr lang="en-US" sz="850" dirty="0"/>
          </a:p>
          <a:p>
            <a:pPr marL="342900" indent="-342900">
              <a:lnSpc>
                <a:spcPts val="1050"/>
              </a:lnSpc>
              <a:spcAft>
                <a:spcPts val="400"/>
              </a:spcAft>
              <a:buSzPct val="100000"/>
              <a:buChar char="•"/>
            </a:pPr>
            <a:r>
              <a:rPr lang="en-US" sz="850" dirty="0">
                <a:solidFill>
                  <a:srgbClr val="3A4453"/>
                </a:solidFill>
              </a:rPr>
              <a:t>We pay for every hour worked. We only bill the hours spent on jobs. The difference is profit we never make.</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5629"/>
          </a:xfrm>
          <a:prstGeom prst="rect">
            <a:avLst/>
          </a:prstGeom>
        </p:spPr>
      </p:pic>
      <p:sp>
        <p:nvSpPr>
          <p:cNvPr id="5" name="Text 2"/>
          <p:cNvSpPr txBox="1"/>
          <p:nvPr/>
        </p:nvSpPr>
        <p:spPr>
          <a:xfrm>
            <a:off x="502920" y="3638669"/>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63,077 of office wages this month, and all of it is charged out to the departments.</a:t>
            </a:r>
            <a:endParaRPr lang="en-US" sz="850" dirty="0"/>
          </a:p>
          <a:p>
            <a:pPr marL="342900" indent="-342900">
              <a:lnSpc>
                <a:spcPts val="1050"/>
              </a:lnSpc>
              <a:spcAft>
                <a:spcPts val="300"/>
              </a:spcAft>
              <a:buSzPct val="100000"/>
              <a:buChar char="•"/>
            </a:pPr>
            <a:r>
              <a:rPr lang="en-US" sz="850" dirty="0">
                <a:solidFill>
                  <a:srgbClr val="3A4453"/>
                </a:solidFill>
              </a:rPr>
              <a:t>Support picks up 67% of it, based on its share of hours worked over the last twelve months.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Events pays more for its own staff, 35,665, than it does for office staff.</a:t>
            </a:r>
            <a:endParaRPr lang="en-US" sz="850" dirty="0"/>
          </a:p>
          <a:p>
            <a:pPr marL="342900" indent="-342900">
              <a:lnSpc>
                <a:spcPts val="1050"/>
              </a:lnSpc>
              <a:spcAft>
                <a:spcPts val="300"/>
              </a:spcAft>
              <a:buSzPct val="100000"/>
              <a:buChar char="•"/>
            </a:pPr>
            <a:r>
              <a:rPr lang="en-US" sz="850" dirty="0">
                <a:solidFill>
                  <a:srgbClr val="3A4453"/>
                </a:solidFill>
              </a:rPr>
              <a:t>Integration picks up almost no office wages, because almost no hours were booked to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8123"/>
          </a:xfrm>
          <a:prstGeom prst="rect">
            <a:avLst/>
          </a:prstGeom>
        </p:spPr>
      </p:pic>
      <p:sp>
        <p:nvSpPr>
          <p:cNvPr id="5" name="Text 2"/>
          <p:cNvSpPr txBox="1"/>
          <p:nvPr/>
        </p:nvSpPr>
        <p:spPr>
          <a:xfrm>
            <a:off x="502920" y="433602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three red bars are 49% of everything we sold this year.</a:t>
            </a:r>
            <a:endParaRPr lang="en-US" sz="900" dirty="0"/>
          </a:p>
          <a:p>
            <a:pPr marL="342900" indent="-342900">
              <a:lnSpc>
                <a:spcPts val="1150"/>
              </a:lnSpc>
              <a:spcAft>
                <a:spcPts val="400"/>
              </a:spcAft>
              <a:buSzPct val="100000"/>
              <a:buChar char="•"/>
            </a:pPr>
            <a:r>
              <a:rPr lang="en-US" sz="900" dirty="0">
                <a:solidFill>
                  <a:srgbClr val="3A4453"/>
                </a:solidFill>
              </a:rPr>
              <a:t>All ten together are 76%. Every other customer we have is the remaining 24%.</a:t>
            </a:r>
            <a:endParaRPr lang="en-US" sz="900" dirty="0"/>
          </a:p>
          <a:p>
            <a:pPr marL="342900" indent="-342900">
              <a:lnSpc>
                <a:spcPts val="1150"/>
              </a:lnSpc>
              <a:spcAft>
                <a:spcPts val="400"/>
              </a:spcAft>
              <a:buSzPct val="100000"/>
              <a:buChar char="•"/>
            </a:pPr>
            <a:r>
              <a:rPr lang="en-US" sz="900" dirty="0">
                <a:solidFill>
                  <a:srgbClr val="3A4453"/>
                </a:solidFill>
              </a:rPr>
              <a:t>Deloitte Services at 401,755 is 25% on its own. Losing them would wipe out more than the whole year's profit plan.</a:t>
            </a:r>
            <a:endParaRPr lang="en-US" sz="900" dirty="0"/>
          </a:p>
          <a:p>
            <a:pPr marL="342900" indent="-342900">
              <a:lnSpc>
                <a:spcPts val="1150"/>
              </a:lnSpc>
              <a:spcAft>
                <a:spcPts val="400"/>
              </a:spcAft>
              <a:buSzPct val="100000"/>
              <a:buChar char="•"/>
            </a:pPr>
            <a:r>
              <a:rPr lang="en-US" sz="900" dirty="0">
                <a:solidFill>
                  <a:srgbClr val="3A4453"/>
                </a:solidFill>
              </a:rPr>
              <a:t>Aware Super came from nothing to 285,075 in a quarter, and nearly all of it was one job in September.</a:t>
            </a:r>
            <a:endParaRPr lang="en-US" sz="900" dirty="0"/>
          </a:p>
          <a:p>
            <a:pPr marL="342900" indent="-342900">
              <a:lnSpc>
                <a:spcPts val="1150"/>
              </a:lnSpc>
              <a:spcAft>
                <a:spcPts val="400"/>
              </a:spcAft>
              <a:buSzPct val="100000"/>
              <a:buChar char="•"/>
            </a:pPr>
            <a:r>
              <a:rPr lang="en-US" sz="900" dirty="0">
                <a:solidFill>
                  <a:srgbClr val="3A4453"/>
                </a:solidFill>
              </a:rPr>
              <a:t>After the top five it falls away fast. Number ten is only 37,166.</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50"/>
              </a:lnSpc>
              <a:spcAft>
                <a:spcPts val="400"/>
              </a:spcAft>
              <a:buSzPct val="100000"/>
              <a:buChar char="•"/>
            </a:pPr>
            <a:r>
              <a:rPr lang="en-US" sz="1000" dirty="0">
                <a:solidFill>
                  <a:srgbClr val="3A4453"/>
                </a:solidFill>
              </a:rPr>
              <a:t>Customers take 47 days to pay us. We want 30.</a:t>
            </a:r>
            <a:endParaRPr lang="en-US" sz="1000" dirty="0"/>
          </a:p>
          <a:p>
            <a:pPr marL="342900" indent="-342900">
              <a:lnSpc>
                <a:spcPts val="1250"/>
              </a:lnSpc>
              <a:spcAft>
                <a:spcPts val="4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250"/>
              </a:lnSpc>
              <a:spcAft>
                <a:spcPts val="400"/>
              </a:spcAft>
              <a:buSzPct val="100000"/>
              <a:buChar char="•"/>
            </a:pPr>
            <a:r>
              <a:rPr lang="en-US" sz="1000" dirty="0">
                <a:solidFill>
                  <a:srgbClr val="3A4453"/>
                </a:solidFill>
              </a:rPr>
              <a:t>In money, 303,605 that should be ours already.</a:t>
            </a:r>
            <a:endParaRPr lang="en-US" sz="1000" dirty="0"/>
          </a:p>
          <a:p>
            <a:pPr marL="342900" indent="-342900">
              <a:lnSpc>
                <a:spcPts val="1250"/>
              </a:lnSpc>
              <a:spcAft>
                <a:spcPts val="400"/>
              </a:spcAft>
              <a:buSzPct val="100000"/>
              <a:buChar char="•"/>
            </a:pPr>
            <a:r>
              <a:rPr lang="en-US" sz="1000" dirty="0">
                <a:solidFill>
                  <a:srgbClr val="3A4453"/>
                </a:solidFill>
              </a:rPr>
              <a:t>Every single day we pull that back brings in 17,657.</a:t>
            </a:r>
            <a:endParaRPr lang="en-US" sz="1000" dirty="0"/>
          </a:p>
          <a:p>
            <a:pPr marL="342900" indent="-342900">
              <a:lnSpc>
                <a:spcPts val="1250"/>
              </a:lnSpc>
              <a:spcAft>
                <a:spcPts val="4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200"/>
              </a:lnSpc>
              <a:spcAft>
                <a:spcPts val="4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200"/>
              </a:lnSpc>
              <a:spcAft>
                <a:spcPts val="400"/>
              </a:spcAft>
              <a:buSzPct val="100000"/>
              <a:buChar char="•"/>
            </a:pPr>
            <a:r>
              <a:rPr lang="en-US" sz="950" dirty="0">
                <a:solidFill>
                  <a:srgbClr val="3A4453"/>
                </a:solidFill>
              </a:rPr>
              <a:t>29% of what we are owed is already late, 244,538.</a:t>
            </a:r>
            <a:endParaRPr lang="en-US" sz="950" dirty="0"/>
          </a:p>
          <a:p>
            <a:pPr marL="342900" indent="-342900">
              <a:lnSpc>
                <a:spcPts val="1200"/>
              </a:lnSpc>
              <a:spcAft>
                <a:spcPts val="4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200"/>
              </a:lnSpc>
              <a:spcAft>
                <a:spcPts val="4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Chargeable per cent, Production and Consulting</a:t>
            </a:r>
            <a:endParaRPr lang="en-US" sz="2700" dirty="0"/>
          </a:p>
        </p:txBody>
      </p:sp>
      <p:pic>
        <p:nvPicPr>
          <p:cNvPr id="4" name="snip util_her_a" descr="/home/user/Claude/deck/snips/util_her_a.png">    </p:cNvPr>
          <p:cNvPicPr>
            <a:picLocks noChangeAspect="1"/>
          </p:cNvPicPr>
          <p:nvPr/>
        </p:nvPicPr>
        <p:blipFill>
          <a:blip r:embed="rId1"/>
          <a:stretch>
            <a:fillRect/>
          </a:stretch>
        </p:blipFill>
        <p:spPr>
          <a:xfrm>
            <a:off x="977022" y="1444752"/>
            <a:ext cx="4629635"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Chargeable per cent against target, the Utilisation Report basis.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This is the monthly Utilisation Report's own calculation. Billable hours divided by the hours each person was available for, so leave and public holidays count against it.</a:t>
            </a:r>
            <a:endParaRPr lang="en-US" sz="800" dirty="0"/>
          </a:p>
          <a:p>
            <a:pPr marL="342900" indent="-342900">
              <a:lnSpc>
                <a:spcPts val="1000"/>
              </a:lnSpc>
              <a:spcAft>
                <a:spcPts val="400"/>
              </a:spcAft>
              <a:buSzPct val="100000"/>
              <a:buChar char="•"/>
            </a:pPr>
            <a:r>
              <a:rPr lang="en-US" sz="800" dirty="0">
                <a:solidFill>
                  <a:srgbClr val="3A4453"/>
                </a:solidFill>
              </a:rPr>
              <a:t>Production 30% against a 67% target. That is 36.8% under, the worst gap in the business.</a:t>
            </a:r>
            <a:endParaRPr lang="en-US" sz="800" dirty="0"/>
          </a:p>
          <a:p>
            <a:pPr marL="342900" indent="-342900">
              <a:lnSpc>
                <a:spcPts val="1000"/>
              </a:lnSpc>
              <a:spcAft>
                <a:spcPts val="400"/>
              </a:spcAft>
              <a:buSzPct val="100000"/>
              <a:buChar char="•"/>
            </a:pPr>
            <a:r>
              <a:rPr lang="en-US" sz="800" dirty="0">
                <a:solidFill>
                  <a:srgbClr val="3A4453"/>
                </a:solidFill>
              </a:rPr>
              <a:t>Leave took 38% of Production's available hours this month. That is the single biggest cause.</a:t>
            </a:r>
            <a:endParaRPr lang="en-US" sz="800" dirty="0"/>
          </a:p>
          <a:p>
            <a:pPr marL="342900" indent="-342900">
              <a:lnSpc>
                <a:spcPts val="1000"/>
              </a:lnSpc>
              <a:spcAft>
                <a:spcPts val="400"/>
              </a:spcAft>
              <a:buSzPct val="100000"/>
              <a:buChar char="•"/>
            </a:pPr>
            <a:r>
              <a:rPr lang="en-US" sz="800" dirty="0">
                <a:solidFill>
                  <a:srgbClr val="3A4453"/>
                </a:solidFill>
              </a:rPr>
              <a:t>Consulting 23% against 50%, so 27.0% under on a target already set low.</a:t>
            </a:r>
            <a:endParaRPr lang="en-US" sz="800" dirty="0"/>
          </a:p>
          <a:p>
            <a:pPr marL="342900" indent="-342900">
              <a:lnSpc>
                <a:spcPts val="1000"/>
              </a:lnSpc>
              <a:spcAft>
                <a:spcPts val="400"/>
              </a:spcAft>
              <a:buSzPct val="100000"/>
              <a:buChar char="•"/>
            </a:pPr>
            <a:r>
              <a:rPr lang="en-US" sz="800" dirty="0">
                <a:solidFill>
                  <a:srgbClr val="3A4453"/>
                </a:solidFill>
              </a:rPr>
              <a:t>Three person groups, not five. Nobody is assigned to Video or Integration; their work is done by Production and Consulting people.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Chargeable per cent, Support and the company</a:t>
            </a:r>
            <a:endParaRPr lang="en-US" sz="2700" dirty="0"/>
          </a:p>
        </p:txBody>
      </p:sp>
      <p:pic>
        <p:nvPicPr>
          <p:cNvPr id="4" name="snip util_her_b" descr="/home/user/Claude/deck/snips/util_her_b.png">    </p:cNvPr>
          <p:cNvPicPr>
            <a:picLocks noChangeAspect="1"/>
          </p:cNvPicPr>
          <p:nvPr/>
        </p:nvPicPr>
        <p:blipFill>
          <a:blip r:embed="rId1"/>
          <a:stretch>
            <a:fillRect/>
          </a:stretch>
        </p:blipFill>
        <p:spPr>
          <a:xfrm>
            <a:off x="977022" y="1444752"/>
            <a:ext cx="4629635"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Chargeable per cent against target, the Utilisation Report basis.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Support 91% against an 88% target, so it is 3.2% over. The only group ahead of its own target.</a:t>
            </a:r>
            <a:endParaRPr lang="en-US" sz="950" dirty="0"/>
          </a:p>
          <a:p>
            <a:pPr marL="342900" indent="-342900">
              <a:lnSpc>
                <a:spcPts val="1200"/>
              </a:lnSpc>
              <a:spcAft>
                <a:spcPts val="400"/>
              </a:spcAft>
              <a:buSzPct val="100000"/>
              <a:buChar char="•"/>
            </a:pPr>
            <a:r>
              <a:rPr lang="en-US" sz="950" dirty="0">
                <a:solidFill>
                  <a:srgbClr val="3A4453"/>
                </a:solidFill>
              </a:rPr>
              <a:t>It has been over target all three months: 1.4%, 5.8% and 3.2%.</a:t>
            </a:r>
            <a:endParaRPr lang="en-US" sz="950" dirty="0"/>
          </a:p>
          <a:p>
            <a:pPr marL="342900" indent="-342900">
              <a:lnSpc>
                <a:spcPts val="1200"/>
              </a:lnSpc>
              <a:spcAft>
                <a:spcPts val="400"/>
              </a:spcAft>
              <a:buSzPct val="100000"/>
              <a:buChar char="•"/>
            </a:pPr>
            <a:r>
              <a:rPr lang="en-US" sz="950" dirty="0">
                <a:solidFill>
                  <a:srgbClr val="3A4453"/>
                </a:solidFill>
              </a:rPr>
              <a:t>The company is 72% against 81%, which is 9.0% under.</a:t>
            </a:r>
            <a:endParaRPr lang="en-US" sz="950" dirty="0"/>
          </a:p>
          <a:p>
            <a:pPr marL="342900" indent="-342900">
              <a:lnSpc>
                <a:spcPts val="1200"/>
              </a:lnSpc>
              <a:spcAft>
                <a:spcPts val="400"/>
              </a:spcAft>
              <a:buSzPct val="100000"/>
              <a:buChar char="•"/>
            </a:pPr>
            <a:r>
              <a:rPr lang="en-US" sz="950" dirty="0">
                <a:solidFill>
                  <a:srgbClr val="3A4453"/>
                </a:solidFill>
              </a:rPr>
              <a:t>Leave took 18% of the company's available hours this month, against 7% in August.</a:t>
            </a:r>
            <a:endParaRPr lang="en-US" sz="950" dirty="0"/>
          </a:p>
          <a:p>
            <a:pPr marL="342900" indent="-342900">
              <a:lnSpc>
                <a:spcPts val="1200"/>
              </a:lnSpc>
              <a:spcAft>
                <a:spcPts val="400"/>
              </a:spcAft>
              <a:buSzPct val="100000"/>
              <a:buChar char="•"/>
            </a:pPr>
            <a:r>
              <a:rPr lang="en-US" sz="950" dirty="0">
                <a:solidFill>
                  <a:srgbClr val="3A4453"/>
                </a:solidFill>
              </a:rPr>
              <a:t>Five more points across Support and Production is the cheapest money in this pack. It costs nothing extra.</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Support and Events</a:t>
            </a:r>
            <a:endParaRPr lang="en-US" sz="2700" dirty="0"/>
          </a:p>
        </p:txBody>
      </p:sp>
      <p:pic>
        <p:nvPicPr>
          <p:cNvPr id="4" name="snip util_pct_a" descr="/home/user/Claude/deck/snips/util_pct_a.png">    </p:cNvPr>
          <p:cNvPicPr>
            <a:picLocks noChangeAspect="1"/>
          </p:cNvPicPr>
          <p:nvPr/>
        </p:nvPicPr>
        <p:blipFill>
          <a:blip r:embed="rId1"/>
          <a:stretch>
            <a:fillRect/>
          </a:stretch>
        </p:blipFill>
        <p:spPr>
          <a:xfrm>
            <a:off x="502920" y="1444752"/>
            <a:ext cx="5577840" cy="2633447"/>
          </a:xfrm>
          <a:prstGeom prst="rect">
            <a:avLst/>
          </a:prstGeom>
        </p:spPr>
      </p:pic>
      <p:sp>
        <p:nvSpPr>
          <p:cNvPr id="5" name="Text 2"/>
          <p:cNvSpPr txBox="1"/>
          <p:nvPr/>
        </p:nvSpPr>
        <p:spPr>
          <a:xfrm>
            <a:off x="502920" y="41513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 The pack calls these two cost centres Onsite and Production.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This is the calculation itself. Hours worked, how many went on jobs, the percentage that gives, and the headcount those hours represent.</a:t>
            </a:r>
            <a:endParaRPr lang="en-US" sz="800" dirty="0"/>
          </a:p>
          <a:p>
            <a:pPr marL="342900" indent="-342900">
              <a:lnSpc>
                <a:spcPts val="1000"/>
              </a:lnSpc>
              <a:spcAft>
                <a:spcPts val="400"/>
              </a:spcAft>
              <a:buSzPct val="100000"/>
              <a:buChar char="•"/>
            </a:pPr>
            <a:r>
              <a:rPr lang="en-US" sz="800" dirty="0">
                <a:solidFill>
                  <a:srgbClr val="3A4453"/>
                </a:solidFill>
              </a:rPr>
              <a:t>Utilisation per cent is billable hours divided by hours worked. Leave is left out, because nobody can bill leave.</a:t>
            </a:r>
            <a:endParaRPr lang="en-US" sz="800" dirty="0"/>
          </a:p>
          <a:p>
            <a:pPr marL="342900" indent="-342900">
              <a:lnSpc>
                <a:spcPts val="1000"/>
              </a:lnSpc>
              <a:spcAft>
                <a:spcPts val="400"/>
              </a:spcAft>
              <a:buSzPct val="100000"/>
              <a:buChar char="•"/>
            </a:pPr>
            <a:r>
              <a:rPr lang="en-US" sz="800" dirty="0">
                <a:solidFill>
                  <a:srgbClr val="3A4453"/>
                </a:solidFill>
              </a:rPr>
              <a:t>FTE is hours worked divided by the working hours in the month, so 1.0 is one full time person.</a:t>
            </a:r>
            <a:endParaRPr lang="en-US" sz="800" dirty="0"/>
          </a:p>
          <a:p>
            <a:pPr marL="342900" indent="-342900">
              <a:lnSpc>
                <a:spcPts val="1000"/>
              </a:lnSpc>
              <a:spcAft>
                <a:spcPts val="400"/>
              </a:spcAft>
              <a:buSzPct val="100000"/>
              <a:buChar char="•"/>
            </a:pPr>
            <a:r>
              <a:rPr lang="en-US" sz="800" dirty="0">
                <a:solidFill>
                  <a:srgbClr val="3A4453"/>
                </a:solidFill>
              </a:rPr>
              <a:t>This page is the hours record, grouped by the job the work was for. The Chargeable per cent the monthly report uses is on the slide before.</a:t>
            </a:r>
            <a:endParaRPr lang="en-US" sz="800" dirty="0"/>
          </a:p>
          <a:p>
            <a:pPr marL="342900" indent="-342900">
              <a:lnSpc>
                <a:spcPts val="1000"/>
              </a:lnSpc>
              <a:spcAft>
                <a:spcPts val="400"/>
              </a:spcAft>
              <a:buSzPct val="100000"/>
              <a:buChar char="•"/>
            </a:pPr>
            <a:r>
              <a:rPr lang="en-US" sz="800" dirty="0">
                <a:solidFill>
                  <a:srgbClr val="3A4453"/>
                </a:solidFill>
              </a:rPr>
              <a:t>Support billed 2,132 hours. Events billed 241 and lost 333 to leave.</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Utilisation, Video, Integration and Consulting</a:t>
            </a:r>
            <a:endParaRPr lang="en-US" sz="2700" dirty="0"/>
          </a:p>
        </p:txBody>
      </p:sp>
      <p:pic>
        <p:nvPicPr>
          <p:cNvPr id="4" name="snip util_pct_b" descr="/home/user/Claude/deck/snips/util_pct_b.png">    </p:cNvPr>
          <p:cNvPicPr>
            <a:picLocks noChangeAspect="1"/>
          </p:cNvPicPr>
          <p:nvPr/>
        </p:nvPicPr>
        <p:blipFill>
          <a:blip r:embed="rId1"/>
          <a:stretch>
            <a:fillRect/>
          </a:stretch>
        </p:blipFill>
        <p:spPr>
          <a:xfrm>
            <a:off x="523192" y="1444752"/>
            <a:ext cx="5537295"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utilisation per cent and FTE, July to September.</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Read these three as hours, not as percentages. The volumes are too small for a percentage to mean much.</a:t>
            </a:r>
            <a:endParaRPr lang="en-US" sz="900" dirty="0"/>
          </a:p>
          <a:p>
            <a:pPr marL="342900" indent="-342900">
              <a:lnSpc>
                <a:spcPts val="1150"/>
              </a:lnSpc>
              <a:spcAft>
                <a:spcPts val="400"/>
              </a:spcAft>
              <a:buSzPct val="100000"/>
              <a:buChar char="•"/>
            </a:pPr>
            <a:r>
              <a:rPr lang="en-US" sz="900" dirty="0">
                <a:solidFill>
                  <a:srgbClr val="3A4453"/>
                </a:solidFill>
              </a:rPr>
              <a:t>Integration shows 100% on 9.5 billable hours. That is one day of work, not a result.</a:t>
            </a:r>
            <a:endParaRPr lang="en-US" sz="900" dirty="0"/>
          </a:p>
          <a:p>
            <a:pPr marL="342900" indent="-342900">
              <a:lnSpc>
                <a:spcPts val="1150"/>
              </a:lnSpc>
              <a:spcAft>
                <a:spcPts val="400"/>
              </a:spcAft>
              <a:buSzPct val="100000"/>
              <a:buChar char="•"/>
            </a:pPr>
            <a:r>
              <a:rPr lang="en-US" sz="900" dirty="0">
                <a:solidFill>
                  <a:srgbClr val="3A4453"/>
                </a:solidFill>
              </a:rPr>
              <a:t>Video put 24.5 hours on jobs, about 0.18 of a full time person.</a:t>
            </a:r>
            <a:endParaRPr lang="en-US" sz="900" dirty="0"/>
          </a:p>
          <a:p>
            <a:pPr marL="342900" indent="-342900">
              <a:lnSpc>
                <a:spcPts val="1150"/>
              </a:lnSpc>
              <a:spcAft>
                <a:spcPts val="400"/>
              </a:spcAft>
              <a:buSzPct val="100000"/>
              <a:buChar char="•"/>
            </a:pPr>
            <a:r>
              <a:rPr lang="en-US" sz="900" dirty="0">
                <a:solidFill>
                  <a:srgbClr val="3A4453"/>
                </a:solidFill>
              </a:rPr>
              <a:t>Consulting is the one that matters: 27%, with 84 hours on work we cannot bill.</a:t>
            </a:r>
            <a:endParaRPr lang="en-US" sz="900" dirty="0"/>
          </a:p>
          <a:p>
            <a:pPr marL="342900" indent="-342900">
              <a:lnSpc>
                <a:spcPts val="1150"/>
              </a:lnSpc>
              <a:spcAft>
                <a:spcPts val="400"/>
              </a:spcAft>
              <a:buSzPct val="100000"/>
              <a:buChar char="•"/>
            </a:pPr>
            <a:r>
              <a:rPr lang="en-US" sz="900" dirty="0">
                <a:solidFill>
                  <a:srgbClr val="3A4453"/>
                </a:solidFill>
              </a:rPr>
              <a:t>Consulting has carried running costs against almost no fees for three months. That decision keeps being deferred.</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Each bar is scaled to that department's own hours, so you can compare the mix. Support works about a hundred times the hours Integration does.</a:t>
            </a:r>
            <a:endParaRPr lang="en-US" sz="850" dirty="0"/>
          </a:p>
          <a:p>
            <a:pPr marL="342900" indent="-342900">
              <a:lnSpc>
                <a:spcPts val="1050"/>
              </a:lnSpc>
              <a:spcAft>
                <a:spcPts val="400"/>
              </a:spcAft>
              <a:buSzPct val="100000"/>
              <a:buChar char="•"/>
            </a:pPr>
            <a:r>
              <a:rPr lang="en-US" sz="850" dirty="0">
                <a:solidFill>
                  <a:srgbClr val="3A4453"/>
                </a:solidFill>
              </a:rPr>
              <a:t>Support is almost entirely billable, which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Events put 333 hours into leave and only 241 onto jobs. The people are there, the work is not.</a:t>
            </a:r>
            <a:endParaRPr lang="en-US" sz="850" dirty="0"/>
          </a:p>
          <a:p>
            <a:pPr marL="342900" indent="-342900">
              <a:lnSpc>
                <a:spcPts val="1050"/>
              </a:lnSpc>
              <a:spcAft>
                <a:spcPts val="400"/>
              </a:spcAft>
              <a:buSzPct val="100000"/>
              <a:buChar char="•"/>
            </a:pPr>
            <a:r>
              <a:rPr lang="en-US" sz="850" dirty="0">
                <a:solidFill>
                  <a:srgbClr val="3A4453"/>
                </a:solidFill>
              </a:rPr>
              <a:t>Consulting put 84 hours into work we cannot bill against 31 we can.</a:t>
            </a:r>
            <a:endParaRPr lang="en-US" sz="850" dirty="0"/>
          </a:p>
          <a:p>
            <a:pPr marL="342900" indent="-342900">
              <a:lnSpc>
                <a:spcPts val="1050"/>
              </a:lnSpc>
              <a:spcAft>
                <a:spcPts val="400"/>
              </a:spcAft>
              <a:buSzPct val="100000"/>
              <a:buChar char="•"/>
            </a:pPr>
            <a:r>
              <a:rPr lang="en-US" sz="850" dirty="0">
                <a:solidFill>
                  <a:srgbClr val="3A4453"/>
                </a:solidFill>
              </a:rPr>
              <a:t>We pay for every hour. We only bill the ones on jobs. The grey and light teal are the gap.</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Hours, the three departments, Sep 26</a:t>
            </a:r>
            <a:endParaRPr lang="en-US" sz="2700" dirty="0"/>
          </a:p>
        </p:txBody>
      </p:sp>
      <p:pic>
        <p:nvPicPr>
          <p:cNvPr id="4" name="snip util_three" descr="/home/user/Claude/deck/snips/util_three.png">    </p:cNvPr>
          <p:cNvPicPr>
            <a:picLocks noChangeAspect="1"/>
          </p:cNvPicPr>
          <p:nvPr/>
        </p:nvPicPr>
        <p:blipFill>
          <a:blip r:embed="rId1"/>
          <a:stretch>
            <a:fillRect/>
          </a:stretch>
        </p:blipFill>
        <p:spPr>
          <a:xfrm>
            <a:off x="502920" y="1444752"/>
            <a:ext cx="5577840" cy="2587417"/>
          </a:xfrm>
          <a:prstGeom prst="rect">
            <a:avLst/>
          </a:prstGeom>
        </p:spPr>
      </p:pic>
      <p:sp>
        <p:nvSpPr>
          <p:cNvPr id="5" name="Text 2"/>
          <p:cNvSpPr txBox="1"/>
          <p:nvPr/>
        </p:nvSpPr>
        <p:spPr>
          <a:xfrm>
            <a:off x="502920" y="410532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rolled up to the three departments,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The same picture grouped the way the P&amp;L is. Production is Events and Video. Consulting is Integration and Consulting.</a:t>
            </a:r>
            <a:endParaRPr lang="en-US" sz="850" dirty="0"/>
          </a:p>
          <a:p>
            <a:pPr marL="342900" indent="-342900">
              <a:lnSpc>
                <a:spcPts val="1050"/>
              </a:lnSpc>
              <a:spcAft>
                <a:spcPts val="400"/>
              </a:spcAft>
              <a:buSzPct val="100000"/>
              <a:buChar char="•"/>
            </a:pPr>
            <a:r>
              <a:rPr lang="en-US" sz="850" dirty="0">
                <a:solidFill>
                  <a:srgbClr val="3A4453"/>
                </a:solidFill>
              </a:rPr>
              <a:t>Production put 265 hours onto jobs and 257 onto work we cannot bill, with 333 hours of leave on top.</a:t>
            </a:r>
            <a:endParaRPr lang="en-US" sz="850" dirty="0"/>
          </a:p>
          <a:p>
            <a:pPr marL="342900" indent="-342900">
              <a:lnSpc>
                <a:spcPts val="1050"/>
              </a:lnSpc>
              <a:spcAft>
                <a:spcPts val="400"/>
              </a:spcAft>
              <a:buSzPct val="100000"/>
              <a:buChar char="•"/>
            </a:pPr>
            <a:r>
              <a:rPr lang="en-US" sz="850" dirty="0">
                <a:solidFill>
                  <a:srgbClr val="3A4453"/>
                </a:solidFill>
              </a:rPr>
              <a:t>Consulting put 40 onto jobs against 84 we cannot bill. Two thirds of its paid hours earn nothing.</a:t>
            </a:r>
            <a:endParaRPr lang="en-US" sz="850" dirty="0"/>
          </a:p>
          <a:p>
            <a:pPr marL="342900" indent="-342900">
              <a:lnSpc>
                <a:spcPts val="1050"/>
              </a:lnSpc>
              <a:spcAft>
                <a:spcPts val="400"/>
              </a:spcAft>
              <a:buSzPct val="100000"/>
              <a:buChar char="•"/>
            </a:pPr>
            <a:r>
              <a:rPr lang="en-US" sz="850" dirty="0">
                <a:solidFill>
                  <a:srgbClr val="3A4453"/>
                </a:solidFill>
              </a:rPr>
              <a:t>Support is the only bar that is almost all dark. That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Each bar is scaled to its own hours. Support works about four times the hours of the other two together.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4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4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4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4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Chargeable per cent is 72% against the report's own 81% target. Five more points on Support and Production is worth about 16k a month at no extra cost.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Leave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Production lost 333 hours to leave on 882 available. Plan leave against the booking calendar, not around it.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2026-10-18T22:24:29Z</dcterms:created>
  <dcterms:modified xsi:type="dcterms:W3CDTF">2026-10-18T22:24:29Z</dcterms:modified>
</cp:coreProperties>
</file>