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Cost base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The cost base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and profit half of the Summary tab.
Cost of sales 374,130 against a budget of 289,192. The revenue beat came in at a margin the plan did not assume, and that is the whole variance story for the month.
Gross profit 187,814 at 33.4%. Year to date 632,300 at 38.9% against a planned 45.7%.
Overheads 230,233 against 231,573 budget, and flat across all three months at roughly 213,836. That is the number revenue has to clear.
EBITDA (32,437) against (107,100) budgeted. Net profit (41,464) after depreciation and amortisation of 9,982.
Year to date EBITDA 5,774 against 222,700. A full quarter of trading has produced roughly break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Integration's 175,586 beat on revenue converted to almost nothing, because the margin was 10.1% on equipment resale. And Events absorbs 71,672 of allocated admin on 73,304 of revenue, charged on the premises key, when Events is not the department consuming the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Overheads are steady at about 214 thousand a month. The cost base is not the problem this month, but it is the number revenue has to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concentration. Direct labour and employment overhead dominate, and employment overhead is fixed inside the year, which is why a short revenue month drops straight to the bottom line.
When the board asks what we can cut, the honest answer is people or premises. Trimming subscriptions and travel will not change the shape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rental outgoings are fixed by lease. IT network service and support is the second line and the only one that moves.
The practical conclusion is that this block is not where cost comes out. Reducing operating expense materially is a premises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Sub contract labour is the only line that flexes with volume.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year to date, with the chart beside the table.
1. Deloitte Services: 401,755 year to date at 24.7%, 119,614 in September 2026.
2. Aware Super: 285,075 year to date at 17.5%, 241,178 in September 2026.
3. CBA Place South: 105,040 year to date at 6.5%, 30,409 in September 2026.
4. Ventia: 97,662 year to date at 6.0%, 9,105 in September 2026.
5. PwC Services: 88,051 year to date at 5.4%, 26,707 in September 2026.
6. APT Management Services: 63,613 year to date at 3.9%, 4,527 in September 2026.
7. ASX Operations: 60,858 year to date at 3.7%, 17,167 in September 2026.
8. Bankwest: 54,971 year to date at 3.4%, 17,230 in September 2026.
9. Data#3: 45,909 year to date at 2.8%, 0 in September 2026.
10. Generation-e Productivity…: 37,166 year to date at 2.3%, 12,389 in September 2026.
The top ten are 1,240,100 or 76.3% of revenue. Everyone else is 384,360.
The concentration is getting worse, not better, and the distinction that matters is contract against project. Deloitte Services is contracted support income that renews. Aware Super is a fit-out that completes. Treating them as the same kind of revenue is how a forecast goes wrong.
The recommendation is a retention plan with a named owner for the top three, and a growth target set on the second ten rather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Receivables and days sales outstanding at 30 September 2026.
Trade receivables 833,320. DSO 47.2 days against a target of 30. At target the book would be 529,715, so 303,605 of cash is tied up above where it should be.
Ageing: Current 588,782 at 70.7%, Under 1 month 133,177 at 16.0%, 1 month 86,553 at 10.4%, 3 months 24,809 at 3.0%. Overdue in total 244,538 or 29.3%.
Largest debtors: Aware Super at 277,395, Deloitte Services P/L for Deloitte Services Trust at 131,575, Ventia at 94,701.
The action is narrow. Two customers hold the majority of the overdue balance, so a targeted chase on those two is worth more than a general collections push, and it is the fastest cash available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Utilisation by department for September 2026.
Support: 2,132 chargeable, 11 non-chargeable, 218 leave, 99.5% chargeable.
Events: 241 chargeable, 249 non-chargeable, 333 leave, 49.1% chargeable.
Video: 25 chargeable, 8 non-chargeable, 0 leave, 76.0% chargeable.
Integration: 10 chargeable, 0 non-chargeable, 0 leave, 100.0% chargeable.
Consulting: 31 chargeable, 84 non-chargeable, 53 leave, 26.8% chargeable.
Five departments together, 2,437 chargeable out of 2,789 worked, 87.4%.
I need to be straight about the Support figure. 99.5% chargeable on only 11 non-chargeable hours in a whole month is not believable for a team of that size. Non-chargeable time is being booked to chargeable cost centres. The hours total is right, the split is not, and the Support utilisation figure is unusable until timesheet coding is corrected.
Events at 49.1% is the real operational issue: 333 hours of leave on a small team takes out most of the capacity.
The prize is in the last bullet. Five more points of utilisation on Support and Events, at the revenue per chargeable hour each already earns, is the largest controllable item in this pack and costs nothing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overhead against no fee base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cost base,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Cost base</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Break even needs 549k of revenue a month at our real margin of 38.9%. We are running at 541k.</a:t>
            </a:r>
            <a:endParaRPr lang="en-US" sz="950" dirty="0"/>
          </a:p>
          <a:p>
            <a:pPr marL="342900" indent="-342900">
              <a:lnSpc>
                <a:spcPts val="1300"/>
              </a:lnSpc>
              <a:spcAft>
                <a:spcPts val="500"/>
              </a:spcAft>
              <a:buSzPct val="100000"/>
              <a:buChar char="•"/>
            </a:pPr>
            <a:r>
              <a:rPr lang="en-US" sz="950" dirty="0">
                <a:solidFill>
                  <a:srgbClr val="3A4453"/>
                </a:solidFill>
              </a:rPr>
              <a:t>Sep 26 beat revenue budget by 148k and still lost 32k of EBITDA. The miss is margin, not sales.</a:t>
            </a:r>
            <a:endParaRPr lang="en-US" sz="950" dirty="0"/>
          </a:p>
          <a:p>
            <a:pPr marL="342900" indent="-342900">
              <a:lnSpc>
                <a:spcPts val="1300"/>
              </a:lnSpc>
              <a:spcAft>
                <a:spcPts val="500"/>
              </a:spcAft>
              <a:buSzPct val="100000"/>
              <a:buChar char="•"/>
            </a:pPr>
            <a:r>
              <a:rPr lang="en-US" sz="950" dirty="0">
                <a:solidFill>
                  <a:srgbClr val="3A4453"/>
                </a:solidFill>
              </a:rPr>
              <a:t>Gross margin 33.4% looks fine against a 30.1% budget, but last September was 45.5%.</a:t>
            </a:r>
            <a:endParaRPr lang="en-US" sz="950" dirty="0"/>
          </a:p>
          <a:p>
            <a:pPr marL="342900" indent="-342900">
              <a:lnSpc>
                <a:spcPts val="1300"/>
              </a:lnSpc>
              <a:spcAft>
                <a:spcPts val="500"/>
              </a:spcAft>
              <a:buSzPct val="100000"/>
              <a:buChar char="•"/>
            </a:pPr>
            <a:r>
              <a:rPr lang="en-US" sz="950" dirty="0">
                <a:solidFill>
                  <a:srgbClr val="3A4453"/>
                </a:solidFill>
              </a:rPr>
              <a:t>Overheads held at 230k against 232k budget. Cost control is not the issue.</a:t>
            </a:r>
            <a:endParaRPr lang="en-US" sz="950" dirty="0"/>
          </a:p>
          <a:p>
            <a:pPr marL="342900" indent="-342900">
              <a:lnSpc>
                <a:spcPts val="1300"/>
              </a:lnSpc>
              <a:spcAft>
                <a:spcPts val="500"/>
              </a:spcAft>
              <a:buSzPct val="100000"/>
              <a:buChar char="•"/>
            </a:pPr>
            <a:r>
              <a:rPr lang="en-US" sz="950" dirty="0">
                <a:solidFill>
                  <a:srgbClr val="3A4453"/>
                </a:solidFill>
              </a:rPr>
              <a:t>Year to date EBITDA is 6k against 223k planned. Reforecast on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Cost of sales 374k against 289k budget. That is where the revenue beat went.</a:t>
            </a:r>
            <a:endParaRPr lang="en-US" sz="950" dirty="0"/>
          </a:p>
          <a:p>
            <a:pPr marL="342900" indent="-342900">
              <a:lnSpc>
                <a:spcPts val="1300"/>
              </a:lnSpc>
              <a:spcAft>
                <a:spcPts val="500"/>
              </a:spcAft>
              <a:buSzPct val="100000"/>
              <a:buChar char="•"/>
            </a:pPr>
            <a:r>
              <a:rPr lang="en-US" sz="950" dirty="0">
                <a:solidFill>
                  <a:srgbClr val="3A4453"/>
                </a:solidFill>
              </a:rPr>
              <a:t>Gross margin 33.4% for the month, 38.9% year to date, against a plan of 45.7%.</a:t>
            </a:r>
            <a:endParaRPr lang="en-US" sz="950" dirty="0"/>
          </a:p>
          <a:p>
            <a:pPr marL="342900" indent="-342900">
              <a:lnSpc>
                <a:spcPts val="1300"/>
              </a:lnSpc>
              <a:spcAft>
                <a:spcPts val="500"/>
              </a:spcAft>
              <a:buSzPct val="100000"/>
              <a:buChar char="•"/>
            </a:pPr>
            <a:r>
              <a:rPr lang="en-US" sz="950" dirty="0">
                <a:solidFill>
                  <a:srgbClr val="3A4453"/>
                </a:solidFill>
              </a:rPr>
              <a:t>Overheads 230k, flat across the quarter at about 214k a month.</a:t>
            </a:r>
            <a:endParaRPr lang="en-US" sz="950" dirty="0"/>
          </a:p>
          <a:p>
            <a:pPr marL="342900" indent="-342900">
              <a:lnSpc>
                <a:spcPts val="1300"/>
              </a:lnSpc>
              <a:spcAft>
                <a:spcPts val="500"/>
              </a:spcAft>
              <a:buSzPct val="100000"/>
              <a:buChar char="•"/>
            </a:pPr>
            <a:r>
              <a:rPr lang="en-US" sz="950" dirty="0">
                <a:solidFill>
                  <a:srgbClr val="3A4453"/>
                </a:solidFill>
              </a:rPr>
              <a:t>EBITDA (32)k. Net profit (41)k after 10k of depreciation and amortisation.</a:t>
            </a:r>
            <a:endParaRPr lang="en-US" sz="950" dirty="0"/>
          </a:p>
          <a:p>
            <a:pPr marL="342900" indent="-342900">
              <a:lnSpc>
                <a:spcPts val="1300"/>
              </a:lnSpc>
              <a:spcAft>
                <a:spcPts val="500"/>
              </a:spcAft>
              <a:buSzPct val="100000"/>
              <a:buChar char="•"/>
            </a:pPr>
            <a:r>
              <a:rPr lang="en-US" sz="950" dirty="0">
                <a:solidFill>
                  <a:srgbClr val="3A4453"/>
                </a:solidFill>
              </a:rPr>
              <a:t>Year to date the business has traded a quarter and produced 6k of EBITDA against 223k planned.</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444752"/>
            <a:ext cx="8138160" cy="1637160"/>
          </a:xfrm>
          <a:prstGeom prst="rect">
            <a:avLst/>
          </a:prstGeom>
        </p:spPr>
      </p:pic>
      <p:sp>
        <p:nvSpPr>
          <p:cNvPr id="5" name="Text 2"/>
          <p:cNvSpPr txBox="1"/>
          <p:nvPr/>
        </p:nvSpPr>
        <p:spPr>
          <a:xfrm>
            <a:off x="502920" y="3155064"/>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Only Support covers its overhead. It returned 29k on 243k of revenue.</a:t>
            </a:r>
            <a:endParaRPr lang="en-US" sz="800" dirty="0"/>
          </a:p>
          <a:p>
            <a:pPr marL="342900" indent="-342900">
              <a:lnSpc>
                <a:spcPts val="1000"/>
              </a:lnSpc>
              <a:spcAft>
                <a:spcPts val="300"/>
              </a:spcAft>
              <a:buSzPct val="100000"/>
              <a:buChar char="•"/>
            </a:pPr>
            <a:r>
              <a:rPr lang="en-US" sz="800" dirty="0">
                <a:solidFill>
                  <a:srgbClr val="3A4453"/>
                </a:solidFill>
              </a:rPr>
              <a:t>Events carries 111k of overhead on 73k of revenue, so 77.6% margin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booked 235k against 59k budget, but at 10.1% margin returned only 10k.</a:t>
            </a:r>
            <a:endParaRPr lang="en-US" sz="800" dirty="0"/>
          </a:p>
          <a:p>
            <a:pPr marL="342900" indent="-342900">
              <a:lnSpc>
                <a:spcPts val="1000"/>
              </a:lnSpc>
              <a:spcAft>
                <a:spcPts val="300"/>
              </a:spcAft>
              <a:buSzPct val="100000"/>
              <a:buChar char="•"/>
            </a:pPr>
            <a:r>
              <a:rPr lang="en-US" sz="800" dirty="0">
                <a:solidFill>
                  <a:srgbClr val="3A4453"/>
                </a:solidFill>
              </a:rPr>
              <a:t>Consulting holds 20k of overhead on a 4k fee base.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Integration booked 235k against a 59k budget. One fit-out, not a run rate.</a:t>
            </a:r>
            <a:endParaRPr lang="en-US" sz="950" dirty="0"/>
          </a:p>
          <a:p>
            <a:pPr marL="342900" indent="-342900">
              <a:lnSpc>
                <a:spcPts val="1300"/>
              </a:lnSpc>
              <a:spcAft>
                <a:spcPts val="500"/>
              </a:spcAft>
              <a:buSzPct val="100000"/>
              <a:buChar char="•"/>
            </a:pPr>
            <a:r>
              <a:rPr lang="en-US" sz="950" dirty="0">
                <a:solidFill>
                  <a:srgbClr val="3A4453"/>
                </a:solidFill>
              </a:rPr>
              <a:t>Support delivered 243k against 248k. On plan, as contract income should be.</a:t>
            </a:r>
            <a:endParaRPr lang="en-US" sz="950" dirty="0"/>
          </a:p>
          <a:p>
            <a:pPr marL="342900" indent="-342900">
              <a:lnSpc>
                <a:spcPts val="1300"/>
              </a:lnSpc>
              <a:spcAft>
                <a:spcPts val="500"/>
              </a:spcAft>
              <a:buSzPct val="100000"/>
              <a:buChar char="•"/>
            </a:pPr>
            <a:r>
              <a:rPr lang="en-US" sz="950" dirty="0">
                <a:solidFill>
                  <a:srgbClr val="3A4453"/>
                </a:solidFill>
              </a:rPr>
              <a:t>Events at 73k beat a 66k budget, in a quiet month either side of results season.</a:t>
            </a:r>
            <a:endParaRPr lang="en-US" sz="950" dirty="0"/>
          </a:p>
          <a:p>
            <a:pPr marL="342900" indent="-342900">
              <a:lnSpc>
                <a:spcPts val="1300"/>
              </a:lnSpc>
              <a:spcAft>
                <a:spcPts val="500"/>
              </a:spcAft>
              <a:buSzPct val="100000"/>
              <a:buChar char="•"/>
            </a:pPr>
            <a:r>
              <a:rPr lang="en-US" sz="950" dirty="0">
                <a:solidFill>
                  <a:srgbClr val="3A4453"/>
                </a:solidFill>
              </a:rPr>
              <a:t>Video 7k against 17k and Consulting 4k against 23k. Both structurally short.</a:t>
            </a:r>
            <a:endParaRPr lang="en-US" sz="950" dirty="0"/>
          </a:p>
          <a:p>
            <a:pPr marL="342900" indent="-342900">
              <a:lnSpc>
                <a:spcPts val="1300"/>
              </a:lnSpc>
              <a:spcAft>
                <a:spcPts val="500"/>
              </a:spcAft>
              <a:buSzPct val="100000"/>
              <a:buChar char="•"/>
            </a:pPr>
            <a:r>
              <a:rPr lang="en-US" sz="950" dirty="0">
                <a:solidFill>
                  <a:srgbClr val="3A4453"/>
                </a:solidFill>
              </a:rPr>
              <a:t>Company revenue is 58% up on last September. The growth is real, the margin on it is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Cost base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(621)k and employment overhead (369)k together are the clear majority of cost.</a:t>
            </a:r>
            <a:endParaRPr lang="en-US" sz="950" dirty="0"/>
          </a:p>
          <a:p>
            <a:pPr marL="342900" indent="-342900">
              <a:lnSpc>
                <a:spcPts val="1300"/>
              </a:lnSpc>
              <a:spcAft>
                <a:spcPts val="500"/>
              </a:spcAft>
              <a:buSzPct val="100000"/>
              <a:buChar char="•"/>
            </a:pPr>
            <a:r>
              <a:rPr lang="en-US" sz="950" dirty="0">
                <a:solidFill>
                  <a:srgbClr val="3A4453"/>
                </a:solidFill>
              </a:rPr>
              <a:t>People are the cost base. Everything else is rounding by comparison.</a:t>
            </a:r>
            <a:endParaRPr lang="en-US" sz="950" dirty="0"/>
          </a:p>
          <a:p>
            <a:pPr marL="342900" indent="-342900">
              <a:lnSpc>
                <a:spcPts val="1300"/>
              </a:lnSpc>
              <a:spcAft>
                <a:spcPts val="500"/>
              </a:spcAft>
              <a:buSzPct val="100000"/>
              <a:buChar char="•"/>
            </a:pPr>
            <a:r>
              <a:rPr lang="en-US" sz="950" dirty="0">
                <a:solidFill>
                  <a:srgbClr val="3A4453"/>
                </a:solidFill>
              </a:rPr>
              <a:t>Employment overhead at (369)k is fixed within the year. It does not flex when a month comes in short.</a:t>
            </a:r>
            <a:endParaRPr lang="en-US" sz="950" dirty="0"/>
          </a:p>
          <a:p>
            <a:pPr marL="342900" indent="-342900">
              <a:lnSpc>
                <a:spcPts val="1300"/>
              </a:lnSpc>
              <a:spcAft>
                <a:spcPts val="500"/>
              </a:spcAft>
              <a:buSzPct val="100000"/>
              <a:buChar char="•"/>
            </a:pPr>
            <a:r>
              <a:rPr lang="en-US" sz="950" dirty="0">
                <a:solidFill>
                  <a:srgbClr val="3A4453"/>
                </a:solidFill>
              </a:rPr>
              <a:t>Equipment and services (347)k is the only genuinely variable block.</a:t>
            </a:r>
            <a:endParaRPr lang="en-US" sz="950" dirty="0"/>
          </a:p>
          <a:p>
            <a:pPr marL="342900" indent="-342900">
              <a:lnSpc>
                <a:spcPts val="1300"/>
              </a:lnSpc>
              <a:spcAft>
                <a:spcPts val="500"/>
              </a:spcAft>
              <a:buSzPct val="100000"/>
              <a:buChar char="•"/>
            </a:pPr>
            <a:r>
              <a:rPr lang="en-US" sz="950" dirty="0">
                <a:solidFill>
                  <a:srgbClr val="3A4453"/>
                </a:solidFill>
              </a:rPr>
              <a:t>Cost reduction means headcount or premises. There is no third lever of any size.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Premises are the block: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network at (40)k is the second line and the only one with real variability.</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 saving of consequence in the tail.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Premises is the lever, and it is a lease decision, not a budget decision.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splits into permanent payroll and sub contract labour.</a:t>
            </a:r>
            <a:endParaRPr lang="en-US" sz="950" dirty="0"/>
          </a:p>
          <a:p>
            <a:pPr marL="342900" indent="-342900">
              <a:lnSpc>
                <a:spcPts val="1300"/>
              </a:lnSpc>
              <a:spcAft>
                <a:spcPts val="500"/>
              </a:spcAft>
              <a:buSzPct val="100000"/>
              <a:buChar char="•"/>
            </a:pPr>
            <a:r>
              <a:rPr lang="en-US" sz="950" dirty="0">
                <a:solidFill>
                  <a:srgbClr val="3A4453"/>
                </a:solidFill>
              </a:rPr>
              <a:t>Salaries, wages and superannuation are the bulk of it and they are committed cost.</a:t>
            </a:r>
            <a:endParaRPr lang="en-US" sz="950" dirty="0"/>
          </a:p>
          <a:p>
            <a:pPr marL="342900" indent="-342900">
              <a:lnSpc>
                <a:spcPts val="1300"/>
              </a:lnSpc>
              <a:spcAft>
                <a:spcPts val="500"/>
              </a:spcAft>
              <a:buSzPct val="100000"/>
              <a:buChar char="•"/>
            </a:pPr>
            <a:r>
              <a:rPr lang="en-US" sz="950" dirty="0">
                <a:solidFill>
                  <a:srgbClr val="3A4453"/>
                </a:solidFill>
              </a:rPr>
              <a:t>Sub contract labour is the only line that flexes with volume.</a:t>
            </a:r>
            <a:endParaRPr lang="en-US" sz="950" dirty="0"/>
          </a:p>
          <a:p>
            <a:pPr marL="342900" indent="-342900">
              <a:lnSpc>
                <a:spcPts val="1300"/>
              </a:lnSpc>
              <a:spcAft>
                <a:spcPts val="500"/>
              </a:spcAft>
              <a:buSzPct val="100000"/>
              <a:buChar char="•"/>
            </a:pPr>
            <a:r>
              <a:rPr lang="en-US" sz="950" dirty="0">
                <a:solidFill>
                  <a:srgbClr val="3A4453"/>
                </a:solidFill>
              </a:rPr>
              <a:t>It rises when the permanent team runs out of capacity, so watch it against utilisation.</a:t>
            </a:r>
            <a:endParaRPr lang="en-US" sz="950" dirty="0"/>
          </a:p>
          <a:p>
            <a:pPr marL="342900" indent="-342900">
              <a:lnSpc>
                <a:spcPts val="1300"/>
              </a:lnSpc>
              <a:spcAft>
                <a:spcPts val="500"/>
              </a:spcAft>
              <a:buSzPct val="100000"/>
              <a:buChar char="•"/>
            </a:pPr>
            <a:r>
              <a:rPr lang="en-US" sz="950" dirty="0">
                <a:solidFill>
                  <a:srgbClr val="3A4453"/>
                </a:solidFill>
              </a:rPr>
              <a:t>We pay for hours worked. We bill for hours that are chargeable. The gap is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948192" y="1444752"/>
            <a:ext cx="724761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admin employment pot is 63,077 for the month and it is charged out in full.</a:t>
            </a:r>
            <a:endParaRPr lang="en-US" sz="800" dirty="0"/>
          </a:p>
          <a:p>
            <a:pPr marL="342900" indent="-342900">
              <a:lnSpc>
                <a:spcPts val="1000"/>
              </a:lnSpc>
              <a:spcAft>
                <a:spcPts val="300"/>
              </a:spcAft>
              <a:buSzPct val="100000"/>
              <a:buChar char="•"/>
            </a:pPr>
            <a:r>
              <a:rPr lang="en-US" sz="800" dirty="0">
                <a:solidFill>
                  <a:srgbClr val="3A4453"/>
                </a:solidFill>
              </a:rPr>
              <a:t>Support carries 67.0% of it, on its share of rolling twelve month hours.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takes almost no office cost because almost nothing is clocked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896874" y="1444752"/>
            <a:ext cx="7350252"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the top ten, year to date.</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top ten are 76.3% of revenue. The top three alone are 48.7%.</a:t>
            </a:r>
            <a:endParaRPr lang="en-US" sz="800" dirty="0"/>
          </a:p>
          <a:p>
            <a:pPr marL="342900" indent="-342900">
              <a:lnSpc>
                <a:spcPts val="1000"/>
              </a:lnSpc>
              <a:spcAft>
                <a:spcPts val="300"/>
              </a:spcAft>
              <a:buSzPct val="100000"/>
              <a:buChar char="•"/>
            </a:pPr>
            <a:r>
              <a:rPr lang="en-US" sz="800" dirty="0">
                <a:solidFill>
                  <a:srgbClr val="3A4453"/>
                </a:solidFill>
              </a:rPr>
              <a:t>Deloitte Services at 401,755 is 24.7% of the year. Losing it costs more than the whole EBITDA plan.</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Aware Super came from nothing to 285,075 in a quarter, almost all of it in September.</a:t>
            </a:r>
            <a:endParaRPr lang="en-US" sz="800" dirty="0"/>
          </a:p>
          <a:p>
            <a:pPr marL="342900" indent="-342900">
              <a:lnSpc>
                <a:spcPts val="1000"/>
              </a:lnSpc>
              <a:spcAft>
                <a:spcPts val="300"/>
              </a:spcAft>
              <a:buSzPct val="100000"/>
              <a:buChar char="•"/>
            </a:pPr>
            <a:r>
              <a:rPr lang="en-US" sz="800" dirty="0">
                <a:solidFill>
                  <a:srgbClr val="3A4453"/>
                </a:solidFill>
              </a:rPr>
              <a:t>Below the top five the book drops away fast. Number ten is 37,166.</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Receivables and days sales outstanding</a:t>
            </a:r>
            <a:endParaRPr lang="en-US" sz="2700" dirty="0"/>
          </a:p>
        </p:txBody>
      </p:sp>
      <p:pic>
        <p:nvPicPr>
          <p:cNvPr id="4" name="snip dso" descr="/home/user/Claude/deck/snips/dso.png">    </p:cNvPr>
          <p:cNvPicPr>
            <a:picLocks noChangeAspect="1"/>
          </p:cNvPicPr>
          <p:nvPr/>
        </p:nvPicPr>
        <p:blipFill>
          <a:blip r:embed="rId1"/>
          <a:stretch>
            <a:fillRect/>
          </a:stretch>
        </p:blipFill>
        <p:spPr>
          <a:xfrm>
            <a:off x="984420" y="1444752"/>
            <a:ext cx="461483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the ageing and who owes the most.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DSO is 47.2 days against a 30 day target. That is 17.2 days of cash we are not holding.</a:t>
            </a:r>
            <a:endParaRPr lang="en-US" sz="1000" dirty="0"/>
          </a:p>
          <a:p>
            <a:pPr marL="342900" indent="-342900">
              <a:lnSpc>
                <a:spcPts val="1300"/>
              </a:lnSpc>
              <a:spcAft>
                <a:spcPts val="500"/>
              </a:spcAft>
              <a:buSzPct val="100000"/>
              <a:buChar char="•"/>
            </a:pPr>
            <a:r>
              <a:rPr lang="en-US" sz="1000" dirty="0">
                <a:solidFill>
                  <a:srgbClr val="3A4453"/>
                </a:solidFill>
              </a:rPr>
              <a:t>Every day of DSO is 17,657. Getting to target releases 303,605.</a:t>
            </a:r>
            <a:endParaRPr lang="en-US" sz="1000" dirty="0"/>
          </a:p>
          <a:p>
            <a:pPr marL="342900" indent="-342900">
              <a:lnSpc>
                <a:spcPts val="1300"/>
              </a:lnSpc>
              <a:spcAft>
                <a:spcPts val="500"/>
              </a:spcAft>
              <a:buSzPct val="100000"/>
              <a:buChar char="•"/>
            </a:pPr>
            <a:r>
              <a:rPr lang="en-US" sz="1000" dirty="0">
                <a:solidFill>
                  <a:srgbClr val="3A4453"/>
                </a:solidFill>
              </a:rPr>
              <a:t>29.3% of the book is overdue, 244,538.</a:t>
            </a:r>
            <a:endParaRPr lang="en-US" sz="1000" dirty="0"/>
          </a:p>
          <a:p>
            <a:pPr marL="342900" indent="-342900">
              <a:lnSpc>
                <a:spcPts val="1300"/>
              </a:lnSpc>
              <a:spcAft>
                <a:spcPts val="500"/>
              </a:spcAft>
              <a:buSzPct val="100000"/>
              <a:buChar char="•"/>
            </a:pPr>
            <a:r>
              <a:rPr lang="en-US" sz="1000" dirty="0">
                <a:solidFill>
                  <a:srgbClr val="3A4453"/>
                </a:solidFill>
              </a:rPr>
              <a:t>Aware Super alone is 33.3% of receivables at 277,395.</a:t>
            </a:r>
            <a:endParaRPr lang="en-US" sz="1000" dirty="0"/>
          </a:p>
          <a:p>
            <a:pPr marL="342900" indent="-342900">
              <a:lnSpc>
                <a:spcPts val="1300"/>
              </a:lnSpc>
              <a:spcAft>
                <a:spcPts val="500"/>
              </a:spcAft>
              <a:buSzPct val="100000"/>
              <a:buChar char="•"/>
            </a:pPr>
            <a:r>
              <a:rPr lang="en-US" sz="1000" dirty="0">
                <a:solidFill>
                  <a:srgbClr val="3A4453"/>
                </a:solidFill>
              </a:rPr>
              <a:t>Chase the top two. Nothing else on this page moves the number.</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by department, Sep 26</a:t>
            </a:r>
            <a:endParaRPr lang="en-US" sz="2700" dirty="0"/>
          </a:p>
        </p:txBody>
      </p:sp>
      <p:pic>
        <p:nvPicPr>
          <p:cNvPr id="4" name="snip util" descr="/home/user/Claude/deck/snips/util.png">    </p:cNvPr>
          <p:cNvPicPr>
            <a:picLocks noChangeAspect="1"/>
          </p:cNvPicPr>
          <p:nvPr/>
        </p:nvPicPr>
        <p:blipFill>
          <a:blip r:embed="rId1"/>
          <a:stretch>
            <a:fillRect/>
          </a:stretch>
        </p:blipFill>
        <p:spPr>
          <a:xfrm>
            <a:off x="942821" y="1444752"/>
            <a:ext cx="725835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shows 11 non-chargeable hours on 2,132 chargeable. That is not credible.</a:t>
            </a:r>
            <a:endParaRPr lang="en-US" sz="800" dirty="0"/>
          </a:p>
          <a:p>
            <a:pPr marL="342900" indent="-342900">
              <a:lnSpc>
                <a:spcPts val="1000"/>
              </a:lnSpc>
              <a:spcAft>
                <a:spcPts val="300"/>
              </a:spcAft>
              <a:buSzPct val="100000"/>
              <a:buChar char="•"/>
            </a:pPr>
            <a:r>
              <a:rPr lang="en-US" sz="800" dirty="0">
                <a:solidFill>
                  <a:srgbClr val="3A4453"/>
                </a:solidFill>
              </a:rPr>
              <a:t>Until that coding is fixed the 99.5% means nothing, and nor does the target.</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is at 49.1% with 333 hours of leave. Real capacity is sitting idle.</a:t>
            </a:r>
            <a:endParaRPr lang="en-US" sz="800" dirty="0"/>
          </a:p>
          <a:p>
            <a:pPr marL="342900" indent="-342900">
              <a:lnSpc>
                <a:spcPts val="1000"/>
              </a:lnSpc>
              <a:spcAft>
                <a:spcPts val="300"/>
              </a:spcAft>
              <a:buSzPct val="100000"/>
              <a:buChar char="•"/>
            </a:pPr>
            <a:r>
              <a:rPr lang="en-US" sz="800" dirty="0">
                <a:solidFill>
                  <a:srgbClr val="3A4453"/>
                </a:solidFill>
              </a:rPr>
              <a:t>Consulting at 26.8% confirms there is no fee base to utilise.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390888"/>
          </a:xfrm>
          <a:prstGeom prst="rect">
            <a:avLst/>
          </a:prstGeom>
        </p:spPr>
      </p:pic>
      <p:sp>
        <p:nvSpPr>
          <p:cNvPr id="5" name="Text 2"/>
          <p:cNvSpPr txBox="1"/>
          <p:nvPr/>
        </p:nvSpPr>
        <p:spPr>
          <a:xfrm>
            <a:off x="502920" y="3908792"/>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overhead on a 4k fee base.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2026-10-18T04:34:20Z</dcterms:created>
  <dcterms:modified xsi:type="dcterms:W3CDTF">2026-10-18T04:34:20Z</dcterms:modified>
</cp:coreProperties>
</file>