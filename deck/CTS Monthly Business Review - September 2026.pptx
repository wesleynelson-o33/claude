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with the chart beside the table.
1. Deloitte Services: 401,755 year to date at 24.7%, 119,614 in September 2026.
2. Aware Super: 285,075 year to date at 17.5%, 241,178 in September 2026.
3. CBA Place South: 105,040 year to date at 6.5%, 30,409 in September 2026.
4. Ventia: 97,662 year to date at 6.0%, 9,105 in September 2026.
5. PwC Services: 88,051 year to date at 5.4%, 26,707 in September 2026.
6. APT Management Services: 63,613 year to date at 3.9%, 4,527 in September 2026.
7. ASX Operations: 60,858 year to date at 3.7%, 17,167 in September 2026.
8. Bankwest: 54,971 year to date at 3.4%, 17,230 in September 2026.
9. Data#3: 45,909 year to date at 2.8%, 0 in September 2026.
10. Generation-e Productivity…: 37,166 year to date at 2.3%, 12,389 in September 2026.
The top ten are 1,240,100 or 76.3% of revenue. Everyone else is 384,360.
The reliance on a handful of customers is getting worse, not better, and the difference that matters is contract work against one-off projects. Deloitte Services is contracted support income that renews. Aware Super is a fit-out that completes. Treating them as the same kind of revenue is how a forecast goes wrong.
The recommendation is a retention plan with a named owner for the top three, and a growth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we would be owed 529,715, so 303,605 of cash is sitting in the debtor book that should be in the bank.
Ageing: Current 588,782 at 70.7%, Under 1 month 133,177 at 16.0%, 1 month 86,553 at 10.4%, 3 months 24,809 at 3.0%. Overdue in total 244,538 or 29.3%.
Largest debtors: Aware Super at 277,395, Deloitte Services P/L for Deloitte Services Trust at 131,575, Ventia at 94,701.
The action is narrow. Two customers hold the majority of the overdue balance, so a targeted chase on those two is worth more than a general collections push, and it is the fastest cash available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Five departments together, 2,437 chargeable out of 2,789 worked, 87.4%.
I need to be straight about the Support figure. 99.5% chargeable on only 11 non-chargeable hours in a whole month is not believable for a team of that size. Non-chargeable time is being booked to chargeable cost centres. The hours total is right, the split is not, and the Support utilisation figure is unusable until timesheet coding is corrected.
Events at 49.1% is the real operational issue: 333 hours of leave on a small team takes out most of the capacity.
The prize is in the last bullet. Five more points of utilisation on Support and Events, at the revenue per chargeable hour each already earns, is the largest controllable item in this pack and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444752"/>
            <a:ext cx="8138160" cy="1637160"/>
          </a:xfrm>
          <a:prstGeom prst="rect">
            <a:avLst/>
          </a:prstGeom>
        </p:spPr>
      </p:pic>
      <p:sp>
        <p:nvSpPr>
          <p:cNvPr id="5" name="Text 2"/>
          <p:cNvSpPr txBox="1"/>
          <p:nvPr/>
        </p:nvSpPr>
        <p:spPr>
          <a:xfrm>
            <a:off x="502920" y="3155064"/>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Wages for people on jobs (621)k, and wages for everyone else (369)k. Together that is most of what we spend.</a:t>
            </a:r>
            <a:endParaRPr lang="en-US" sz="900" dirty="0"/>
          </a:p>
          <a:p>
            <a:pPr marL="342900" indent="-342900">
              <a:lnSpc>
                <a:spcPts val="1150"/>
              </a:lnSpc>
              <a:spcAft>
                <a:spcPts val="500"/>
              </a:spcAft>
              <a:buSzPct val="100000"/>
              <a:buChar char="•"/>
            </a:pPr>
            <a:r>
              <a:rPr lang="en-US" sz="900" dirty="0">
                <a:solidFill>
                  <a:srgbClr val="3A4453"/>
                </a:solidFill>
              </a:rPr>
              <a:t>Wages are what this business spends its money on. Everything else is small next to them.</a:t>
            </a:r>
            <a:endParaRPr lang="en-US" sz="900" dirty="0"/>
          </a:p>
          <a:p>
            <a:pPr marL="342900" indent="-342900">
              <a:lnSpc>
                <a:spcPts val="1150"/>
              </a:lnSpc>
              <a:spcAft>
                <a:spcPts val="500"/>
              </a:spcAft>
              <a:buSzPct val="100000"/>
              <a:buChar char="•"/>
            </a:pPr>
            <a:r>
              <a:rPr lang="en-US" sz="900" dirty="0">
                <a:solidFill>
                  <a:srgbClr val="3A4453"/>
                </a:solidFill>
              </a:rPr>
              <a:t>The (369)k of wages for people not on jobs is the same every month. When sales drop this does not, so a bad month lands straight on the profit.</a:t>
            </a:r>
            <a:endParaRPr lang="en-US" sz="900" dirty="0"/>
          </a:p>
          <a:p>
            <a:pPr marL="342900" indent="-342900">
              <a:lnSpc>
                <a:spcPts val="1150"/>
              </a:lnSpc>
              <a:spcAft>
                <a:spcPts val="500"/>
              </a:spcAft>
              <a:buSzPct val="100000"/>
              <a:buChar char="•"/>
            </a:pPr>
            <a:r>
              <a:rPr lang="en-US" sz="900" dirty="0">
                <a:solidFill>
                  <a:srgbClr val="3A4453"/>
                </a:solidFill>
              </a:rPr>
              <a:t>Equipment and services at (347)k is the only cost that rises and falls with the work.</a:t>
            </a:r>
            <a:endParaRPr lang="en-US" sz="900" dirty="0"/>
          </a:p>
          <a:p>
            <a:pPr marL="342900" indent="-342900">
              <a:lnSpc>
                <a:spcPts val="1150"/>
              </a:lnSpc>
              <a:spcAft>
                <a:spcPts val="500"/>
              </a:spcAft>
              <a:buSzPct val="100000"/>
              <a:buChar char="•"/>
            </a:pPr>
            <a:r>
              <a:rPr lang="en-US" sz="900" dirty="0">
                <a:solidFill>
                  <a:srgbClr val="3A4453"/>
                </a:solidFill>
              </a:rPr>
              <a:t>If we have to cut cost it is people or the office. Nothing else is big enough to matter.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office is the big one: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support at (40)k is next, and the only one that moves much month to month.</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Labour on jobs splits two ways: our own staff, and contractors we bring in.</a:t>
            </a:r>
            <a:endParaRPr lang="en-US" sz="950" dirty="0"/>
          </a:p>
          <a:p>
            <a:pPr marL="342900" indent="-342900">
              <a:lnSpc>
                <a:spcPts val="1300"/>
              </a:lnSpc>
              <a:spcAft>
                <a:spcPts val="500"/>
              </a:spcAft>
              <a:buSzPct val="100000"/>
              <a:buChar char="•"/>
            </a:pPr>
            <a:r>
              <a:rPr lang="en-US" sz="950" dirty="0">
                <a:solidFill>
                  <a:srgbClr val="3A4453"/>
                </a:solidFill>
              </a:rPr>
              <a:t>Salaries, wages and super are most of it, and we are committed to paying them.</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every hour worked. We only bill the hours spent on jobs. The difference is profit we never make.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948192" y="1444752"/>
            <a:ext cx="724761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63,077 of office wages this month, and all of it is charged out to the departments.</a:t>
            </a:r>
            <a:endParaRPr lang="en-US" sz="800" dirty="0"/>
          </a:p>
          <a:p>
            <a:pPr marL="342900" indent="-342900">
              <a:lnSpc>
                <a:spcPts val="1000"/>
              </a:lnSpc>
              <a:spcAft>
                <a:spcPts val="300"/>
              </a:spcAft>
              <a:buSzPct val="100000"/>
              <a:buChar char="•"/>
            </a:pPr>
            <a:r>
              <a:rPr lang="en-US" sz="800" dirty="0">
                <a:solidFill>
                  <a:srgbClr val="3A4453"/>
                </a:solidFill>
              </a:rPr>
              <a:t>Support picks up 67% of it, based on its share of hours worked over the last twelve months.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picks up almost no office wages, because almost no hours were booked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896874" y="1444752"/>
            <a:ext cx="7350252"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the top ten, year to date.</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top ten are 76.3% of revenue. The top three alone are 48.7%.</a:t>
            </a:r>
            <a:endParaRPr lang="en-US" sz="800" dirty="0"/>
          </a:p>
          <a:p>
            <a:pPr marL="342900" indent="-342900">
              <a:lnSpc>
                <a:spcPts val="1000"/>
              </a:lnSpc>
              <a:spcAft>
                <a:spcPts val="300"/>
              </a:spcAft>
              <a:buSzPct val="100000"/>
              <a:buChar char="•"/>
            </a:pPr>
            <a:r>
              <a:rPr lang="en-US" sz="800" dirty="0">
                <a:solidFill>
                  <a:srgbClr val="3A4453"/>
                </a:solidFill>
              </a:rPr>
              <a:t>Deloitte Services at 401,755 is 24.7% of the year. Losing them would wipe out more than the whole year's profit plan.</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Aware Super came from nothing to 285,075 in a quarter, almost all of it in September.</a:t>
            </a:r>
            <a:endParaRPr lang="en-US" sz="800" dirty="0"/>
          </a:p>
          <a:p>
            <a:pPr marL="342900" indent="-342900">
              <a:lnSpc>
                <a:spcPts val="1000"/>
              </a:lnSpc>
              <a:spcAft>
                <a:spcPts val="300"/>
              </a:spcAft>
              <a:buSzPct val="100000"/>
              <a:buChar char="•"/>
            </a:pPr>
            <a:r>
              <a:rPr lang="en-US" sz="800" dirty="0">
                <a:solidFill>
                  <a:srgbClr val="3A4453"/>
                </a:solidFill>
              </a:rPr>
              <a:t>After the top five the amounts fall away quickly. Number ten is only 37,166.</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pic>
        <p:nvPicPr>
          <p:cNvPr id="4" name="snip dso" descr="/home/user/Claude/deck/snips/dso.png">    </p:cNvPr>
          <p:cNvPicPr>
            <a:picLocks noChangeAspect="1"/>
          </p:cNvPicPr>
          <p:nvPr/>
        </p:nvPicPr>
        <p:blipFill>
          <a:blip r:embed="rId1"/>
          <a:stretch>
            <a:fillRect/>
          </a:stretch>
        </p:blipFill>
        <p:spPr>
          <a:xfrm>
            <a:off x="984420" y="1444752"/>
            <a:ext cx="461483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the ageing and who owes the most.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Customers take 47 days to pay us. The target is 30. That is 17 days of cash we are not holding.</a:t>
            </a:r>
            <a:endParaRPr lang="en-US" sz="950" dirty="0"/>
          </a:p>
          <a:p>
            <a:pPr marL="342900" indent="-342900">
              <a:lnSpc>
                <a:spcPts val="1300"/>
              </a:lnSpc>
              <a:spcAft>
                <a:spcPts val="500"/>
              </a:spcAft>
              <a:buSzPct val="100000"/>
              <a:buChar char="•"/>
            </a:pPr>
            <a:r>
              <a:rPr lang="en-US" sz="950" dirty="0">
                <a:solidFill>
                  <a:srgbClr val="3A4453"/>
                </a:solidFill>
              </a:rPr>
              <a:t>Every day we shave off brings in 17,657. Getting to target frees up 303,605.</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Aware Super alone owes 277,395, which is 33% of the total.</a:t>
            </a:r>
            <a:endParaRPr lang="en-US" sz="950" dirty="0"/>
          </a:p>
          <a:p>
            <a:pPr marL="342900" indent="-342900">
              <a:lnSpc>
                <a:spcPts val="1300"/>
              </a:lnSpc>
              <a:spcAft>
                <a:spcPts val="500"/>
              </a:spcAft>
              <a:buSzPct val="100000"/>
              <a:buChar char="•"/>
            </a:pPr>
            <a:r>
              <a:rPr lang="en-US" sz="950" dirty="0">
                <a:solidFill>
                  <a:srgbClr val="3A4453"/>
                </a:solidFill>
              </a:rPr>
              <a:t>Chase the top two. Nothing else on this page moves the number.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pic>
        <p:nvPicPr>
          <p:cNvPr id="4" name="snip util" descr="/home/user/Claude/deck/snips/util.png">    </p:cNvPr>
          <p:cNvPicPr>
            <a:picLocks noChangeAspect="1"/>
          </p:cNvPicPr>
          <p:nvPr/>
        </p:nvPicPr>
        <p:blipFill>
          <a:blip r:embed="rId1"/>
          <a:stretch>
            <a:fillRect/>
          </a:stretch>
        </p:blipFill>
        <p:spPr>
          <a:xfrm>
            <a:off x="942821" y="1444752"/>
            <a:ext cx="725835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shows 11 non-chargeable hours on 2,132 chargeable. That is not credible.</a:t>
            </a:r>
            <a:endParaRPr lang="en-US" sz="800" dirty="0"/>
          </a:p>
          <a:p>
            <a:pPr marL="342900" indent="-342900">
              <a:lnSpc>
                <a:spcPts val="1000"/>
              </a:lnSpc>
              <a:spcAft>
                <a:spcPts val="300"/>
              </a:spcAft>
              <a:buSzPct val="100000"/>
              <a:buChar char="•"/>
            </a:pPr>
            <a:r>
              <a:rPr lang="en-US" sz="800" dirty="0">
                <a:solidFill>
                  <a:srgbClr val="3A4453"/>
                </a:solidFill>
              </a:rPr>
              <a:t>Until that coding is fixed the 99.5% means nothing, and nor does the target.</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is at 49.1% with 333 hours of leave. Real capacity is sitting idle.</a:t>
            </a:r>
            <a:endParaRPr lang="en-US" sz="800" dirty="0"/>
          </a:p>
          <a:p>
            <a:pPr marL="342900" indent="-342900">
              <a:lnSpc>
                <a:spcPts val="1000"/>
              </a:lnSpc>
              <a:spcAft>
                <a:spcPts val="300"/>
              </a:spcAft>
              <a:buSzPct val="100000"/>
              <a:buChar char="•"/>
            </a:pPr>
            <a:r>
              <a:rPr lang="en-US" sz="800" dirty="0">
                <a:solidFill>
                  <a:srgbClr val="3A4453"/>
                </a:solidFill>
              </a:rPr>
              <a:t>Consulting at 26.8% confirms there is almost no work there to bill.</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2026-10-18T06:08:26Z</dcterms:created>
  <dcterms:modified xsi:type="dcterms:W3CDTF">2026-10-18T06:08:26Z</dcterms:modified>
</cp:coreProperties>
</file>