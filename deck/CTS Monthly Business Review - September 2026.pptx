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05358"/>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0"/>
            <c:showCatName val="0"/>
            <c:showSerName val="0"/>
            <c:showPercent val="0"/>
            <c:showBubbleSize val="0"/>
            <c:showLeaderLines val="0"/>
          </c:dLbls>
          <c:cat>
            <c:multiLvlStrRef>
              <c:f>Sheet1!$A$2:$A$7</c:f>
              <c:multiLvlStrCache>
                <c:ptCount val="6"/>
                <c:lvl>
                  <c:pt idx="0">
                    <c:v>July</c:v>
                  </c:pt>
                  <c:pt idx="1">
                    <c:v>Aug</c:v>
                  </c:pt>
                  <c:pt idx="2">
                    <c:v>Sept</c:v>
                  </c:pt>
                  <c:pt idx="3">
                    <c:v>Oct</c:v>
                  </c:pt>
                  <c:pt idx="4">
                    <c:v>Nov</c:v>
                  </c:pt>
                  <c:pt idx="5">
                    <c:v>Dec</c:v>
                  </c:pt>
                </c:lvl>
              </c:multiLvlStrCache>
            </c:multiLvlStrRef>
          </c:cat>
          <c:val>
            <c:numRef>
              <c:f>Sheet1!$B$2:$B$7</c:f>
              <c:numCache>
                <c:formatCode>General</c:formatCode>
                <c:ptCount val="6"/>
                <c:pt idx="0">
                  <c:v>459</c:v>
                </c:pt>
                <c:pt idx="1">
                  <c:v>603</c:v>
                </c:pt>
                <c:pt idx="2">
                  <c:v>562</c:v>
                </c:pt>
                <c:pt idx="3">
                  <c:v>950</c:v>
                </c:pt>
                <c:pt idx="4">
                  <c:v>540</c:v>
                </c:pt>
                <c:pt idx="5">
                  <c:v>345</c:v>
                </c:pt>
              </c:numCache>
            </c:numRef>
          </c:val>
        </c:ser>
        <c:ser>
          <c:idx val="1"/>
          <c:order val="1"/>
          <c:tx>
            <c:strRef>
              <c:f>Sheet1!$C$1</c:f>
              <c:strCache>
                <c:ptCount val="1"/>
                <c:pt idx="0">
                  <c:v>Budget</c:v>
                </c:pt>
              </c:strCache>
            </c:strRef>
          </c:tx>
          <c:spPr>
            <a:solidFill>
              <a:srgbClr val="C9CED6"/>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0"/>
            <c:showCatName val="0"/>
            <c:showSerName val="0"/>
            <c:showPercent val="0"/>
            <c:showBubbleSize val="0"/>
            <c:showLeaderLines val="0"/>
          </c:dLbls>
          <c:cat>
            <c:multiLvlStrRef>
              <c:f>Sheet1!$A$2:$A$7</c:f>
              <c:multiLvlStrCache>
                <c:ptCount val="6"/>
                <c:lvl>
                  <c:pt idx="0">
                    <c:v>July</c:v>
                  </c:pt>
                  <c:pt idx="1">
                    <c:v>Aug</c:v>
                  </c:pt>
                  <c:pt idx="2">
                    <c:v>Sept</c:v>
                  </c:pt>
                  <c:pt idx="3">
                    <c:v>Oct</c:v>
                  </c:pt>
                  <c:pt idx="4">
                    <c:v>Nov</c:v>
                  </c:pt>
                  <c:pt idx="5">
                    <c:v>Dec</c:v>
                  </c:pt>
                </c:lvl>
              </c:multiLvlStrCache>
            </c:multiLvlStrRef>
          </c:cat>
          <c:val>
            <c:numRef>
              <c:f>Sheet1!$C$2:$C$7</c:f>
              <c:numCache>
                <c:formatCode>General</c:formatCode>
                <c:ptCount val="6"/>
                <c:pt idx="0">
                  <c:v>609</c:v>
                </c:pt>
                <c:pt idx="1">
                  <c:v>973</c:v>
                </c:pt>
                <c:pt idx="2">
                  <c:v>414</c:v>
                </c:pt>
                <c:pt idx="3">
                  <c:v>950</c:v>
                </c:pt>
                <c:pt idx="4">
                  <c:v>540</c:v>
                </c:pt>
                <c:pt idx="5">
                  <c:v>345</c:v>
                </c:pt>
              </c:numCache>
            </c:numRef>
          </c:val>
        </c:ser>
        <c:dLbls>
          <c:numFmt formatCode="#,##0" sourceLinked="0"/>
          <c:txPr>
            <a:bodyPr/>
            <a:lstStyle/>
            <a:p>
              <a:pPr>
                <a:defRPr b="0" i="0" strike="noStrike" sz="850" u="none">
                  <a:solidFill>
                    <a:srgbClr val="3A4453"/>
                  </a:solidFill>
                  <a:latin typeface="+mn-lt"/>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750">
              <a:solidFill>
                <a:srgbClr val="6B758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Sep 26 actual</c:v>
                </c:pt>
              </c:strCache>
            </c:strRef>
          </c:tx>
          <c:spPr>
            <a:solidFill>
              <a:srgbClr val="005358"/>
            </a:solidFill>
            <a:effectLst/>
          </c:spPr>
          <c:invertIfNegative val="0"/>
          <c:dLbls>
            <c:numFmt formatCode="#,##0" sourceLinked="0"/>
            <c:txPr>
              <a:bodyPr/>
              <a:lstStyle/>
              <a:p>
                <a:pPr>
                  <a:defRPr b="0" i="0" strike="noStrike" sz="750" u="none">
                    <a:solidFill>
                      <a:srgbClr val="3A4453"/>
                    </a:solidFill>
                    <a:latin typeface="+mn-lt"/>
                  </a:defRPr>
                </a:pPr>
              </a:p>
            </c:txPr>
            <c:showLegendKey val="0"/>
            <c:showVal val="1"/>
            <c:showCatName val="0"/>
            <c:showSerName val="0"/>
            <c:showPercent val="0"/>
            <c:showBubbleSize val="0"/>
            <c:showLeaderLines val="0"/>
          </c:dLbls>
          <c:cat>
            <c:multiLvlStrRef>
              <c:f>Sheet1!$A$2:$A$6</c:f>
              <c:multiLvlStrCache>
                <c:ptCount val="5"/>
                <c:lvl>
                  <c:pt idx="0">
                    <c:v>Support</c:v>
                  </c:pt>
                  <c:pt idx="1">
                    <c:v>Integration</c:v>
                  </c:pt>
                  <c:pt idx="2">
                    <c:v>Events</c:v>
                  </c:pt>
                  <c:pt idx="3">
                    <c:v>Video</c:v>
                  </c:pt>
                  <c:pt idx="4">
                    <c:v>Consulting</c:v>
                  </c:pt>
                </c:lvl>
              </c:multiLvlStrCache>
            </c:multiLvlStrRef>
          </c:cat>
          <c:val>
            <c:numRef>
              <c:f>Sheet1!$B$2:$B$6</c:f>
              <c:numCache>
                <c:formatCode>General</c:formatCode>
                <c:ptCount val="5"/>
                <c:pt idx="0">
                  <c:v>243</c:v>
                </c:pt>
                <c:pt idx="1">
                  <c:v>235</c:v>
                </c:pt>
                <c:pt idx="2">
                  <c:v>73</c:v>
                </c:pt>
                <c:pt idx="3">
                  <c:v>7</c:v>
                </c:pt>
                <c:pt idx="4">
                  <c:v>4</c:v>
                </c:pt>
              </c:numCache>
            </c:numRef>
          </c:val>
        </c:ser>
        <c:ser>
          <c:idx val="1"/>
          <c:order val="1"/>
          <c:tx>
            <c:strRef>
              <c:f>Sheet1!$C$1</c:f>
              <c:strCache>
                <c:ptCount val="1"/>
                <c:pt idx="0">
                  <c:v>Sep 26 budget</c:v>
                </c:pt>
              </c:strCache>
            </c:strRef>
          </c:tx>
          <c:spPr>
            <a:solidFill>
              <a:srgbClr val="C9CED6"/>
            </a:solidFill>
            <a:effectLst/>
          </c:spPr>
          <c:invertIfNegative val="0"/>
          <c:dLbls>
            <c:numFmt formatCode="#,##0" sourceLinked="0"/>
            <c:txPr>
              <a:bodyPr/>
              <a:lstStyle/>
              <a:p>
                <a:pPr>
                  <a:defRPr b="0" i="0" strike="noStrike" sz="750" u="none">
                    <a:solidFill>
                      <a:srgbClr val="3A4453"/>
                    </a:solidFill>
                    <a:latin typeface="+mn-lt"/>
                  </a:defRPr>
                </a:pPr>
              </a:p>
            </c:txPr>
            <c:showLegendKey val="0"/>
            <c:showVal val="1"/>
            <c:showCatName val="0"/>
            <c:showSerName val="0"/>
            <c:showPercent val="0"/>
            <c:showBubbleSize val="0"/>
            <c:showLeaderLines val="0"/>
          </c:dLbls>
          <c:cat>
            <c:multiLvlStrRef>
              <c:f>Sheet1!$A$2:$A$6</c:f>
              <c:multiLvlStrCache>
                <c:ptCount val="5"/>
                <c:lvl>
                  <c:pt idx="0">
                    <c:v>Support</c:v>
                  </c:pt>
                  <c:pt idx="1">
                    <c:v>Integration</c:v>
                  </c:pt>
                  <c:pt idx="2">
                    <c:v>Events</c:v>
                  </c:pt>
                  <c:pt idx="3">
                    <c:v>Video</c:v>
                  </c:pt>
                  <c:pt idx="4">
                    <c:v>Consulting</c:v>
                  </c:pt>
                </c:lvl>
              </c:multiLvlStrCache>
            </c:multiLvlStrRef>
          </c:cat>
          <c:val>
            <c:numRef>
              <c:f>Sheet1!$C$2:$C$6</c:f>
              <c:numCache>
                <c:formatCode>General</c:formatCode>
                <c:ptCount val="5"/>
                <c:pt idx="0">
                  <c:v>248</c:v>
                </c:pt>
                <c:pt idx="1">
                  <c:v>59</c:v>
                </c:pt>
                <c:pt idx="2">
                  <c:v>66</c:v>
                </c:pt>
                <c:pt idx="3">
                  <c:v>17</c:v>
                </c:pt>
                <c:pt idx="4">
                  <c:v>23</c:v>
                </c:pt>
              </c:numCache>
            </c:numRef>
          </c:val>
        </c:ser>
        <c:ser>
          <c:idx val="2"/>
          <c:order val="2"/>
          <c:tx>
            <c:strRef>
              <c:f>Sheet1!$D$1</c:f>
              <c:strCache>
                <c:ptCount val="1"/>
                <c:pt idx="0">
                  <c:v>Sep 25 actual</c:v>
                </c:pt>
              </c:strCache>
            </c:strRef>
          </c:tx>
          <c:spPr>
            <a:solidFill>
              <a:srgbClr val="3FD0C9"/>
            </a:solidFill>
            <a:effectLst/>
          </c:spPr>
          <c:invertIfNegative val="0"/>
          <c:dLbls>
            <c:numFmt formatCode="#,##0" sourceLinked="0"/>
            <c:txPr>
              <a:bodyPr/>
              <a:lstStyle/>
              <a:p>
                <a:pPr>
                  <a:defRPr b="0" i="0" strike="noStrike" sz="750" u="none">
                    <a:solidFill>
                      <a:srgbClr val="3A4453"/>
                    </a:solidFill>
                    <a:latin typeface="+mn-lt"/>
                  </a:defRPr>
                </a:pPr>
              </a:p>
            </c:txPr>
            <c:showLegendKey val="0"/>
            <c:showVal val="1"/>
            <c:showCatName val="0"/>
            <c:showSerName val="0"/>
            <c:showPercent val="0"/>
            <c:showBubbleSize val="0"/>
            <c:showLeaderLines val="0"/>
          </c:dLbls>
          <c:cat>
            <c:multiLvlStrRef>
              <c:f>Sheet1!$A$2:$A$6</c:f>
              <c:multiLvlStrCache>
                <c:ptCount val="5"/>
                <c:lvl>
                  <c:pt idx="0">
                    <c:v>Support</c:v>
                  </c:pt>
                  <c:pt idx="1">
                    <c:v>Integration</c:v>
                  </c:pt>
                  <c:pt idx="2">
                    <c:v>Events</c:v>
                  </c:pt>
                  <c:pt idx="3">
                    <c:v>Video</c:v>
                  </c:pt>
                  <c:pt idx="4">
                    <c:v>Consulting</c:v>
                  </c:pt>
                </c:lvl>
              </c:multiLvlStrCache>
            </c:multiLvlStrRef>
          </c:cat>
          <c:val>
            <c:numRef>
              <c:f>Sheet1!$D$2:$D$6</c:f>
              <c:numCache>
                <c:formatCode>General</c:formatCode>
                <c:ptCount val="5"/>
                <c:pt idx="0">
                  <c:v>231</c:v>
                </c:pt>
                <c:pt idx="1">
                  <c:v>21</c:v>
                </c:pt>
                <c:pt idx="2">
                  <c:v>75</c:v>
                </c:pt>
                <c:pt idx="3">
                  <c:v>20</c:v>
                </c:pt>
                <c:pt idx="4">
                  <c:v>8</c:v>
                </c:pt>
              </c:numCache>
            </c:numRef>
          </c:val>
        </c:ser>
        <c:dLbls>
          <c:numFmt formatCode="#,##0" sourceLinked="0"/>
          <c:txPr>
            <a:bodyPr/>
            <a:lstStyle/>
            <a:p>
              <a:pPr>
                <a:defRPr b="0" i="0" strike="noStrike" sz="750" u="none">
                  <a:solidFill>
                    <a:srgbClr val="3A445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6EA"/>
              </a:solidFill>
              <a:prstDash val="solid"/>
              <a:round/>
            </a:ln>
          </c:spPr>
        </c:majorGridlines>
        <c:title>
          <c:tx>
            <c:rich>
              <a:bodyPr/>
              <a:lstStyle/>
              <a:p>
                <a:pPr>
                  <a:defRPr sz="800" b="0" i="0" u="none" strike="noStrike">
                    <a:solidFill>
                      <a:srgbClr val="6B7585"/>
                    </a:solidFill>
                    <a:latin typeface="+mn-lt"/>
                  </a:defRPr>
                </a:pPr>
                <a:r>
                  <a:rPr sz="800" b="0" i="0" u="none" strike="noStrike">
                    <a:solidFill>
                      <a:srgbClr val="6B7585"/>
                    </a:solidFill>
                    <a:latin typeface="+mn-lt"/>
                  </a:rPr>
                  <a:t>A$ thousands</a:t>
                </a:r>
              </a:p>
            </c:rich>
          </c:tx>
          <c:layout/>
          <c:overlay val="0"/>
        </c:title>
        <c:numFmt formatCode="General" sourceLinked="0"/>
        <c:majorTickMark val="out"/>
        <c:minorTickMark val="none"/>
        <c:tickLblPos val="nextTo"/>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B758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c:v>
                </c:pt>
              </c:strCache>
            </c:strRef>
          </c:tx>
          <c:spPr>
            <a:solidFill>
              <a:srgbClr val="005358"/>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dPt>
            <c:idx val="0"/>
            <c:invertIfNegative val="0"/>
            <c:bubble3D val="0"/>
            <c:spPr>
              <a:solidFill>
                <a:srgbClr val="005358"/>
              </a:solidFill>
              <a:effectLst/>
            </c:spPr>
          </c:dPt>
          <c:dPt>
            <c:idx val="1"/>
            <c:invertIfNegative val="0"/>
            <c:bubble3D val="0"/>
            <c:spPr>
              <a:solidFill>
                <a:srgbClr val="005358"/>
              </a:solidFill>
              <a:effectLst/>
            </c:spPr>
          </c:dPt>
          <c:dPt>
            <c:idx val="2"/>
            <c:invertIfNegative val="0"/>
            <c:bubble3D val="0"/>
            <c:spPr>
              <a:solidFill>
                <a:srgbClr val="3FD0C9"/>
              </a:solidFill>
              <a:effectLst/>
            </c:spPr>
          </c:dPt>
          <c:dPt>
            <c:idx val="3"/>
            <c:invertIfNegative val="0"/>
            <c:bubble3D val="0"/>
            <c:spPr>
              <a:solidFill>
                <a:srgbClr val="3FD0C9"/>
              </a:solidFill>
              <a:effectLst/>
            </c:spPr>
          </c:dPt>
          <c:dPt>
            <c:idx val="4"/>
            <c:invertIfNegative val="0"/>
            <c:bubble3D val="0"/>
            <c:spPr>
              <a:solidFill>
                <a:srgbClr val="C9CED6"/>
              </a:solidFill>
              <a:effectLst/>
            </c:spPr>
          </c:dPt>
          <c:dPt>
            <c:idx val="5"/>
            <c:invertIfNegative val="0"/>
            <c:bubble3D val="0"/>
            <c:spPr>
              <a:solidFill>
                <a:srgbClr val="C9CED6"/>
              </a:solidFill>
              <a:effectLst/>
            </c:spPr>
          </c:dPt>
          <c:dPt>
            <c:idx val="6"/>
            <c:invertIfNegative val="0"/>
            <c:bubble3D val="0"/>
            <c:spPr>
              <a:solidFill>
                <a:srgbClr val="C9CED6"/>
              </a:solidFill>
              <a:effectLst/>
            </c:spPr>
          </c:dPt>
          <c:dPt>
            <c:idx val="7"/>
            <c:invertIfNegative val="0"/>
            <c:bubble3D val="0"/>
            <c:spPr>
              <a:solidFill>
                <a:srgbClr val="C9CED6"/>
              </a:solidFill>
              <a:effectLst/>
            </c:spPr>
          </c:dPt>
          <c:cat>
            <c:multiLvlStrRef>
              <c:f>Sheet1!$A$2:$A$9</c:f>
              <c:multiLvlStrCache>
                <c:ptCount val="8"/>
                <c:lvl>
                  <c:pt idx="0">
                    <c:v>COS, labour</c:v>
                  </c:pt>
                  <c:pt idx="1">
                    <c:v>Employment Expenses</c:v>
                  </c:pt>
                  <c:pt idx="2">
                    <c:v>COS, equipment &amp; services</c:v>
                  </c:pt>
                  <c:pt idx="3">
                    <c:v>Operating Expenses</c:v>
                  </c:pt>
                  <c:pt idx="4">
                    <c:v>General &amp; Administrative</c:v>
                  </c:pt>
                  <c:pt idx="5">
                    <c:v>Advertising &amp; Promotion</c:v>
                  </c:pt>
                  <c:pt idx="6">
                    <c:v>Business Insurances</c:v>
                  </c:pt>
                  <c:pt idx="7">
                    <c:v>COS, other direct</c:v>
                  </c:pt>
                </c:lvl>
              </c:multiLvlStrCache>
            </c:multiLvlStrRef>
          </c:cat>
          <c:val>
            <c:numRef>
              <c:f>Sheet1!$B$2:$B$9</c:f>
              <c:numCache>
                <c:formatCode>General</c:formatCode>
                <c:ptCount val="8"/>
                <c:pt idx="0">
                  <c:v>621</c:v>
                </c:pt>
                <c:pt idx="1">
                  <c:v>369</c:v>
                </c:pt>
                <c:pt idx="2">
                  <c:v>347</c:v>
                </c:pt>
                <c:pt idx="3">
                  <c:v>137</c:v>
                </c:pt>
                <c:pt idx="4">
                  <c:v>76</c:v>
                </c:pt>
                <c:pt idx="5">
                  <c:v>34</c:v>
                </c:pt>
                <c:pt idx="6">
                  <c:v>25</c:v>
                </c:pt>
                <c:pt idx="7">
                  <c:v>24</c:v>
                </c:pt>
              </c:numCache>
            </c:numRef>
          </c:val>
        </c:ser>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c:v>
                </c:pt>
              </c:strCache>
            </c:strRef>
          </c:tx>
          <c:spPr>
            <a:solidFill>
              <a:srgbClr val="005358"/>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dPt>
            <c:idx val="0"/>
            <c:invertIfNegative val="0"/>
            <c:bubble3D val="0"/>
            <c:spPr>
              <a:solidFill>
                <a:srgbClr val="005358"/>
              </a:solidFill>
              <a:effectLst/>
            </c:spPr>
          </c:dPt>
          <c:dPt>
            <c:idx val="1"/>
            <c:invertIfNegative val="0"/>
            <c:bubble3D val="0"/>
            <c:spPr>
              <a:solidFill>
                <a:srgbClr val="005358"/>
              </a:solidFill>
              <a:effectLst/>
            </c:spPr>
          </c:dPt>
          <c:dPt>
            <c:idx val="2"/>
            <c:invertIfNegative val="0"/>
            <c:bubble3D val="0"/>
            <c:spPr>
              <a:solidFill>
                <a:srgbClr val="3FD0C9"/>
              </a:solidFill>
              <a:effectLst/>
            </c:spPr>
          </c:dPt>
          <c:dPt>
            <c:idx val="3"/>
            <c:invertIfNegative val="0"/>
            <c:bubble3D val="0"/>
            <c:spPr>
              <a:solidFill>
                <a:srgbClr val="C9CED6"/>
              </a:solidFill>
              <a:effectLst/>
            </c:spPr>
          </c:dPt>
          <c:dPt>
            <c:idx val="4"/>
            <c:invertIfNegative val="0"/>
            <c:bubble3D val="0"/>
            <c:spPr>
              <a:solidFill>
                <a:srgbClr val="C9CED6"/>
              </a:solidFill>
              <a:effectLst/>
            </c:spPr>
          </c:dPt>
          <c:dPt>
            <c:idx val="5"/>
            <c:invertIfNegative val="0"/>
            <c:bubble3D val="0"/>
            <c:spPr>
              <a:solidFill>
                <a:srgbClr val="C9CED6"/>
              </a:solidFill>
              <a:effectLst/>
            </c:spPr>
          </c:dPt>
          <c:dPt>
            <c:idx val="6"/>
            <c:invertIfNegative val="0"/>
            <c:bubble3D val="0"/>
            <c:spPr>
              <a:solidFill>
                <a:srgbClr val="C9CED6"/>
              </a:solidFill>
              <a:effectLst/>
            </c:spPr>
          </c:dPt>
          <c:dPt>
            <c:idx val="7"/>
            <c:invertIfNegative val="0"/>
            <c:bubble3D val="0"/>
            <c:spPr>
              <a:solidFill>
                <a:srgbClr val="C9CED6"/>
              </a:solidFill>
              <a:effectLst/>
            </c:spPr>
          </c:dPt>
          <c:dPt>
            <c:idx val="8"/>
            <c:invertIfNegative val="0"/>
            <c:bubble3D val="0"/>
            <c:spPr>
              <a:solidFill>
                <a:srgbClr val="C9CED6"/>
              </a:solidFill>
              <a:effectLst/>
            </c:spPr>
          </c:dPt>
          <c:cat>
            <c:multiLvlStrRef>
              <c:f>Sheet1!$A$2:$A$10</c:f>
              <c:multiLvlStrCache>
                <c:ptCount val="9"/>
                <c:lvl>
                  <c:pt idx="0">
                    <c:v>Rent</c:v>
                  </c:pt>
                  <c:pt idx="1">
                    <c:v>IT Network Service &amp; Support</c:v>
                  </c:pt>
                  <c:pt idx="2">
                    <c:v>Rental Outgoings</c:v>
                  </c:pt>
                  <c:pt idx="3">
                    <c:v>Travel &amp; Per Diems</c:v>
                  </c:pt>
                  <c:pt idx="4">
                    <c:v>Everything else</c:v>
                  </c:pt>
                  <c:pt idx="5">
                    <c:v>Stamp Duty (Indirect)</c:v>
                  </c:pt>
                  <c:pt idx="6">
                    <c:v>Repairs &amp; Maintenance</c:v>
                  </c:pt>
                  <c:pt idx="7">
                    <c:v>Office Cleaning</c:v>
                  </c:pt>
                  <c:pt idx="8">
                    <c:v>Mobile Phones</c:v>
                  </c:pt>
                </c:lvl>
              </c:multiLvlStrCache>
            </c:multiLvlStrRef>
          </c:cat>
          <c:val>
            <c:numRef>
              <c:f>Sheet1!$B$2:$B$10</c:f>
              <c:numCache>
                <c:formatCode>General</c:formatCode>
                <c:ptCount val="9"/>
                <c:pt idx="0">
                  <c:v>62</c:v>
                </c:pt>
                <c:pt idx="1">
                  <c:v>40</c:v>
                </c:pt>
                <c:pt idx="2">
                  <c:v>15</c:v>
                </c:pt>
                <c:pt idx="3">
                  <c:v>6</c:v>
                </c:pt>
                <c:pt idx="4">
                  <c:v>5</c:v>
                </c:pt>
                <c:pt idx="5">
                  <c:v>3</c:v>
                </c:pt>
                <c:pt idx="6">
                  <c:v>2</c:v>
                </c:pt>
                <c:pt idx="7">
                  <c:v>2</c:v>
                </c:pt>
                <c:pt idx="8">
                  <c:v>2</c:v>
                </c:pt>
              </c:numCache>
            </c:numRef>
          </c:val>
        </c:ser>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c:v>
                </c:pt>
              </c:strCache>
            </c:strRef>
          </c:tx>
          <c:spPr>
            <a:solidFill>
              <a:srgbClr val="005358"/>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dPt>
            <c:idx val="0"/>
            <c:invertIfNegative val="0"/>
            <c:bubble3D val="0"/>
            <c:spPr>
              <a:solidFill>
                <a:srgbClr val="005358"/>
              </a:solidFill>
              <a:effectLst/>
            </c:spPr>
          </c:dPt>
          <c:dPt>
            <c:idx val="1"/>
            <c:invertIfNegative val="0"/>
            <c:bubble3D val="0"/>
            <c:spPr>
              <a:solidFill>
                <a:srgbClr val="005358"/>
              </a:solidFill>
              <a:effectLst/>
            </c:spPr>
          </c:dPt>
          <c:dPt>
            <c:idx val="2"/>
            <c:invertIfNegative val="0"/>
            <c:bubble3D val="0"/>
            <c:spPr>
              <a:solidFill>
                <a:srgbClr val="3FD0C9"/>
              </a:solidFill>
              <a:effectLst/>
            </c:spPr>
          </c:dPt>
          <c:dPt>
            <c:idx val="3"/>
            <c:invertIfNegative val="0"/>
            <c:bubble3D val="0"/>
            <c:spPr>
              <a:solidFill>
                <a:srgbClr val="3FD0C9"/>
              </a:solidFill>
              <a:effectLst/>
            </c:spPr>
          </c:dPt>
          <c:dPt>
            <c:idx val="4"/>
            <c:invertIfNegative val="0"/>
            <c:bubble3D val="0"/>
            <c:spPr>
              <a:solidFill>
                <a:srgbClr val="C9CED6"/>
              </a:solidFill>
              <a:effectLst/>
            </c:spPr>
          </c:dPt>
          <c:cat>
            <c:multiLvlStrRef>
              <c:f>Sheet1!$A$2:$A$6</c:f>
              <c:multiLvlStrCache>
                <c:ptCount val="5"/>
                <c:lvl>
                  <c:pt idx="0">
                    <c:v>Direct Salaries</c:v>
                  </c:pt>
                  <c:pt idx="1">
                    <c:v>Sub-Contract Labour</c:v>
                  </c:pt>
                  <c:pt idx="2">
                    <c:v>Direct Wages</c:v>
                  </c:pt>
                  <c:pt idx="3">
                    <c:v>Direct Superannuation</c:v>
                  </c:pt>
                  <c:pt idx="4">
                    <c:v>Service - hires</c:v>
                  </c:pt>
                </c:lvl>
              </c:multiLvlStrCache>
            </c:multiLvlStrRef>
          </c:cat>
          <c:val>
            <c:numRef>
              <c:f>Sheet1!$B$2:$B$6</c:f>
              <c:numCache>
                <c:formatCode>General</c:formatCode>
                <c:ptCount val="5"/>
                <c:pt idx="0">
                  <c:v>315</c:v>
                </c:pt>
                <c:pt idx="1">
                  <c:v>117</c:v>
                </c:pt>
                <c:pt idx="2">
                  <c:v>111</c:v>
                </c:pt>
                <c:pt idx="3">
                  <c:v>54</c:v>
                </c:pt>
                <c:pt idx="4">
                  <c:v>24</c:v>
                </c:pt>
              </c:numCache>
            </c:numRef>
          </c:val>
        </c:ser>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Year to date</c:v>
                </c:pt>
              </c:strCache>
            </c:strRef>
          </c:tx>
          <c:spPr>
            <a:solidFill>
              <a:srgbClr val="005358"/>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cat>
            <c:multiLvlStrRef>
              <c:f>Sheet1!$A$2:$A$11</c:f>
              <c:multiLvlStrCache>
                <c:ptCount val="10"/>
                <c:lvl>
                  <c:pt idx="0">
                    <c:v>Deloitte Services</c:v>
                  </c:pt>
                  <c:pt idx="1">
                    <c:v>Aware Super</c:v>
                  </c:pt>
                  <c:pt idx="2">
                    <c:v>CBA Place South</c:v>
                  </c:pt>
                  <c:pt idx="3">
                    <c:v>Ventia</c:v>
                  </c:pt>
                  <c:pt idx="4">
                    <c:v>PwC Services</c:v>
                  </c:pt>
                  <c:pt idx="5">
                    <c:v>APT Management Service</c:v>
                  </c:pt>
                  <c:pt idx="6">
                    <c:v>ASX Operations</c:v>
                  </c:pt>
                  <c:pt idx="7">
                    <c:v>Bankwest</c:v>
                  </c:pt>
                  <c:pt idx="8">
                    <c:v>Data#3</c:v>
                  </c:pt>
                  <c:pt idx="9">
                    <c:v>Generation-e Productiv</c:v>
                  </c:pt>
                </c:lvl>
              </c:multiLvlStrCache>
            </c:multiLvlStrRef>
          </c:cat>
          <c:val>
            <c:numRef>
              <c:f>Sheet1!$B$2:$B$11</c:f>
              <c:numCache>
                <c:formatCode>General</c:formatCode>
                <c:ptCount val="10"/>
                <c:pt idx="0">
                  <c:v>402</c:v>
                </c:pt>
                <c:pt idx="1">
                  <c:v>285</c:v>
                </c:pt>
                <c:pt idx="2">
                  <c:v>105</c:v>
                </c:pt>
                <c:pt idx="3">
                  <c:v>98</c:v>
                </c:pt>
                <c:pt idx="4">
                  <c:v>88</c:v>
                </c:pt>
                <c:pt idx="5">
                  <c:v>64</c:v>
                </c:pt>
                <c:pt idx="6">
                  <c:v>61</c:v>
                </c:pt>
                <c:pt idx="7">
                  <c:v>55</c:v>
                </c:pt>
                <c:pt idx="8">
                  <c:v>46</c:v>
                </c:pt>
                <c:pt idx="9">
                  <c:v>37</c:v>
                </c:pt>
              </c:numCache>
            </c:numRef>
          </c:val>
        </c:ser>
        <c:dLbls>
          <c:numFmt formatCode="#,##0" sourceLinked="0"/>
          <c:txPr>
            <a:bodyPr/>
            <a:lstStyle/>
            <a:p>
              <a:pPr>
                <a:defRPr b="0" i="0" strike="noStrike" sz="850" u="none">
                  <a:solidFill>
                    <a:srgbClr val="3A4453"/>
                  </a:solidFill>
                  <a:latin typeface="+mn-lt"/>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Ageing</c:v>
                </c:pt>
              </c:strCache>
            </c:strRef>
          </c:tx>
          <c:spPr>
            <a:solidFill>
              <a:srgbClr val="005358"/>
            </a:solidFill>
            <a:effectLst/>
          </c:spPr>
          <c:invertIfNegative val="0"/>
          <c:dLbls>
            <c:numFmt formatCode="#,##0" sourceLinked="0"/>
            <c:txPr>
              <a:bodyPr/>
              <a:lstStyle/>
              <a:p>
                <a:pPr>
                  <a:defRPr b="0" i="0" strike="noStrike" sz="800" u="none">
                    <a:solidFill>
                      <a:srgbClr val="3A4453"/>
                    </a:solidFill>
                    <a:latin typeface="+mn-lt"/>
                  </a:defRPr>
                </a:pPr>
              </a:p>
            </c:txPr>
            <c:showLegendKey val="0"/>
            <c:showVal val="1"/>
            <c:showCatName val="0"/>
            <c:showSerName val="0"/>
            <c:showPercent val="0"/>
            <c:showBubbleSize val="0"/>
            <c:showLeaderLines val="0"/>
          </c:dLbls>
          <c:dPt>
            <c:idx val="0"/>
            <c:invertIfNegative val="0"/>
            <c:bubble3D val="0"/>
            <c:spPr>
              <a:solidFill>
                <a:srgbClr val="005358"/>
              </a:solidFill>
              <a:effectLst/>
            </c:spPr>
          </c:dPt>
          <c:dPt>
            <c:idx val="1"/>
            <c:invertIfNegative val="0"/>
            <c:bubble3D val="0"/>
            <c:spPr>
              <a:solidFill>
                <a:srgbClr val="3FD0C9"/>
              </a:solidFill>
              <a:effectLst/>
            </c:spPr>
          </c:dPt>
          <c:dPt>
            <c:idx val="2"/>
            <c:invertIfNegative val="0"/>
            <c:bubble3D val="0"/>
            <c:spPr>
              <a:solidFill>
                <a:srgbClr val="F33844"/>
              </a:solidFill>
              <a:effectLst/>
            </c:spPr>
          </c:dPt>
          <c:dPt>
            <c:idx val="3"/>
            <c:invertIfNegative val="0"/>
            <c:bubble3D val="0"/>
            <c:spPr>
              <a:solidFill>
                <a:srgbClr val="A8052E"/>
              </a:solidFill>
              <a:effectLst/>
            </c:spPr>
          </c:dPt>
          <c:cat>
            <c:multiLvlStrRef>
              <c:f>Sheet1!$A$2:$A$5</c:f>
              <c:multiLvlStrCache>
                <c:ptCount val="4"/>
                <c:lvl>
                  <c:pt idx="0">
                    <c:v>Current</c:v>
                  </c:pt>
                  <c:pt idx="1">
                    <c:v>Under 1 month</c:v>
                  </c:pt>
                  <c:pt idx="2">
                    <c:v>1 month</c:v>
                  </c:pt>
                  <c:pt idx="3">
                    <c:v>3 months</c:v>
                  </c:pt>
                </c:lvl>
              </c:multiLvlStrCache>
            </c:multiLvlStrRef>
          </c:cat>
          <c:val>
            <c:numRef>
              <c:f>Sheet1!$B$2:$B$5</c:f>
              <c:numCache>
                <c:formatCode>General</c:formatCode>
                <c:ptCount val="4"/>
                <c:pt idx="0">
                  <c:v>589</c:v>
                </c:pt>
                <c:pt idx="1">
                  <c:v>133</c:v>
                </c:pt>
                <c:pt idx="2">
                  <c:v>87</c:v>
                </c:pt>
                <c:pt idx="3">
                  <c:v>25</c:v>
                </c:pt>
              </c:numCache>
            </c:numRef>
          </c:val>
        </c:ser>
        <c:dLbls>
          <c:numFmt formatCode="#,##0" sourceLinked="0"/>
          <c:txPr>
            <a:bodyPr/>
            <a:lstStyle/>
            <a:p>
              <a:pPr>
                <a:defRPr b="0" i="0" strike="noStrike" sz="800" u="none">
                  <a:solidFill>
                    <a:srgbClr val="3A445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c:v>
                </c:pt>
              </c:strCache>
            </c:strRef>
          </c:tx>
          <c:spPr>
            <a:solidFill>
              <a:srgbClr val="005358"/>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0"/>
            <c:showCatName val="0"/>
            <c:showSerName val="0"/>
            <c:showPercent val="0"/>
            <c:showBubbleSize val="0"/>
            <c:showLeaderLines val="0"/>
          </c:dLbls>
          <c:cat>
            <c:multiLvlStrRef>
              <c:f>Sheet1!$A$2:$A$13</c:f>
              <c:multiLvlStrCache>
                <c:ptCount val="12"/>
                <c:lvl>
                  <c:pt idx="0">
                    <c:v>July</c:v>
                  </c:pt>
                  <c:pt idx="1">
                    <c:v>Aug</c:v>
                  </c:pt>
                  <c:pt idx="2">
                    <c:v>Sept</c:v>
                  </c:pt>
                  <c:pt idx="3">
                    <c:v>Oct</c:v>
                  </c:pt>
                  <c:pt idx="4">
                    <c:v>Nov</c:v>
                  </c:pt>
                  <c:pt idx="5">
                    <c:v>Dec</c:v>
                  </c:pt>
                  <c:pt idx="6">
                    <c:v>Jan</c:v>
                  </c:pt>
                  <c:pt idx="7">
                    <c:v>Feb</c:v>
                  </c:pt>
                  <c:pt idx="8">
                    <c:v>Mar</c:v>
                  </c:pt>
                  <c:pt idx="9">
                    <c:v>Apr</c:v>
                  </c:pt>
                  <c:pt idx="10">
                    <c:v>May</c:v>
                  </c:pt>
                  <c:pt idx="11">
                    <c:v>June</c:v>
                  </c:pt>
                </c:lvl>
              </c:multiLvlStrCache>
            </c:multiLvlStrRef>
          </c:cat>
          <c:val>
            <c:numRef>
              <c:f>Sheet1!$B$2:$B$13</c:f>
              <c:numCache>
                <c:formatCode>General</c:formatCode>
                <c:ptCount val="12"/>
                <c:pt idx="0">
                  <c:v>459</c:v>
                </c:pt>
                <c:pt idx="1">
                  <c:v>603</c:v>
                </c:pt>
                <c:pt idx="2">
                  <c:v>562</c:v>
                </c:pt>
                <c:pt idx="3">
                  <c:v/>
                </c:pt>
                <c:pt idx="4">
                  <c:v/>
                </c:pt>
                <c:pt idx="5">
                  <c:v/>
                </c:pt>
                <c:pt idx="6">
                  <c:v/>
                </c:pt>
                <c:pt idx="7">
                  <c:v/>
                </c:pt>
                <c:pt idx="8">
                  <c:v/>
                </c:pt>
                <c:pt idx="9">
                  <c:v/>
                </c:pt>
                <c:pt idx="10">
                  <c:v/>
                </c:pt>
                <c:pt idx="11">
                  <c:v/>
                </c:pt>
              </c:numCache>
            </c:numRef>
          </c:val>
        </c:ser>
        <c:ser>
          <c:idx val="1"/>
          <c:order val="1"/>
          <c:tx>
            <c:strRef>
              <c:f>Sheet1!$C$1</c:f>
              <c:strCache>
                <c:ptCount val="1"/>
                <c:pt idx="0">
                  <c:v>Budget</c:v>
                </c:pt>
              </c:strCache>
            </c:strRef>
          </c:tx>
          <c:spPr>
            <a:solidFill>
              <a:srgbClr val="C9CED6"/>
            </a:solidFill>
            <a:effectLst/>
          </c:spPr>
          <c:invertIfNegative val="0"/>
          <c:dLbls>
            <c:numFmt formatCode="#,##0" sourceLinked="0"/>
            <c:txPr>
              <a:bodyPr/>
              <a:lstStyle/>
              <a:p>
                <a:pPr>
                  <a:defRPr b="0" i="0" strike="noStrike" sz="850" u="none">
                    <a:solidFill>
                      <a:srgbClr val="3A4453"/>
                    </a:solidFill>
                    <a:latin typeface="+mn-lt"/>
                  </a:defRPr>
                </a:pPr>
              </a:p>
            </c:txPr>
            <c:showLegendKey val="0"/>
            <c:showVal val="0"/>
            <c:showCatName val="0"/>
            <c:showSerName val="0"/>
            <c:showPercent val="0"/>
            <c:showBubbleSize val="0"/>
            <c:showLeaderLines val="0"/>
          </c:dLbls>
          <c:cat>
            <c:multiLvlStrRef>
              <c:f>Sheet1!$A$2:$A$13</c:f>
              <c:multiLvlStrCache>
                <c:ptCount val="12"/>
                <c:lvl>
                  <c:pt idx="0">
                    <c:v>July</c:v>
                  </c:pt>
                  <c:pt idx="1">
                    <c:v>Aug</c:v>
                  </c:pt>
                  <c:pt idx="2">
                    <c:v>Sept</c:v>
                  </c:pt>
                  <c:pt idx="3">
                    <c:v>Oct</c:v>
                  </c:pt>
                  <c:pt idx="4">
                    <c:v>Nov</c:v>
                  </c:pt>
                  <c:pt idx="5">
                    <c:v>Dec</c:v>
                  </c:pt>
                  <c:pt idx="6">
                    <c:v>Jan</c:v>
                  </c:pt>
                  <c:pt idx="7">
                    <c:v>Feb</c:v>
                  </c:pt>
                  <c:pt idx="8">
                    <c:v>Mar</c:v>
                  </c:pt>
                  <c:pt idx="9">
                    <c:v>Apr</c:v>
                  </c:pt>
                  <c:pt idx="10">
                    <c:v>May</c:v>
                  </c:pt>
                  <c:pt idx="11">
                    <c:v>June</c:v>
                  </c:pt>
                </c:lvl>
              </c:multiLvlStrCache>
            </c:multiLvlStrRef>
          </c:cat>
          <c:val>
            <c:numRef>
              <c:f>Sheet1!$C$2:$C$13</c:f>
              <c:numCache>
                <c:formatCode>General</c:formatCode>
                <c:ptCount val="12"/>
                <c:pt idx="0">
                  <c:v>609</c:v>
                </c:pt>
                <c:pt idx="1">
                  <c:v>973</c:v>
                </c:pt>
                <c:pt idx="2">
                  <c:v>414</c:v>
                </c:pt>
                <c:pt idx="3">
                  <c:v>950</c:v>
                </c:pt>
                <c:pt idx="4">
                  <c:v>540</c:v>
                </c:pt>
                <c:pt idx="5">
                  <c:v>345</c:v>
                </c:pt>
                <c:pt idx="6">
                  <c:v>354</c:v>
                </c:pt>
                <c:pt idx="7">
                  <c:v>577</c:v>
                </c:pt>
                <c:pt idx="8">
                  <c:v>414</c:v>
                </c:pt>
                <c:pt idx="9">
                  <c:v>392</c:v>
                </c:pt>
                <c:pt idx="10">
                  <c:v>402</c:v>
                </c:pt>
                <c:pt idx="11">
                  <c:v>333</c:v>
                </c:pt>
              </c:numCache>
            </c:numRef>
          </c:val>
        </c:ser>
        <c:dLbls>
          <c:numFmt formatCode="#,##0" sourceLinked="0"/>
          <c:txPr>
            <a:bodyPr/>
            <a:lstStyle/>
            <a:p>
              <a:pPr>
                <a:defRPr b="0" i="0" strike="noStrike" sz="850" u="none">
                  <a:solidFill>
                    <a:srgbClr val="3A4453"/>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850" b="0" i="0" u="none" strike="noStrike">
                <a:solidFill>
                  <a:srgbClr val="3A445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6EA"/>
              </a:solidFill>
              <a:prstDash val="solid"/>
              <a:round/>
            </a:ln>
          </c:spPr>
        </c:majorGridlines>
        <c:title>
          <c:tx>
            <c:rich>
              <a:bodyPr/>
              <a:lstStyle/>
              <a:p>
                <a:pPr>
                  <a:defRPr sz="800" b="0" i="0" u="none" strike="noStrike">
                    <a:solidFill>
                      <a:srgbClr val="6B7585"/>
                    </a:solidFill>
                    <a:latin typeface="+mn-lt"/>
                  </a:defRPr>
                </a:pPr>
                <a:r>
                  <a:rPr sz="800" b="0" i="0" u="none" strike="noStrike">
                    <a:solidFill>
                      <a:srgbClr val="6B7585"/>
                    </a:solidFill>
                    <a:latin typeface="+mn-lt"/>
                  </a:rPr>
                  <a:t>A$ thousands</a:t>
                </a:r>
              </a:p>
            </c:rich>
          </c:tx>
          <c:layout/>
          <c:overlay val="0"/>
        </c:title>
        <c:numFmt formatCode="General" sourceLinked="0"/>
        <c:majorTickMark val="out"/>
        <c:minorTickMark val="none"/>
        <c:tickLblPos val="nextTo"/>
        <c:spPr>
          <a:ln w="12700" cap="flat">
            <a:noFill/>
            <a:prstDash val="solid"/>
            <a:round/>
          </a:ln>
        </c:spPr>
        <c:txPr>
          <a:bodyPr/>
          <a:lstStyle/>
          <a:p>
            <a:pPr>
              <a:defRPr sz="850" b="0" i="0" u="none" strike="noStrike">
                <a:solidFill>
                  <a:srgbClr val="6B758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B758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Cost base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are actually delivering.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for September 2026.
Revenue of 561,945 against a budget of 413,665, ahead by 148,280 or 36%. Against last September at 356,323 we are up 58%.
Gross profit 187,814 at 33.4%, against a budget of 30.1% and last September at 45.5%. The budget margin for the month was unusually low, so beating it is not the achievement it looks like. Year to date margin is 38.9% against a plan of 45.7%.
Overheads 230,233 against 231,573 budget, within 1,340. The cost base is behaving.
EBITDA (32,437) against a budgeted (107,100). Net profit (41,464) after depreciation and amortisation of 9,982.
Year to date: revenue 1,624,460 against 1,996,110, behind by 371,650. EBITDA 5,774 against 222,700.
The point to make in the room: at 38.9% gross margin we need 549,372 of revenue every month to cover the overhead base. We are averaging 541,487. The gap is structural and it will not close by selling more at this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for September 2026, with the full overhead charge.
Support: revenue 242,948 against 248,017 budget, behind by 5,068. Gross profit 101,290 at 41.7%. Overhead 72,283, of which 59,182 is allocated admin. Result 29,007.
Events: revenue 73,304 against 65,828 budget, ahead by 7,476. Gross profit 56,881 at 77.6%. Overhead 111,108, of which 71,672 is allocated admin. Result (54,227).
Video: revenue 7,303 against 17,498 budget, behind by 10,196. Gross profit 5,813 at 79.6%. Overhead 12,659, of which 9,782 is allocated admin. Result (6,846).
Integration: revenue 234,858 against 59,272 budget, ahead by 175,586. Gross profit 23,756 at 10.1%. Overhead 13,285, of which 4,148 is allocated admin. Result 10,471.
Consulting: revenue 3,531 against 23,050 budget, behind by 19,519. Gross profit 74 at 2.1%. Overhead 19,944, of which 13,979 is allocated admin. Result (19,870).
The five departments total (41,464), which is net profit for the month.
Two things to flag. First, Integration's 175,586 beat on revenue converted to almost nothing because the margin was 10.1% on equipment resale. Second, Events absorbs 71,672 of allocated admin on 73,304 of revenue. The key charging it is the premises key, and Events is not the department consuming the premises.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quarter in one view.
July 459,049, August 603,467, September 561,945. Year to date 1,624,460 against a budget of 1,996,110, behind by 371,650.
By department year to date: Support 718,587 against 743,185, Integration 441,414 against 608,676, Events 420,121 against 321,957, Video 40,270 against 85,584, Consulting 4,068 against 236,707.
Gross profit for the quarter 632,300 at 38.9% against a planned 45.7%. Overheads 641,508 against 689,692, favourable by 48,184.
EBITDA 5,774 against 222,700. The business has traded a quarter and produced roughly break 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September 2026 actual against budget and against last September.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It is one large fit-out at 10.1% gross margin, so it adds revenue and very little profit. Read it as a timing event, not as growth. Video and Consulting are both short of budget again, which is the third month in a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blocks, deliberately stacked. The top is the result after all overhead. The bottom is gross margin before any overhead.
Read them against each other. Events has the second highest gross margin in the business at 77.6% and the worst result at (54,227). Integration has the lowest margin at 10.1% and a positive result of 10,471.
The difference is the overhead charge. Events carries 111,108 and Integration carries 13,285.
That is an allocation outcome, not a trading outcome. The premises key puts most of the admin cost onto Events, and Events is not the department consuming the premises. Until that key is tested these results should not be used to judge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Overheads are steady at about 214 thousand a month. The cost base is not the problem this month, but it is the number revenue has to clear, so it is worth seeing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together.
COS, labour 620,737 at 38.0%. Employment Expenses 369,466 at 22.6%. COS, equipment &amp; services 347,307 at 21.3%. Operating Expenses 136,752 at 8.4%. General &amp; Administrative 75,700 at 4.6%. Advertising &amp; Promotion 34,119 at 2.1%. Business Insurances 25,227 at 1.5%. COS, other direct 24,117 at 1.5%.
The message is concentration. Direct labour and employment overhead together are the clear majority of the cost base. Employment overhead is fixed inside the year, which is why a short revenue month drops straight to the bottom line.
When the board asks what we can cut, the honest answer is that the only lines big enough to matter are people and premises. Trimming subscriptions and travel will not change the shape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Everything else 5,390 at 3.9%. Stamp Duty (Indirect) 3,455 at 2.5%. Repairs &amp; Maintenance 2,079 at 1.5%. Office Cleaning 2,079 at 1.5%. Mobile Phones 1,825 at 1.3%.
Rent and rental outgoings together are the dominant cost and they are fixed by lease. IT network service and support is the second line.
The practical conclusion is that this block is not where cost comes out. If the business needs to reduce operating expense materially, it is a premises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Salaries 314,763. Sub-Contract Labour 117,012. Direct Wages 111,018. Direct Superannuation 54,240. Service - hires 23,704.
The great majority is permanent payroll. Sub contract labour is the only line that flexes with volume.
This is the link to the utilisation section. We pay for hours worked.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September 2026.
Departmental staff is the employment expense sitting on each department's own cost centre: Support 8,980, Events 35,665, Video 2,660, Integration 8,563, Consulting 5,545.
Office staff is the admin employment pot of 63,077, charged across the departments on their share of full time equivalent: Support 42,262 at 67.0%, Events 15,294 at 24.2%, Video 1,301 at 2.1%, Integration 269 at 0.4%, Consulting 3,951 at 6.3%.
FTE is rolling twelve month worked hours on that cost centre divided by 2,024 hours, which is 253 working days at eight hours. That is the method in the training recording.
The important change this month is that this no longer relies on a typed figure. The pack calculates it from the Labour Hours Report, so the split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year to date.
1. Deloitte Services: 401,755 year to date at 24.7% of revenue, 119,614 in September 2026.
2. Aware Super: 285,075 year to date at 17.5% of revenue, 241,178 in September 2026.
3. CBA Place South: 105,040 year to date at 6.5% of revenue, 30,409 in September 2026.
4. Ventia: 97,662 year to date at 6.0% of revenue, 9,105 in September 2026.
5. PwC Services: 88,051 year to date at 5.4% of revenue, 26,707 in September 2026.
6. APT Management Services: 63,613 year to date at 3.9% of revenue, 4,527 in September 2026.
7. ASX Operations: 60,858 year to date at 3.7% of revenue, 17,167 in September 2026.
8. Bankwest: 54,971 year to date at 3.4% of revenue, 17,230 in September 2026.
9. Data#3: 45,909 year to date at 2.8% of revenue, 0 in September 2026.
10. Generation-e Productivity…: 37,166 year to date at 2.3% of revenue, 12,389 in September 2026.
The top ten are 1,240,100 or 76.3% of revenue. Everyone else is 384,360.
The concentration risk is real and it is getting worse, not better. Deloitte Services and Aware Super together are 42.3% of the year to date. Aware Super is a single project, so that share will not repeat next quarter.
The recommendation is a retention plan with a named owner for the top three, and a business development target set on the second ten rather than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ten customers as a chart, so the distribution is visible.
Two customers dominate. Deloitte Services at 401,755 and Aware Super at 285,075. The remaining eight together are 553,270.
The distinction that matters is contract versus project. Deloitte Services is contracted support income that renews. Aware Super is a fit-out that completes. Treating them as the same kind of revenue is how a forecast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Receivables and days sales outstanding at 30 September 2026.
Trade receivables 833,320. DSO 47.2 days against a target of 30. At target the book would be 529,715, so 303,605 of cash is tied up above where it should be.
Ageing: Current 588,782 at 70.7%, Under 1 month 133,177 at 16.0%, 1 month 86,553 at 10.4%, 3 months 24,809 at 3.0%. Overdue in total 244,538 or 29.3%.
The largest debtors are Aware Super at 277,395, Deloitte Services P/L for Deloitte Services Trust at 131,575, Ventia at 94,701.
The practical action is narrow. Two customers hold the majority of the overdue balance. A targeted chase on those two is worth more than a general collections push, and it is the fastest cash available to the business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of target,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Utilisation by department for September 2026.
Support: 2,132 chargeable, 11 non-chargeable, 218 leave, 99.5% chargeable.
Events: 241 chargeable, 249 non-chargeable, 333 leave, 49.1% chargeable.
Video: 25 chargeable, 8 non-chargeable, 0 leave, 76.0% chargeable.
Integration: 10 chargeable, 0 non-chargeable, 0 leave, 100.0% chargeable.
Consulting: 31 chargeable, 84 non-chargeable, 53 leave, 26.8% chargeable.
Company total 2,437 chargeable out of 2,789 worked, 87.4%.
I need to be straight about the Support number. 99.5% chargeable on only 11 non-chargeable hours in a whole month is not believable for a team of that size. Non-chargeable time is being booked to chargeable cost centres. The hours total is right, the split is not, and that makes the Support utilisation figure unusable until timesheet coding is corrected.
Events at 49.1% is the real operational issue. 333 hours of leave in the month on a small team takes out most of the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based on utilisation, September 2026.
Support: 99.5% chargeable on 2,132 hours. Revenue per chargeable hour $114, direct cost per hour $66, margin $48.
Events: 49.1% chargeable on 241 hours. Revenue per chargeable hour $305, direct cost per hour $68, margin $237.
Video: 76.0% chargeable on 25 hours. Revenue per chargeable hour $298, direct cost per hour $61, margin $237.
Integration: 100.0% chargeable on 10 hours. Revenue per chargeable hour $24,722, direct cost per hour $22,221, margin $2,501.
Consulting: 26.8% chargeable on 31 hours. Revenue per chargeable hour $115, direct cost per hour $112, margin $2.
Two cautions on reading this. Revenue per hour is not a charge rate. It is department revenue divided by chargeable hours, so it includes equipment, hire and freight. For Integration that produces a very large number per hour, which simply reflects that the revenue was equipment resale against almost no labour.
The usable conclusion is the box on the left. Five more points of utilisation on Support and Events, at the revenue per chargeable hour each already earns, is worth roughly 15,813 a month before any additional cost. That is the single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Nobody has reforecast them. October is budgeted at 950,416, which is higher than any month we have delivered.
Two things I would say to the board. First, the Q1 variance is concentrated in Consulting and Video, which were budgeted on a resourcing level that does not exist. Second,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each with an owner and a date.
The first two are the ones that matter. Reforecasting on margin rather than revenue, and testing the overhead keys. Everything else in this pack follows from those two numbers.
The Consulting decision cannot keep being deferred. It has carried overhead against no fee base for three months.
The cash action is the only one that produces money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 thousand a month at our real margin, and we are running at 541.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cost base,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Cost base</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a:t>
            </a:r>
            <a:endParaRPr lang="en-US" sz="2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914400"/>
        </p:xfrm>
        <a:graphic>
          <a:graphicData uri="http://schemas.openxmlformats.org/drawingml/2006/table">
            <a:tbl>
              <a:tblPr/>
              <a:tblGrid>
                <a:gridCol w="1417320"/>
                <a:gridCol w="594360"/>
                <a:gridCol w="594360"/>
                <a:gridCol w="594360"/>
                <a:gridCol w="594360"/>
                <a:gridCol w="594360"/>
                <a:gridCol w="594360"/>
                <a:gridCol w="594360"/>
              </a:tblGrid>
              <a:tr h="0">
                <a:tc>
                  <a:txBody>
                    <a:bodyPr/>
                    <a:lstStyle/>
                    <a:p>
                      <a:pPr algn="l" indent="0" marL="0">
                        <a:buNone/>
                      </a:pPr>
                      <a:r>
                        <a:rPr lang="en-US" sz="900" b="1" dirty="0">
                          <a:solidFill>
                            <a:srgbClr val="FFFFFF"/>
                          </a:solidFill>
                        </a:rPr>
                        <a:t>A$ thousands</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Sep 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Budget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Var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YTD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Budget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Var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Sep 25</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Revenue</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562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414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+148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1,624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1,996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-372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356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Cost of sales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(374)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(289)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-85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(992)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(1,084)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+92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(194)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Gross profit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188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124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+63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912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-280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162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r h="0">
                <a:tc>
                  <a:txBody>
                    <a:bodyPr/>
                    <a:lstStyle/>
                    <a:p>
                      <a:pPr algn="l" indent="0" marL="0">
                        <a:buNone/>
                      </a:pPr>
                      <a:r>
                        <a:rPr lang="en-US" sz="900" dirty="0">
                          <a:solidFill>
                            <a:srgbClr val="3A4453"/>
                          </a:solidFill>
                        </a:rPr>
                        <a:t>Gross margin %</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33.4%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30.1%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+3.3 pts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38.9%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45.7%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-6.8 pts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45.5%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Overheads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(642)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(690)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(215)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EBITDA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(107)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+75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223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-217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(53)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r h="0">
                <a:tc>
                  <a:txBody>
                    <a:bodyPr/>
                    <a:lstStyle/>
                    <a:p>
                      <a:pPr algn="l" indent="0" marL="0">
                        <a:buNone/>
                      </a:pPr>
                      <a:r>
                        <a:rPr lang="en-US" sz="900" dirty="0">
                          <a:solidFill>
                            <a:srgbClr val="3A4453"/>
                          </a:solidFill>
                        </a:rPr>
                        <a:t>EBITDA margin %</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-25.9%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+20.1 pts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11.2%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-10.8 pts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Net profit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(41)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(107)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+66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223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-229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(53)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bl>
          </a:graphicData>
        </a:graphic>
      </p:graphicFrame>
      <p:sp>
        <p:nvSpPr>
          <p:cNvPr id="5" name="Text 2"/>
          <p:cNvSpPr txBox="1"/>
          <p:nvPr/>
        </p:nvSpPr>
        <p:spPr>
          <a:xfrm>
            <a:off x="502920" y="3639312"/>
            <a:ext cx="5577840" cy="438912"/>
          </a:xfrm>
          <a:prstGeom prst="rect">
            <a:avLst/>
          </a:prstGeom>
          <a:noFill/>
          <a:ln/>
        </p:spPr>
        <p:txBody>
          <a:bodyPr wrap="square" lIns="0" tIns="0" rIns="0" bIns="0" rtlCol="0" anchor="t"/>
          <a:lstStyle/>
          <a:p>
            <a:pPr indent="0" marL="0">
              <a:buNone/>
            </a:pPr>
            <a:r>
              <a:rPr lang="en-US" sz="850" i="1" dirty="0">
                <a:solidFill>
                  <a:srgbClr val="6B7585"/>
                </a:solidFill>
              </a:rPr>
              <a:t>Revenue beat budget by 148k and the month still lost 32k of EBITDA. Cost of sales rose 85k on that revenue, so the gain came in at a margin the plan did not assume.</a:t>
            </a:r>
            <a:endParaRPr lang="en-US" sz="850" dirty="0"/>
          </a:p>
        </p:txBody>
      </p:sp>
      <p:graphicFrame>
        <p:nvGraphicFramePr>
          <p:cNvPr id="6" name="Chart 0" descr=""/>
          <p:cNvGraphicFramePr/>
          <p:nvPr/>
        </p:nvGraphicFramePr>
        <p:xfrm>
          <a:off x="457200" y="3950208"/>
          <a:ext cx="5669280" cy="777240"/>
        </p:xfrm>
        <a:graphic xmlns:a="http://schemas.openxmlformats.org/drawingml/2006/main">
          <a:graphicData uri="http://schemas.openxmlformats.org/drawingml/2006/chart">
            <c:chart xmlns:c="http://schemas.openxmlformats.org/drawingml/2006/chart" r:id="rId1"/>
          </a:graphicData>
        </a:graphic>
      </p:graphicFrame>
      <p:sp>
        <p:nvSpPr>
          <p:cNvPr id="7" name="commentary panel"/>
          <p:cNvSpPr/>
          <p:nvPr/>
        </p:nvSpPr>
        <p:spPr>
          <a:xfrm>
            <a:off x="6263640" y="1463040"/>
            <a:ext cx="2377440" cy="3154680"/>
          </a:xfrm>
          <a:prstGeom prst="rect">
            <a:avLst/>
          </a:prstGeom>
          <a:solidFill>
            <a:srgbClr val="E8F9F8"/>
          </a:solidFill>
          <a:ln/>
        </p:spPr>
      </p:sp>
      <p:sp>
        <p:nvSpPr>
          <p:cNvPr id="8"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9"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Break even needs 549k of revenue a month at our real margin of 38.9%. We are running at 541k.</a:t>
            </a:r>
            <a:endParaRPr lang="en-US" sz="950" dirty="0"/>
          </a:p>
          <a:p>
            <a:pPr marL="342900" indent="-342900">
              <a:lnSpc>
                <a:spcPts val="1300"/>
              </a:lnSpc>
              <a:spcAft>
                <a:spcPts val="500"/>
              </a:spcAft>
              <a:buSzPct val="100000"/>
              <a:buChar char="•"/>
            </a:pPr>
            <a:r>
              <a:rPr lang="en-US" sz="950" dirty="0">
                <a:solidFill>
                  <a:srgbClr val="3A4453"/>
                </a:solidFill>
              </a:rPr>
              <a:t>Sep 26 beat revenue budget by 148k and still lost 32k. The miss is margin, not sales.</a:t>
            </a:r>
            <a:endParaRPr lang="en-US" sz="950" dirty="0"/>
          </a:p>
          <a:p>
            <a:pPr marL="342900" indent="-342900">
              <a:lnSpc>
                <a:spcPts val="1300"/>
              </a:lnSpc>
              <a:spcAft>
                <a:spcPts val="500"/>
              </a:spcAft>
              <a:buSzPct val="100000"/>
              <a:buChar char="•"/>
            </a:pPr>
            <a:r>
              <a:rPr lang="en-US" sz="950" dirty="0">
                <a:solidFill>
                  <a:srgbClr val="3A4453"/>
                </a:solidFill>
              </a:rPr>
              <a:t>Gross margin 33.4% against 30.1% budget looks good, but last September was 45.5%.</a:t>
            </a:r>
            <a:endParaRPr lang="en-US" sz="950" dirty="0"/>
          </a:p>
          <a:p>
            <a:pPr marL="342900" indent="-342900">
              <a:lnSpc>
                <a:spcPts val="1300"/>
              </a:lnSpc>
              <a:spcAft>
                <a:spcPts val="500"/>
              </a:spcAft>
              <a:buSzPct val="100000"/>
              <a:buChar char="•"/>
            </a:pPr>
            <a:r>
              <a:rPr lang="en-US" sz="950" dirty="0">
                <a:solidFill>
                  <a:srgbClr val="3A4453"/>
                </a:solidFill>
              </a:rPr>
              <a:t>Overheads held at 230k against 232k budget. Cost control is not the issue.</a:t>
            </a:r>
            <a:endParaRPr lang="en-US" sz="950" dirty="0"/>
          </a:p>
          <a:p>
            <a:pPr marL="342900" indent="-342900">
              <a:lnSpc>
                <a:spcPts val="1300"/>
              </a:lnSpc>
              <a:spcAft>
                <a:spcPts val="500"/>
              </a:spcAft>
              <a:buSzPct val="100000"/>
              <a:buChar char="•"/>
            </a:pPr>
            <a:r>
              <a:rPr lang="en-US" sz="950" dirty="0">
                <a:solidFill>
                  <a:srgbClr val="3A4453"/>
                </a:solidFill>
              </a:rPr>
              <a:t>Year to date EBITDA is 6k against 223k planned. Reforecast on margin.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per department, Sep 26</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914400"/>
        </p:xfrm>
        <a:graphic>
          <a:graphicData uri="http://schemas.openxmlformats.org/drawingml/2006/table">
            <a:tbl>
              <a:tblPr/>
              <a:tblGrid>
                <a:gridCol w="1143000"/>
                <a:gridCol w="658368"/>
                <a:gridCol w="594360"/>
                <a:gridCol w="530352"/>
                <a:gridCol w="749808"/>
                <a:gridCol w="548640"/>
                <a:gridCol w="713232"/>
                <a:gridCol w="640080"/>
              </a:tblGrid>
              <a:tr h="0">
                <a:tc>
                  <a:txBody>
                    <a:bodyPr/>
                    <a:lstStyle/>
                    <a:p>
                      <a:pPr algn="l" indent="0" marL="0">
                        <a:buNone/>
                      </a:pPr>
                      <a:r>
                        <a:rPr lang="en-US" sz="900" b="1" dirty="0">
                          <a:solidFill>
                            <a:srgbClr val="FFFFFF"/>
                          </a:solidFill>
                        </a:rPr>
                        <a:t>A$ thousands</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Revenue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Budget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Var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Gross profit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GM %</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All overhead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Result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Support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101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41.7%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29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Events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77.6%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(111)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(54)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Video</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-10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79.6%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Integration</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+176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10.1%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10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Consulting</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-20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(20)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CTS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562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414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+148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188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33.4%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(229)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(41)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bl>
          </a:graphicData>
        </a:graphic>
      </p:graphicFrame>
      <p:sp>
        <p:nvSpPr>
          <p:cNvPr id="5" name="Text 2"/>
          <p:cNvSpPr txBox="1"/>
          <p:nvPr/>
        </p:nvSpPr>
        <p:spPr>
          <a:xfrm>
            <a:off x="502920" y="3200400"/>
            <a:ext cx="5577840" cy="640080"/>
          </a:xfrm>
          <a:prstGeom prst="rect">
            <a:avLst/>
          </a:prstGeom>
          <a:noFill/>
          <a:ln/>
        </p:spPr>
        <p:txBody>
          <a:bodyPr wrap="square" lIns="0" tIns="0" rIns="0" bIns="0" rtlCol="0" anchor="t"/>
          <a:lstStyle/>
          <a:p>
            <a:pPr indent="0" marL="0">
              <a:buNone/>
            </a:pPr>
            <a:r>
              <a:rPr lang="en-US" sz="850" i="1" dirty="0">
                <a:solidFill>
                  <a:srgbClr val="6B7585"/>
                </a:solidFill>
              </a:rPr>
              <a:t>All overhead is the department's own overhead plus its share of admin, spread on the keys set in the pack. Admin itself carries nothing once its overhead is charged out. Result is revenue less direct costs less all overhead, and the five departments add back to net profit exactly.</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Only Support covers its overhead. It returned 29k on 243k of revenue.</a:t>
            </a:r>
            <a:endParaRPr lang="en-US" sz="950" dirty="0"/>
          </a:p>
          <a:p>
            <a:pPr marL="342900" indent="-342900">
              <a:lnSpc>
                <a:spcPts val="1300"/>
              </a:lnSpc>
              <a:spcAft>
                <a:spcPts val="500"/>
              </a:spcAft>
              <a:buSzPct val="100000"/>
              <a:buChar char="•"/>
            </a:pPr>
            <a:r>
              <a:rPr lang="en-US" sz="950" dirty="0">
                <a:solidFill>
                  <a:srgbClr val="3A4453"/>
                </a:solidFill>
              </a:rPr>
              <a:t>Events carries 111k of overhead on 73k of revenue, so 77.6% margin still loses 54k.</a:t>
            </a:r>
            <a:endParaRPr lang="en-US" sz="950" dirty="0"/>
          </a:p>
          <a:p>
            <a:pPr marL="342900" indent="-342900">
              <a:lnSpc>
                <a:spcPts val="1300"/>
              </a:lnSpc>
              <a:spcAft>
                <a:spcPts val="500"/>
              </a:spcAft>
              <a:buSzPct val="100000"/>
              <a:buChar char="•"/>
            </a:pPr>
            <a:r>
              <a:rPr lang="en-US" sz="950" dirty="0">
                <a:solidFill>
                  <a:srgbClr val="3A4453"/>
                </a:solidFill>
              </a:rPr>
              <a:t>Integration booked 235k against 59k budget, but at 10.1% margin returned only 10k.</a:t>
            </a:r>
            <a:endParaRPr lang="en-US" sz="950" dirty="0"/>
          </a:p>
          <a:p>
            <a:pPr marL="342900" indent="-342900">
              <a:lnSpc>
                <a:spcPts val="1300"/>
              </a:lnSpc>
              <a:spcAft>
                <a:spcPts val="500"/>
              </a:spcAft>
              <a:buSzPct val="100000"/>
              <a:buChar char="•"/>
            </a:pPr>
            <a:r>
              <a:rPr lang="en-US" sz="950" dirty="0">
                <a:solidFill>
                  <a:srgbClr val="3A4453"/>
                </a:solidFill>
              </a:rPr>
              <a:t>Consulting holds 20k of overhead on a 4k fee base. That needs a decision, not a forecast.</a:t>
            </a:r>
            <a:endParaRPr lang="en-US" sz="950" dirty="0"/>
          </a:p>
          <a:p>
            <a:pPr marL="342900" indent="-342900">
              <a:lnSpc>
                <a:spcPts val="1300"/>
              </a:lnSpc>
              <a:spcAft>
                <a:spcPts val="500"/>
              </a:spcAft>
              <a:buSzPct val="100000"/>
              <a:buChar char="•"/>
            </a:pPr>
            <a:r>
              <a:rPr lang="en-US" sz="950" dirty="0">
                <a:solidFill>
                  <a:srgbClr val="3A4453"/>
                </a:solidFill>
              </a:rPr>
              <a:t>The overhead keys suit a different shape of business. Retest before FY28.</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The three months to date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5577840" cy="914400"/>
        </p:xfrm>
        <a:graphic>
          <a:graphicData uri="http://schemas.openxmlformats.org/drawingml/2006/table">
            <a:tbl>
              <a:tblPr/>
              <a:tblGrid>
                <a:gridCol w="1298448"/>
                <a:gridCol w="612648"/>
                <a:gridCol w="612648"/>
                <a:gridCol w="612648"/>
                <a:gridCol w="612648"/>
                <a:gridCol w="612648"/>
                <a:gridCol w="612648"/>
                <a:gridCol w="603504"/>
              </a:tblGrid>
              <a:tr h="0">
                <a:tc>
                  <a:txBody>
                    <a:bodyPr/>
                    <a:lstStyle/>
                    <a:p>
                      <a:pPr algn="l" indent="0" marL="0">
                        <a:buNone/>
                      </a:pPr>
                      <a:r>
                        <a:rPr lang="en-US" sz="900" b="1" dirty="0">
                          <a:solidFill>
                            <a:srgbClr val="FFFFFF"/>
                          </a:solidFill>
                        </a:rPr>
                        <a:t>A$ thousands</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Jul 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Aug 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Sep 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YTD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Budget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Var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Var %</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b="1" dirty="0">
                          <a:solidFill>
                            <a:srgbClr val="242C39"/>
                          </a:solidFill>
                        </a:rPr>
                        <a:t>Total income</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459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603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562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1,624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1,996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-372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-19%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r h="0">
                <a:tc>
                  <a:txBody>
                    <a:bodyPr/>
                    <a:lstStyle/>
                    <a:p>
                      <a:pPr algn="l" indent="0" marL="0">
                        <a:buNone/>
                      </a:pPr>
                      <a:r>
                        <a:rPr lang="en-US" sz="900" dirty="0">
                          <a:solidFill>
                            <a:srgbClr val="3A4453"/>
                          </a:solidFill>
                        </a:rPr>
                        <a:t>    Support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719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743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-25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    Integration</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441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609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-167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-27%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    Events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420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322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+98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005358"/>
                          </a:solidFill>
                        </a:rPr>
                        <a:t>30%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    Video</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-45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-53%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    Consulting</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-233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-98%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Cost of sales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(283)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(336)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(374)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(992)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(1,084)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+92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r h="0">
                <a:tc>
                  <a:txBody>
                    <a:bodyPr/>
                    <a:lstStyle/>
                    <a:p>
                      <a:pPr algn="l" indent="0" marL="0">
                        <a:buNone/>
                      </a:pPr>
                      <a:r>
                        <a:rPr lang="en-US" sz="900" b="1" dirty="0">
                          <a:solidFill>
                            <a:srgbClr val="242C39"/>
                          </a:solidFill>
                        </a:rPr>
                        <a:t>Gross profit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177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268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188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912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-280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-31%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r h="0">
                <a:tc>
                  <a:txBody>
                    <a:bodyPr/>
                    <a:lstStyle/>
                    <a:p>
                      <a:pPr algn="l" indent="0" marL="0">
                        <a:buNone/>
                      </a:pPr>
                      <a:r>
                        <a:rPr lang="en-US" sz="900" b="1" dirty="0">
                          <a:solidFill>
                            <a:srgbClr val="242C39"/>
                          </a:solidFill>
                        </a:rPr>
                        <a:t>Overheads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(202)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(209)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(230)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(642)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(690)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005358"/>
                          </a:solidFill>
                        </a:rPr>
                        <a:t>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r h="0">
                <a:tc>
                  <a:txBody>
                    <a:bodyPr/>
                    <a:lstStyle/>
                    <a:p>
                      <a:pPr algn="l" indent="0" marL="0">
                        <a:buNone/>
                      </a:pPr>
                      <a:r>
                        <a:rPr lang="en-US" sz="900" b="1" dirty="0">
                          <a:solidFill>
                            <a:srgbClr val="242C39"/>
                          </a:solidFill>
                        </a:rPr>
                        <a:t>EBITDA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59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223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-217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-97%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bl>
          </a:graphicData>
        </a:graphic>
      </p:graphicFrame>
      <p:sp>
        <p:nvSpPr>
          <p:cNvPr id="5" name="Text 2"/>
          <p:cNvSpPr txBox="1"/>
          <p:nvPr/>
        </p:nvSpPr>
        <p:spPr>
          <a:xfrm>
            <a:off x="502920" y="4297680"/>
            <a:ext cx="5577840" cy="411480"/>
          </a:xfrm>
          <a:prstGeom prst="rect">
            <a:avLst/>
          </a:prstGeom>
          <a:noFill/>
          <a:ln/>
        </p:spPr>
        <p:txBody>
          <a:bodyPr wrap="square" lIns="0" tIns="0" rIns="0" bIns="0" rtlCol="0" anchor="t"/>
          <a:lstStyle/>
          <a:p>
            <a:pPr indent="0" marL="0">
              <a:buNone/>
            </a:pPr>
            <a:r>
              <a:rPr lang="en-US" sz="850" i="1" dirty="0">
                <a:solidFill>
                  <a:srgbClr val="6B7585"/>
                </a:solidFill>
              </a:rPr>
              <a:t>Revenue lines are shown by department for the month and the year to date. The quarter reads as one trading period, which is how the budget was built.</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Three closed months: 459k, 603k and 562k. A quarter of 1,624k against 1,996k planned.</a:t>
            </a:r>
            <a:endParaRPr lang="en-US" sz="950" dirty="0"/>
          </a:p>
          <a:p>
            <a:pPr marL="342900" indent="-342900">
              <a:lnSpc>
                <a:spcPts val="1300"/>
              </a:lnSpc>
              <a:spcAft>
                <a:spcPts val="500"/>
              </a:spcAft>
              <a:buSzPct val="100000"/>
              <a:buChar char="•"/>
            </a:pPr>
            <a:r>
              <a:rPr lang="en-US" sz="950" dirty="0">
                <a:solidFill>
                  <a:srgbClr val="3A4453"/>
                </a:solidFill>
              </a:rPr>
              <a:t>The whole 372k shortfall is Consulting and Video. Support and Events are on plan.</a:t>
            </a:r>
            <a:endParaRPr lang="en-US" sz="950" dirty="0"/>
          </a:p>
          <a:p>
            <a:pPr marL="342900" indent="-342900">
              <a:lnSpc>
                <a:spcPts val="1300"/>
              </a:lnSpc>
              <a:spcAft>
                <a:spcPts val="500"/>
              </a:spcAft>
              <a:buSzPct val="100000"/>
              <a:buChar char="•"/>
            </a:pPr>
            <a:r>
              <a:rPr lang="en-US" sz="950" dirty="0">
                <a:solidFill>
                  <a:srgbClr val="3A4453"/>
                </a:solidFill>
              </a:rPr>
              <a:t>Gross profit fell from 44.4% in August to 33.4% in September on similar revenue.</a:t>
            </a:r>
            <a:endParaRPr lang="en-US" sz="950" dirty="0"/>
          </a:p>
          <a:p>
            <a:pPr marL="342900" indent="-342900">
              <a:lnSpc>
                <a:spcPts val="1300"/>
              </a:lnSpc>
              <a:spcAft>
                <a:spcPts val="500"/>
              </a:spcAft>
              <a:buSzPct val="100000"/>
              <a:buChar char="•"/>
            </a:pPr>
            <a:r>
              <a:rPr lang="en-US" sz="950" dirty="0">
                <a:solidFill>
                  <a:srgbClr val="3A4453"/>
                </a:solidFill>
              </a:rPr>
              <a:t>Overheads are flat across the quarter at about 214k a month. That is the number revenue has to clear.</a:t>
            </a:r>
            <a:endParaRPr lang="en-US" sz="950" dirty="0"/>
          </a:p>
          <a:p>
            <a:pPr marL="342900" indent="-342900">
              <a:lnSpc>
                <a:spcPts val="1300"/>
              </a:lnSpc>
              <a:spcAft>
                <a:spcPts val="500"/>
              </a:spcAft>
              <a:buSzPct val="100000"/>
              <a:buChar char="•"/>
            </a:pPr>
            <a:r>
              <a:rPr lang="en-US" sz="950" dirty="0">
                <a:solidFill>
                  <a:srgbClr val="3A4453"/>
                </a:solidFill>
              </a:rPr>
              <a:t>A quarter of trading has produced 6k of EBITDA. The plan said 223k.</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graphicFrame>
        <p:nvGraphicFramePr>
          <p:cNvPr id="4" name="Chart 0" descr=""/>
          <p:cNvGraphicFramePr/>
          <p:nvPr/>
        </p:nvGraphicFramePr>
        <p:xfrm>
          <a:off x="457200" y="1463040"/>
          <a:ext cx="5669280" cy="3063240"/>
        </p:xfrm>
        <a:graphic xmlns:a="http://schemas.openxmlformats.org/drawingml/2006/main">
          <a:graphicData uri="http://schemas.openxmlformats.org/drawingml/2006/chart">
            <c:chart xmlns:c="http://schemas.openxmlformats.org/drawingml/2006/chart" r:id="rId1"/>
          </a:graphicData>
        </a:graphic>
      </p:graphicFrame>
      <p:sp>
        <p:nvSpPr>
          <p:cNvPr id="5" name="commentary panel"/>
          <p:cNvSpPr/>
          <p:nvPr/>
        </p:nvSpPr>
        <p:spPr>
          <a:xfrm>
            <a:off x="6263640" y="1463040"/>
            <a:ext cx="2377440" cy="3154680"/>
          </a:xfrm>
          <a:prstGeom prst="rect">
            <a:avLst/>
          </a:prstGeom>
          <a:solidFill>
            <a:srgbClr val="E8F9F8"/>
          </a:solidFill>
          <a:ln/>
        </p:spPr>
      </p:sp>
      <p:sp>
        <p:nvSpPr>
          <p:cNvPr id="6" name="Text 3"/>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7" name="Text 4"/>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Integration booked 235k against a 59k budget. One fit-out, not a run rate.</a:t>
            </a:r>
            <a:endParaRPr lang="en-US" sz="950" dirty="0"/>
          </a:p>
          <a:p>
            <a:pPr marL="342900" indent="-342900">
              <a:lnSpc>
                <a:spcPts val="1300"/>
              </a:lnSpc>
              <a:spcAft>
                <a:spcPts val="500"/>
              </a:spcAft>
              <a:buSzPct val="100000"/>
              <a:buChar char="•"/>
            </a:pPr>
            <a:r>
              <a:rPr lang="en-US" sz="950" dirty="0">
                <a:solidFill>
                  <a:srgbClr val="3A4453"/>
                </a:solidFill>
              </a:rPr>
              <a:t>Support delivered 243k against 248k. On plan, as contract income should be.</a:t>
            </a:r>
            <a:endParaRPr lang="en-US" sz="950" dirty="0"/>
          </a:p>
          <a:p>
            <a:pPr marL="342900" indent="-342900">
              <a:lnSpc>
                <a:spcPts val="1300"/>
              </a:lnSpc>
              <a:spcAft>
                <a:spcPts val="500"/>
              </a:spcAft>
              <a:buSzPct val="100000"/>
              <a:buChar char="•"/>
            </a:pPr>
            <a:r>
              <a:rPr lang="en-US" sz="950" dirty="0">
                <a:solidFill>
                  <a:srgbClr val="3A4453"/>
                </a:solidFill>
              </a:rPr>
              <a:t>Events at 73k beat a 66k budget, but September is a quiet month either side of results season.</a:t>
            </a:r>
            <a:endParaRPr lang="en-US" sz="950" dirty="0"/>
          </a:p>
          <a:p>
            <a:pPr marL="342900" indent="-342900">
              <a:lnSpc>
                <a:spcPts val="1300"/>
              </a:lnSpc>
              <a:spcAft>
                <a:spcPts val="500"/>
              </a:spcAft>
              <a:buSzPct val="100000"/>
              <a:buChar char="•"/>
            </a:pPr>
            <a:r>
              <a:rPr lang="en-US" sz="950" dirty="0">
                <a:solidFill>
                  <a:srgbClr val="3A4453"/>
                </a:solidFill>
              </a:rPr>
              <a:t>Video 7k against 17k and Consulting 4k against 23k. Both are structurally short.</a:t>
            </a:r>
            <a:endParaRPr lang="en-US" sz="950" dirty="0"/>
          </a:p>
          <a:p>
            <a:pPr marL="342900" indent="-342900">
              <a:lnSpc>
                <a:spcPts val="1300"/>
              </a:lnSpc>
              <a:spcAft>
                <a:spcPts val="500"/>
              </a:spcAft>
              <a:buSzPct val="100000"/>
              <a:buChar char="•"/>
            </a:pPr>
            <a:r>
              <a:rPr lang="en-US" sz="950" dirty="0">
                <a:solidFill>
                  <a:srgbClr val="3A4453"/>
                </a:solidFill>
              </a:rPr>
              <a:t>Company revenue is 58% up on last September. Growth is real; the margin on it is not.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profit is made and lost</a:t>
            </a:r>
            <a:endParaRPr lang="en-US" sz="2700" dirty="0"/>
          </a:p>
        </p:txBody>
      </p:sp>
      <p:sp>
        <p:nvSpPr>
          <p:cNvPr id="4" name="Text 2"/>
          <p:cNvSpPr txBox="1"/>
          <p:nvPr/>
        </p:nvSpPr>
        <p:spPr>
          <a:xfrm>
            <a:off x="502920" y="1408176"/>
            <a:ext cx="5577840" cy="201168"/>
          </a:xfrm>
          <a:prstGeom prst="rect">
            <a:avLst/>
          </a:prstGeom>
          <a:noFill/>
          <a:ln/>
        </p:spPr>
        <p:txBody>
          <a:bodyPr wrap="square" lIns="0" tIns="0" rIns="0" bIns="0" rtlCol="0" anchor="ctr"/>
          <a:lstStyle/>
          <a:p>
            <a:pPr indent="0" marL="0">
              <a:buNone/>
            </a:pPr>
            <a:r>
              <a:rPr lang="en-US" sz="850" b="1" dirty="0">
                <a:solidFill>
                  <a:srgbClr val="6B7585"/>
                </a:solidFill>
              </a:rPr>
              <a:t>Result after all overhead, A$ thousands</a:t>
            </a:r>
            <a:endParaRPr lang="en-US" sz="850" dirty="0"/>
          </a:p>
        </p:txBody>
      </p:sp>
      <p:sp>
        <p:nvSpPr>
          <p:cNvPr id="5" name="Shape 3"/>
          <p:cNvSpPr/>
          <p:nvPr/>
        </p:nvSpPr>
        <p:spPr>
          <a:xfrm>
            <a:off x="4000580" y="1645920"/>
            <a:ext cx="0" cy="1325880"/>
          </a:xfrm>
          <a:prstGeom prst="line">
            <a:avLst/>
          </a:prstGeom>
          <a:noFill/>
          <a:ln w="9525">
            <a:solidFill>
              <a:srgbClr val="E3E6EA"/>
            </a:solidFill>
            <a:prstDash val="solid"/>
          </a:ln>
        </p:spPr>
      </p:sp>
      <p:sp>
        <p:nvSpPr>
          <p:cNvPr id="6" name="Text 4"/>
          <p:cNvSpPr txBox="1"/>
          <p:nvPr/>
        </p:nvSpPr>
        <p:spPr>
          <a:xfrm>
            <a:off x="502920" y="1664208"/>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Support</a:t>
            </a:r>
            <a:endParaRPr lang="en-US" sz="900" dirty="0"/>
          </a:p>
        </p:txBody>
      </p:sp>
      <p:sp>
        <p:nvSpPr>
          <p:cNvPr id="7" name="Support bar"/>
          <p:cNvSpPr/>
          <p:nvPr/>
        </p:nvSpPr>
        <p:spPr>
          <a:xfrm>
            <a:off x="4000580" y="1696212"/>
            <a:ext cx="1261808" cy="164592"/>
          </a:xfrm>
          <a:prstGeom prst="rect">
            <a:avLst/>
          </a:prstGeom>
          <a:solidFill>
            <a:srgbClr val="F33844"/>
          </a:solidFill>
          <a:ln/>
        </p:spPr>
      </p:sp>
      <p:sp>
        <p:nvSpPr>
          <p:cNvPr id="8" name="Text 6"/>
          <p:cNvSpPr txBox="1"/>
          <p:nvPr/>
        </p:nvSpPr>
        <p:spPr>
          <a:xfrm>
            <a:off x="5298964" y="1664208"/>
            <a:ext cx="512064" cy="228600"/>
          </a:xfrm>
          <a:prstGeom prst="rect">
            <a:avLst/>
          </a:prstGeom>
          <a:noFill/>
          <a:ln/>
        </p:spPr>
        <p:txBody>
          <a:bodyPr wrap="square" lIns="0" tIns="0" rIns="0" bIns="0" rtlCol="0" anchor="ctr"/>
          <a:lstStyle/>
          <a:p>
            <a:pPr algn="l" indent="0" marL="0">
              <a:buNone/>
            </a:pPr>
            <a:r>
              <a:rPr lang="en-US" sz="900" b="1" dirty="0">
                <a:solidFill>
                  <a:srgbClr val="242C39"/>
                </a:solidFill>
              </a:rPr>
              <a:t>29</a:t>
            </a:r>
            <a:endParaRPr lang="en-US" sz="900" dirty="0"/>
          </a:p>
        </p:txBody>
      </p:sp>
      <p:sp>
        <p:nvSpPr>
          <p:cNvPr id="9" name="Text 7"/>
          <p:cNvSpPr txBox="1"/>
          <p:nvPr/>
        </p:nvSpPr>
        <p:spPr>
          <a:xfrm>
            <a:off x="502920" y="1929384"/>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Integration</a:t>
            </a:r>
            <a:endParaRPr lang="en-US" sz="900" dirty="0"/>
          </a:p>
        </p:txBody>
      </p:sp>
      <p:sp>
        <p:nvSpPr>
          <p:cNvPr id="10" name="Integration bar"/>
          <p:cNvSpPr/>
          <p:nvPr/>
        </p:nvSpPr>
        <p:spPr>
          <a:xfrm>
            <a:off x="4000580" y="1961388"/>
            <a:ext cx="435106" cy="164592"/>
          </a:xfrm>
          <a:prstGeom prst="rect">
            <a:avLst/>
          </a:prstGeom>
          <a:solidFill>
            <a:srgbClr val="6D71FF"/>
          </a:solidFill>
          <a:ln/>
        </p:spPr>
      </p:sp>
      <p:sp>
        <p:nvSpPr>
          <p:cNvPr id="11" name="Text 9"/>
          <p:cNvSpPr txBox="1"/>
          <p:nvPr/>
        </p:nvSpPr>
        <p:spPr>
          <a:xfrm>
            <a:off x="4472262" y="1929384"/>
            <a:ext cx="512064" cy="228600"/>
          </a:xfrm>
          <a:prstGeom prst="rect">
            <a:avLst/>
          </a:prstGeom>
          <a:noFill/>
          <a:ln/>
        </p:spPr>
        <p:txBody>
          <a:bodyPr wrap="square" lIns="0" tIns="0" rIns="0" bIns="0" rtlCol="0" anchor="ctr"/>
          <a:lstStyle/>
          <a:p>
            <a:pPr algn="l" indent="0" marL="0">
              <a:buNone/>
            </a:pPr>
            <a:r>
              <a:rPr lang="en-US" sz="900" b="1" dirty="0">
                <a:solidFill>
                  <a:srgbClr val="242C39"/>
                </a:solidFill>
              </a:rPr>
              <a:t>10</a:t>
            </a:r>
            <a:endParaRPr lang="en-US" sz="900" dirty="0"/>
          </a:p>
        </p:txBody>
      </p:sp>
      <p:sp>
        <p:nvSpPr>
          <p:cNvPr id="12" name="Text 10"/>
          <p:cNvSpPr txBox="1"/>
          <p:nvPr/>
        </p:nvSpPr>
        <p:spPr>
          <a:xfrm>
            <a:off x="502920" y="2194560"/>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Events</a:t>
            </a:r>
            <a:endParaRPr lang="en-US" sz="900" dirty="0"/>
          </a:p>
        </p:txBody>
      </p:sp>
      <p:sp>
        <p:nvSpPr>
          <p:cNvPr id="13" name="Events bar"/>
          <p:cNvSpPr/>
          <p:nvPr/>
        </p:nvSpPr>
        <p:spPr>
          <a:xfrm>
            <a:off x="1651006" y="2226564"/>
            <a:ext cx="2349574" cy="164592"/>
          </a:xfrm>
          <a:prstGeom prst="rect">
            <a:avLst/>
          </a:prstGeom>
          <a:solidFill>
            <a:srgbClr val="005358"/>
          </a:solidFill>
          <a:ln/>
        </p:spPr>
      </p:sp>
      <p:sp>
        <p:nvSpPr>
          <p:cNvPr id="14" name="Text 12"/>
          <p:cNvSpPr txBox="1"/>
          <p:nvPr/>
        </p:nvSpPr>
        <p:spPr>
          <a:xfrm>
            <a:off x="1102366" y="2194560"/>
            <a:ext cx="512064" cy="228600"/>
          </a:xfrm>
          <a:prstGeom prst="rect">
            <a:avLst/>
          </a:prstGeom>
          <a:noFill/>
          <a:ln/>
        </p:spPr>
        <p:txBody>
          <a:bodyPr wrap="square" lIns="0" tIns="0" rIns="0" bIns="0" rtlCol="0" anchor="ctr"/>
          <a:lstStyle/>
          <a:p>
            <a:pPr algn="r" indent="0" marL="0">
              <a:buNone/>
            </a:pPr>
            <a:r>
              <a:rPr lang="en-US" sz="900" b="1" dirty="0">
                <a:solidFill>
                  <a:srgbClr val="242C39"/>
                </a:solidFill>
              </a:rPr>
              <a:t>(54)</a:t>
            </a:r>
            <a:endParaRPr lang="en-US" sz="900" dirty="0"/>
          </a:p>
        </p:txBody>
      </p:sp>
      <p:sp>
        <p:nvSpPr>
          <p:cNvPr id="15" name="Text 13"/>
          <p:cNvSpPr txBox="1"/>
          <p:nvPr/>
        </p:nvSpPr>
        <p:spPr>
          <a:xfrm>
            <a:off x="502920" y="2459736"/>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Video</a:t>
            </a:r>
            <a:endParaRPr lang="en-US" sz="900" dirty="0"/>
          </a:p>
        </p:txBody>
      </p:sp>
      <p:sp>
        <p:nvSpPr>
          <p:cNvPr id="16" name="Video bar"/>
          <p:cNvSpPr/>
          <p:nvPr/>
        </p:nvSpPr>
        <p:spPr>
          <a:xfrm>
            <a:off x="3696005" y="2491740"/>
            <a:ext cx="304574" cy="164592"/>
          </a:xfrm>
          <a:prstGeom prst="rect">
            <a:avLst/>
          </a:prstGeom>
          <a:solidFill>
            <a:srgbClr val="3FD0C9"/>
          </a:solidFill>
          <a:ln/>
        </p:spPr>
      </p:sp>
      <p:sp>
        <p:nvSpPr>
          <p:cNvPr id="17" name="Text 15"/>
          <p:cNvSpPr txBox="1"/>
          <p:nvPr/>
        </p:nvSpPr>
        <p:spPr>
          <a:xfrm>
            <a:off x="3147365" y="2459736"/>
            <a:ext cx="512064" cy="228600"/>
          </a:xfrm>
          <a:prstGeom prst="rect">
            <a:avLst/>
          </a:prstGeom>
          <a:noFill/>
          <a:ln/>
        </p:spPr>
        <p:txBody>
          <a:bodyPr wrap="square" lIns="0" tIns="0" rIns="0" bIns="0" rtlCol="0" anchor="ctr"/>
          <a:lstStyle/>
          <a:p>
            <a:pPr algn="r" indent="0" marL="0">
              <a:buNone/>
            </a:pPr>
            <a:r>
              <a:rPr lang="en-US" sz="900" b="1" dirty="0">
                <a:solidFill>
                  <a:srgbClr val="242C39"/>
                </a:solidFill>
              </a:rPr>
              <a:t>(7)</a:t>
            </a:r>
            <a:endParaRPr lang="en-US" sz="900" dirty="0"/>
          </a:p>
        </p:txBody>
      </p:sp>
      <p:sp>
        <p:nvSpPr>
          <p:cNvPr id="18" name="Text 16"/>
          <p:cNvSpPr txBox="1"/>
          <p:nvPr/>
        </p:nvSpPr>
        <p:spPr>
          <a:xfrm>
            <a:off x="502920" y="2724912"/>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Consulting</a:t>
            </a:r>
            <a:endParaRPr lang="en-US" sz="900" dirty="0"/>
          </a:p>
        </p:txBody>
      </p:sp>
      <p:sp>
        <p:nvSpPr>
          <p:cNvPr id="19" name="Consulting bar"/>
          <p:cNvSpPr/>
          <p:nvPr/>
        </p:nvSpPr>
        <p:spPr>
          <a:xfrm>
            <a:off x="3130367" y="2756916"/>
            <a:ext cx="870213" cy="164592"/>
          </a:xfrm>
          <a:prstGeom prst="rect">
            <a:avLst/>
          </a:prstGeom>
          <a:solidFill>
            <a:srgbClr val="8F4AFA"/>
          </a:solidFill>
          <a:ln/>
        </p:spPr>
      </p:sp>
      <p:sp>
        <p:nvSpPr>
          <p:cNvPr id="20" name="Text 18"/>
          <p:cNvSpPr txBox="1"/>
          <p:nvPr/>
        </p:nvSpPr>
        <p:spPr>
          <a:xfrm>
            <a:off x="2581727" y="2724912"/>
            <a:ext cx="512064" cy="228600"/>
          </a:xfrm>
          <a:prstGeom prst="rect">
            <a:avLst/>
          </a:prstGeom>
          <a:noFill/>
          <a:ln/>
        </p:spPr>
        <p:txBody>
          <a:bodyPr wrap="square" lIns="0" tIns="0" rIns="0" bIns="0" rtlCol="0" anchor="ctr"/>
          <a:lstStyle/>
          <a:p>
            <a:pPr algn="r" indent="0" marL="0">
              <a:buNone/>
            </a:pPr>
            <a:r>
              <a:rPr lang="en-US" sz="900" b="1" dirty="0">
                <a:solidFill>
                  <a:srgbClr val="242C39"/>
                </a:solidFill>
              </a:rPr>
              <a:t>(20)</a:t>
            </a:r>
            <a:endParaRPr lang="en-US" sz="900" dirty="0"/>
          </a:p>
        </p:txBody>
      </p:sp>
      <p:sp>
        <p:nvSpPr>
          <p:cNvPr id="21" name="Text 19"/>
          <p:cNvSpPr txBox="1"/>
          <p:nvPr/>
        </p:nvSpPr>
        <p:spPr>
          <a:xfrm>
            <a:off x="502920" y="3035808"/>
            <a:ext cx="5577840" cy="201168"/>
          </a:xfrm>
          <a:prstGeom prst="rect">
            <a:avLst/>
          </a:prstGeom>
          <a:noFill/>
          <a:ln/>
        </p:spPr>
        <p:txBody>
          <a:bodyPr wrap="square" lIns="0" tIns="0" rIns="0" bIns="0" rtlCol="0" anchor="ctr"/>
          <a:lstStyle/>
          <a:p>
            <a:pPr indent="0" marL="0">
              <a:buNone/>
            </a:pPr>
            <a:r>
              <a:rPr lang="en-US" sz="850" b="1" dirty="0">
                <a:solidFill>
                  <a:srgbClr val="6B7585"/>
                </a:solidFill>
              </a:rPr>
              <a:t>Gross margin %, before any overhead</a:t>
            </a:r>
            <a:endParaRPr lang="en-US" sz="850" dirty="0"/>
          </a:p>
        </p:txBody>
      </p:sp>
      <p:sp>
        <p:nvSpPr>
          <p:cNvPr id="22" name="Text 20"/>
          <p:cNvSpPr txBox="1"/>
          <p:nvPr/>
        </p:nvSpPr>
        <p:spPr>
          <a:xfrm>
            <a:off x="502920" y="3291840"/>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Support</a:t>
            </a:r>
            <a:endParaRPr lang="en-US" sz="900" dirty="0"/>
          </a:p>
        </p:txBody>
      </p:sp>
      <p:sp>
        <p:nvSpPr>
          <p:cNvPr id="23" name="Support bar"/>
          <p:cNvSpPr/>
          <p:nvPr/>
        </p:nvSpPr>
        <p:spPr>
          <a:xfrm>
            <a:off x="1463040" y="3323844"/>
            <a:ext cx="1826795" cy="164592"/>
          </a:xfrm>
          <a:prstGeom prst="rect">
            <a:avLst/>
          </a:prstGeom>
          <a:solidFill>
            <a:srgbClr val="F33844"/>
          </a:solidFill>
          <a:ln/>
        </p:spPr>
      </p:sp>
      <p:sp>
        <p:nvSpPr>
          <p:cNvPr id="24" name="Text 22"/>
          <p:cNvSpPr txBox="1"/>
          <p:nvPr/>
        </p:nvSpPr>
        <p:spPr>
          <a:xfrm>
            <a:off x="3326411" y="3291840"/>
            <a:ext cx="512064" cy="228600"/>
          </a:xfrm>
          <a:prstGeom prst="rect">
            <a:avLst/>
          </a:prstGeom>
          <a:noFill/>
          <a:ln/>
        </p:spPr>
        <p:txBody>
          <a:bodyPr wrap="square" lIns="0" tIns="0" rIns="0" bIns="0" rtlCol="0" anchor="ctr"/>
          <a:lstStyle/>
          <a:p>
            <a:pPr algn="l" indent="0" marL="0">
              <a:buNone/>
            </a:pPr>
            <a:r>
              <a:rPr lang="en-US" sz="900" b="1" dirty="0">
                <a:solidFill>
                  <a:srgbClr val="242C39"/>
                </a:solidFill>
              </a:rPr>
              <a:t>41.7%</a:t>
            </a:r>
            <a:endParaRPr lang="en-US" sz="900" dirty="0"/>
          </a:p>
        </p:txBody>
      </p:sp>
      <p:sp>
        <p:nvSpPr>
          <p:cNvPr id="25" name="Text 23"/>
          <p:cNvSpPr txBox="1"/>
          <p:nvPr/>
        </p:nvSpPr>
        <p:spPr>
          <a:xfrm>
            <a:off x="502920" y="3557016"/>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Integration</a:t>
            </a:r>
            <a:endParaRPr lang="en-US" sz="900" dirty="0"/>
          </a:p>
        </p:txBody>
      </p:sp>
      <p:sp>
        <p:nvSpPr>
          <p:cNvPr id="26" name="Integration bar"/>
          <p:cNvSpPr/>
          <p:nvPr/>
        </p:nvSpPr>
        <p:spPr>
          <a:xfrm>
            <a:off x="1463040" y="3589020"/>
            <a:ext cx="442461" cy="164592"/>
          </a:xfrm>
          <a:prstGeom prst="rect">
            <a:avLst/>
          </a:prstGeom>
          <a:solidFill>
            <a:srgbClr val="6D71FF"/>
          </a:solidFill>
          <a:ln/>
        </p:spPr>
      </p:sp>
      <p:sp>
        <p:nvSpPr>
          <p:cNvPr id="27" name="Text 25"/>
          <p:cNvSpPr txBox="1"/>
          <p:nvPr/>
        </p:nvSpPr>
        <p:spPr>
          <a:xfrm>
            <a:off x="1942077" y="3557016"/>
            <a:ext cx="512064" cy="228600"/>
          </a:xfrm>
          <a:prstGeom prst="rect">
            <a:avLst/>
          </a:prstGeom>
          <a:noFill/>
          <a:ln/>
        </p:spPr>
        <p:txBody>
          <a:bodyPr wrap="square" lIns="0" tIns="0" rIns="0" bIns="0" rtlCol="0" anchor="ctr"/>
          <a:lstStyle/>
          <a:p>
            <a:pPr algn="l" indent="0" marL="0">
              <a:buNone/>
            </a:pPr>
            <a:r>
              <a:rPr lang="en-US" sz="900" b="1" dirty="0">
                <a:solidFill>
                  <a:srgbClr val="242C39"/>
                </a:solidFill>
              </a:rPr>
              <a:t>10.1%</a:t>
            </a:r>
            <a:endParaRPr lang="en-US" sz="900" dirty="0"/>
          </a:p>
        </p:txBody>
      </p:sp>
      <p:sp>
        <p:nvSpPr>
          <p:cNvPr id="28" name="Text 26"/>
          <p:cNvSpPr txBox="1"/>
          <p:nvPr/>
        </p:nvSpPr>
        <p:spPr>
          <a:xfrm>
            <a:off x="502920" y="3822192"/>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Events</a:t>
            </a:r>
            <a:endParaRPr lang="en-US" sz="900" dirty="0"/>
          </a:p>
        </p:txBody>
      </p:sp>
      <p:sp>
        <p:nvSpPr>
          <p:cNvPr id="29" name="Events bar"/>
          <p:cNvSpPr/>
          <p:nvPr/>
        </p:nvSpPr>
        <p:spPr>
          <a:xfrm>
            <a:off x="1463040" y="3854196"/>
            <a:ext cx="3399503" cy="164592"/>
          </a:xfrm>
          <a:prstGeom prst="rect">
            <a:avLst/>
          </a:prstGeom>
          <a:solidFill>
            <a:srgbClr val="005358"/>
          </a:solidFill>
          <a:ln/>
        </p:spPr>
      </p:sp>
      <p:sp>
        <p:nvSpPr>
          <p:cNvPr id="30" name="Text 28"/>
          <p:cNvSpPr txBox="1"/>
          <p:nvPr/>
        </p:nvSpPr>
        <p:spPr>
          <a:xfrm>
            <a:off x="4899119" y="3822192"/>
            <a:ext cx="512064" cy="228600"/>
          </a:xfrm>
          <a:prstGeom prst="rect">
            <a:avLst/>
          </a:prstGeom>
          <a:noFill/>
          <a:ln/>
        </p:spPr>
        <p:txBody>
          <a:bodyPr wrap="square" lIns="0" tIns="0" rIns="0" bIns="0" rtlCol="0" anchor="ctr"/>
          <a:lstStyle/>
          <a:p>
            <a:pPr algn="l" indent="0" marL="0">
              <a:buNone/>
            </a:pPr>
            <a:r>
              <a:rPr lang="en-US" sz="900" b="1" dirty="0">
                <a:solidFill>
                  <a:srgbClr val="242C39"/>
                </a:solidFill>
              </a:rPr>
              <a:t>77.6%</a:t>
            </a:r>
            <a:endParaRPr lang="en-US" sz="900" dirty="0"/>
          </a:p>
        </p:txBody>
      </p:sp>
      <p:sp>
        <p:nvSpPr>
          <p:cNvPr id="31" name="Text 29"/>
          <p:cNvSpPr txBox="1"/>
          <p:nvPr/>
        </p:nvSpPr>
        <p:spPr>
          <a:xfrm>
            <a:off x="502920" y="4087368"/>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Video</a:t>
            </a:r>
            <a:endParaRPr lang="en-US" sz="900" dirty="0"/>
          </a:p>
        </p:txBody>
      </p:sp>
      <p:sp>
        <p:nvSpPr>
          <p:cNvPr id="32" name="Video bar"/>
          <p:cNvSpPr/>
          <p:nvPr/>
        </p:nvSpPr>
        <p:spPr>
          <a:xfrm>
            <a:off x="1463040" y="4119372"/>
            <a:ext cx="3487119" cy="164592"/>
          </a:xfrm>
          <a:prstGeom prst="rect">
            <a:avLst/>
          </a:prstGeom>
          <a:solidFill>
            <a:srgbClr val="3FD0C9"/>
          </a:solidFill>
          <a:ln/>
        </p:spPr>
      </p:sp>
      <p:sp>
        <p:nvSpPr>
          <p:cNvPr id="33" name="Text 31"/>
          <p:cNvSpPr txBox="1"/>
          <p:nvPr/>
        </p:nvSpPr>
        <p:spPr>
          <a:xfrm>
            <a:off x="4986735" y="4087368"/>
            <a:ext cx="512064" cy="228600"/>
          </a:xfrm>
          <a:prstGeom prst="rect">
            <a:avLst/>
          </a:prstGeom>
          <a:noFill/>
          <a:ln/>
        </p:spPr>
        <p:txBody>
          <a:bodyPr wrap="square" lIns="0" tIns="0" rIns="0" bIns="0" rtlCol="0" anchor="ctr"/>
          <a:lstStyle/>
          <a:p>
            <a:pPr algn="l" indent="0" marL="0">
              <a:buNone/>
            </a:pPr>
            <a:r>
              <a:rPr lang="en-US" sz="900" b="1" dirty="0">
                <a:solidFill>
                  <a:srgbClr val="242C39"/>
                </a:solidFill>
              </a:rPr>
              <a:t>79.6%</a:t>
            </a:r>
            <a:endParaRPr lang="en-US" sz="900" dirty="0"/>
          </a:p>
        </p:txBody>
      </p:sp>
      <p:sp>
        <p:nvSpPr>
          <p:cNvPr id="34" name="Text 32"/>
          <p:cNvSpPr txBox="1"/>
          <p:nvPr/>
        </p:nvSpPr>
        <p:spPr>
          <a:xfrm>
            <a:off x="502920" y="4352544"/>
            <a:ext cx="886968" cy="228600"/>
          </a:xfrm>
          <a:prstGeom prst="rect">
            <a:avLst/>
          </a:prstGeom>
          <a:noFill/>
          <a:ln/>
        </p:spPr>
        <p:txBody>
          <a:bodyPr wrap="square" lIns="0" tIns="0" rIns="0" bIns="0" rtlCol="0" anchor="ctr"/>
          <a:lstStyle/>
          <a:p>
            <a:pPr algn="r" indent="0" marL="0">
              <a:buNone/>
            </a:pPr>
            <a:r>
              <a:rPr lang="en-US" sz="900" dirty="0">
                <a:solidFill>
                  <a:srgbClr val="3A4453"/>
                </a:solidFill>
              </a:rPr>
              <a:t>Consulting</a:t>
            </a:r>
            <a:endParaRPr lang="en-US" sz="900" dirty="0"/>
          </a:p>
        </p:txBody>
      </p:sp>
      <p:sp>
        <p:nvSpPr>
          <p:cNvPr id="35" name="Consulting bar"/>
          <p:cNvSpPr/>
          <p:nvPr/>
        </p:nvSpPr>
        <p:spPr>
          <a:xfrm>
            <a:off x="1463040" y="4384548"/>
            <a:ext cx="91997" cy="164592"/>
          </a:xfrm>
          <a:prstGeom prst="rect">
            <a:avLst/>
          </a:prstGeom>
          <a:solidFill>
            <a:srgbClr val="8F4AFA"/>
          </a:solidFill>
          <a:ln/>
        </p:spPr>
      </p:sp>
      <p:sp>
        <p:nvSpPr>
          <p:cNvPr id="36" name="Text 34"/>
          <p:cNvSpPr txBox="1"/>
          <p:nvPr/>
        </p:nvSpPr>
        <p:spPr>
          <a:xfrm>
            <a:off x="1591613" y="4352544"/>
            <a:ext cx="512064" cy="228600"/>
          </a:xfrm>
          <a:prstGeom prst="rect">
            <a:avLst/>
          </a:prstGeom>
          <a:noFill/>
          <a:ln/>
        </p:spPr>
        <p:txBody>
          <a:bodyPr wrap="square" lIns="0" tIns="0" rIns="0" bIns="0" rtlCol="0" anchor="ctr"/>
          <a:lstStyle/>
          <a:p>
            <a:pPr algn="l" indent="0" marL="0">
              <a:buNone/>
            </a:pPr>
            <a:r>
              <a:rPr lang="en-US" sz="900" b="1" dirty="0">
                <a:solidFill>
                  <a:srgbClr val="242C39"/>
                </a:solidFill>
              </a:rPr>
              <a:t>2.1%</a:t>
            </a:r>
            <a:endParaRPr lang="en-US" sz="900" dirty="0"/>
          </a:p>
        </p:txBody>
      </p:sp>
      <p:sp>
        <p:nvSpPr>
          <p:cNvPr id="37" name="commentary panel"/>
          <p:cNvSpPr/>
          <p:nvPr/>
        </p:nvSpPr>
        <p:spPr>
          <a:xfrm>
            <a:off x="6263640" y="1463040"/>
            <a:ext cx="2377440" cy="3154680"/>
          </a:xfrm>
          <a:prstGeom prst="rect">
            <a:avLst/>
          </a:prstGeom>
          <a:solidFill>
            <a:srgbClr val="E8F9F8"/>
          </a:solidFill>
          <a:ln/>
        </p:spPr>
      </p:sp>
      <p:sp>
        <p:nvSpPr>
          <p:cNvPr id="38" name="Text 36"/>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39" name="Text 37"/>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Two of five departments cover their overhead. Three do not.</a:t>
            </a:r>
            <a:endParaRPr lang="en-US" sz="1000" dirty="0"/>
          </a:p>
          <a:p>
            <a:pPr marL="342900" indent="-342900">
              <a:lnSpc>
                <a:spcPts val="1300"/>
              </a:lnSpc>
              <a:spcAft>
                <a:spcPts val="500"/>
              </a:spcAft>
              <a:buSzPct val="100000"/>
              <a:buChar char="•"/>
            </a:pPr>
            <a:r>
              <a:rPr lang="en-US" sz="1000" dirty="0">
                <a:solidFill>
                  <a:srgbClr val="3A4453"/>
                </a:solidFill>
              </a:rPr>
              <a:t>Margin and result do not line up. Events earns 77.6% and still loses 54k.</a:t>
            </a:r>
            <a:endParaRPr lang="en-US" sz="1000" dirty="0"/>
          </a:p>
          <a:p>
            <a:pPr marL="342900" indent="-342900">
              <a:lnSpc>
                <a:spcPts val="1300"/>
              </a:lnSpc>
              <a:spcAft>
                <a:spcPts val="500"/>
              </a:spcAft>
              <a:buSzPct val="100000"/>
              <a:buChar char="•"/>
            </a:pPr>
            <a:r>
              <a:rPr lang="en-US" sz="1000" dirty="0">
                <a:solidFill>
                  <a:srgbClr val="3A4453"/>
                </a:solidFill>
              </a:rPr>
              <a:t>Integration earns 10.1% and returns 10k, because it carries almost no overhead.</a:t>
            </a:r>
            <a:endParaRPr lang="en-US" sz="1000" dirty="0"/>
          </a:p>
          <a:p>
            <a:pPr marL="342900" indent="-342900">
              <a:lnSpc>
                <a:spcPts val="1300"/>
              </a:lnSpc>
              <a:spcAft>
                <a:spcPts val="500"/>
              </a:spcAft>
              <a:buSzPct val="100000"/>
              <a:buChar char="•"/>
            </a:pPr>
            <a:r>
              <a:rPr lang="en-US" sz="1000" dirty="0">
                <a:solidFill>
                  <a:srgbClr val="3A4453"/>
                </a:solidFill>
              </a:rPr>
              <a:t>So the overhead keys, not the trading, decide who looks profitable.</a:t>
            </a:r>
            <a:endParaRPr lang="en-US" sz="1000" dirty="0"/>
          </a:p>
          <a:p>
            <a:pPr marL="342900" indent="-342900">
              <a:lnSpc>
                <a:spcPts val="1300"/>
              </a:lnSpc>
              <a:spcAft>
                <a:spcPts val="500"/>
              </a:spcAft>
              <a:buSzPct val="100000"/>
              <a:buChar char="•"/>
            </a:pPr>
            <a:r>
              <a:rPr lang="en-US" sz="1000" dirty="0">
                <a:solidFill>
                  <a:srgbClr val="3A4453"/>
                </a:solidFill>
              </a:rPr>
              <a:t>Fix the keys before anyone is judged on these lines.</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Cost base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graphicFrame>
        <p:nvGraphicFramePr>
          <p:cNvPr id="4" name="Chart 0" descr=""/>
          <p:cNvGraphicFramePr/>
          <p:nvPr/>
        </p:nvGraphicFramePr>
        <p:xfrm>
          <a:off x="457200" y="1463040"/>
          <a:ext cx="566928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4498848"/>
            <a:ext cx="5577840" cy="274320"/>
          </a:xfrm>
          <a:prstGeom prst="rect">
            <a:avLst/>
          </a:prstGeom>
          <a:noFill/>
          <a:ln/>
        </p:spPr>
        <p:txBody>
          <a:bodyPr wrap="square" lIns="0" tIns="0" rIns="0" bIns="0" rtlCol="0" anchor="t"/>
          <a:lstStyle/>
          <a:p>
            <a:pPr indent="0" marL="0">
              <a:buNone/>
            </a:pPr>
            <a:r>
              <a:rPr lang="en-US" sz="850" i="1" dirty="0">
                <a:solidFill>
                  <a:srgbClr val="6B7585"/>
                </a:solidFill>
              </a:rPr>
              <a:t>A$ thousands, year to date. Cost of sales and overhead on one scale, so the size of each line is comparable.</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(621)k and employment overhead (369)k together are 61% of all cost.</a:t>
            </a:r>
            <a:endParaRPr lang="en-US" sz="950" dirty="0"/>
          </a:p>
          <a:p>
            <a:pPr marL="342900" indent="-342900">
              <a:lnSpc>
                <a:spcPts val="1300"/>
              </a:lnSpc>
              <a:spcAft>
                <a:spcPts val="500"/>
              </a:spcAft>
              <a:buSzPct val="100000"/>
              <a:buChar char="•"/>
            </a:pPr>
            <a:r>
              <a:rPr lang="en-US" sz="950" dirty="0">
                <a:solidFill>
                  <a:srgbClr val="3A4453"/>
                </a:solidFill>
              </a:rPr>
              <a:t>People are the cost base. Everything else is rounding by comparison.</a:t>
            </a:r>
            <a:endParaRPr lang="en-US" sz="950" dirty="0"/>
          </a:p>
          <a:p>
            <a:pPr marL="342900" indent="-342900">
              <a:lnSpc>
                <a:spcPts val="1300"/>
              </a:lnSpc>
              <a:spcAft>
                <a:spcPts val="500"/>
              </a:spcAft>
              <a:buSzPct val="100000"/>
              <a:buChar char="•"/>
            </a:pPr>
            <a:r>
              <a:rPr lang="en-US" sz="950" dirty="0">
                <a:solidFill>
                  <a:srgbClr val="3A4453"/>
                </a:solidFill>
              </a:rPr>
              <a:t>Employment overhead at (369)k is fixed within the year. It does not flex when a month comes in short.</a:t>
            </a:r>
            <a:endParaRPr lang="en-US" sz="950" dirty="0"/>
          </a:p>
          <a:p>
            <a:pPr marL="342900" indent="-342900">
              <a:lnSpc>
                <a:spcPts val="1300"/>
              </a:lnSpc>
              <a:spcAft>
                <a:spcPts val="500"/>
              </a:spcAft>
              <a:buSzPct val="100000"/>
              <a:buChar char="•"/>
            </a:pPr>
            <a:r>
              <a:rPr lang="en-US" sz="950" dirty="0">
                <a:solidFill>
                  <a:srgbClr val="3A4453"/>
                </a:solidFill>
              </a:rPr>
              <a:t>Equipment and services (347)k is the only genuinely variable block.</a:t>
            </a:r>
            <a:endParaRPr lang="en-US" sz="950" dirty="0"/>
          </a:p>
          <a:p>
            <a:pPr marL="342900" indent="-342900">
              <a:lnSpc>
                <a:spcPts val="1300"/>
              </a:lnSpc>
              <a:spcAft>
                <a:spcPts val="500"/>
              </a:spcAft>
              <a:buSzPct val="100000"/>
              <a:buChar char="•"/>
            </a:pPr>
            <a:r>
              <a:rPr lang="en-US" sz="950" dirty="0">
                <a:solidFill>
                  <a:srgbClr val="3A4453"/>
                </a:solidFill>
              </a:rPr>
              <a:t>Cost reduction means headcount or premises. There is no third lever of any size.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graphicFrame>
        <p:nvGraphicFramePr>
          <p:cNvPr id="4" name="Chart 0" descr=""/>
          <p:cNvGraphicFramePr/>
          <p:nvPr/>
        </p:nvGraphicFramePr>
        <p:xfrm>
          <a:off x="457200" y="1463040"/>
          <a:ext cx="5669280" cy="29260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4434840"/>
            <a:ext cx="5577840" cy="274320"/>
          </a:xfrm>
          <a:prstGeom prst="rect">
            <a:avLst/>
          </a:prstGeom>
          <a:noFill/>
          <a:ln/>
        </p:spPr>
        <p:txBody>
          <a:bodyPr wrap="square" lIns="0" tIns="0" rIns="0" bIns="0" rtlCol="0" anchor="t"/>
          <a:lstStyle/>
          <a:p>
            <a:pPr indent="0" marL="0">
              <a:buNone/>
            </a:pPr>
            <a:r>
              <a:rPr lang="en-US" sz="850" i="1" dirty="0">
                <a:solidFill>
                  <a:srgbClr val="6B7585"/>
                </a:solidFill>
              </a:rPr>
              <a:t>A$ thousands, year to date. Operating expenses in total are 137k.</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Premises are 56% of this block: rent (62)k plus outgoings (15)k.</a:t>
            </a:r>
            <a:endParaRPr lang="en-US" sz="950" dirty="0"/>
          </a:p>
          <a:p>
            <a:pPr marL="342900" indent="-342900">
              <a:lnSpc>
                <a:spcPts val="1300"/>
              </a:lnSpc>
              <a:spcAft>
                <a:spcPts val="500"/>
              </a:spcAft>
              <a:buSzPct val="100000"/>
              <a:buChar char="•"/>
            </a:pPr>
            <a:r>
              <a:rPr lang="en-US" sz="950" dirty="0">
                <a:solidFill>
                  <a:srgbClr val="3A4453"/>
                </a:solidFill>
              </a:rPr>
              <a:t>IT network at (40)k is the second line and the only one with real variability.</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6k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 saving of consequence in the tail.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Premises is the lever, and it is a lease decision, not a budget decision.</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graphicFrame>
        <p:nvGraphicFramePr>
          <p:cNvPr id="4" name="Chart 0" descr=""/>
          <p:cNvGraphicFramePr/>
          <p:nvPr/>
        </p:nvGraphicFramePr>
        <p:xfrm>
          <a:off x="457200" y="1463040"/>
          <a:ext cx="5669280" cy="29260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4434840"/>
            <a:ext cx="5577840" cy="274320"/>
          </a:xfrm>
          <a:prstGeom prst="rect">
            <a:avLst/>
          </a:prstGeom>
          <a:noFill/>
          <a:ln/>
        </p:spPr>
        <p:txBody>
          <a:bodyPr wrap="square" lIns="0" tIns="0" rIns="0" bIns="0" rtlCol="0" anchor="t"/>
          <a:lstStyle/>
          <a:p>
            <a:pPr indent="0" marL="0">
              <a:buNone/>
            </a:pPr>
            <a:r>
              <a:rPr lang="en-US" sz="850" i="1" dirty="0">
                <a:solidFill>
                  <a:srgbClr val="6B7585"/>
                </a:solidFill>
              </a:rPr>
              <a:t>A$ thousands, year to date. Direct labour charged to cost of sales, split by type.</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Direct labour is 621k for the quarter across 5 lines.</a:t>
            </a:r>
            <a:endParaRPr lang="en-US" sz="950" dirty="0"/>
          </a:p>
          <a:p>
            <a:pPr marL="342900" indent="-342900">
              <a:lnSpc>
                <a:spcPts val="1300"/>
              </a:lnSpc>
              <a:spcAft>
                <a:spcPts val="500"/>
              </a:spcAft>
              <a:buSzPct val="100000"/>
              <a:buChar char="•"/>
            </a:pPr>
            <a:r>
              <a:rPr lang="en-US" sz="950" dirty="0">
                <a:solidFill>
                  <a:srgbClr val="3A4453"/>
                </a:solidFill>
              </a:rPr>
              <a:t>Direct Salaries at 315k is 51% of it.</a:t>
            </a:r>
            <a:endParaRPr lang="en-US" sz="950" dirty="0"/>
          </a:p>
          <a:p>
            <a:pPr marL="342900" indent="-342900">
              <a:lnSpc>
                <a:spcPts val="1300"/>
              </a:lnSpc>
              <a:spcAft>
                <a:spcPts val="500"/>
              </a:spcAft>
              <a:buSzPct val="100000"/>
              <a:buChar char="•"/>
            </a:pPr>
            <a:r>
              <a:rPr lang="en-US" sz="950" dirty="0">
                <a:solidFill>
                  <a:srgbClr val="3A4453"/>
                </a:solidFill>
              </a:rPr>
              <a:t>Sub contract labour is the flexible part. Everything else is payroll.</a:t>
            </a:r>
            <a:endParaRPr lang="en-US" sz="950" dirty="0"/>
          </a:p>
          <a:p>
            <a:pPr marL="342900" indent="-342900">
              <a:lnSpc>
                <a:spcPts val="1300"/>
              </a:lnSpc>
              <a:spcAft>
                <a:spcPts val="500"/>
              </a:spcAft>
              <a:buSzPct val="100000"/>
              <a:buChar char="•"/>
            </a:pPr>
            <a:r>
              <a:rPr lang="en-US" sz="950" dirty="0">
                <a:solidFill>
                  <a:srgbClr val="3A4453"/>
                </a:solidFill>
              </a:rPr>
              <a:t>Wages and salaries move with hours worked, not with hours billed, which is the utilisation point later in this pack.</a:t>
            </a:r>
            <a:endParaRPr lang="en-US" sz="950" dirty="0"/>
          </a:p>
          <a:p>
            <a:pPr marL="342900" indent="-342900">
              <a:lnSpc>
                <a:spcPts val="1300"/>
              </a:lnSpc>
              <a:spcAft>
                <a:spcPts val="500"/>
              </a:spcAft>
              <a:buSzPct val="100000"/>
              <a:buChar char="•"/>
            </a:pPr>
            <a:r>
              <a:rPr lang="en-US" sz="950" dirty="0">
                <a:solidFill>
                  <a:srgbClr val="3A4453"/>
                </a:solidFill>
              </a:rPr>
              <a:t>Watch the sub contract line: it rises when the permanent team runs out of capacity.</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COST BASE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914400"/>
        </p:xfrm>
        <a:graphic>
          <a:graphicData uri="http://schemas.openxmlformats.org/drawingml/2006/table">
            <a:tbl>
              <a:tblPr/>
              <a:tblGrid>
                <a:gridCol w="1143000"/>
                <a:gridCol w="1115568"/>
                <a:gridCol w="960120"/>
                <a:gridCol w="914400"/>
                <a:gridCol w="685800"/>
                <a:gridCol w="758952"/>
              </a:tblGrid>
              <a:tr h="0">
                <a:tc>
                  <a:txBody>
                    <a:bodyPr/>
                    <a:lstStyle/>
                    <a:p>
                      <a:pPr algn="l" indent="0" marL="0">
                        <a:buNone/>
                      </a:pPr>
                      <a:r>
                        <a:rPr lang="en-US" sz="900" b="1" dirty="0">
                          <a:solidFill>
                            <a:srgbClr val="FFFFFF"/>
                          </a:solidFill>
                        </a:rPr>
                        <a:t>September 2026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Departmental staff</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Office staff</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Total</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FTE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Share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Support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8,980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42,262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51,242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19.92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67.0%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Events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35,665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15,294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50,959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7.21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Video</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2,660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1,301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3,961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0.61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Integration</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8,563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269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8,832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0.13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Consulting</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5,545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3,951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9,496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1.86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Total</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61,413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63,077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124,490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29.73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100.0%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bl>
          </a:graphicData>
        </a:graphic>
      </p:graphicFrame>
      <p:sp>
        <p:nvSpPr>
          <p:cNvPr id="5" name="Text 2"/>
          <p:cNvSpPr txBox="1"/>
          <p:nvPr/>
        </p:nvSpPr>
        <p:spPr>
          <a:xfrm>
            <a:off x="502920" y="3154680"/>
            <a:ext cx="5577840" cy="822960"/>
          </a:xfrm>
          <a:prstGeom prst="rect">
            <a:avLst/>
          </a:prstGeom>
          <a:noFill/>
          <a:ln/>
        </p:spPr>
        <p:txBody>
          <a:bodyPr wrap="square" lIns="0" tIns="0" rIns="0" bIns="0" rtlCol="0" anchor="t"/>
          <a:lstStyle/>
          <a:p>
            <a:pPr indent="0" marL="0">
              <a:buNone/>
            </a:pPr>
            <a:r>
              <a:rPr lang="en-US" sz="850" i="1" dirty="0">
                <a:solidFill>
                  <a:srgbClr val="6B7585"/>
                </a:solidFill>
              </a:rPr>
              <a:t>Departmental staff is employment expense coded to the department's own cost centre. Office staff is the admin employment pot of 63,077, charged out on each department's FTE. FTE is rolling twelve month hours on that cost centre divided by 2,024 working hours a year. The split now calculates in the pack; nothing here is typed.</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admin employment pot is 63,077 for the month and it is charged out in full.</a:t>
            </a:r>
            <a:endParaRPr lang="en-US" sz="950" dirty="0"/>
          </a:p>
          <a:p>
            <a:pPr marL="342900" indent="-342900">
              <a:lnSpc>
                <a:spcPts val="1300"/>
              </a:lnSpc>
              <a:spcAft>
                <a:spcPts val="500"/>
              </a:spcAft>
              <a:buSzPct val="100000"/>
              <a:buChar char="•"/>
            </a:pPr>
            <a:r>
              <a:rPr lang="en-US" sz="950" dirty="0">
                <a:solidFill>
                  <a:srgbClr val="3A4453"/>
                </a:solidFill>
              </a:rPr>
              <a:t>Support carries 67.0% of it on 40,311 rolling hours.</a:t>
            </a:r>
            <a:endParaRPr lang="en-US" sz="950" dirty="0"/>
          </a:p>
          <a:p>
            <a:pPr marL="342900" indent="-342900">
              <a:lnSpc>
                <a:spcPts val="1300"/>
              </a:lnSpc>
              <a:spcAft>
                <a:spcPts val="500"/>
              </a:spcAft>
              <a:buSzPct val="100000"/>
              <a:buChar char="•"/>
            </a:pPr>
            <a:r>
              <a:rPr lang="en-US" sz="950" dirty="0">
                <a:solidFill>
                  <a:srgbClr val="3A4453"/>
                </a:solidFill>
              </a:rPr>
              <a:t>Events pays more for its own staff, 35,665, than it does for office staff.</a:t>
            </a:r>
            <a:endParaRPr lang="en-US" sz="950" dirty="0"/>
          </a:p>
          <a:p>
            <a:pPr marL="342900" indent="-342900">
              <a:lnSpc>
                <a:spcPts val="1300"/>
              </a:lnSpc>
              <a:spcAft>
                <a:spcPts val="500"/>
              </a:spcAft>
              <a:buSzPct val="100000"/>
              <a:buChar char="•"/>
            </a:pPr>
            <a:r>
              <a:rPr lang="en-US" sz="950" dirty="0">
                <a:solidFill>
                  <a:srgbClr val="3A4453"/>
                </a:solidFill>
              </a:rPr>
              <a:t>Integration takes almost no office cost because almost nothing is clocked to it.</a:t>
            </a:r>
            <a:endParaRPr lang="en-US" sz="950" dirty="0"/>
          </a:p>
          <a:p>
            <a:pPr marL="342900" indent="-342900">
              <a:lnSpc>
                <a:spcPts val="1300"/>
              </a:lnSpc>
              <a:spcAft>
                <a:spcPts val="500"/>
              </a:spcAft>
              <a:buSzPct val="100000"/>
              <a:buChar char="•"/>
            </a:pPr>
            <a:r>
              <a:rPr lang="en-US" sz="950" dirty="0">
                <a:solidFill>
                  <a:srgbClr val="3A4453"/>
                </a:solidFill>
              </a:rPr>
              <a:t>This is the line that used to be typed by hand. It is now driven by the labour hours report.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5577840" cy="914400"/>
        </p:xfrm>
        <a:graphic>
          <a:graphicData uri="http://schemas.openxmlformats.org/drawingml/2006/table">
            <a:tbl>
              <a:tblPr/>
              <a:tblGrid>
                <a:gridCol w="2423160"/>
                <a:gridCol w="1024128"/>
                <a:gridCol w="1143000"/>
                <a:gridCol w="987552"/>
              </a:tblGrid>
              <a:tr h="0">
                <a:tc>
                  <a:txBody>
                    <a:bodyPr/>
                    <a:lstStyle/>
                    <a:p>
                      <a:pPr algn="l" indent="0" marL="0">
                        <a:buNone/>
                      </a:pPr>
                      <a:r>
                        <a:rPr lang="en-US" sz="900" b="1" dirty="0">
                          <a:solidFill>
                            <a:srgbClr val="FFFFFF"/>
                          </a:solidFill>
                        </a:rPr>
                        <a:t>Customer, 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Sep 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Year to date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Share of YTD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1. Deloitte Services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119,614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401,755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2. Aware Super</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241,178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285,075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17.5%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3. CBA Place South</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30,409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105,040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4. Ventia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9,105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97,662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5. PwC Services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26,707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88,051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6. APT Management Services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4,527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63,613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7. ASX Operations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17,167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60,858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8. Bankwest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17,230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54,971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9. Data#3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45,909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10. Generation-e Productivity…</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12,389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37,166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Top ten together</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478,325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1,240,100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76.3%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r h="0">
                <a:tc>
                  <a:txBody>
                    <a:bodyPr/>
                    <a:lstStyle/>
                    <a:p>
                      <a:pPr algn="l" indent="0" marL="0">
                        <a:buNone/>
                      </a:pPr>
                      <a:r>
                        <a:rPr lang="en-US" sz="900" dirty="0">
                          <a:solidFill>
                            <a:srgbClr val="3A4453"/>
                          </a:solidFill>
                        </a:rPr>
                        <a:t>Everyone else</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83,619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384,360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23.7%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5" name="Text 2"/>
          <p:cNvSpPr txBox="1"/>
          <p:nvPr/>
        </p:nvSpPr>
        <p:spPr>
          <a:xfrm>
            <a:off x="502920" y="4480560"/>
            <a:ext cx="5577840" cy="274320"/>
          </a:xfrm>
          <a:prstGeom prst="rect">
            <a:avLst/>
          </a:prstGeom>
          <a:noFill/>
          <a:ln/>
        </p:spPr>
        <p:txBody>
          <a:bodyPr wrap="square" lIns="0" tIns="0" rIns="0" bIns="0" rtlCol="0" anchor="t"/>
          <a:lstStyle/>
          <a:p>
            <a:pPr indent="0" marL="0">
              <a:buNone/>
            </a:pPr>
            <a:r>
              <a:rPr lang="en-US" sz="850" i="1" dirty="0">
                <a:solidFill>
                  <a:srgbClr val="6B7585"/>
                </a:solidFill>
              </a:rPr>
              <a:t>Earned revenue off the Xero general ledger, excluding GST, 1 July to 30 September 2026. Ties to total income on the P&amp;L.</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top ten are 76.3% of revenue. The top three alone are 48.7%.</a:t>
            </a:r>
            <a:endParaRPr lang="en-US" sz="950" dirty="0"/>
          </a:p>
          <a:p>
            <a:pPr marL="342900" indent="-342900">
              <a:lnSpc>
                <a:spcPts val="1300"/>
              </a:lnSpc>
              <a:spcAft>
                <a:spcPts val="500"/>
              </a:spcAft>
              <a:buSzPct val="100000"/>
              <a:buChar char="•"/>
            </a:pPr>
            <a:r>
              <a:rPr lang="en-US" sz="950" dirty="0">
                <a:solidFill>
                  <a:srgbClr val="3A4453"/>
                </a:solidFill>
              </a:rPr>
              <a:t>Deloitte Services at 401,755 is 24.7% of the year. Losing it costs more than the whole EBITDA plan.</a:t>
            </a:r>
            <a:endParaRPr lang="en-US" sz="950" dirty="0"/>
          </a:p>
          <a:p>
            <a:pPr marL="342900" indent="-342900">
              <a:lnSpc>
                <a:spcPts val="1300"/>
              </a:lnSpc>
              <a:spcAft>
                <a:spcPts val="500"/>
              </a:spcAft>
              <a:buSzPct val="100000"/>
              <a:buChar char="•"/>
            </a:pPr>
            <a:r>
              <a:rPr lang="en-US" sz="950" dirty="0">
                <a:solidFill>
                  <a:srgbClr val="3A4453"/>
                </a:solidFill>
              </a:rPr>
              <a:t>Aware Super came from nothing to 285,075 in a quarter, almost all of it in September.</a:t>
            </a:r>
            <a:endParaRPr lang="en-US" sz="950" dirty="0"/>
          </a:p>
          <a:p>
            <a:pPr marL="342900" indent="-342900">
              <a:lnSpc>
                <a:spcPts val="1300"/>
              </a:lnSpc>
              <a:spcAft>
                <a:spcPts val="500"/>
              </a:spcAft>
              <a:buSzPct val="100000"/>
              <a:buChar char="•"/>
            </a:pPr>
            <a:r>
              <a:rPr lang="en-US" sz="950" dirty="0">
                <a:solidFill>
                  <a:srgbClr val="3A4453"/>
                </a:solidFill>
              </a:rPr>
              <a:t>Below the top five the book drops away fast. Number ten is 37,166.</a:t>
            </a:r>
            <a:endParaRPr lang="en-US" sz="950" dirty="0"/>
          </a:p>
          <a:p>
            <a:pPr marL="342900" indent="-342900">
              <a:lnSpc>
                <a:spcPts val="1300"/>
              </a:lnSpc>
              <a:spcAft>
                <a:spcPts val="500"/>
              </a:spcAft>
              <a:buSzPct val="100000"/>
              <a:buChar char="•"/>
            </a:pPr>
            <a:r>
              <a:rPr lang="en-US" sz="950" dirty="0">
                <a:solidFill>
                  <a:srgbClr val="3A4453"/>
                </a:solidFill>
              </a:rPr>
              <a:t>Recommend a named retention plan on the top three before the half year.</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by revenue</a:t>
            </a:r>
            <a:endParaRPr lang="en-US" sz="2700" dirty="0"/>
          </a:p>
        </p:txBody>
      </p:sp>
      <p:graphicFrame>
        <p:nvGraphicFramePr>
          <p:cNvPr id="4" name="Chart 0" descr=""/>
          <p:cNvGraphicFramePr/>
          <p:nvPr/>
        </p:nvGraphicFramePr>
        <p:xfrm>
          <a:off x="457200" y="1463040"/>
          <a:ext cx="566928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4498848"/>
            <a:ext cx="5577840" cy="274320"/>
          </a:xfrm>
          <a:prstGeom prst="rect">
            <a:avLst/>
          </a:prstGeom>
          <a:noFill/>
          <a:ln/>
        </p:spPr>
        <p:txBody>
          <a:bodyPr wrap="square" lIns="0" tIns="0" rIns="0" bIns="0" rtlCol="0" anchor="t"/>
          <a:lstStyle/>
          <a:p>
            <a:pPr indent="0" marL="0">
              <a:buNone/>
            </a:pPr>
            <a:r>
              <a:rPr lang="en-US" sz="850" i="1" dirty="0">
                <a:solidFill>
                  <a:srgbClr val="6B7585"/>
                </a:solidFill>
              </a:rPr>
              <a:t>A$ thousands, 1 July to 30 September 2026.</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shape of this chart is the risk. Two bars carry the quarter.</a:t>
            </a:r>
            <a:endParaRPr lang="en-US" sz="950" dirty="0"/>
          </a:p>
          <a:p>
            <a:pPr marL="342900" indent="-342900">
              <a:lnSpc>
                <a:spcPts val="1300"/>
              </a:lnSpc>
              <a:spcAft>
                <a:spcPts val="500"/>
              </a:spcAft>
              <a:buSzPct val="100000"/>
              <a:buChar char="•"/>
            </a:pPr>
            <a:r>
              <a:rPr lang="en-US" sz="950" dirty="0">
                <a:solidFill>
                  <a:srgbClr val="3A4453"/>
                </a:solidFill>
              </a:rPr>
              <a:t>Deloitte Services is contract and recurring. That is the good concentration.</a:t>
            </a:r>
            <a:endParaRPr lang="en-US" sz="950" dirty="0"/>
          </a:p>
          <a:p>
            <a:pPr marL="342900" indent="-342900">
              <a:lnSpc>
                <a:spcPts val="1300"/>
              </a:lnSpc>
              <a:spcAft>
                <a:spcPts val="500"/>
              </a:spcAft>
              <a:buSzPct val="100000"/>
              <a:buChar char="•"/>
            </a:pPr>
            <a:r>
              <a:rPr lang="en-US" sz="950" dirty="0">
                <a:solidFill>
                  <a:srgbClr val="3A4453"/>
                </a:solidFill>
              </a:rPr>
              <a:t>Aware Super is project. That is the concentration that disappears.</a:t>
            </a:r>
            <a:endParaRPr lang="en-US" sz="950" dirty="0"/>
          </a:p>
          <a:p>
            <a:pPr marL="342900" indent="-342900">
              <a:lnSpc>
                <a:spcPts val="1300"/>
              </a:lnSpc>
              <a:spcAft>
                <a:spcPts val="500"/>
              </a:spcAft>
              <a:buSzPct val="100000"/>
              <a:buChar char="•"/>
            </a:pPr>
            <a:r>
              <a:rPr lang="en-US" sz="950" dirty="0">
                <a:solidFill>
                  <a:srgbClr val="3A4453"/>
                </a:solidFill>
              </a:rPr>
              <a:t>Strip the top two and the remaining eight are 553,270, under two months of overhead.</a:t>
            </a:r>
            <a:endParaRPr lang="en-US" sz="950" dirty="0"/>
          </a:p>
          <a:p>
            <a:pPr marL="342900" indent="-342900">
              <a:lnSpc>
                <a:spcPts val="1300"/>
              </a:lnSpc>
              <a:spcAft>
                <a:spcPts val="500"/>
              </a:spcAft>
              <a:buSzPct val="100000"/>
              <a:buChar char="•"/>
            </a:pPr>
            <a:r>
              <a:rPr lang="en-US" sz="950" dirty="0">
                <a:solidFill>
                  <a:srgbClr val="3A4453"/>
                </a:solidFill>
              </a:rPr>
              <a:t>The business development target belongs on the middle of this chart, not the top.</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Receivables and days sales outstanding</a:t>
            </a:r>
            <a:endParaRPr lang="en-US" sz="2700" dirty="0"/>
          </a:p>
        </p:txBody>
      </p:sp>
      <p:sp>
        <p:nvSpPr>
          <p:cNvPr id="4" name="Shape 2"/>
          <p:cNvSpPr/>
          <p:nvPr/>
        </p:nvSpPr>
        <p:spPr>
          <a:xfrm>
            <a:off x="502920" y="1444752"/>
            <a:ext cx="1664208" cy="868680"/>
          </a:xfrm>
          <a:prstGeom prst="rect">
            <a:avLst/>
          </a:prstGeom>
          <a:solidFill>
            <a:srgbClr val="F4F4F4"/>
          </a:solidFill>
          <a:ln/>
        </p:spPr>
      </p:sp>
      <p:sp>
        <p:nvSpPr>
          <p:cNvPr id="5" name="Text 3"/>
          <p:cNvSpPr txBox="1"/>
          <p:nvPr/>
        </p:nvSpPr>
        <p:spPr>
          <a:xfrm>
            <a:off x="640080" y="1554480"/>
            <a:ext cx="1389888" cy="384048"/>
          </a:xfrm>
          <a:prstGeom prst="rect">
            <a:avLst/>
          </a:prstGeom>
          <a:noFill/>
          <a:ln/>
        </p:spPr>
        <p:txBody>
          <a:bodyPr wrap="square" lIns="0" tIns="0" rIns="0" bIns="0" rtlCol="0" anchor="ctr"/>
          <a:lstStyle/>
          <a:p>
            <a:pPr indent="0" marL="0">
              <a:buNone/>
            </a:pPr>
            <a:r>
              <a:rPr lang="en-US" sz="2100" b="1" dirty="0">
                <a:solidFill>
                  <a:srgbClr val="A8052E"/>
                </a:solidFill>
              </a:rPr>
              <a:t>47 days</a:t>
            </a:r>
            <a:endParaRPr lang="en-US" sz="2100" dirty="0"/>
          </a:p>
        </p:txBody>
      </p:sp>
      <p:sp>
        <p:nvSpPr>
          <p:cNvPr id="6" name="Text 4"/>
          <p:cNvSpPr txBox="1"/>
          <p:nvPr/>
        </p:nvSpPr>
        <p:spPr>
          <a:xfrm>
            <a:off x="640080" y="1947672"/>
            <a:ext cx="1389888" cy="265176"/>
          </a:xfrm>
          <a:prstGeom prst="rect">
            <a:avLst/>
          </a:prstGeom>
          <a:noFill/>
          <a:ln/>
        </p:spPr>
        <p:txBody>
          <a:bodyPr wrap="square" lIns="0" tIns="0" rIns="0" bIns="0" rtlCol="0" anchor="t"/>
          <a:lstStyle/>
          <a:p>
            <a:pPr indent="0" marL="0">
              <a:buNone/>
            </a:pPr>
            <a:r>
              <a:rPr lang="en-US" sz="850" dirty="0">
                <a:solidFill>
                  <a:srgbClr val="6B7585"/>
                </a:solidFill>
              </a:rPr>
              <a:t>DSO, target 30 days</a:t>
            </a:r>
            <a:endParaRPr lang="en-US" sz="850" dirty="0"/>
          </a:p>
        </p:txBody>
      </p:sp>
      <p:sp>
        <p:nvSpPr>
          <p:cNvPr id="7" name="Shape 5"/>
          <p:cNvSpPr/>
          <p:nvPr/>
        </p:nvSpPr>
        <p:spPr>
          <a:xfrm>
            <a:off x="2304288" y="1444752"/>
            <a:ext cx="1664208" cy="868680"/>
          </a:xfrm>
          <a:prstGeom prst="rect">
            <a:avLst/>
          </a:prstGeom>
          <a:solidFill>
            <a:srgbClr val="F4F4F4"/>
          </a:solidFill>
          <a:ln/>
        </p:spPr>
      </p:sp>
      <p:sp>
        <p:nvSpPr>
          <p:cNvPr id="8" name="Text 6"/>
          <p:cNvSpPr txBox="1"/>
          <p:nvPr/>
        </p:nvSpPr>
        <p:spPr>
          <a:xfrm>
            <a:off x="2441448" y="1554480"/>
            <a:ext cx="1389888" cy="384048"/>
          </a:xfrm>
          <a:prstGeom prst="rect">
            <a:avLst/>
          </a:prstGeom>
          <a:noFill/>
          <a:ln/>
        </p:spPr>
        <p:txBody>
          <a:bodyPr wrap="square" lIns="0" tIns="0" rIns="0" bIns="0" rtlCol="0" anchor="ctr"/>
          <a:lstStyle/>
          <a:p>
            <a:pPr indent="0" marL="0">
              <a:buNone/>
            </a:pPr>
            <a:r>
              <a:rPr lang="en-US" sz="2100" b="1" dirty="0">
                <a:solidFill>
                  <a:srgbClr val="242C39"/>
                </a:solidFill>
              </a:rPr>
              <a:t>$0.83m</a:t>
            </a:r>
            <a:endParaRPr lang="en-US" sz="2100" dirty="0"/>
          </a:p>
        </p:txBody>
      </p:sp>
      <p:sp>
        <p:nvSpPr>
          <p:cNvPr id="9" name="Text 7"/>
          <p:cNvSpPr txBox="1"/>
          <p:nvPr/>
        </p:nvSpPr>
        <p:spPr>
          <a:xfrm>
            <a:off x="2441448" y="1947672"/>
            <a:ext cx="1389888" cy="265176"/>
          </a:xfrm>
          <a:prstGeom prst="rect">
            <a:avLst/>
          </a:prstGeom>
          <a:noFill/>
          <a:ln/>
        </p:spPr>
        <p:txBody>
          <a:bodyPr wrap="square" lIns="0" tIns="0" rIns="0" bIns="0" rtlCol="0" anchor="t"/>
          <a:lstStyle/>
          <a:p>
            <a:pPr indent="0" marL="0">
              <a:buNone/>
            </a:pPr>
            <a:r>
              <a:rPr lang="en-US" sz="850" dirty="0">
                <a:solidFill>
                  <a:srgbClr val="6B7585"/>
                </a:solidFill>
              </a:rPr>
              <a:t>Trade receivables at month end</a:t>
            </a:r>
            <a:endParaRPr lang="en-US" sz="850" dirty="0"/>
          </a:p>
        </p:txBody>
      </p:sp>
      <p:sp>
        <p:nvSpPr>
          <p:cNvPr id="10" name="Shape 8"/>
          <p:cNvSpPr/>
          <p:nvPr/>
        </p:nvSpPr>
        <p:spPr>
          <a:xfrm>
            <a:off x="4105656" y="1444752"/>
            <a:ext cx="1664208" cy="868680"/>
          </a:xfrm>
          <a:prstGeom prst="rect">
            <a:avLst/>
          </a:prstGeom>
          <a:solidFill>
            <a:srgbClr val="F4F4F4"/>
          </a:solidFill>
          <a:ln/>
        </p:spPr>
      </p:sp>
      <p:sp>
        <p:nvSpPr>
          <p:cNvPr id="11" name="Text 9"/>
          <p:cNvSpPr txBox="1"/>
          <p:nvPr/>
        </p:nvSpPr>
        <p:spPr>
          <a:xfrm>
            <a:off x="4242816" y="1554480"/>
            <a:ext cx="1389888" cy="384048"/>
          </a:xfrm>
          <a:prstGeom prst="rect">
            <a:avLst/>
          </a:prstGeom>
          <a:noFill/>
          <a:ln/>
        </p:spPr>
        <p:txBody>
          <a:bodyPr wrap="square" lIns="0" tIns="0" rIns="0" bIns="0" rtlCol="0" anchor="ctr"/>
          <a:lstStyle/>
          <a:p>
            <a:pPr indent="0" marL="0">
              <a:buNone/>
            </a:pPr>
            <a:r>
              <a:rPr lang="en-US" sz="2100" b="1" dirty="0">
                <a:solidFill>
                  <a:srgbClr val="A8052E"/>
                </a:solidFill>
              </a:rPr>
              <a:t>$304k</a:t>
            </a:r>
            <a:endParaRPr lang="en-US" sz="2100" dirty="0"/>
          </a:p>
        </p:txBody>
      </p:sp>
      <p:sp>
        <p:nvSpPr>
          <p:cNvPr id="12" name="Text 10"/>
          <p:cNvSpPr txBox="1"/>
          <p:nvPr/>
        </p:nvSpPr>
        <p:spPr>
          <a:xfrm>
            <a:off x="4242816" y="1947672"/>
            <a:ext cx="1389888" cy="265176"/>
          </a:xfrm>
          <a:prstGeom prst="rect">
            <a:avLst/>
          </a:prstGeom>
          <a:noFill/>
          <a:ln/>
        </p:spPr>
        <p:txBody>
          <a:bodyPr wrap="square" lIns="0" tIns="0" rIns="0" bIns="0" rtlCol="0" anchor="t"/>
          <a:lstStyle/>
          <a:p>
            <a:pPr indent="0" marL="0">
              <a:buNone/>
            </a:pPr>
            <a:r>
              <a:rPr lang="en-US" sz="850" dirty="0">
                <a:solidFill>
                  <a:srgbClr val="6B7585"/>
                </a:solidFill>
              </a:rPr>
              <a:t>Cash locked up above target</a:t>
            </a:r>
            <a:endParaRPr lang="en-US" sz="850" dirty="0"/>
          </a:p>
        </p:txBody>
      </p:sp>
      <p:graphicFrame>
        <p:nvGraphicFramePr>
          <p:cNvPr id="13" name="Chart 0" descr=""/>
          <p:cNvGraphicFramePr/>
          <p:nvPr/>
        </p:nvGraphicFramePr>
        <p:xfrm>
          <a:off x="457200" y="2468880"/>
          <a:ext cx="2697480" cy="187452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02920" y="4315968"/>
            <a:ext cx="2651760" cy="201168"/>
          </a:xfrm>
          <a:prstGeom prst="rect">
            <a:avLst/>
          </a:prstGeom>
          <a:noFill/>
          <a:ln/>
        </p:spPr>
        <p:txBody>
          <a:bodyPr wrap="square" lIns="0" tIns="0" rIns="0" bIns="0" rtlCol="0" anchor="ctr"/>
          <a:lstStyle/>
          <a:p>
            <a:pPr indent="0" marL="0">
              <a:buNone/>
            </a:pPr>
            <a:r>
              <a:rPr lang="en-US" sz="850" dirty="0">
                <a:solidFill>
                  <a:srgbClr val="6B7585"/>
                </a:solidFill>
              </a:rPr>
              <a:t>Aged receivables, A$ thousands</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291840" y="2468880"/>
          <a:ext cx="2788920" cy="914400"/>
        </p:xfrm>
        <a:graphic>
          <a:graphicData uri="http://schemas.openxmlformats.org/drawingml/2006/table">
            <a:tbl>
              <a:tblPr/>
              <a:tblGrid>
                <a:gridCol w="1417320"/>
                <a:gridCol w="777240"/>
                <a:gridCol w="594360"/>
              </a:tblGrid>
              <a:tr h="0">
                <a:tc>
                  <a:txBody>
                    <a:bodyPr/>
                    <a:lstStyle/>
                    <a:p>
                      <a:pPr algn="l" indent="0" marL="0">
                        <a:buNone/>
                      </a:pPr>
                      <a:r>
                        <a:rPr lang="en-US" sz="900" b="1" dirty="0">
                          <a:solidFill>
                            <a:srgbClr val="FFFFFF"/>
                          </a:solidFill>
                        </a:rPr>
                        <a:t>Who owes the most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Share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Aware Super</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277,395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33.3%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Deloitte Services P/L fo</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131,575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15.8%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Ventia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94,701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11.4%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Downer EDI Limited</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39,664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Generation-e Productivit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39,106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PwC Services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38,728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All others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212,152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bl>
          </a:graphicData>
        </a:graphic>
      </p:graphicFrame>
      <p:sp>
        <p:nvSpPr>
          <p:cNvPr id="16" name="Text 12"/>
          <p:cNvSpPr txBox="1"/>
          <p:nvPr/>
        </p:nvSpPr>
        <p:spPr>
          <a:xfrm>
            <a:off x="3291840" y="4315968"/>
            <a:ext cx="2788920" cy="365760"/>
          </a:xfrm>
          <a:prstGeom prst="rect">
            <a:avLst/>
          </a:prstGeom>
          <a:noFill/>
          <a:ln/>
        </p:spPr>
        <p:txBody>
          <a:bodyPr wrap="square" lIns="0" tIns="0" rIns="0" bIns="0" rtlCol="0" anchor="t"/>
          <a:lstStyle/>
          <a:p>
            <a:pPr indent="0" marL="0">
              <a:buNone/>
            </a:pPr>
            <a:r>
              <a:rPr lang="en-US" sz="850" i="1" dirty="0">
                <a:solidFill>
                  <a:srgbClr val="6B7585"/>
                </a:solidFill>
              </a:rPr>
              <a:t>DSO = receivables divided by average daily revenue over the last three months (92 days). Source: Xero aged receivables at 30 September 2026.</a:t>
            </a:r>
            <a:endParaRPr lang="en-US" sz="850" dirty="0"/>
          </a:p>
        </p:txBody>
      </p:sp>
      <p:sp>
        <p:nvSpPr>
          <p:cNvPr id="17" name="commentary panel"/>
          <p:cNvSpPr/>
          <p:nvPr/>
        </p:nvSpPr>
        <p:spPr>
          <a:xfrm>
            <a:off x="6263640" y="1463040"/>
            <a:ext cx="2377440" cy="3154680"/>
          </a:xfrm>
          <a:prstGeom prst="rect">
            <a:avLst/>
          </a:prstGeom>
          <a:solidFill>
            <a:srgbClr val="E8F9F8"/>
          </a:solidFill>
          <a:ln/>
        </p:spPr>
      </p:sp>
      <p:sp>
        <p:nvSpPr>
          <p:cNvPr id="18" name="Text 1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19" name="Text 1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DSO is 47.2 days against a 30 day target. That is 17.2 days of cash we are not holding.</a:t>
            </a:r>
            <a:endParaRPr lang="en-US" sz="1000" dirty="0"/>
          </a:p>
          <a:p>
            <a:pPr marL="342900" indent="-342900">
              <a:lnSpc>
                <a:spcPts val="1300"/>
              </a:lnSpc>
              <a:spcAft>
                <a:spcPts val="500"/>
              </a:spcAft>
              <a:buSzPct val="100000"/>
              <a:buChar char="•"/>
            </a:pPr>
            <a:r>
              <a:rPr lang="en-US" sz="1000" dirty="0">
                <a:solidFill>
                  <a:srgbClr val="3A4453"/>
                </a:solidFill>
              </a:rPr>
              <a:t>Every day of DSO is 17,657 of cash. Getting to target releases 303,605.</a:t>
            </a:r>
            <a:endParaRPr lang="en-US" sz="1000" dirty="0"/>
          </a:p>
          <a:p>
            <a:pPr marL="342900" indent="-342900">
              <a:lnSpc>
                <a:spcPts val="1300"/>
              </a:lnSpc>
              <a:spcAft>
                <a:spcPts val="500"/>
              </a:spcAft>
              <a:buSzPct val="100000"/>
              <a:buChar char="•"/>
            </a:pPr>
            <a:r>
              <a:rPr lang="en-US" sz="1000" dirty="0">
                <a:solidFill>
                  <a:srgbClr val="3A4453"/>
                </a:solidFill>
              </a:rPr>
              <a:t>29.3% of the book is overdue, 244,538.</a:t>
            </a:r>
            <a:endParaRPr lang="en-US" sz="1000" dirty="0"/>
          </a:p>
          <a:p>
            <a:pPr marL="342900" indent="-342900">
              <a:lnSpc>
                <a:spcPts val="1300"/>
              </a:lnSpc>
              <a:spcAft>
                <a:spcPts val="500"/>
              </a:spcAft>
              <a:buSzPct val="100000"/>
              <a:buChar char="•"/>
            </a:pPr>
            <a:r>
              <a:rPr lang="en-US" sz="1000" dirty="0">
                <a:solidFill>
                  <a:srgbClr val="3A4453"/>
                </a:solidFill>
              </a:rPr>
              <a:t>Aware Super alone is 33.3% of receivables at 277,395.</a:t>
            </a:r>
            <a:endParaRPr lang="en-US" sz="1000" dirty="0"/>
          </a:p>
          <a:p>
            <a:pPr marL="342900" indent="-342900">
              <a:lnSpc>
                <a:spcPts val="1300"/>
              </a:lnSpc>
              <a:spcAft>
                <a:spcPts val="500"/>
              </a:spcAft>
              <a:buSzPct val="100000"/>
              <a:buChar char="•"/>
            </a:pPr>
            <a:r>
              <a:rPr lang="en-US" sz="1000" dirty="0">
                <a:solidFill>
                  <a:srgbClr val="3A4453"/>
                </a:solidFill>
              </a:rPr>
              <a:t>Chase the top two. Nothing else on this page moves the number.</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by department, Sep 26</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914400"/>
        </p:xfrm>
        <a:graphic>
          <a:graphicData uri="http://schemas.openxmlformats.org/drawingml/2006/table">
            <a:tbl>
              <a:tblPr/>
              <a:tblGrid>
                <a:gridCol w="1188720"/>
                <a:gridCol w="658368"/>
                <a:gridCol w="1051560"/>
                <a:gridCol w="1207008"/>
                <a:gridCol w="713232"/>
                <a:gridCol w="758952"/>
              </a:tblGrid>
              <a:tr h="0">
                <a:tc>
                  <a:txBody>
                    <a:bodyPr/>
                    <a:lstStyle/>
                    <a:p>
                      <a:pPr algn="l" indent="0" marL="0">
                        <a:buNone/>
                      </a:pPr>
                      <a:r>
                        <a:rPr lang="en-US" sz="900" b="1" dirty="0">
                          <a:solidFill>
                            <a:srgbClr val="FFFFFF"/>
                          </a:solidFill>
                        </a:rPr>
                        <a:t>September 2026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FTE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Chargeable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Non-chargeable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Leave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Chg %</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Support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12.2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2,132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218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b="1" dirty="0">
                          <a:solidFill>
                            <a:srgbClr val="005358"/>
                          </a:solidFill>
                        </a:rPr>
                        <a:t>99.5%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Events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249</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333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b="1" dirty="0">
                          <a:solidFill>
                            <a:srgbClr val="A8052E"/>
                          </a:solidFill>
                        </a:rPr>
                        <a:t>49.1%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Video</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b="1" dirty="0">
                          <a:solidFill>
                            <a:srgbClr val="A8052E"/>
                          </a:solidFill>
                        </a:rPr>
                        <a:t>76.0%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Integration</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b="1" dirty="0">
                          <a:solidFill>
                            <a:srgbClr val="005358"/>
                          </a:solidFill>
                        </a:rPr>
                        <a:t>100.0%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Consulting</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0.7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84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53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b="1" dirty="0">
                          <a:solidFill>
                            <a:srgbClr val="A8052E"/>
                          </a:solidFill>
                        </a:rPr>
                        <a:t>26.8%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Five departments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15.8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2,437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352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604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87.4%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bl>
          </a:graphicData>
        </a:graphic>
      </p:graphicFrame>
      <p:sp>
        <p:nvSpPr>
          <p:cNvPr id="5" name="Text 2"/>
          <p:cNvSpPr txBox="1"/>
          <p:nvPr/>
        </p:nvSpPr>
        <p:spPr>
          <a:xfrm>
            <a:off x="502920" y="3246120"/>
            <a:ext cx="5577840" cy="411480"/>
          </a:xfrm>
          <a:prstGeom prst="rect">
            <a:avLst/>
          </a:prstGeom>
          <a:noFill/>
          <a:ln/>
        </p:spPr>
        <p:txBody>
          <a:bodyPr wrap="square" lIns="0" tIns="0" rIns="0" bIns="0" rtlCol="0" anchor="t"/>
          <a:lstStyle/>
          <a:p>
            <a:pPr indent="0" marL="0">
              <a:buNone/>
            </a:pPr>
            <a:r>
              <a:rPr lang="en-US" sz="850" i="1" dirty="0">
                <a:solidFill>
                  <a:srgbClr val="6B7585"/>
                </a:solidFill>
              </a:rPr>
              <a:t>Hours are counted against the cost centre they were booked to. Chargeable per cent is chargeable hours over hours worked, with leave excluded. Admin hours are charged out through the overhead keys and are not in this table.</a:t>
            </a:r>
            <a:endParaRPr lang="en-US" sz="85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Support shows 11 non-chargeable hours on 2,132 chargeable. That is not credible.</a:t>
            </a:r>
            <a:endParaRPr lang="en-US" sz="950" dirty="0"/>
          </a:p>
          <a:p>
            <a:pPr marL="342900" indent="-342900">
              <a:lnSpc>
                <a:spcPts val="1300"/>
              </a:lnSpc>
              <a:spcAft>
                <a:spcPts val="500"/>
              </a:spcAft>
              <a:buSzPct val="100000"/>
              <a:buChar char="•"/>
            </a:pPr>
            <a:r>
              <a:rPr lang="en-US" sz="950" dirty="0">
                <a:solidFill>
                  <a:srgbClr val="3A4453"/>
                </a:solidFill>
              </a:rPr>
              <a:t>Until that coding is fixed the 99.5% means nothing, and nor does the target.</a:t>
            </a:r>
            <a:endParaRPr lang="en-US" sz="950" dirty="0"/>
          </a:p>
          <a:p>
            <a:pPr marL="342900" indent="-342900">
              <a:lnSpc>
                <a:spcPts val="1300"/>
              </a:lnSpc>
              <a:spcAft>
                <a:spcPts val="500"/>
              </a:spcAft>
              <a:buSzPct val="100000"/>
              <a:buChar char="•"/>
            </a:pPr>
            <a:r>
              <a:rPr lang="en-US" sz="950" dirty="0">
                <a:solidFill>
                  <a:srgbClr val="3A4453"/>
                </a:solidFill>
              </a:rPr>
              <a:t>Events is at 49.1% with 333 hours of leave. Real capacity is sitting idle.</a:t>
            </a:r>
            <a:endParaRPr lang="en-US" sz="950" dirty="0"/>
          </a:p>
          <a:p>
            <a:pPr marL="342900" indent="-342900">
              <a:lnSpc>
                <a:spcPts val="1300"/>
              </a:lnSpc>
              <a:spcAft>
                <a:spcPts val="500"/>
              </a:spcAft>
              <a:buSzPct val="100000"/>
              <a:buChar char="•"/>
            </a:pPr>
            <a:r>
              <a:rPr lang="en-US" sz="950" dirty="0">
                <a:solidFill>
                  <a:srgbClr val="3A4453"/>
                </a:solidFill>
              </a:rPr>
              <a:t>Consulting at 26.8% confirms there is no fee base to utilise.</a:t>
            </a:r>
            <a:endParaRPr lang="en-US" sz="950" dirty="0"/>
          </a:p>
          <a:p>
            <a:pPr marL="342900" indent="-342900">
              <a:lnSpc>
                <a:spcPts val="1300"/>
              </a:lnSpc>
              <a:spcAft>
                <a:spcPts val="500"/>
              </a:spcAft>
              <a:buSzPct val="100000"/>
              <a:buChar char="•"/>
            </a:pPr>
            <a:r>
              <a:rPr lang="en-US" sz="950" dirty="0">
                <a:solidFill>
                  <a:srgbClr val="3A4453"/>
                </a:solidFill>
              </a:rPr>
              <a:t>Hours and revenue sit on the same basis, so the pack is consistent even where coding is wrong.</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Profit based on utilisation</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914400"/>
        </p:xfrm>
        <a:graphic>
          <a:graphicData uri="http://schemas.openxmlformats.org/drawingml/2006/table">
            <a:tbl>
              <a:tblPr/>
              <a:tblGrid>
                <a:gridCol w="1078992"/>
                <a:gridCol w="603504"/>
                <a:gridCol w="713232"/>
                <a:gridCol w="960120"/>
                <a:gridCol w="777240"/>
                <a:gridCol w="868680"/>
                <a:gridCol w="576072"/>
              </a:tblGrid>
              <a:tr h="0">
                <a:tc>
                  <a:txBody>
                    <a:bodyPr/>
                    <a:lstStyle/>
                    <a:p>
                      <a:pPr algn="l" indent="0" marL="0">
                        <a:buNone/>
                      </a:pPr>
                      <a:r>
                        <a:rPr lang="en-US" sz="900" b="1" dirty="0">
                          <a:solidFill>
                            <a:srgbClr val="FFFFFF"/>
                          </a:solidFill>
                        </a:rPr>
                        <a:t>September 2026</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Chg %</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Chg hrs</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Revenue / hr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Cost / hr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Margin / hr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+5 pts worth</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Support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99.5%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2,132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$114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b="1" dirty="0">
                          <a:solidFill>
                            <a:srgbClr val="005358"/>
                          </a:solidFill>
                        </a:rPr>
                        <a:t>$48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12,147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Events</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49.1%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241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$305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$68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b="1" dirty="0">
                          <a:solidFill>
                            <a:srgbClr val="005358"/>
                          </a:solidFill>
                        </a:rPr>
                        <a:t>$237</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3,665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Video</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76.0%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Integration</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100.0%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10</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Consulting</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26.8%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31</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6B7585"/>
                          </a:solidFill>
                        </a:rPr>
                        <a:t>n/a</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5" name="Shape 2"/>
          <p:cNvSpPr/>
          <p:nvPr/>
        </p:nvSpPr>
        <p:spPr>
          <a:xfrm>
            <a:off x="502920" y="3246120"/>
            <a:ext cx="2651760" cy="960120"/>
          </a:xfrm>
          <a:prstGeom prst="rect">
            <a:avLst/>
          </a:prstGeom>
          <a:solidFill>
            <a:srgbClr val="E8F9F8"/>
          </a:solidFill>
          <a:ln/>
        </p:spPr>
      </p:sp>
      <p:sp>
        <p:nvSpPr>
          <p:cNvPr id="6" name="Text 3"/>
          <p:cNvSpPr txBox="1"/>
          <p:nvPr/>
        </p:nvSpPr>
        <p:spPr>
          <a:xfrm>
            <a:off x="640080" y="3346704"/>
            <a:ext cx="2377440" cy="384048"/>
          </a:xfrm>
          <a:prstGeom prst="rect">
            <a:avLst/>
          </a:prstGeom>
          <a:noFill/>
          <a:ln/>
        </p:spPr>
        <p:txBody>
          <a:bodyPr wrap="square" lIns="0" tIns="0" rIns="0" bIns="0" rtlCol="0" anchor="ctr"/>
          <a:lstStyle/>
          <a:p>
            <a:pPr indent="0" marL="0">
              <a:buNone/>
            </a:pPr>
            <a:r>
              <a:rPr lang="en-US" sz="1900" b="1" dirty="0">
                <a:solidFill>
                  <a:srgbClr val="005358"/>
                </a:solidFill>
              </a:rPr>
              <a:t>+$16k a month</a:t>
            </a:r>
            <a:endParaRPr lang="en-US" sz="1900" dirty="0"/>
          </a:p>
        </p:txBody>
      </p:sp>
      <p:sp>
        <p:nvSpPr>
          <p:cNvPr id="7" name="Text 4"/>
          <p:cNvSpPr txBox="1"/>
          <p:nvPr/>
        </p:nvSpPr>
        <p:spPr>
          <a:xfrm>
            <a:off x="640080" y="3712464"/>
            <a:ext cx="2377440" cy="438912"/>
          </a:xfrm>
          <a:prstGeom prst="rect">
            <a:avLst/>
          </a:prstGeom>
          <a:noFill/>
          <a:ln/>
        </p:spPr>
        <p:txBody>
          <a:bodyPr wrap="square" lIns="0" tIns="0" rIns="0" bIns="0" rtlCol="0" anchor="t"/>
          <a:lstStyle/>
          <a:p>
            <a:pPr indent="0" marL="0">
              <a:buNone/>
            </a:pPr>
            <a:r>
              <a:rPr lang="en-US" sz="800" dirty="0">
                <a:solidFill>
                  <a:srgbClr val="3A4453"/>
                </a:solidFill>
              </a:rPr>
              <a:t>Five more points of utilisation on Support and Events, at the revenue per chargeable hour each already earns, before any extra cost</a:t>
            </a:r>
            <a:endParaRPr lang="en-US" sz="800" dirty="0"/>
          </a:p>
        </p:txBody>
      </p:sp>
      <p:sp>
        <p:nvSpPr>
          <p:cNvPr id="8" name="Text 5"/>
          <p:cNvSpPr txBox="1"/>
          <p:nvPr/>
        </p:nvSpPr>
        <p:spPr>
          <a:xfrm>
            <a:off x="3291840" y="3246120"/>
            <a:ext cx="2788920" cy="960120"/>
          </a:xfrm>
          <a:prstGeom prst="rect">
            <a:avLst/>
          </a:prstGeom>
          <a:noFill/>
          <a:ln/>
        </p:spPr>
        <p:txBody>
          <a:bodyPr wrap="square" lIns="0" tIns="0" rIns="0" bIns="0" rtlCol="0" anchor="t"/>
          <a:lstStyle/>
          <a:p>
            <a:pPr indent="0" marL="0">
              <a:buNone/>
            </a:pPr>
            <a:r>
              <a:rPr lang="en-US" sz="850" i="1" dirty="0">
                <a:solidFill>
                  <a:srgbClr val="6B7585"/>
                </a:solidFill>
              </a:rPr>
              <a:t>Revenue per hour is department revenue divided by chargeable hours. It is not a charge rate, because it carries equipment, hire and freight as well as labour. Cost per hour is direct cost of sales on the same basis. Integration is shown as not applicable: ten chargeable hours against equipment resale produces a ratio, not a rate.</a:t>
            </a:r>
            <a:endParaRPr lang="en-US" sz="850" dirty="0"/>
          </a:p>
        </p:txBody>
      </p:sp>
      <p:sp>
        <p:nvSpPr>
          <p:cNvPr id="9" name="commentary panel"/>
          <p:cNvSpPr/>
          <p:nvPr/>
        </p:nvSpPr>
        <p:spPr>
          <a:xfrm>
            <a:off x="6263640" y="1463040"/>
            <a:ext cx="2377440" cy="3154680"/>
          </a:xfrm>
          <a:prstGeom prst="rect">
            <a:avLst/>
          </a:prstGeom>
          <a:solidFill>
            <a:srgbClr val="E8F9F8"/>
          </a:solidFill>
          <a:ln/>
        </p:spPr>
      </p:sp>
      <p:sp>
        <p:nvSpPr>
          <p:cNvPr id="10" name="Text 7"/>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11" name="Text 8"/>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Support returns $48 of margin an hour after direct labour. That is the engine.</a:t>
            </a:r>
            <a:endParaRPr lang="en-US" sz="950" dirty="0"/>
          </a:p>
          <a:p>
            <a:pPr marL="342900" indent="-342900">
              <a:lnSpc>
                <a:spcPts val="1300"/>
              </a:lnSpc>
              <a:spcAft>
                <a:spcPts val="500"/>
              </a:spcAft>
              <a:buSzPct val="100000"/>
              <a:buChar char="•"/>
            </a:pPr>
            <a:r>
              <a:rPr lang="en-US" sz="950" dirty="0">
                <a:solidFill>
                  <a:srgbClr val="3A4453"/>
                </a:solidFill>
              </a:rPr>
              <a:t>Events returns $237 an hour, but on equipment volume, not on a labour rate.</a:t>
            </a:r>
            <a:endParaRPr lang="en-US" sz="950" dirty="0"/>
          </a:p>
          <a:p>
            <a:pPr marL="342900" indent="-342900">
              <a:lnSpc>
                <a:spcPts val="1300"/>
              </a:lnSpc>
              <a:spcAft>
                <a:spcPts val="500"/>
              </a:spcAft>
              <a:buSzPct val="100000"/>
              <a:buChar char="•"/>
            </a:pPr>
            <a:r>
              <a:rPr lang="en-US" sz="950" dirty="0">
                <a:solidFill>
                  <a:srgbClr val="3A4453"/>
                </a:solidFill>
              </a:rPr>
              <a:t>Integration billed 10 chargeable hours on 235k of revenue. That work was bought in, not delivered.</a:t>
            </a:r>
            <a:endParaRPr lang="en-US" sz="950" dirty="0"/>
          </a:p>
          <a:p>
            <a:pPr marL="342900" indent="-342900">
              <a:lnSpc>
                <a:spcPts val="1300"/>
              </a:lnSpc>
              <a:spcAft>
                <a:spcPts val="500"/>
              </a:spcAft>
              <a:buSzPct val="100000"/>
              <a:buChar char="•"/>
            </a:pPr>
            <a:r>
              <a:rPr lang="en-US" sz="950" dirty="0">
                <a:solidFill>
                  <a:srgbClr val="3A4453"/>
                </a:solidFill>
              </a:rPr>
              <a:t>That is why Integration is at 10.1%. We are reselling, not delivering.</a:t>
            </a:r>
            <a:endParaRPr lang="en-US" sz="950" dirty="0"/>
          </a:p>
          <a:p>
            <a:pPr marL="342900" indent="-342900">
              <a:lnSpc>
                <a:spcPts val="1300"/>
              </a:lnSpc>
              <a:spcAft>
                <a:spcPts val="500"/>
              </a:spcAft>
              <a:buSzPct val="100000"/>
              <a:buChar char="•"/>
            </a:pPr>
            <a:r>
              <a:rPr lang="en-US" sz="950" dirty="0">
                <a:solidFill>
                  <a:srgbClr val="3A4453"/>
                </a:solidFill>
              </a:rPr>
              <a:t>Five points on Support and Events is worth about 16k a month at no extra cost.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graphicFrame>
        <p:nvGraphicFramePr>
          <p:cNvPr id="4" name="Chart 0" descr=""/>
          <p:cNvGraphicFramePr/>
          <p:nvPr/>
        </p:nvGraphicFramePr>
        <p:xfrm>
          <a:off x="457200" y="1444752"/>
          <a:ext cx="5669280"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3767328"/>
          <a:ext cx="5577840" cy="914400"/>
        </p:xfrm>
        <a:graphic>
          <a:graphicData uri="http://schemas.openxmlformats.org/drawingml/2006/table">
            <a:tbl>
              <a:tblPr/>
              <a:tblGrid>
                <a:gridCol w="2423160"/>
                <a:gridCol w="1051560"/>
                <a:gridCol w="1051560"/>
                <a:gridCol w="1051560"/>
              </a:tblGrid>
              <a:tr h="0">
                <a:tc>
                  <a:txBody>
                    <a:bodyPr/>
                    <a:lstStyle/>
                    <a:p>
                      <a:pPr algn="l" indent="0" marL="0">
                        <a:buNone/>
                      </a:pPr>
                      <a:r>
                        <a:rPr lang="en-US" sz="900" b="1" dirty="0">
                          <a:solidFill>
                            <a:srgbClr val="FFFFFF"/>
                          </a:solidFill>
                        </a:rPr>
                        <a:t>A$ thousands</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Actual</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Budget</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r" indent="0" marL="0">
                        <a:buNone/>
                      </a:pPr>
                      <a:r>
                        <a:rPr lang="en-US" sz="900" b="1" dirty="0">
                          <a:solidFill>
                            <a:srgbClr val="FFFFFF"/>
                          </a:solidFill>
                        </a:rPr>
                        <a:t>Var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900" dirty="0">
                          <a:solidFill>
                            <a:srgbClr val="3A4453"/>
                          </a:solidFill>
                        </a:rPr>
                        <a:t>Q1, Jul to Sep</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1,624</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1,996</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A8052E"/>
                          </a:solidFill>
                        </a:rPr>
                        <a:t>-372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dirty="0">
                          <a:solidFill>
                            <a:srgbClr val="3A4453"/>
                          </a:solidFill>
                        </a:rPr>
                        <a:t>Oct to Jun, still at budget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4,308</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900" dirty="0">
                          <a:solidFill>
                            <a:srgbClr val="3A4453"/>
                          </a:solidFill>
                        </a:rPr>
                        <a:t>-</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900" b="1" dirty="0">
                          <a:solidFill>
                            <a:srgbClr val="242C39"/>
                          </a:solidFill>
                        </a:rPr>
                        <a:t>Full year</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5,933</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242C39"/>
                          </a:solidFill>
                        </a:rPr>
                        <a:t>6,305</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algn="r" indent="0" marL="0">
                        <a:buNone/>
                      </a:pPr>
                      <a:r>
                        <a:rPr lang="en-US" sz="900" b="1" dirty="0">
                          <a:solidFill>
                            <a:srgbClr val="A8052E"/>
                          </a:solidFill>
                        </a:rPr>
                        <a:t>-372</a:t>
                      </a:r>
                      <a:endParaRPr lang="en-US" sz="900" dirty="0"/>
                    </a:p>
                  </a:txBody>
                  <a:tcPr marL="63500" marR="63500" marT="25400" marB="254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r>
            </a:tbl>
          </a:graphicData>
        </a:graphic>
      </p:graphicFrame>
      <p:sp>
        <p:nvSpPr>
          <p:cNvPr id="6" name="commentary panel"/>
          <p:cNvSpPr/>
          <p:nvPr/>
        </p:nvSpPr>
        <p:spPr>
          <a:xfrm>
            <a:off x="6263640" y="1463040"/>
            <a:ext cx="2377440" cy="3154680"/>
          </a:xfrm>
          <a:prstGeom prst="rect">
            <a:avLst/>
          </a:prstGeom>
          <a:solidFill>
            <a:srgbClr val="E8F9F8"/>
          </a:solidFill>
          <a:ln/>
        </p:spPr>
      </p:sp>
      <p:sp>
        <p:nvSpPr>
          <p:cNvPr id="7" name="Text 3"/>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4"/>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60120"/>
                <a:gridCol w="521208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50" b="1" dirty="0">
                          <a:solidFill>
                            <a:srgbClr val="242C39"/>
                          </a:solidFill>
                        </a:rPr>
                        <a:t>P&amp;L</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Reforecast FY27 on margin, not revenue. At 38.9% gross margin break even needs 549k a month and we are running at 541k.</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GC and FC</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31 Oct 26</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50" b="1" dirty="0">
                          <a:solidFill>
                            <a:srgbClr val="242C39"/>
                          </a:solidFill>
                        </a:rPr>
                        <a:t>Overhead keys</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Events carries 111k of overhead on 73k of revenue and cannot be profitable on that key. Test the keys for FY28, do not change them mid year.</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GC and FC</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30 Nov 26</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50" b="1" dirty="0">
                          <a:solidFill>
                            <a:srgbClr val="242C39"/>
                          </a:solidFill>
                        </a:rPr>
                        <a:t>Consulting</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20k of overhead on a 4k fee base. Decide whether the department is rebuilt, merged into Integration, or closed.</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GC</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30 Nov 26</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50" b="1" dirty="0">
                          <a:solidFill>
                            <a:srgbClr val="242C39"/>
                          </a:solidFill>
                        </a:rPr>
                        <a:t>Customers</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Top three are 48.7% of revenue. Agree a named retention plan, and set the growth target on the second ten.</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GC and Sales</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14 Nov 26</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50" b="1" dirty="0">
                          <a:solidFill>
                            <a:srgbClr val="242C39"/>
                          </a:solidFill>
                        </a:rPr>
                        <a:t>Cash</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DSO 47.2 days. Getting to 30 releases 304k. Chase Aware Super and Deloitte Services P/L for Deloitte Services Trust first.</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FC</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24 Oct 26</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50" b="1" dirty="0">
                          <a:solidFill>
                            <a:srgbClr val="242C39"/>
                          </a:solidFill>
                        </a:rPr>
                        <a:t>Timesheets</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Support shows 11 non-chargeable hours in a month. Correct the coding before utilisation is used to manage anyone.</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Ops and FC</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50" dirty="0">
                          <a:solidFill>
                            <a:srgbClr val="3A4453"/>
                          </a:solidFill>
                        </a:rPr>
                        <a:t>31 Oct 26</a:t>
                      </a:r>
                      <a:endParaRPr lang="en-US" sz="850" dirty="0"/>
                    </a:p>
                  </a:txBody>
                  <a:tcPr marL="63500" marR="63500" marT="50800" marB="508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2026-10-18T03:50:30Z</dcterms:created>
  <dcterms:modified xsi:type="dcterms:W3CDTF">2026-10-18T03:50:30Z</dcterms:modified>
</cp:coreProperties>
</file>