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What we spend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Spending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monthly profit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not a bad result on its own. Gross profit came in at 69.3% of budget. The gap between those two percentages is the whole problem: we sold reasonably well and kept very little of it. September is the clearest example, where revenue beat budget by 148,280 and the month still lost 32,437 of EBITDA.
Nothing in what we spend can soak that up. Overheads ran at 641,508 for the quarter, 213,836 a month, and came in 48,184 under budget. Spending is not the problem and there is nothing more to cut that would matter. Wages and the office are what we spend, and both are locked in for the year. So when we keep less of each sale it goes straight off the profit.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 sold 175,586 more than planned and it turned into almost no profit, because we keep only 10.1% on reselling equipment. And Events is charged 71,672 of office costs on 73,304 of sales. That charge is split on who uses the office, and Events is not the department sitting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September 2026, read off the Dept P&amp;L tab.
Sales 242,948 against a budget of 248,017, behind by 5,068. Last September it billed 231,214.
After direct costs of 141,659 it kept 101,290, which is 41.7% of what it sold.
Running costs charged to it were 72,283. 13,101 of that is its own spending and 59,182 is its share of the office, charged on the keys set in the pack.
That leaves 29,007 for the month.
Year to date it has billed 718,587 against a budget of 743,185.
On people: employment expense of 51,242, of which 8,980 is its own staff and 42,262 is its share of office wages. It put 2,132 hours onto jobs and 11 onto work we cannot bill, with 218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 for September 2026, read off the Dept P&amp;L tab.
Sales 73,304 against a budget of 65,828, ahead by 7,476. Last September it billed 75,333.
After direct costs of 16,423 it kept 56,881, which is 77.6% of what it sold.
Running costs charged to it were 111,108. 39,436 of that is its own spending and 71,672 is its share of the office, charged on the keys set in the pack.
That leaves (54,227) for the month.
Year to date it has billed 420,121 against a budget of 321,957.
On people: employment expense of 50,959, of which 35,665 is its own staff and 15,294 is its share of office wages. It put 241 hours onto jobs and 249 onto work we cannot bill, with 333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for September 2026, read off the Dept P&amp;L tab.
Sales 7,303 against a budget of 17,498, behind by 10,196. Last September it billed 20,025.
After direct costs of 1,489 it kept 5,813, which is 79.6% of what it sold.
Running costs charged to it were 12,659. 2,878 of that is its own spending and 9,782 is its share of the office, charged on the keys set in the pack.
That leaves (6,846) for the month.
Year to date it has billed 40,270 against a budget of 85,584.
On people: employment expense of 3,961, of which 2,660 is its own staff and 1,301 is its share of office wages. It put 25 hours onto jobs and 8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for September 2026, read off the Dept P&amp;L tab.
Sales 234,858 against a budget of 59,272, ahead by 175,586. Last September it billed 21,421.
After direct costs of 211,102 it kept 23,756, which is 10.1% of what it sold.
Running costs charged to it were 13,285. 9,136 of that is its own spending and 4,148 is its share of the office, charged on the keys set in the pack.
That leaves 10,471 for the month.
Year to date it has billed 441,414 against a budget of 608,676.
On people: employment expense of 8,832, of which 8,563 is its own staff and 269 is its share of office wages. It put 10 hours onto jobs and 0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Consulting for September 2026, read off the Dept P&amp;L tab.
Sales 3,531 against a budget of 23,050, behind by 19,519. Last September it billed 8,330.
After direct costs of 3,457 it kept 74, which is 2.1% of what it sold.
Running costs charged to it were 19,944. 5,965 of that is its own spending and 13,979 is its share of the office, charged on the keys set in the pack.
That leaves (19,870) for the month.
Year to date it has billed 4,068 against a budget of 236,707.
On people: employment expense of 9,496, of which 5,545 is its own staff and 3,951 is its share of office wages. It put 31 hours onto jobs and 84 onto work we cannot bill, with 53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are steady at about 214 thousand a month. Spending is not the problem, but that is the number sales have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how concentrated it is. Wages for people on jobs and wages for everyone else are the bulk of it, and the second group is fixed for the year, which is why a quiet month drops straight off the profit.
When the board asks what we can cut, the honest answer is staff numbers or the office. Trimming subscriptions and travel will not change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outgoings are fixed by the lease. IT support is the next largest and the only one that moves.
The practical conclusion is that savings do not come from here. Cutting this meaningfully means talking about the office 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Contractors are the only labour cost that rises and falls with the work.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by revenue, year to date, with the top three called out in red.
1. Deloitte Services: 401,755 for the year, 24.7% of the total, 119,614 of it in September 2026.
2. Aware Super: 285,075 for the year, 17.5% of the total, 241,178 of it in September 2026.
3. CBA Place South: 105,040 for the year, 6.5% of the total, 30,409 of it in September 2026.
4. Ventia: 97,662 for the year, 6.0% of the total, 9,105 of it in September 2026.
5. PwC Services: 88,051 for the year, 5.4% of the total, 26,707 of it in September 2026.
6. APT Management Services: 63,613 for the year, 3.9% of the total, 4,527 of it in September 2026.
7. ASX Operations: 60,858 for the year, 3.7% of the total, 17,167 of it in September 2026.
8. Bankwest: 54,971 for the year, 3.4% of the total, 17,230 of it in September 2026.
9. Data#3: 45,909 for the year, 2.8% of the total, 0 of it in September 2026.
10. Generation-e Productivity…: 37,166 for the year, 2.3% of the total, 12,389 of it in September 2026.
The ten together are 1,240,100, or 76.3% of everything we sold. Every other customer on the books makes up the remaining 384,360.
The three red bars are the point of the slide. They are 48.7% of the year between them.
The difference that matters is contract work against one-off projects. Deloitte Services is contracted support that renews every month. Aware Super is a fit-out that has finished. Counting them as the same kind of income is how a forecast goes wrong.
What I am recommending: a named owner for each of the top three before the half year, and the new business target set on customers four to twenty rather than on the ones we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long customers take to pay, at 30 September 2026.
We are owed 833,320. Across the last three months we sold 1,624,460, which over 92 days is 17,657 of sales a day. Divide what we are owed by that and it takes customers 47.2 days to pay us.
The target is 30 days. We are 17.2 days over it. If we collected on time we would be owed 529,715 instead of 833,320, so 303,605 of cash that should already be ours is sitting in the debtor book.
Put that next to the profit position. The quarter made 5,774. There is 303,605 of our own money uncollected. Collecting it is worth many times more than anything we can trade our way to between now and Christmas, and it costs nothing but phone calls.
Every day we take off the number brings in 17,657.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largest amounts owed at 30 September 2026.
Aware Super: 277,395, 33.3% of the total.
Deloitte Services P/L for Deloitte Services Trust: 131,575, 15.8% of the total.
Ventia: 94,701, 11.4% of the total.
Downer EDI Limited: 39,664, 4.8% of the total.
Generation-e Productivity Solutions: 39,106, 4.7% of the total.
The ageing: Current 588,782 at 70.7%, Under 1 month 133,177 at 16.0%, 1 month 86,553 at 10.4%, 3 months 24,809 at 3.0%. Late in total 244,538, or 29.3% of the book.
The action here is narrow and that is the point. Two customers hold most of the balance. A targeted chase on those two is worth more than a general collections exercise across everyone, and it is the fastest money available to us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utilisation working for the two big cost centres, straight off the pack.
The top three rows set the month: working days, and working hours at eight hours a day. Every FTE figure divides into that.
For each cost centre the sheet holds billable hours, non-billable hours and leave, then two calculated lines. Utilisation per cent is billable divided by billable plus non-billable. Leave is excluded, because leave cannot be billed and including it would punish a team for taking its entitlement. FTE is billable plus non-billable divided by the month's working hours.
Support: 99.5% utilisation on 12.2 FTE. I cannot put my name to that percentage. 11 non-billable hours in a whole month, for a team that size, is not a real number. Non-billable time is being coded to billable cost centres. The hours total is right, the split is not, and until the coding is corrected this figure cannot be used to manage anybody.
Events: 49.1% utilisation on 2.8 FTE, with 333 hours of leave. That is the genuine operational issue on this page. The people were paid for, the work was not there.
Three months sit side by side so the board reads a trend, not one month in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small cost centres.
Video: 76.0% utilisation on 0.18 FTE. 24.5 billable hours in the month.
Integration: 100.0% on 0.05 FTE. The hundred per cent is arithmetic, not performance. 9.5 billable hours and no non-billable time booked at all. Integration's revenue this month came from resold equipment, not from our hours, which is why the money and the hours do not match.
Consulting: 26.8% on 0.65 FTE. 84 hours into work we cannot bill against 31 we can, plus 53 hours of leave. Three months of that pattern, against running costs that have not moved, is the clearest case in the pack for a decision.
A percentage on nine or twenty four hours is not a management number. Read the hours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each department spent its hours in September 2026.
Read the bars as a mix, not as a size. Each one is scaled to that department's own total, because Support works around a hundred times the hours Integration does and on a straight scale four of the five departments disappear. The number on each segment is the real hours.
Support: 2,132 hours on jobs, 11 not on jobs, 218 leave. 99.5% of worked hours were billable.
Events: 241 hours on jobs, 249 not on jobs, 333 leave. 49.1% of worked hours were billable.
Video: 25 hours on jobs, 8 not on jobs, 0 leave. 76.0% of worked hours were billable.
Integration: 10 hours on jobs, 0 not on jobs, 0 leave. 100.0% of worked hours were billable.
Consulting: 31 hours on jobs, 84 not on jobs, 53 leave. 26.8% of worked hours were billable.
Across the five departments, 2,437 hours on jobs out of 2,789 worked.
I need to be straight about the Support bar. 11 hours not on jobs, in a whole month, for a team that size, is not believable. Non-billable time is being booked to billable jobs. The total hours are right, the split is not, and until timesheet coding is corrected the Support percentage cannot be used to manage anybody.
Events is the real operational issue: 333 hours of leave on a small team takes out most of the month's capacity.
And the prize. Support earns about 48 of margin on every hour it bills. Five more points of billable time across Support and Events, at the rate each already earns, is worth roughly 15,813 a month and costs nothing extra. It is the largest controllable item in this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running costs against almost no fees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spending,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What we spend</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We need 549k of sales a month just to cover our costs. We are averaging 541k.</a:t>
            </a:r>
            <a:endParaRPr lang="en-US" sz="900" dirty="0"/>
          </a:p>
          <a:p>
            <a:pPr marL="342900" indent="-342900">
              <a:lnSpc>
                <a:spcPts val="1150"/>
              </a:lnSpc>
              <a:spcAft>
                <a:spcPts val="500"/>
              </a:spcAft>
              <a:buSzPct val="100000"/>
              <a:buChar char="•"/>
            </a:pPr>
            <a:r>
              <a:rPr lang="en-US" sz="900" dirty="0">
                <a:solidFill>
                  <a:srgbClr val="3A4453"/>
                </a:solidFill>
              </a:rPr>
              <a:t>Sep 26 sold 148k more than planned and still lost 32k. We sold enough. We did not keep enough of it.</a:t>
            </a:r>
            <a:endParaRPr lang="en-US" sz="900" dirty="0"/>
          </a:p>
          <a:p>
            <a:pPr marL="342900" indent="-342900">
              <a:lnSpc>
                <a:spcPts val="1150"/>
              </a:lnSpc>
              <a:spcAft>
                <a:spcPts val="500"/>
              </a:spcAft>
              <a:buSzPct val="100000"/>
              <a:buChar char="•"/>
            </a:pPr>
            <a:r>
              <a:rPr lang="en-US" sz="900" dirty="0">
                <a:solidFill>
                  <a:srgbClr val="3A4453"/>
                </a:solidFill>
              </a:rPr>
              <a:t>We kept 33% of every dollar sold. The plan said 30%, but last September we kept 46%.</a:t>
            </a:r>
            <a:endParaRPr lang="en-US" sz="900" dirty="0"/>
          </a:p>
          <a:p>
            <a:pPr marL="342900" indent="-342900">
              <a:lnSpc>
                <a:spcPts val="1150"/>
              </a:lnSpc>
              <a:spcAft>
                <a:spcPts val="500"/>
              </a:spcAft>
              <a:buSzPct val="100000"/>
              <a:buChar char="•"/>
            </a:pPr>
            <a:r>
              <a:rPr lang="en-US" sz="900" dirty="0">
                <a:solidFill>
                  <a:srgbClr val="3A4453"/>
                </a:solidFill>
              </a:rPr>
              <a:t>Running costs came in at 230k against 232k planned. Spending is not the problem.</a:t>
            </a:r>
            <a:endParaRPr lang="en-US" sz="900" dirty="0"/>
          </a:p>
          <a:p>
            <a:pPr marL="342900" indent="-342900">
              <a:lnSpc>
                <a:spcPts val="1150"/>
              </a:lnSpc>
              <a:spcAft>
                <a:spcPts val="500"/>
              </a:spcAft>
              <a:buSzPct val="100000"/>
              <a:buChar char="•"/>
            </a:pPr>
            <a:r>
              <a:rPr lang="en-US" sz="900" dirty="0">
                <a:solidFill>
                  <a:srgbClr val="3A4453"/>
                </a:solidFill>
              </a:rPr>
              <a:t>Profit for the quarter is 6k against 223k planned. The plan needs redoing around what we keep, not what we sell.</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00"/>
              </a:lnSpc>
              <a:spcAft>
                <a:spcPts val="500"/>
              </a:spcAft>
              <a:buSzPct val="100000"/>
              <a:buChar char="•"/>
            </a:pPr>
            <a:r>
              <a:rPr lang="en-US" sz="850" dirty="0">
                <a:solidFill>
                  <a:srgbClr val="3A4453"/>
                </a:solidFill>
              </a:rPr>
              <a:t>Operating profit, or EBITDA, is 6k for the quarter against 223k planned. We are 217k short, which is 97% of it.</a:t>
            </a:r>
            <a:endParaRPr lang="en-US" sz="850" dirty="0"/>
          </a:p>
          <a:p>
            <a:pPr marL="342900" indent="-342900">
              <a:lnSpc>
                <a:spcPts val="1100"/>
              </a:lnSpc>
              <a:spcAft>
                <a:spcPts val="500"/>
              </a:spcAft>
              <a:buSzPct val="100000"/>
              <a:buChar char="•"/>
            </a:pPr>
            <a:r>
              <a:rPr lang="en-US" sz="850" dirty="0">
                <a:solidFill>
                  <a:srgbClr val="3A4453"/>
                </a:solidFill>
              </a:rPr>
              <a:t>The plan expected 56% of the year's profit in these first three months. It did not happen, so the whole year now rides on the nine months left.</a:t>
            </a:r>
            <a:endParaRPr lang="en-US" sz="850" dirty="0"/>
          </a:p>
          <a:p>
            <a:pPr marL="342900" indent="-342900">
              <a:lnSpc>
                <a:spcPts val="1100"/>
              </a:lnSpc>
              <a:spcAft>
                <a:spcPts val="500"/>
              </a:spcAft>
              <a:buSzPct val="100000"/>
              <a:buChar char="•"/>
            </a:pPr>
            <a:r>
              <a:rPr lang="en-US" sz="850" dirty="0">
                <a:solidFill>
                  <a:srgbClr val="3A4453"/>
                </a:solidFill>
              </a:rPr>
              <a:t>To still hit the 397k target those nine months have to make 391k. The plan only ever asked them for 175k.</a:t>
            </a:r>
            <a:endParaRPr lang="en-US" sz="850" dirty="0"/>
          </a:p>
          <a:p>
            <a:pPr marL="342900" indent="-342900">
              <a:lnSpc>
                <a:spcPts val="1100"/>
              </a:lnSpc>
              <a:spcAft>
                <a:spcPts val="500"/>
              </a:spcAft>
              <a:buSzPct val="100000"/>
              <a:buChar char="•"/>
            </a:pPr>
            <a:r>
              <a:rPr lang="en-US" sz="850" dirty="0">
                <a:solidFill>
                  <a:srgbClr val="3A4453"/>
                </a:solidFill>
              </a:rPr>
              <a:t>391k is 1.7 times what the whole of last year made, which was 235k. We will not get the year back.</a:t>
            </a:r>
            <a:endParaRPr lang="en-US" sz="850" dirty="0"/>
          </a:p>
          <a:p>
            <a:pPr marL="342900" indent="-342900">
              <a:lnSpc>
                <a:spcPts val="1100"/>
              </a:lnSpc>
              <a:spcAft>
                <a:spcPts val="500"/>
              </a:spcAft>
              <a:buSzPct val="100000"/>
              <a:buChar char="•"/>
            </a:pPr>
            <a:r>
              <a:rPr lang="en-US" sz="850" dirty="0">
                <a:solidFill>
                  <a:srgbClr val="3A4453"/>
                </a:solidFill>
              </a:rPr>
              <a:t>The problem is what we keep, not what we sell. Sales hit 81% of plan. What was left after direct costs hit only 69%.</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389888"/>
            <a:ext cx="8138160" cy="1637160"/>
          </a:xfrm>
          <a:prstGeom prst="rect">
            <a:avLst/>
          </a:prstGeom>
        </p:spPr>
      </p:pic>
      <p:sp>
        <p:nvSpPr>
          <p:cNvPr id="5" name="Text 2"/>
          <p:cNvSpPr txBox="1"/>
          <p:nvPr/>
        </p:nvSpPr>
        <p:spPr>
          <a:xfrm>
            <a:off x="502920" y="3100200"/>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is the only department earning enough to cover its share of running costs. It made 29k on 243k of sales.</a:t>
            </a:r>
            <a:endParaRPr lang="en-US" sz="800" dirty="0"/>
          </a:p>
          <a:p>
            <a:pPr marL="342900" indent="-342900">
              <a:lnSpc>
                <a:spcPts val="1000"/>
              </a:lnSpc>
              <a:spcAft>
                <a:spcPts val="300"/>
              </a:spcAft>
              <a:buSzPct val="100000"/>
              <a:buChar char="•"/>
            </a:pPr>
            <a:r>
              <a:rPr lang="en-US" sz="800" dirty="0">
                <a:solidFill>
                  <a:srgbClr val="3A4453"/>
                </a:solidFill>
              </a:rPr>
              <a:t>Events is charged 111k of running costs and only billed 73k. It keeps 78% of what it sells and still loses 54k.</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Integration billed 235k against a 59k plan but keeps only 10% of it, so it made just 10k.</a:t>
            </a:r>
            <a:endParaRPr lang="en-US" sz="800" dirty="0"/>
          </a:p>
          <a:p>
            <a:pPr marL="342900" indent="-342900">
              <a:lnSpc>
                <a:spcPts val="1000"/>
              </a:lnSpc>
              <a:spcAft>
                <a:spcPts val="300"/>
              </a:spcAft>
              <a:buSzPct val="100000"/>
              <a:buChar char="•"/>
            </a:pPr>
            <a:r>
              <a:rPr lang="en-US" sz="800" dirty="0">
                <a:solidFill>
                  <a:srgbClr val="3A4453"/>
                </a:solidFill>
              </a:rPr>
              <a:t>Consulting is charged 20k of running costs and billed 4k. That needs a decision, not a forecast.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Support, Sep 26</a:t>
            </a:r>
            <a:endParaRPr lang="en-US" sz="2700" dirty="0"/>
          </a:p>
        </p:txBody>
      </p:sp>
      <p:pic>
        <p:nvPicPr>
          <p:cNvPr id="4" name="snip dept_Support" descr="/home/user/Claude/deck/snips/dept_Support.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Support.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Billed 243k against 248k. Within 5k of plan, which is what fixed monthly contracts should do.</a:t>
            </a:r>
            <a:endParaRPr lang="en-US" sz="900" dirty="0"/>
          </a:p>
          <a:p>
            <a:pPr marL="342900" indent="-342900">
              <a:lnSpc>
                <a:spcPts val="1150"/>
              </a:lnSpc>
              <a:spcAft>
                <a:spcPts val="500"/>
              </a:spcAft>
              <a:buSzPct val="100000"/>
              <a:buChar char="•"/>
            </a:pPr>
            <a:r>
              <a:rPr lang="en-US" sz="900" dirty="0">
                <a:solidFill>
                  <a:srgbClr val="3A4453"/>
                </a:solidFill>
              </a:rPr>
              <a:t>Keeps 42% of what it sells, the same as last September. Steady and predictable.</a:t>
            </a:r>
            <a:endParaRPr lang="en-US" sz="900" dirty="0"/>
          </a:p>
          <a:p>
            <a:pPr marL="342900" indent="-342900">
              <a:lnSpc>
                <a:spcPts val="1150"/>
              </a:lnSpc>
              <a:spcAft>
                <a:spcPts val="500"/>
              </a:spcAft>
              <a:buSzPct val="100000"/>
              <a:buChar char="•"/>
            </a:pPr>
            <a:r>
              <a:rPr lang="en-US" sz="900" dirty="0">
                <a:solidFill>
                  <a:srgbClr val="3A4453"/>
                </a:solidFill>
              </a:rPr>
              <a:t>After its 72k share of running costs it still made 29k. The only department that does.</a:t>
            </a:r>
            <a:endParaRPr lang="en-US" sz="900" dirty="0"/>
          </a:p>
          <a:p>
            <a:pPr marL="342900" indent="-342900">
              <a:lnSpc>
                <a:spcPts val="1150"/>
              </a:lnSpc>
              <a:spcAft>
                <a:spcPts val="500"/>
              </a:spcAft>
              <a:buSzPct val="100000"/>
              <a:buChar char="•"/>
            </a:pPr>
            <a:r>
              <a:rPr lang="en-US" sz="900" dirty="0">
                <a:solidFill>
                  <a:srgbClr val="3A4453"/>
                </a:solidFill>
              </a:rPr>
              <a:t>Of that share, 42,262 is office wages. Support picks up the most because it works the most hours.</a:t>
            </a:r>
            <a:endParaRPr lang="en-US" sz="900" dirty="0"/>
          </a:p>
          <a:p>
            <a:pPr marL="342900" indent="-342900">
              <a:lnSpc>
                <a:spcPts val="1150"/>
              </a:lnSpc>
              <a:spcAft>
                <a:spcPts val="500"/>
              </a:spcAft>
              <a:buSzPct val="100000"/>
              <a:buChar char="•"/>
            </a:pPr>
            <a:r>
              <a:rPr lang="en-US" sz="900" dirty="0">
                <a:solidFill>
                  <a:srgbClr val="3A4453"/>
                </a:solidFill>
              </a:rPr>
              <a:t>The one thing not to trust here is the 99% billable figure. Non-billable time is being booked to jobs.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Events, Sep 26</a:t>
            </a:r>
            <a:endParaRPr lang="en-US" sz="2700" dirty="0"/>
          </a:p>
        </p:txBody>
      </p:sp>
      <p:pic>
        <p:nvPicPr>
          <p:cNvPr id="4" name="snip dept_Events" descr="/home/user/Claude/deck/snips/dept_Events.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Events.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Billed 73k against 66k, in a month between the busy results periods.</a:t>
            </a:r>
            <a:endParaRPr lang="en-US" sz="950" dirty="0"/>
          </a:p>
          <a:p>
            <a:pPr marL="342900" indent="-342900">
              <a:lnSpc>
                <a:spcPts val="1300"/>
              </a:lnSpc>
              <a:spcAft>
                <a:spcPts val="500"/>
              </a:spcAft>
              <a:buSzPct val="100000"/>
              <a:buChar char="•"/>
            </a:pPr>
            <a:r>
              <a:rPr lang="en-US" sz="950" dirty="0">
                <a:solidFill>
                  <a:srgbClr val="3A4453"/>
                </a:solidFill>
              </a:rPr>
              <a:t>Keeps 78% of what it sells, the second best in the business.</a:t>
            </a:r>
            <a:endParaRPr lang="en-US" sz="950" dirty="0"/>
          </a:p>
          <a:p>
            <a:pPr marL="342900" indent="-342900">
              <a:lnSpc>
                <a:spcPts val="1300"/>
              </a:lnSpc>
              <a:spcAft>
                <a:spcPts val="500"/>
              </a:spcAft>
              <a:buSzPct val="100000"/>
              <a:buChar char="•"/>
            </a:pPr>
            <a:r>
              <a:rPr lang="en-US" sz="950" dirty="0">
                <a:solidFill>
                  <a:srgbClr val="3A4453"/>
                </a:solidFill>
              </a:rPr>
              <a:t>And still loses 54k, because it is charged 111k of running costs on 73k of sales.</a:t>
            </a:r>
            <a:endParaRPr lang="en-US" sz="950" dirty="0"/>
          </a:p>
          <a:p>
            <a:pPr marL="342900" indent="-342900">
              <a:lnSpc>
                <a:spcPts val="1300"/>
              </a:lnSpc>
              <a:spcAft>
                <a:spcPts val="500"/>
              </a:spcAft>
              <a:buSzPct val="100000"/>
              <a:buChar char="•"/>
            </a:pPr>
            <a:r>
              <a:rPr lang="en-US" sz="950" dirty="0">
                <a:solidFill>
                  <a:srgbClr val="3A4453"/>
                </a:solidFill>
              </a:rPr>
              <a:t>72k of that is office cost, split on who uses the office. Events is not the department sitting in it.</a:t>
            </a:r>
            <a:endParaRPr lang="en-US" sz="950" dirty="0"/>
          </a:p>
          <a:p>
            <a:pPr marL="342900" indent="-342900">
              <a:lnSpc>
                <a:spcPts val="1300"/>
              </a:lnSpc>
              <a:spcAft>
                <a:spcPts val="500"/>
              </a:spcAft>
              <a:buSzPct val="100000"/>
              <a:buChar char="•"/>
            </a:pPr>
            <a:r>
              <a:rPr lang="en-US" sz="950" dirty="0">
                <a:solidFill>
                  <a:srgbClr val="3A4453"/>
                </a:solidFill>
              </a:rPr>
              <a:t>333 hours went to leave and only 241 onto jobs. The people were there, the work was not.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Video, Sep 26</a:t>
            </a:r>
            <a:endParaRPr lang="en-US" sz="2700" dirty="0"/>
          </a:p>
        </p:txBody>
      </p:sp>
      <p:pic>
        <p:nvPicPr>
          <p:cNvPr id="4" name="snip dept_Video" descr="/home/user/Claude/deck/snips/dept_Video.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Video.</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Billed 7k against 17k. Short of plan for the third month running.</a:t>
            </a:r>
            <a:endParaRPr lang="en-US" sz="1000" dirty="0"/>
          </a:p>
          <a:p>
            <a:pPr marL="342900" indent="-342900">
              <a:lnSpc>
                <a:spcPts val="1300"/>
              </a:lnSpc>
              <a:spcAft>
                <a:spcPts val="500"/>
              </a:spcAft>
              <a:buSzPct val="100000"/>
              <a:buChar char="•"/>
            </a:pPr>
            <a:r>
              <a:rPr lang="en-US" sz="1000" dirty="0">
                <a:solidFill>
                  <a:srgbClr val="3A4453"/>
                </a:solidFill>
              </a:rPr>
              <a:t>Keeps 80% of what it sells, the best margin in the business.</a:t>
            </a:r>
            <a:endParaRPr lang="en-US" sz="1000" dirty="0"/>
          </a:p>
          <a:p>
            <a:pPr marL="342900" indent="-342900">
              <a:lnSpc>
                <a:spcPts val="1300"/>
              </a:lnSpc>
              <a:spcAft>
                <a:spcPts val="500"/>
              </a:spcAft>
              <a:buSzPct val="100000"/>
              <a:buChar char="•"/>
            </a:pPr>
            <a:r>
              <a:rPr lang="en-US" sz="1000" dirty="0">
                <a:solidFill>
                  <a:srgbClr val="3A4453"/>
                </a:solidFill>
              </a:rPr>
              <a:t>But on 7k of sales that is only 6k, against 13k of running costs.</a:t>
            </a:r>
            <a:endParaRPr lang="en-US" sz="1000" dirty="0"/>
          </a:p>
          <a:p>
            <a:pPr marL="342900" indent="-342900">
              <a:lnSpc>
                <a:spcPts val="1300"/>
              </a:lnSpc>
              <a:spcAft>
                <a:spcPts val="500"/>
              </a:spcAft>
              <a:buSzPct val="100000"/>
              <a:buChar char="•"/>
            </a:pPr>
            <a:r>
              <a:rPr lang="en-US" sz="1000" dirty="0">
                <a:solidFill>
                  <a:srgbClr val="3A4453"/>
                </a:solidFill>
              </a:rPr>
              <a:t>The margin is not the problem. There is not enough work going through it.</a:t>
            </a:r>
            <a:endParaRPr lang="en-US" sz="1000" dirty="0"/>
          </a:p>
          <a:p>
            <a:pPr marL="342900" indent="-342900">
              <a:lnSpc>
                <a:spcPts val="1300"/>
              </a:lnSpc>
              <a:spcAft>
                <a:spcPts val="500"/>
              </a:spcAft>
              <a:buSzPct val="100000"/>
              <a:buChar char="•"/>
            </a:pPr>
            <a:r>
              <a:rPr lang="en-US" sz="1000" dirty="0">
                <a:solidFill>
                  <a:srgbClr val="3A4453"/>
                </a:solidFill>
              </a:rPr>
              <a:t>24.5 billable hours in the month. That is one person, part of the time.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Integration, Sep 26</a:t>
            </a:r>
            <a:endParaRPr lang="en-US" sz="2700" dirty="0"/>
          </a:p>
        </p:txBody>
      </p:sp>
      <p:pic>
        <p:nvPicPr>
          <p:cNvPr id="4" name="snip dept_Integration" descr="/home/user/Claude/deck/snips/dept_Integration.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Integration.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Billed 235k against a 59k plan. Nearly all of it one installation job, now finished.</a:t>
            </a:r>
            <a:endParaRPr lang="en-US" sz="950" dirty="0"/>
          </a:p>
          <a:p>
            <a:pPr marL="342900" indent="-342900">
              <a:lnSpc>
                <a:spcPts val="1300"/>
              </a:lnSpc>
              <a:spcAft>
                <a:spcPts val="500"/>
              </a:spcAft>
              <a:buSzPct val="100000"/>
              <a:buChar char="•"/>
            </a:pPr>
            <a:r>
              <a:rPr lang="en-US" sz="950" dirty="0">
                <a:solidFill>
                  <a:srgbClr val="3A4453"/>
                </a:solidFill>
              </a:rPr>
              <a:t>Keeps only 10% of it. We bought the equipment and resold it, so the money went mostly to suppliers.</a:t>
            </a:r>
            <a:endParaRPr lang="en-US" sz="950" dirty="0"/>
          </a:p>
          <a:p>
            <a:pPr marL="342900" indent="-342900">
              <a:lnSpc>
                <a:spcPts val="1300"/>
              </a:lnSpc>
              <a:spcAft>
                <a:spcPts val="500"/>
              </a:spcAft>
              <a:buSzPct val="100000"/>
              <a:buChar char="•"/>
            </a:pPr>
            <a:r>
              <a:rPr lang="en-US" sz="950" dirty="0">
                <a:solidFill>
                  <a:srgbClr val="3A4453"/>
                </a:solidFill>
              </a:rPr>
              <a:t>235k of sales turned into 24k. Do not read the revenue line as a good month.</a:t>
            </a:r>
            <a:endParaRPr lang="en-US" sz="950" dirty="0"/>
          </a:p>
          <a:p>
            <a:pPr marL="342900" indent="-342900">
              <a:lnSpc>
                <a:spcPts val="1300"/>
              </a:lnSpc>
              <a:spcAft>
                <a:spcPts val="500"/>
              </a:spcAft>
              <a:buSzPct val="100000"/>
              <a:buChar char="•"/>
            </a:pPr>
            <a:r>
              <a:rPr lang="en-US" sz="950" dirty="0">
                <a:solidFill>
                  <a:srgbClr val="3A4453"/>
                </a:solidFill>
              </a:rPr>
              <a:t>It shows a 10k profit only because it carries almost no running costs, 13k.</a:t>
            </a:r>
            <a:endParaRPr lang="en-US" sz="950" dirty="0"/>
          </a:p>
          <a:p>
            <a:pPr marL="342900" indent="-342900">
              <a:lnSpc>
                <a:spcPts val="1300"/>
              </a:lnSpc>
              <a:spcAft>
                <a:spcPts val="500"/>
              </a:spcAft>
              <a:buSzPct val="100000"/>
              <a:buChar char="•"/>
            </a:pPr>
            <a:r>
              <a:rPr lang="en-US" sz="950" dirty="0">
                <a:solidFill>
                  <a:srgbClr val="3A4453"/>
                </a:solidFill>
              </a:rPr>
              <a:t>10 billable hours against 235k of sales. We resold, we did not deliver.</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Consulting, Sep 26</a:t>
            </a:r>
            <a:endParaRPr lang="en-US" sz="2700" dirty="0"/>
          </a:p>
        </p:txBody>
      </p:sp>
      <p:pic>
        <p:nvPicPr>
          <p:cNvPr id="4" name="snip dept_Consulting" descr="/home/user/Claude/deck/snips/dept_Consulting.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Consulting.</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Billed 4k against a 23k plan. There is almost no fee income here.</a:t>
            </a:r>
            <a:endParaRPr lang="en-US" sz="950" dirty="0"/>
          </a:p>
          <a:p>
            <a:pPr marL="342900" indent="-342900">
              <a:lnSpc>
                <a:spcPts val="1300"/>
              </a:lnSpc>
              <a:spcAft>
                <a:spcPts val="500"/>
              </a:spcAft>
              <a:buSzPct val="100000"/>
              <a:buChar char="•"/>
            </a:pPr>
            <a:r>
              <a:rPr lang="en-US" sz="950" dirty="0">
                <a:solidFill>
                  <a:srgbClr val="3A4453"/>
                </a:solidFill>
              </a:rPr>
              <a:t>Carries 20k of running costs against 4k of sales, so it loses 20k.</a:t>
            </a:r>
            <a:endParaRPr lang="en-US" sz="950" dirty="0"/>
          </a:p>
          <a:p>
            <a:pPr marL="342900" indent="-342900">
              <a:lnSpc>
                <a:spcPts val="1300"/>
              </a:lnSpc>
              <a:spcAft>
                <a:spcPts val="500"/>
              </a:spcAft>
              <a:buSzPct val="100000"/>
              <a:buChar char="•"/>
            </a:pPr>
            <a:r>
              <a:rPr lang="en-US" sz="950" dirty="0">
                <a:solidFill>
                  <a:srgbClr val="3A4453"/>
                </a:solidFill>
              </a:rPr>
              <a:t>84 hours went into work we cannot bill against 31 we can.</a:t>
            </a:r>
            <a:endParaRPr lang="en-US" sz="950" dirty="0"/>
          </a:p>
          <a:p>
            <a:pPr marL="342900" indent="-342900">
              <a:lnSpc>
                <a:spcPts val="1300"/>
              </a:lnSpc>
              <a:spcAft>
                <a:spcPts val="500"/>
              </a:spcAft>
              <a:buSzPct val="100000"/>
              <a:buChar char="•"/>
            </a:pPr>
            <a:r>
              <a:rPr lang="en-US" sz="950" dirty="0">
                <a:solidFill>
                  <a:srgbClr val="3A4453"/>
                </a:solidFill>
              </a:rPr>
              <a:t>Year to date it has billed 4k against a 237k plan.</a:t>
            </a:r>
            <a:endParaRPr lang="en-US" sz="950" dirty="0"/>
          </a:p>
          <a:p>
            <a:pPr marL="342900" indent="-342900">
              <a:lnSpc>
                <a:spcPts val="1300"/>
              </a:lnSpc>
              <a:spcAft>
                <a:spcPts val="500"/>
              </a:spcAft>
              <a:buSzPct val="100000"/>
              <a:buChar char="•"/>
            </a:pPr>
            <a:r>
              <a:rPr lang="en-US" sz="950" dirty="0">
                <a:solidFill>
                  <a:srgbClr val="3A4453"/>
                </a:solidFill>
              </a:rPr>
              <a:t>This is a decision for the board, not a forecast. Rebuild it, merge it into Integration, or close it.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Integration billed 235k against a 59k plan. Nearly all of it was one big installation job, now finished, so next month drops back.</a:t>
            </a:r>
            <a:endParaRPr lang="en-US" sz="900" dirty="0"/>
          </a:p>
          <a:p>
            <a:pPr marL="342900" indent="-342900">
              <a:lnSpc>
                <a:spcPts val="1150"/>
              </a:lnSpc>
              <a:spcAft>
                <a:spcPts val="500"/>
              </a:spcAft>
              <a:buSzPct val="100000"/>
              <a:buChar char="•"/>
            </a:pPr>
            <a:r>
              <a:rPr lang="en-US" sz="900" dirty="0">
                <a:solidFill>
                  <a:srgbClr val="3A4453"/>
                </a:solidFill>
              </a:rPr>
              <a:t>Support billed 243k against 248k. On plan, which is what fixed monthly contracts should do.</a:t>
            </a:r>
            <a:endParaRPr lang="en-US" sz="900" dirty="0"/>
          </a:p>
          <a:p>
            <a:pPr marL="342900" indent="-342900">
              <a:lnSpc>
                <a:spcPts val="1150"/>
              </a:lnSpc>
              <a:spcAft>
                <a:spcPts val="500"/>
              </a:spcAft>
              <a:buSzPct val="100000"/>
              <a:buChar char="•"/>
            </a:pPr>
            <a:r>
              <a:rPr lang="en-US" sz="900" dirty="0">
                <a:solidFill>
                  <a:srgbClr val="3A4453"/>
                </a:solidFill>
              </a:rPr>
              <a:t>Events billed 73k against 66k, in a month that sits between the busy results periods.</a:t>
            </a:r>
            <a:endParaRPr lang="en-US" sz="900" dirty="0"/>
          </a:p>
          <a:p>
            <a:pPr marL="342900" indent="-342900">
              <a:lnSpc>
                <a:spcPts val="1150"/>
              </a:lnSpc>
              <a:spcAft>
                <a:spcPts val="500"/>
              </a:spcAft>
              <a:buSzPct val="100000"/>
              <a:buChar char="•"/>
            </a:pPr>
            <a:r>
              <a:rPr lang="en-US" sz="900" dirty="0">
                <a:solidFill>
                  <a:srgbClr val="3A4453"/>
                </a:solidFill>
              </a:rPr>
              <a:t>Video billed 7k against 17k and Consulting 4k against 23k. Both have been short every month this year.</a:t>
            </a:r>
            <a:endParaRPr lang="en-US" sz="900" dirty="0"/>
          </a:p>
          <a:p>
            <a:pPr marL="342900" indent="-342900">
              <a:lnSpc>
                <a:spcPts val="1150"/>
              </a:lnSpc>
              <a:spcAft>
                <a:spcPts val="500"/>
              </a:spcAft>
              <a:buSzPct val="100000"/>
              <a:buChar char="•"/>
            </a:pPr>
            <a:r>
              <a:rPr lang="en-US" sz="900" dirty="0">
                <a:solidFill>
                  <a:srgbClr val="3A4453"/>
                </a:solidFill>
              </a:rPr>
              <a:t>Company sales are 58% up on last September. We are selling more than last year and keeping less of it.</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What we spend</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Wages for people on jobs (621)k, and wages for everyone else (369)k. Together that is most of what we spend.</a:t>
            </a:r>
            <a:endParaRPr lang="en-US" sz="900" dirty="0"/>
          </a:p>
          <a:p>
            <a:pPr marL="342900" indent="-342900">
              <a:lnSpc>
                <a:spcPts val="1150"/>
              </a:lnSpc>
              <a:spcAft>
                <a:spcPts val="500"/>
              </a:spcAft>
              <a:buSzPct val="100000"/>
              <a:buChar char="•"/>
            </a:pPr>
            <a:r>
              <a:rPr lang="en-US" sz="900" dirty="0">
                <a:solidFill>
                  <a:srgbClr val="3A4453"/>
                </a:solidFill>
              </a:rPr>
              <a:t>Wages are what this business spends its money on. Everything else is small next to them.</a:t>
            </a:r>
            <a:endParaRPr lang="en-US" sz="900" dirty="0"/>
          </a:p>
          <a:p>
            <a:pPr marL="342900" indent="-342900">
              <a:lnSpc>
                <a:spcPts val="1150"/>
              </a:lnSpc>
              <a:spcAft>
                <a:spcPts val="500"/>
              </a:spcAft>
              <a:buSzPct val="100000"/>
              <a:buChar char="•"/>
            </a:pPr>
            <a:r>
              <a:rPr lang="en-US" sz="900" dirty="0">
                <a:solidFill>
                  <a:srgbClr val="3A4453"/>
                </a:solidFill>
              </a:rPr>
              <a:t>The (369)k of wages for people not on jobs is the same every month. When sales drop this does not, so a bad month lands straight on the profit.</a:t>
            </a:r>
            <a:endParaRPr lang="en-US" sz="900" dirty="0"/>
          </a:p>
          <a:p>
            <a:pPr marL="342900" indent="-342900">
              <a:lnSpc>
                <a:spcPts val="1150"/>
              </a:lnSpc>
              <a:spcAft>
                <a:spcPts val="500"/>
              </a:spcAft>
              <a:buSzPct val="100000"/>
              <a:buChar char="•"/>
            </a:pPr>
            <a:r>
              <a:rPr lang="en-US" sz="900" dirty="0">
                <a:solidFill>
                  <a:srgbClr val="3A4453"/>
                </a:solidFill>
              </a:rPr>
              <a:t>Equipment and services at (347)k is the only cost that rises and falls with the work.</a:t>
            </a:r>
            <a:endParaRPr lang="en-US" sz="900" dirty="0"/>
          </a:p>
          <a:p>
            <a:pPr marL="342900" indent="-342900">
              <a:lnSpc>
                <a:spcPts val="1150"/>
              </a:lnSpc>
              <a:spcAft>
                <a:spcPts val="500"/>
              </a:spcAft>
              <a:buSzPct val="100000"/>
              <a:buChar char="•"/>
            </a:pPr>
            <a:r>
              <a:rPr lang="en-US" sz="900" dirty="0">
                <a:solidFill>
                  <a:srgbClr val="3A4453"/>
                </a:solidFill>
              </a:rPr>
              <a:t>If we have to cut cost it is people or the office. Nothing else is big enough to matter.</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office is the big one: rent (62)k plus outgoings (15)k, 77k together.</a:t>
            </a:r>
            <a:endParaRPr lang="en-US" sz="950" dirty="0"/>
          </a:p>
          <a:p>
            <a:pPr marL="342900" indent="-342900">
              <a:lnSpc>
                <a:spcPts val="1300"/>
              </a:lnSpc>
              <a:spcAft>
                <a:spcPts val="500"/>
              </a:spcAft>
              <a:buSzPct val="100000"/>
              <a:buChar char="•"/>
            </a:pPr>
            <a:r>
              <a:rPr lang="en-US" sz="950" dirty="0">
                <a:solidFill>
                  <a:srgbClr val="3A4453"/>
                </a:solidFill>
              </a:rPr>
              <a:t>IT support at (40)k is next, and the only one that moves much month to month.</a:t>
            </a:r>
            <a:endParaRPr lang="en-US" sz="950" dirty="0"/>
          </a:p>
          <a:p>
            <a:pPr marL="342900" indent="-342900">
              <a:lnSpc>
                <a:spcPts val="1300"/>
              </a:lnSpc>
              <a:spcAft>
                <a:spcPts val="500"/>
              </a:spcAft>
              <a:buSzPct val="100000"/>
              <a:buChar char="•"/>
            </a:pPr>
            <a:r>
              <a:rPr lang="en-US" sz="950" dirty="0">
                <a:solidFill>
                  <a:srgbClr val="3A4453"/>
                </a:solidFill>
              </a:rPr>
              <a:t>Everything below the top three is under six thousand across a full quarter.</a:t>
            </a:r>
            <a:endParaRPr lang="en-US" sz="950" dirty="0"/>
          </a:p>
          <a:p>
            <a:pPr marL="342900" indent="-342900">
              <a:lnSpc>
                <a:spcPts val="1300"/>
              </a:lnSpc>
              <a:spcAft>
                <a:spcPts val="500"/>
              </a:spcAft>
              <a:buSzPct val="100000"/>
              <a:buChar char="•"/>
            </a:pPr>
            <a:r>
              <a:rPr lang="en-US" sz="950" dirty="0">
                <a:solidFill>
                  <a:srgbClr val="3A4453"/>
                </a:solidFill>
              </a:rPr>
              <a:t>There is nothing worth saving further down the list. Do not spend management time there.</a:t>
            </a:r>
            <a:endParaRPr lang="en-US" sz="950" dirty="0"/>
          </a:p>
          <a:p>
            <a:pPr marL="342900" indent="-342900">
              <a:lnSpc>
                <a:spcPts val="1300"/>
              </a:lnSpc>
              <a:spcAft>
                <a:spcPts val="500"/>
              </a:spcAft>
              <a:buSzPct val="100000"/>
              <a:buChar char="•"/>
            </a:pPr>
            <a:r>
              <a:rPr lang="en-US" sz="950" dirty="0">
                <a:solidFill>
                  <a:srgbClr val="3A4453"/>
                </a:solidFill>
              </a:rPr>
              <a:t>The office is the only real saving here, and that is a lease decision, not a budget one.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Labour on jobs splits two ways: our own staff, and contractors we bring in.</a:t>
            </a:r>
            <a:endParaRPr lang="en-US" sz="950" dirty="0"/>
          </a:p>
          <a:p>
            <a:pPr marL="342900" indent="-342900">
              <a:lnSpc>
                <a:spcPts val="1300"/>
              </a:lnSpc>
              <a:spcAft>
                <a:spcPts val="500"/>
              </a:spcAft>
              <a:buSzPct val="100000"/>
              <a:buChar char="•"/>
            </a:pPr>
            <a:r>
              <a:rPr lang="en-US" sz="950" dirty="0">
                <a:solidFill>
                  <a:srgbClr val="3A4453"/>
                </a:solidFill>
              </a:rPr>
              <a:t>Salaries, wages and super are most of it, and we are committed to paying them.</a:t>
            </a:r>
            <a:endParaRPr lang="en-US" sz="950" dirty="0"/>
          </a:p>
          <a:p>
            <a:pPr marL="342900" indent="-342900">
              <a:lnSpc>
                <a:spcPts val="1300"/>
              </a:lnSpc>
              <a:spcAft>
                <a:spcPts val="500"/>
              </a:spcAft>
              <a:buSzPct val="100000"/>
              <a:buChar char="•"/>
            </a:pPr>
            <a:r>
              <a:rPr lang="en-US" sz="950" dirty="0">
                <a:solidFill>
                  <a:srgbClr val="3A4453"/>
                </a:solidFill>
              </a:rPr>
              <a:t>Contractors are the only labour cost that goes up and down with the work.</a:t>
            </a:r>
            <a:endParaRPr lang="en-US" sz="950" dirty="0"/>
          </a:p>
          <a:p>
            <a:pPr marL="342900" indent="-342900">
              <a:lnSpc>
                <a:spcPts val="1300"/>
              </a:lnSpc>
              <a:spcAft>
                <a:spcPts val="500"/>
              </a:spcAft>
              <a:buSzPct val="100000"/>
              <a:buChar char="•"/>
            </a:pPr>
            <a:r>
              <a:rPr lang="en-US" sz="950" dirty="0">
                <a:solidFill>
                  <a:srgbClr val="3A4453"/>
                </a:solidFill>
              </a:rPr>
              <a:t>It rises when our own team runs out of hours, so watch it against the utilisation page.</a:t>
            </a:r>
            <a:endParaRPr lang="en-US" sz="950" dirty="0"/>
          </a:p>
          <a:p>
            <a:pPr marL="342900" indent="-342900">
              <a:lnSpc>
                <a:spcPts val="1300"/>
              </a:lnSpc>
              <a:spcAft>
                <a:spcPts val="500"/>
              </a:spcAft>
              <a:buSzPct val="100000"/>
              <a:buChar char="•"/>
            </a:pPr>
            <a:r>
              <a:rPr lang="en-US" sz="950" dirty="0">
                <a:solidFill>
                  <a:srgbClr val="3A4453"/>
                </a:solidFill>
              </a:rPr>
              <a:t>We pay for every hour worked. We only bill the hours spent on jobs. The difference is profit we never make.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502920" y="1389888"/>
            <a:ext cx="8138160" cy="2176723"/>
          </a:xfrm>
          <a:prstGeom prst="rect">
            <a:avLst/>
          </a:prstGeom>
        </p:spPr>
      </p:pic>
      <p:sp>
        <p:nvSpPr>
          <p:cNvPr id="5" name="Text 2"/>
          <p:cNvSpPr txBox="1"/>
          <p:nvPr/>
        </p:nvSpPr>
        <p:spPr>
          <a:xfrm>
            <a:off x="502920" y="3639763"/>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63,077 of office wages this month, and all of it is charged out to the departments.</a:t>
            </a:r>
            <a:endParaRPr lang="en-US" sz="800" dirty="0"/>
          </a:p>
          <a:p>
            <a:pPr marL="342900" indent="-342900">
              <a:lnSpc>
                <a:spcPts val="1000"/>
              </a:lnSpc>
              <a:spcAft>
                <a:spcPts val="300"/>
              </a:spcAft>
              <a:buSzPct val="100000"/>
              <a:buChar char="•"/>
            </a:pPr>
            <a:r>
              <a:rPr lang="en-US" sz="800" dirty="0">
                <a:solidFill>
                  <a:srgbClr val="3A4453"/>
                </a:solidFill>
              </a:rPr>
              <a:t>Support picks up 67% of it, based on its share of hours worked over the last twelve months.</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pays more for its own staff, 35,665, than it does for office staff.</a:t>
            </a:r>
            <a:endParaRPr lang="en-US" sz="800" dirty="0"/>
          </a:p>
          <a:p>
            <a:pPr marL="342900" indent="-342900">
              <a:lnSpc>
                <a:spcPts val="1000"/>
              </a:lnSpc>
              <a:spcAft>
                <a:spcPts val="300"/>
              </a:spcAft>
              <a:buSzPct val="100000"/>
              <a:buChar char="•"/>
            </a:pPr>
            <a:r>
              <a:rPr lang="en-US" sz="800" dirty="0">
                <a:solidFill>
                  <a:srgbClr val="3A4453"/>
                </a:solidFill>
              </a:rPr>
              <a:t>Integration picks up almost no office wages, because almost no hours were booked to it.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502920" y="1444752"/>
            <a:ext cx="5577840" cy="2815203"/>
          </a:xfrm>
          <a:prstGeom prst="rect">
            <a:avLst/>
          </a:prstGeom>
        </p:spPr>
      </p:pic>
      <p:sp>
        <p:nvSpPr>
          <p:cNvPr id="5" name="Text 2"/>
          <p:cNvSpPr txBox="1"/>
          <p:nvPr/>
        </p:nvSpPr>
        <p:spPr>
          <a:xfrm>
            <a:off x="502920" y="4333107"/>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top ten customers by revenue, the top three in red.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three red bars are 49% of everything we sold this year.</a:t>
            </a:r>
            <a:endParaRPr lang="en-US" sz="950" dirty="0"/>
          </a:p>
          <a:p>
            <a:pPr marL="342900" indent="-342900">
              <a:lnSpc>
                <a:spcPts val="1300"/>
              </a:lnSpc>
              <a:spcAft>
                <a:spcPts val="500"/>
              </a:spcAft>
              <a:buSzPct val="100000"/>
              <a:buChar char="•"/>
            </a:pPr>
            <a:r>
              <a:rPr lang="en-US" sz="950" dirty="0">
                <a:solidFill>
                  <a:srgbClr val="3A4453"/>
                </a:solidFill>
              </a:rPr>
              <a:t>All ten together are 76%. Every other customer we have is the remaining 24%.</a:t>
            </a:r>
            <a:endParaRPr lang="en-US" sz="950" dirty="0"/>
          </a:p>
          <a:p>
            <a:pPr marL="342900" indent="-342900">
              <a:lnSpc>
                <a:spcPts val="1300"/>
              </a:lnSpc>
              <a:spcAft>
                <a:spcPts val="500"/>
              </a:spcAft>
              <a:buSzPct val="100000"/>
              <a:buChar char="•"/>
            </a:pPr>
            <a:r>
              <a:rPr lang="en-US" sz="950" dirty="0">
                <a:solidFill>
                  <a:srgbClr val="3A4453"/>
                </a:solidFill>
              </a:rPr>
              <a:t>Deloitte Services at 401,755 is 25% on its own. Losing them would wipe out more than the whole year's profit plan.</a:t>
            </a:r>
            <a:endParaRPr lang="en-US" sz="950" dirty="0"/>
          </a:p>
          <a:p>
            <a:pPr marL="342900" indent="-342900">
              <a:lnSpc>
                <a:spcPts val="1300"/>
              </a:lnSpc>
              <a:spcAft>
                <a:spcPts val="500"/>
              </a:spcAft>
              <a:buSzPct val="100000"/>
              <a:buChar char="•"/>
            </a:pPr>
            <a:r>
              <a:rPr lang="en-US" sz="950" dirty="0">
                <a:solidFill>
                  <a:srgbClr val="3A4453"/>
                </a:solidFill>
              </a:rPr>
              <a:t>Aware Super came from nothing to 285,075 in a quarter, and nearly all of it was one job in September.</a:t>
            </a:r>
            <a:endParaRPr lang="en-US" sz="950" dirty="0"/>
          </a:p>
          <a:p>
            <a:pPr marL="342900" indent="-342900">
              <a:lnSpc>
                <a:spcPts val="1300"/>
              </a:lnSpc>
              <a:spcAft>
                <a:spcPts val="500"/>
              </a:spcAft>
              <a:buSzPct val="100000"/>
              <a:buChar char="•"/>
            </a:pPr>
            <a:r>
              <a:rPr lang="en-US" sz="950" dirty="0">
                <a:solidFill>
                  <a:srgbClr val="3A4453"/>
                </a:solidFill>
              </a:rPr>
              <a:t>After the top five it falls away fast. Number ten is only 37,166.</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long customers take to pay</a:t>
            </a:r>
            <a:endParaRPr lang="en-US" sz="2700" dirty="0"/>
          </a:p>
        </p:txBody>
      </p:sp>
      <p:pic>
        <p:nvPicPr>
          <p:cNvPr id="4" name="snip dso_calc" descr="/home/user/Claude/deck/snips/dso_calc.png">    </p:cNvPr>
          <p:cNvPicPr>
            <a:picLocks noChangeAspect="1"/>
          </p:cNvPicPr>
          <p:nvPr/>
        </p:nvPicPr>
        <p:blipFill>
          <a:blip r:embed="rId1"/>
          <a:stretch>
            <a:fillRect/>
          </a:stretch>
        </p:blipFill>
        <p:spPr>
          <a:xfrm>
            <a:off x="502920" y="1444752"/>
            <a:ext cx="5577840" cy="2900215"/>
          </a:xfrm>
          <a:prstGeom prst="rect">
            <a:avLst/>
          </a:prstGeom>
        </p:spPr>
      </p:pic>
      <p:sp>
        <p:nvSpPr>
          <p:cNvPr id="5" name="Text 2"/>
          <p:cNvSpPr txBox="1"/>
          <p:nvPr/>
        </p:nvSpPr>
        <p:spPr>
          <a:xfrm>
            <a:off x="502920" y="441811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built off the Xero age analysis.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Customers take 47 days to pay us. We want 30.</a:t>
            </a:r>
            <a:endParaRPr lang="en-US" sz="1000" dirty="0"/>
          </a:p>
          <a:p>
            <a:pPr marL="342900" indent="-342900">
              <a:lnSpc>
                <a:spcPts val="1300"/>
              </a:lnSpc>
              <a:spcAft>
                <a:spcPts val="500"/>
              </a:spcAft>
              <a:buSzPct val="100000"/>
              <a:buChar char="•"/>
            </a:pPr>
            <a:r>
              <a:rPr lang="en-US" sz="1000" dirty="0">
                <a:solidFill>
                  <a:srgbClr val="3A4453"/>
                </a:solidFill>
              </a:rPr>
              <a:t>That is 17 days of sales sitting in the debtor book instead of the bank.</a:t>
            </a:r>
            <a:endParaRPr lang="en-US" sz="1000" dirty="0"/>
          </a:p>
          <a:p>
            <a:pPr marL="342900" indent="-342900">
              <a:lnSpc>
                <a:spcPts val="1300"/>
              </a:lnSpc>
              <a:spcAft>
                <a:spcPts val="500"/>
              </a:spcAft>
              <a:buSzPct val="100000"/>
              <a:buChar char="•"/>
            </a:pPr>
            <a:r>
              <a:rPr lang="en-US" sz="1000" dirty="0">
                <a:solidFill>
                  <a:srgbClr val="3A4453"/>
                </a:solidFill>
              </a:rPr>
              <a:t>In money, 303,605 that should be ours already.</a:t>
            </a:r>
            <a:endParaRPr lang="en-US" sz="1000" dirty="0"/>
          </a:p>
          <a:p>
            <a:pPr marL="342900" indent="-342900">
              <a:lnSpc>
                <a:spcPts val="1300"/>
              </a:lnSpc>
              <a:spcAft>
                <a:spcPts val="500"/>
              </a:spcAft>
              <a:buSzPct val="100000"/>
              <a:buChar char="•"/>
            </a:pPr>
            <a:r>
              <a:rPr lang="en-US" sz="1000" dirty="0">
                <a:solidFill>
                  <a:srgbClr val="3A4453"/>
                </a:solidFill>
              </a:rPr>
              <a:t>Every single day we pull that back brings in 17,657.</a:t>
            </a:r>
            <a:endParaRPr lang="en-US" sz="1000" dirty="0"/>
          </a:p>
          <a:p>
            <a:pPr marL="342900" indent="-342900">
              <a:lnSpc>
                <a:spcPts val="1300"/>
              </a:lnSpc>
              <a:spcAft>
                <a:spcPts val="500"/>
              </a:spcAft>
              <a:buSzPct val="100000"/>
              <a:buChar char="•"/>
            </a:pPr>
            <a:r>
              <a:rPr lang="en-US" sz="1000" dirty="0">
                <a:solidFill>
                  <a:srgbClr val="3A4453"/>
                </a:solidFill>
              </a:rPr>
              <a:t>This is the fastest cash available to the business this quarter. Nothing else comes close.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Who owes us the most</a:t>
            </a:r>
            <a:endParaRPr lang="en-US" sz="2700" dirty="0"/>
          </a:p>
        </p:txBody>
      </p:sp>
      <p:pic>
        <p:nvPicPr>
          <p:cNvPr id="4" name="snip dso_who" descr="/home/user/Claude/deck/snips/dso_who.png">    </p:cNvPr>
          <p:cNvPicPr>
            <a:picLocks noChangeAspect="1"/>
          </p:cNvPicPr>
          <p:nvPr/>
        </p:nvPicPr>
        <p:blipFill>
          <a:blip r:embed="rId1"/>
          <a:stretch>
            <a:fillRect/>
          </a:stretch>
        </p:blipFill>
        <p:spPr>
          <a:xfrm>
            <a:off x="988263" y="1444752"/>
            <a:ext cx="4607153"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ten largest amounts owed at month end.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Aware Super owes 277,395 on its own, 33% of everything owed to us.</a:t>
            </a:r>
            <a:endParaRPr lang="en-US" sz="950" dirty="0"/>
          </a:p>
          <a:p>
            <a:pPr marL="342900" indent="-342900">
              <a:lnSpc>
                <a:spcPts val="1300"/>
              </a:lnSpc>
              <a:spcAft>
                <a:spcPts val="500"/>
              </a:spcAft>
              <a:buSzPct val="100000"/>
              <a:buChar char="•"/>
            </a:pPr>
            <a:r>
              <a:rPr lang="en-US" sz="950" dirty="0">
                <a:solidFill>
                  <a:srgbClr val="3A4453"/>
                </a:solidFill>
              </a:rPr>
              <a:t>With Deloitte Services P/L for Deloitte Services Trust at 131,575, two customers hold 49% of the book.</a:t>
            </a:r>
            <a:endParaRPr lang="en-US" sz="950" dirty="0"/>
          </a:p>
          <a:p>
            <a:pPr marL="342900" indent="-342900">
              <a:lnSpc>
                <a:spcPts val="1300"/>
              </a:lnSpc>
              <a:spcAft>
                <a:spcPts val="500"/>
              </a:spcAft>
              <a:buSzPct val="100000"/>
              <a:buChar char="•"/>
            </a:pPr>
            <a:r>
              <a:rPr lang="en-US" sz="950" dirty="0">
                <a:solidFill>
                  <a:srgbClr val="3A4453"/>
                </a:solidFill>
              </a:rPr>
              <a:t>29% of what we are owed is already late, 244,538.</a:t>
            </a:r>
            <a:endParaRPr lang="en-US" sz="950" dirty="0"/>
          </a:p>
          <a:p>
            <a:pPr marL="342900" indent="-342900">
              <a:lnSpc>
                <a:spcPts val="1300"/>
              </a:lnSpc>
              <a:spcAft>
                <a:spcPts val="500"/>
              </a:spcAft>
              <a:buSzPct val="100000"/>
              <a:buChar char="•"/>
            </a:pPr>
            <a:r>
              <a:rPr lang="en-US" sz="950" dirty="0">
                <a:solidFill>
                  <a:srgbClr val="3A4453"/>
                </a:solidFill>
              </a:rPr>
              <a:t>Chase those two first. Everything below them is small by comparison.</a:t>
            </a:r>
            <a:endParaRPr lang="en-US" sz="950" dirty="0"/>
          </a:p>
          <a:p>
            <a:pPr marL="342900" indent="-342900">
              <a:lnSpc>
                <a:spcPts val="1300"/>
              </a:lnSpc>
              <a:spcAft>
                <a:spcPts val="500"/>
              </a:spcAft>
              <a:buSzPct val="100000"/>
              <a:buChar char="•"/>
            </a:pPr>
            <a:r>
              <a:rPr lang="en-US" sz="950" dirty="0">
                <a:solidFill>
                  <a:srgbClr val="3A4453"/>
                </a:solidFill>
              </a:rPr>
              <a:t>A general collections push is not the answer. Two phone calls are.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Support and Events</a:t>
            </a:r>
            <a:endParaRPr lang="en-US" sz="2700" dirty="0"/>
          </a:p>
        </p:txBody>
      </p:sp>
      <p:pic>
        <p:nvPicPr>
          <p:cNvPr id="4" name="snip util_pct_a" descr="/home/user/Claude/deck/snips/util_pct_a.png">    </p:cNvPr>
          <p:cNvPicPr>
            <a:picLocks noChangeAspect="1"/>
          </p:cNvPicPr>
          <p:nvPr/>
        </p:nvPicPr>
        <p:blipFill>
          <a:blip r:embed="rId1"/>
          <a:stretch>
            <a:fillRect/>
          </a:stretch>
        </p:blipFill>
        <p:spPr>
          <a:xfrm>
            <a:off x="502920" y="1444752"/>
            <a:ext cx="5577840" cy="2876991"/>
          </a:xfrm>
          <a:prstGeom prst="rect">
            <a:avLst/>
          </a:prstGeom>
        </p:spPr>
      </p:pic>
      <p:sp>
        <p:nvSpPr>
          <p:cNvPr id="5" name="Text 2"/>
          <p:cNvSpPr txBox="1"/>
          <p:nvPr/>
        </p:nvSpPr>
        <p:spPr>
          <a:xfrm>
            <a:off x="502920" y="439489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 The pack calls these two cost centres Onsite and Production.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This is the calculation itself. Hours worked, how many went on jobs, the percentage that gives, and the headcount those hours represent.</a:t>
            </a:r>
            <a:endParaRPr lang="en-US" sz="900" dirty="0"/>
          </a:p>
          <a:p>
            <a:pPr marL="342900" indent="-342900">
              <a:lnSpc>
                <a:spcPts val="1150"/>
              </a:lnSpc>
              <a:spcAft>
                <a:spcPts val="500"/>
              </a:spcAft>
              <a:buSzPct val="100000"/>
              <a:buChar char="•"/>
            </a:pPr>
            <a:r>
              <a:rPr lang="en-US" sz="900" dirty="0">
                <a:solidFill>
                  <a:srgbClr val="3A4453"/>
                </a:solidFill>
              </a:rPr>
              <a:t>Utilisation per cent is billable hours divided by hours worked. Leave is left out, because nobody can bill leave.</a:t>
            </a:r>
            <a:endParaRPr lang="en-US" sz="900" dirty="0"/>
          </a:p>
          <a:p>
            <a:pPr marL="342900" indent="-342900">
              <a:lnSpc>
                <a:spcPts val="1150"/>
              </a:lnSpc>
              <a:spcAft>
                <a:spcPts val="500"/>
              </a:spcAft>
              <a:buSzPct val="100000"/>
              <a:buChar char="•"/>
            </a:pPr>
            <a:r>
              <a:rPr lang="en-US" sz="900" dirty="0">
                <a:solidFill>
                  <a:srgbClr val="3A4453"/>
                </a:solidFill>
              </a:rPr>
              <a:t>FTE is hours worked divided by the working hours in the month, so 1.0 is one full time person.</a:t>
            </a:r>
            <a:endParaRPr lang="en-US" sz="900" dirty="0"/>
          </a:p>
          <a:p>
            <a:pPr marL="342900" indent="-342900">
              <a:lnSpc>
                <a:spcPts val="1150"/>
              </a:lnSpc>
              <a:spcAft>
                <a:spcPts val="500"/>
              </a:spcAft>
              <a:buSzPct val="100000"/>
              <a:buChar char="•"/>
            </a:pPr>
            <a:r>
              <a:rPr lang="en-US" sz="900" dirty="0">
                <a:solidFill>
                  <a:srgbClr val="3A4453"/>
                </a:solidFill>
              </a:rPr>
              <a:t>Support reads 99% on only 11 non-billable hours. That is a coding problem, not a result.</a:t>
            </a:r>
            <a:endParaRPr lang="en-US" sz="900" dirty="0"/>
          </a:p>
          <a:p>
            <a:pPr marL="342900" indent="-342900">
              <a:lnSpc>
                <a:spcPts val="1150"/>
              </a:lnSpc>
              <a:spcAft>
                <a:spcPts val="500"/>
              </a:spcAft>
              <a:buSzPct val="100000"/>
              <a:buChar char="•"/>
            </a:pPr>
            <a:r>
              <a:rPr lang="en-US" sz="900" dirty="0">
                <a:solidFill>
                  <a:srgbClr val="3A4453"/>
                </a:solidFill>
              </a:rPr>
              <a:t>Events at 49% is the real one. 333 hours of leave took out most of the month.</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Video, Integration and Consulting</a:t>
            </a:r>
            <a:endParaRPr lang="en-US" sz="2700" dirty="0"/>
          </a:p>
        </p:txBody>
      </p:sp>
      <p:pic>
        <p:nvPicPr>
          <p:cNvPr id="4" name="snip util_pct_b" descr="/home/user/Claude/deck/snips/util_pct_b.png">    </p:cNvPr>
          <p:cNvPicPr>
            <a:picLocks noChangeAspect="1"/>
          </p:cNvPicPr>
          <p:nvPr/>
        </p:nvPicPr>
        <p:blipFill>
          <a:blip r:embed="rId1"/>
          <a:stretch>
            <a:fillRect/>
          </a:stretch>
        </p:blipFill>
        <p:spPr>
          <a:xfrm>
            <a:off x="757565" y="1444752"/>
            <a:ext cx="5068550"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Read these three as hours, not as percentages. The volumes are too small for a percentage to mean much.</a:t>
            </a:r>
            <a:endParaRPr lang="en-US" sz="900" dirty="0"/>
          </a:p>
          <a:p>
            <a:pPr marL="342900" indent="-342900">
              <a:lnSpc>
                <a:spcPts val="1150"/>
              </a:lnSpc>
              <a:spcAft>
                <a:spcPts val="500"/>
              </a:spcAft>
              <a:buSzPct val="100000"/>
              <a:buChar char="•"/>
            </a:pPr>
            <a:r>
              <a:rPr lang="en-US" sz="900" dirty="0">
                <a:solidFill>
                  <a:srgbClr val="3A4453"/>
                </a:solidFill>
              </a:rPr>
              <a:t>Integration shows 100% on 9.5 billable hours. That is one day of work, not a result.</a:t>
            </a:r>
            <a:endParaRPr lang="en-US" sz="900" dirty="0"/>
          </a:p>
          <a:p>
            <a:pPr marL="342900" indent="-342900">
              <a:lnSpc>
                <a:spcPts val="1150"/>
              </a:lnSpc>
              <a:spcAft>
                <a:spcPts val="500"/>
              </a:spcAft>
              <a:buSzPct val="100000"/>
              <a:buChar char="•"/>
            </a:pPr>
            <a:r>
              <a:rPr lang="en-US" sz="900" dirty="0">
                <a:solidFill>
                  <a:srgbClr val="3A4453"/>
                </a:solidFill>
              </a:rPr>
              <a:t>Video put 24.5 hours on jobs, about 0.18 of a full time person.</a:t>
            </a:r>
            <a:endParaRPr lang="en-US" sz="900" dirty="0"/>
          </a:p>
          <a:p>
            <a:pPr marL="342900" indent="-342900">
              <a:lnSpc>
                <a:spcPts val="1150"/>
              </a:lnSpc>
              <a:spcAft>
                <a:spcPts val="500"/>
              </a:spcAft>
              <a:buSzPct val="100000"/>
              <a:buChar char="•"/>
            </a:pPr>
            <a:r>
              <a:rPr lang="en-US" sz="900" dirty="0">
                <a:solidFill>
                  <a:srgbClr val="3A4453"/>
                </a:solidFill>
              </a:rPr>
              <a:t>Consulting is the one that matters: 27%, with 84 hours on work we cannot bill.</a:t>
            </a:r>
            <a:endParaRPr lang="en-US" sz="900" dirty="0"/>
          </a:p>
          <a:p>
            <a:pPr marL="342900" indent="-342900">
              <a:lnSpc>
                <a:spcPts val="1150"/>
              </a:lnSpc>
              <a:spcAft>
                <a:spcPts val="500"/>
              </a:spcAft>
              <a:buSzPct val="100000"/>
              <a:buChar char="•"/>
            </a:pPr>
            <a:r>
              <a:rPr lang="en-US" sz="900" dirty="0">
                <a:solidFill>
                  <a:srgbClr val="3A4453"/>
                </a:solidFill>
              </a:rPr>
              <a:t>Consulting has carried running costs against almost no fees for three months. That decision keeps being deferred.</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each department spent its hours, Sep 26</a:t>
            </a:r>
            <a:endParaRPr lang="en-US" sz="2700" dirty="0"/>
          </a:p>
        </p:txBody>
      </p:sp>
      <p:pic>
        <p:nvPicPr>
          <p:cNvPr id="4" name="snip util_chart" descr="/home/user/Claude/deck/snips/util_chart.png">    </p:cNvPr>
          <p:cNvPicPr>
            <a:picLocks noChangeAspect="1"/>
          </p:cNvPicPr>
          <p:nvPr/>
        </p:nvPicPr>
        <p:blipFill>
          <a:blip r:embed="rId1"/>
          <a:stretch>
            <a:fillRect/>
          </a:stretch>
        </p:blipFill>
        <p:spPr>
          <a:xfrm>
            <a:off x="502920" y="1444752"/>
            <a:ext cx="5577840" cy="3045909"/>
          </a:xfrm>
          <a:prstGeom prst="rect">
            <a:avLst/>
          </a:prstGeom>
        </p:spPr>
      </p:pic>
      <p:sp>
        <p:nvSpPr>
          <p:cNvPr id="5" name="Text 2"/>
          <p:cNvSpPr txBox="1"/>
          <p:nvPr/>
        </p:nvSpPr>
        <p:spPr>
          <a:xfrm>
            <a:off x="502920" y="4563813"/>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Each bar is scaled to that department's own hours, so you can compare the mix. Support works about a hundred times the hours Integration does.</a:t>
            </a:r>
            <a:endParaRPr lang="en-US" sz="900" dirty="0"/>
          </a:p>
          <a:p>
            <a:pPr marL="342900" indent="-342900">
              <a:lnSpc>
                <a:spcPts val="1150"/>
              </a:lnSpc>
              <a:spcAft>
                <a:spcPts val="500"/>
              </a:spcAft>
              <a:buSzPct val="100000"/>
              <a:buChar char="•"/>
            </a:pPr>
            <a:r>
              <a:rPr lang="en-US" sz="900" dirty="0">
                <a:solidFill>
                  <a:srgbClr val="3A4453"/>
                </a:solidFill>
              </a:rPr>
              <a:t>Support shows 11 hours not on jobs out of 2,143 worked. That is not credible.</a:t>
            </a:r>
            <a:endParaRPr lang="en-US" sz="900" dirty="0"/>
          </a:p>
          <a:p>
            <a:pPr marL="342900" indent="-342900">
              <a:lnSpc>
                <a:spcPts val="1150"/>
              </a:lnSpc>
              <a:spcAft>
                <a:spcPts val="500"/>
              </a:spcAft>
              <a:buSzPct val="100000"/>
              <a:buChar char="•"/>
            </a:pPr>
            <a:r>
              <a:rPr lang="en-US" sz="900" dirty="0">
                <a:solidFill>
                  <a:srgbClr val="3A4453"/>
                </a:solidFill>
              </a:rPr>
              <a:t>Events put 333 hours into leave and only 241 onto jobs. The people are there, the work is not.</a:t>
            </a:r>
            <a:endParaRPr lang="en-US" sz="900" dirty="0"/>
          </a:p>
          <a:p>
            <a:pPr marL="342900" indent="-342900">
              <a:lnSpc>
                <a:spcPts val="1150"/>
              </a:lnSpc>
              <a:spcAft>
                <a:spcPts val="500"/>
              </a:spcAft>
              <a:buSzPct val="100000"/>
              <a:buChar char="•"/>
            </a:pPr>
            <a:r>
              <a:rPr lang="en-US" sz="900" dirty="0">
                <a:solidFill>
                  <a:srgbClr val="3A4453"/>
                </a:solidFill>
              </a:rPr>
              <a:t>Consulting put 84 hours into work we cannot bill against 31 we can.</a:t>
            </a:r>
            <a:endParaRPr lang="en-US" sz="900" dirty="0"/>
          </a:p>
          <a:p>
            <a:pPr marL="342900" indent="-342900">
              <a:lnSpc>
                <a:spcPts val="1150"/>
              </a:lnSpc>
              <a:spcAft>
                <a:spcPts val="500"/>
              </a:spcAft>
              <a:buSzPct val="100000"/>
              <a:buChar char="•"/>
            </a:pPr>
            <a:r>
              <a:rPr lang="en-US" sz="900" dirty="0">
                <a:solidFill>
                  <a:srgbClr val="3A4453"/>
                </a:solidFill>
              </a:rPr>
              <a:t>We pay for every hour. We only bill the ones on jobs. The grey and light teal are the gap.</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604071"/>
          </a:xfrm>
          <a:prstGeom prst="rect">
            <a:avLst/>
          </a:prstGeom>
        </p:spPr>
      </p:pic>
      <p:sp>
        <p:nvSpPr>
          <p:cNvPr id="5" name="Text 2"/>
          <p:cNvSpPr txBox="1"/>
          <p:nvPr/>
        </p:nvSpPr>
        <p:spPr>
          <a:xfrm>
            <a:off x="502920" y="412197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5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5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5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5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running costs against 4k of fees.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Five more points on Support and Events is worth about 16k a month at no extra cost. Set it as a target once timesheet coding is fixed.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Timesheets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Support shows 11 non-chargeable hours in a month. Correct the coding before utilisation is used to manage anyone.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2026-10-18T07:30:09Z</dcterms:created>
  <dcterms:modified xsi:type="dcterms:W3CDTF">2026-10-18T07:30:09Z</dcterms:modified>
</cp:coreProperties>
</file>