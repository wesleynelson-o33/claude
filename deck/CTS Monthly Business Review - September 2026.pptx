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I need to be straight about the Support bar. 11 hours not on jobs, in a whole month, for a team that size, is not believable. Non-billable time is being booked to billable jobs. The total hours are right, the split is not, and until timesheet coding is corrected the Support percentage cannot be used to manage anybody.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37160"/>
          </a:xfrm>
          <a:prstGeom prst="rect">
            <a:avLst/>
          </a:prstGeom>
        </p:spPr>
      </p:pic>
      <p:sp>
        <p:nvSpPr>
          <p:cNvPr id="5" name="Text 2"/>
          <p:cNvSpPr txBox="1"/>
          <p:nvPr/>
        </p:nvSpPr>
        <p:spPr>
          <a:xfrm>
            <a:off x="502920" y="3100200"/>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Wages for people on jobs (621)k, and wages for everyone else (369)k. Together that is most of what we spend.</a:t>
            </a:r>
            <a:endParaRPr lang="en-US" sz="900" dirty="0"/>
          </a:p>
          <a:p>
            <a:pPr marL="342900" indent="-342900">
              <a:lnSpc>
                <a:spcPts val="1150"/>
              </a:lnSpc>
              <a:spcAft>
                <a:spcPts val="500"/>
              </a:spcAft>
              <a:buSzPct val="100000"/>
              <a:buChar char="•"/>
            </a:pPr>
            <a:r>
              <a:rPr lang="en-US" sz="900" dirty="0">
                <a:solidFill>
                  <a:srgbClr val="3A4453"/>
                </a:solidFill>
              </a:rPr>
              <a:t>Wages are what this business spends its money on. Everything else is small next to them.</a:t>
            </a:r>
            <a:endParaRPr lang="en-US" sz="900" dirty="0"/>
          </a:p>
          <a:p>
            <a:pPr marL="342900" indent="-342900">
              <a:lnSpc>
                <a:spcPts val="1150"/>
              </a:lnSpc>
              <a:spcAft>
                <a:spcPts val="500"/>
              </a:spcAft>
              <a:buSzPct val="100000"/>
              <a:buChar char="•"/>
            </a:pPr>
            <a:r>
              <a:rPr lang="en-US" sz="900" dirty="0">
                <a:solidFill>
                  <a:srgbClr val="3A4453"/>
                </a:solidFill>
              </a:rPr>
              <a:t>The (369)k of wages for people not on jobs is the same every month. When sales drop this does not, so a bad month lands straight on the profit.</a:t>
            </a:r>
            <a:endParaRPr lang="en-US" sz="900" dirty="0"/>
          </a:p>
          <a:p>
            <a:pPr marL="342900" indent="-342900">
              <a:lnSpc>
                <a:spcPts val="1150"/>
              </a:lnSpc>
              <a:spcAft>
                <a:spcPts val="500"/>
              </a:spcAft>
              <a:buSzPct val="100000"/>
              <a:buChar char="•"/>
            </a:pPr>
            <a:r>
              <a:rPr lang="en-US" sz="900" dirty="0">
                <a:solidFill>
                  <a:srgbClr val="3A4453"/>
                </a:solidFill>
              </a:rPr>
              <a:t>Equipment and services at (347)k is the only cost that rises and falls with the work.</a:t>
            </a:r>
            <a:endParaRPr lang="en-US" sz="900" dirty="0"/>
          </a:p>
          <a:p>
            <a:pPr marL="342900" indent="-342900">
              <a:lnSpc>
                <a:spcPts val="1150"/>
              </a:lnSpc>
              <a:spcAft>
                <a:spcPts val="500"/>
              </a:spcAft>
              <a:buSzPct val="100000"/>
              <a:buChar char="•"/>
            </a:pPr>
            <a:r>
              <a:rPr lang="en-US" sz="900" dirty="0">
                <a:solidFill>
                  <a:srgbClr val="3A4453"/>
                </a:solidFill>
              </a:rPr>
              <a:t>If we have to cut cost it is people or the office. Nothing else is big enough to matter.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office is the big one: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support at (40)k is next, and the only one that moves much month to month.</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Labour on jobs splits two ways: our own staff, and contractors we bring in.</a:t>
            </a:r>
            <a:endParaRPr lang="en-US" sz="950" dirty="0"/>
          </a:p>
          <a:p>
            <a:pPr marL="342900" indent="-342900">
              <a:lnSpc>
                <a:spcPts val="1300"/>
              </a:lnSpc>
              <a:spcAft>
                <a:spcPts val="500"/>
              </a:spcAft>
              <a:buSzPct val="100000"/>
              <a:buChar char="•"/>
            </a:pPr>
            <a:r>
              <a:rPr lang="en-US" sz="950" dirty="0">
                <a:solidFill>
                  <a:srgbClr val="3A4453"/>
                </a:solidFill>
              </a:rPr>
              <a:t>Salaries, wages and super are most of it, and we are committed to paying them.</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every hour worked. We only bill the hours spent on jobs. The difference is profit we never make.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6723"/>
          </a:xfrm>
          <a:prstGeom prst="rect">
            <a:avLst/>
          </a:prstGeom>
        </p:spPr>
      </p:pic>
      <p:sp>
        <p:nvSpPr>
          <p:cNvPr id="5" name="Text 2"/>
          <p:cNvSpPr txBox="1"/>
          <p:nvPr/>
        </p:nvSpPr>
        <p:spPr>
          <a:xfrm>
            <a:off x="502920" y="36397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63,077 of office wages this month, and all of it is charged out to the departments.</a:t>
            </a:r>
            <a:endParaRPr lang="en-US" sz="800" dirty="0"/>
          </a:p>
          <a:p>
            <a:pPr marL="342900" indent="-342900">
              <a:lnSpc>
                <a:spcPts val="1000"/>
              </a:lnSpc>
              <a:spcAft>
                <a:spcPts val="300"/>
              </a:spcAft>
              <a:buSzPct val="100000"/>
              <a:buChar char="•"/>
            </a:pPr>
            <a:r>
              <a:rPr lang="en-US" sz="800" dirty="0">
                <a:solidFill>
                  <a:srgbClr val="3A4453"/>
                </a:solidFill>
              </a:rPr>
              <a:t>Support picks up 67% of it, based on its share of hours worked over the last twelve months.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picks up almost no office wages, because almost no hours were booked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5203"/>
          </a:xfrm>
          <a:prstGeom prst="rect">
            <a:avLst/>
          </a:prstGeom>
        </p:spPr>
      </p:pic>
      <p:sp>
        <p:nvSpPr>
          <p:cNvPr id="5" name="Text 2"/>
          <p:cNvSpPr txBox="1"/>
          <p:nvPr/>
        </p:nvSpPr>
        <p:spPr>
          <a:xfrm>
            <a:off x="502920" y="433310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three red bars are 49% of everything we sold this year.</a:t>
            </a:r>
            <a:endParaRPr lang="en-US" sz="950" dirty="0"/>
          </a:p>
          <a:p>
            <a:pPr marL="342900" indent="-342900">
              <a:lnSpc>
                <a:spcPts val="1300"/>
              </a:lnSpc>
              <a:spcAft>
                <a:spcPts val="500"/>
              </a:spcAft>
              <a:buSzPct val="100000"/>
              <a:buChar char="•"/>
            </a:pPr>
            <a:r>
              <a:rPr lang="en-US" sz="950" dirty="0">
                <a:solidFill>
                  <a:srgbClr val="3A4453"/>
                </a:solidFill>
              </a:rPr>
              <a:t>All ten together are 76%. Every other customer we have is the remaining 24%.</a:t>
            </a:r>
            <a:endParaRPr lang="en-US" sz="950" dirty="0"/>
          </a:p>
          <a:p>
            <a:pPr marL="342900" indent="-342900">
              <a:lnSpc>
                <a:spcPts val="1300"/>
              </a:lnSpc>
              <a:spcAft>
                <a:spcPts val="500"/>
              </a:spcAft>
              <a:buSzPct val="100000"/>
              <a:buChar char="•"/>
            </a:pPr>
            <a:r>
              <a:rPr lang="en-US" sz="950" dirty="0">
                <a:solidFill>
                  <a:srgbClr val="3A4453"/>
                </a:solidFill>
              </a:rPr>
              <a:t>Deloitte Services at 401,755 is 25% on its own. Losing them would wipe out more than the whole year's profit plan.</a:t>
            </a:r>
            <a:endParaRPr lang="en-US" sz="950" dirty="0"/>
          </a:p>
          <a:p>
            <a:pPr marL="342900" indent="-342900">
              <a:lnSpc>
                <a:spcPts val="1300"/>
              </a:lnSpc>
              <a:spcAft>
                <a:spcPts val="500"/>
              </a:spcAft>
              <a:buSzPct val="100000"/>
              <a:buChar char="•"/>
            </a:pPr>
            <a:r>
              <a:rPr lang="en-US" sz="950" dirty="0">
                <a:solidFill>
                  <a:srgbClr val="3A4453"/>
                </a:solidFill>
              </a:rPr>
              <a:t>Aware Super came from nothing to 285,075 in a quarter, and nearly all of it was one job in September.</a:t>
            </a:r>
            <a:endParaRPr lang="en-US" sz="950" dirty="0"/>
          </a:p>
          <a:p>
            <a:pPr marL="342900" indent="-342900">
              <a:lnSpc>
                <a:spcPts val="1300"/>
              </a:lnSpc>
              <a:spcAft>
                <a:spcPts val="500"/>
              </a:spcAft>
              <a:buSzPct val="100000"/>
              <a:buChar char="•"/>
            </a:pPr>
            <a:r>
              <a:rPr lang="en-US" sz="950" dirty="0">
                <a:solidFill>
                  <a:srgbClr val="3A4453"/>
                </a:solidFill>
              </a:rPr>
              <a:t>After the top five it falls away fast. Number ten is only 37,166.</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Customers take 47 days to pay us. We want 30.</a:t>
            </a:r>
            <a:endParaRPr lang="en-US" sz="1000" dirty="0"/>
          </a:p>
          <a:p>
            <a:pPr marL="342900" indent="-342900">
              <a:lnSpc>
                <a:spcPts val="1300"/>
              </a:lnSpc>
              <a:spcAft>
                <a:spcPts val="5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300"/>
              </a:lnSpc>
              <a:spcAft>
                <a:spcPts val="500"/>
              </a:spcAft>
              <a:buSzPct val="100000"/>
              <a:buChar char="•"/>
            </a:pPr>
            <a:r>
              <a:rPr lang="en-US" sz="1000" dirty="0">
                <a:solidFill>
                  <a:srgbClr val="3A4453"/>
                </a:solidFill>
              </a:rPr>
              <a:t>In money, 303,605 that should be ours already.</a:t>
            </a:r>
            <a:endParaRPr lang="en-US" sz="1000" dirty="0"/>
          </a:p>
          <a:p>
            <a:pPr marL="342900" indent="-342900">
              <a:lnSpc>
                <a:spcPts val="1300"/>
              </a:lnSpc>
              <a:spcAft>
                <a:spcPts val="500"/>
              </a:spcAft>
              <a:buSzPct val="100000"/>
              <a:buChar char="•"/>
            </a:pPr>
            <a:r>
              <a:rPr lang="en-US" sz="1000" dirty="0">
                <a:solidFill>
                  <a:srgbClr val="3A4453"/>
                </a:solidFill>
              </a:rPr>
              <a:t>Every single day we pull that back brings in 17,657.</a:t>
            </a:r>
            <a:endParaRPr lang="en-US" sz="1000" dirty="0"/>
          </a:p>
          <a:p>
            <a:pPr marL="342900" indent="-342900">
              <a:lnSpc>
                <a:spcPts val="1300"/>
              </a:lnSpc>
              <a:spcAft>
                <a:spcPts val="5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300"/>
              </a:lnSpc>
              <a:spcAft>
                <a:spcPts val="5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300"/>
              </a:lnSpc>
              <a:spcAft>
                <a:spcPts val="5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2613700"/>
          </a:xfrm>
          <a:prstGeom prst="rect">
            <a:avLst/>
          </a:prstGeom>
        </p:spPr>
      </p:pic>
      <p:sp>
        <p:nvSpPr>
          <p:cNvPr id="5" name="Text 2"/>
          <p:cNvSpPr txBox="1"/>
          <p:nvPr/>
        </p:nvSpPr>
        <p:spPr>
          <a:xfrm>
            <a:off x="502920" y="4131604"/>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Each bar is scaled to that department's own hours, so you can compare the mix. Support works about a hundred times the hours Integration does.</a:t>
            </a:r>
            <a:endParaRPr lang="en-US" sz="900" dirty="0"/>
          </a:p>
          <a:p>
            <a:pPr marL="342900" indent="-342900">
              <a:lnSpc>
                <a:spcPts val="1150"/>
              </a:lnSpc>
              <a:spcAft>
                <a:spcPts val="500"/>
              </a:spcAft>
              <a:buSzPct val="100000"/>
              <a:buChar char="•"/>
            </a:pPr>
            <a:r>
              <a:rPr lang="en-US" sz="900" dirty="0">
                <a:solidFill>
                  <a:srgbClr val="3A4453"/>
                </a:solidFill>
              </a:rPr>
              <a:t>Support shows 11 hours not on jobs out of 2,143 worked. That is not credible.</a:t>
            </a:r>
            <a:endParaRPr lang="en-US" sz="900" dirty="0"/>
          </a:p>
          <a:p>
            <a:pPr marL="342900" indent="-342900">
              <a:lnSpc>
                <a:spcPts val="1150"/>
              </a:lnSpc>
              <a:spcAft>
                <a:spcPts val="500"/>
              </a:spcAft>
              <a:buSzPct val="100000"/>
              <a:buChar char="•"/>
            </a:pPr>
            <a:r>
              <a:rPr lang="en-US" sz="900" dirty="0">
                <a:solidFill>
                  <a:srgbClr val="3A4453"/>
                </a:solidFill>
              </a:rPr>
              <a:t>Events put 333 hours into leave and only 241 onto jobs. The people are there, the work is not.</a:t>
            </a:r>
            <a:endParaRPr lang="en-US" sz="900" dirty="0"/>
          </a:p>
          <a:p>
            <a:pPr marL="342900" indent="-342900">
              <a:lnSpc>
                <a:spcPts val="1150"/>
              </a:lnSpc>
              <a:spcAft>
                <a:spcPts val="500"/>
              </a:spcAft>
              <a:buSzPct val="100000"/>
              <a:buChar char="•"/>
            </a:pPr>
            <a:r>
              <a:rPr lang="en-US" sz="900" dirty="0">
                <a:solidFill>
                  <a:srgbClr val="3A4453"/>
                </a:solidFill>
              </a:rPr>
              <a:t>Consulting put 84 hours into work we cannot bill against 31 we can.</a:t>
            </a:r>
            <a:endParaRPr lang="en-US" sz="900" dirty="0"/>
          </a:p>
          <a:p>
            <a:pPr marL="342900" indent="-342900">
              <a:lnSpc>
                <a:spcPts val="1150"/>
              </a:lnSpc>
              <a:spcAft>
                <a:spcPts val="500"/>
              </a:spcAft>
              <a:buSzPct val="100000"/>
              <a:buChar char="•"/>
            </a:pPr>
            <a:r>
              <a:rPr lang="en-US" sz="900" dirty="0">
                <a:solidFill>
                  <a:srgbClr val="3A4453"/>
                </a:solidFill>
              </a:rPr>
              <a:t>We pay for every hour. We only bill the ones on jobs. The grey and light teal are the gap.</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2026-10-18T06:24:04Z</dcterms:created>
  <dcterms:modified xsi:type="dcterms:W3CDTF">2026-10-18T06:24:04Z</dcterms:modified>
</cp:coreProperties>
</file>