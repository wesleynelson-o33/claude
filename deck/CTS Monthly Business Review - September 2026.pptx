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73" r:id="rId24"/>
    <p:sldId id="265" r:id="rId11"/>
    <p:sldId id="266" r:id="rId12"/>
    <p:sldId id="267" r:id="rId13"/>
    <p:sldId id="268" r:id="rId14"/>
    <p:sldId id="269" r:id="rId15"/>
    <p:sldId id="270" r:id="rId16"/>
    <p:sldId id="271" r:id="rId17"/>
    <p:sldId id="272"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Revenue</c:v>
                </c:pt>
              </c:strCache>
            </c:strRef>
          </c:tx>
          <c:spPr>
            <a:solidFill>
              <a:srgbClr val="122B82"/>
            </a:solidFill>
            <a:effectLst/>
          </c:spPr>
          <c:invertIfNegative val="0"/>
          <c:cat>
            <c:strRef>
              <c:f>Sheet1!$A$2:$A$7</c:f>
              <c:strCache>
                <c:ptCount val="6"/>
                <c:pt idx="0">
                  <c:v>Apr</c:v>
                </c:pt>
                <c:pt idx="1">
                  <c:v>May</c:v>
                </c:pt>
                <c:pt idx="2">
                  <c:v>Jun</c:v>
                </c:pt>
                <c:pt idx="3">
                  <c:v>Jul</c:v>
                </c:pt>
                <c:pt idx="4">
                  <c:v>Aug</c:v>
                </c:pt>
                <c:pt idx="5">
                  <c:v>Sep</c:v>
                </c:pt>
              </c:strCache>
            </c:strRef>
          </c:cat>
          <c:val>
            <c:numRef>
              <c:f>Sheet1!$B$2:$B$7</c:f>
              <c:numCache>
                <c:formatCode>General</c:formatCode>
                <c:ptCount val="6"/>
                <c:pt idx="0">
                  <c:v>1310</c:v>
                </c:pt>
                <c:pt idx="1">
                  <c:v>1365</c:v>
                </c:pt>
                <c:pt idx="2">
                  <c:v>1440</c:v>
                </c:pt>
                <c:pt idx="3">
                  <c:v>1372</c:v>
                </c:pt>
                <c:pt idx="4">
                  <c:v>1456</c:v>
                </c:pt>
                <c:pt idx="5">
                  <c:v>1482</c:v>
                </c:pt>
              </c:numCache>
            </c:numRef>
          </c:val>
          <c:extLst>
            <c:ext xmlns:c16="http://schemas.microsoft.com/office/drawing/2014/chart" uri="{C3380CC4-5D6E-409C-BE32-E72D297353CC}">
              <c16:uniqueId val="{00000000-C96E-4A70-852B-8DA4A2379C77}"/>
            </c:ext>
          </c:extLst>
        </c:ser>
        <c:ser>
          <c:idx val="1"/>
          <c:order val="1"/>
          <c:tx>
            <c:strRef>
              <c:f>Sheet1!$C$1</c:f>
              <c:strCache>
                <c:ptCount val="1"/>
                <c:pt idx="0">
                  <c:v>EBITDA</c:v>
                </c:pt>
              </c:strCache>
            </c:strRef>
          </c:tx>
          <c:spPr>
            <a:solidFill>
              <a:srgbClr val="3FD0C9"/>
            </a:solidFill>
            <a:effectLst/>
          </c:spPr>
          <c:invertIfNegative val="0"/>
          <c:cat>
            <c:strRef>
              <c:f>Sheet1!$A$2:$A$7</c:f>
              <c:strCache>
                <c:ptCount val="6"/>
                <c:pt idx="0">
                  <c:v>Apr</c:v>
                </c:pt>
                <c:pt idx="1">
                  <c:v>May</c:v>
                </c:pt>
                <c:pt idx="2">
                  <c:v>Jun</c:v>
                </c:pt>
                <c:pt idx="3">
                  <c:v>Jul</c:v>
                </c:pt>
                <c:pt idx="4">
                  <c:v>Aug</c:v>
                </c:pt>
                <c:pt idx="5">
                  <c:v>Sep</c:v>
                </c:pt>
              </c:strCache>
            </c:strRef>
          </c:cat>
          <c:val>
            <c:numRef>
              <c:f>Sheet1!$C$2:$C$7</c:f>
              <c:numCache>
                <c:formatCode>General</c:formatCode>
                <c:ptCount val="6"/>
                <c:pt idx="0">
                  <c:v>118</c:v>
                </c:pt>
                <c:pt idx="1">
                  <c:v>126</c:v>
                </c:pt>
                <c:pt idx="2">
                  <c:v>149</c:v>
                </c:pt>
                <c:pt idx="3">
                  <c:v>112</c:v>
                </c:pt>
                <c:pt idx="4">
                  <c:v>131</c:v>
                </c:pt>
                <c:pt idx="5">
                  <c:v>162</c:v>
                </c:pt>
              </c:numCache>
            </c:numRef>
          </c:val>
          <c:extLst>
            <c:ext xmlns:c16="http://schemas.microsoft.com/office/drawing/2014/chart" uri="{C3380CC4-5D6E-409C-BE32-E72D297353CC}">
              <c16:uniqueId val="{00000001-C96E-4A70-852B-8DA4A2379C77}"/>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r"/>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Revenue</c:v>
                </c:pt>
              </c:strCache>
            </c:strRef>
          </c:tx>
          <c:spPr>
            <a:solidFill>
              <a:srgbClr val="122B82"/>
            </a:solidFill>
            <a:effectLst/>
          </c:spPr>
          <c:invertIfNegative val="0"/>
          <c:dLbls>
            <c:numFmt formatCode="#,##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Sheet1!$B$2:$B$6</c:f>
              <c:numCache>
                <c:formatCode>General</c:formatCode>
                <c:ptCount val="5"/>
                <c:pt idx="0">
                  <c:v>520</c:v>
                </c:pt>
                <c:pt idx="1">
                  <c:v>468</c:v>
                </c:pt>
                <c:pt idx="2">
                  <c:v>158</c:v>
                </c:pt>
                <c:pt idx="3">
                  <c:v>214</c:v>
                </c:pt>
                <c:pt idx="4">
                  <c:v>122</c:v>
                </c:pt>
              </c:numCache>
            </c:numRef>
          </c:val>
          <c:extLst>
            <c:ext xmlns:c16="http://schemas.microsoft.com/office/drawing/2014/chart" uri="{C3380CC4-5D6E-409C-BE32-E72D297353CC}">
              <c16:uniqueId val="{00000000-F809-4115-8990-F252D59BCDEB}"/>
            </c:ext>
          </c:extLst>
        </c:ser>
        <c:ser>
          <c:idx val="1"/>
          <c:order val="1"/>
          <c:tx>
            <c:strRef>
              <c:f>Sheet1!$C$1</c:f>
              <c:strCache>
                <c:ptCount val="1"/>
                <c:pt idx="0">
                  <c:v>Budget revenue</c:v>
                </c:pt>
              </c:strCache>
            </c:strRef>
          </c:tx>
          <c:spPr>
            <a:solidFill>
              <a:srgbClr val="C9CED6"/>
            </a:solidFill>
            <a:effectLst/>
          </c:spPr>
          <c:invertIfNegative val="0"/>
          <c:dLbls>
            <c:numFmt formatCode="#,##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Sheet1!$C$2:$C$6</c:f>
              <c:numCache>
                <c:formatCode>General</c:formatCode>
                <c:ptCount val="5"/>
                <c:pt idx="0">
                  <c:v>505</c:v>
                </c:pt>
                <c:pt idx="1">
                  <c:v>440</c:v>
                </c:pt>
                <c:pt idx="2">
                  <c:v>170</c:v>
                </c:pt>
                <c:pt idx="3">
                  <c:v>190</c:v>
                </c:pt>
                <c:pt idx="4">
                  <c:v>115</c:v>
                </c:pt>
              </c:numCache>
            </c:numRef>
          </c:val>
          <c:extLst>
            <c:ext xmlns:c16="http://schemas.microsoft.com/office/drawing/2014/chart" uri="{C3380CC4-5D6E-409C-BE32-E72D297353CC}">
              <c16:uniqueId val="{00000001-F809-4115-8990-F252D59BCDEB}"/>
            </c:ext>
          </c:extLst>
        </c:ser>
        <c:ser>
          <c:idx val="2"/>
          <c:order val="2"/>
          <c:tx>
            <c:strRef>
              <c:f>Sheet1!$D$1</c:f>
              <c:strCache>
                <c:ptCount val="1"/>
                <c:pt idx="0">
                  <c:v>Contribution</c:v>
                </c:pt>
              </c:strCache>
            </c:strRef>
          </c:tx>
          <c:spPr>
            <a:solidFill>
              <a:srgbClr val="3FD0C9"/>
            </a:solidFill>
            <a:effectLst/>
          </c:spPr>
          <c:invertIfNegative val="0"/>
          <c:dLbls>
            <c:numFmt formatCode="#,##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Sheet1!$D$2:$D$6</c:f>
              <c:numCache>
                <c:formatCode>General</c:formatCode>
                <c:ptCount val="5"/>
                <c:pt idx="0">
                  <c:v>134</c:v>
                </c:pt>
                <c:pt idx="1">
                  <c:v>141</c:v>
                </c:pt>
                <c:pt idx="2">
                  <c:v>39</c:v>
                </c:pt>
                <c:pt idx="3">
                  <c:v>47</c:v>
                </c:pt>
                <c:pt idx="4">
                  <c:v>32</c:v>
                </c:pt>
              </c:numCache>
            </c:numRef>
          </c:val>
          <c:extLst>
            <c:ext xmlns:c16="http://schemas.microsoft.com/office/drawing/2014/chart" uri="{C3380CC4-5D6E-409C-BE32-E72D297353CC}">
              <c16:uniqueId val="{00000002-F809-4115-8990-F252D59BCDE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Contract</c:v>
                </c:pt>
              </c:strCache>
            </c:strRef>
          </c:tx>
          <c:spPr>
            <a:solidFill>
              <a:srgbClr val="005358"/>
            </a:solidFill>
            <a:effectLst/>
          </c:spPr>
          <c:invertIfNegative val="0"/>
          <c:dLbls>
            <c:numFmt formatCode="#,##0" sourceLinked="0"/>
            <c:spPr>
              <a:noFill/>
              <a:ln>
                <a:noFill/>
              </a:ln>
              <a:effectLst/>
            </c:spPr>
            <c:txPr>
              <a:bodyPr/>
              <a:lstStyle/>
              <a:p>
                <a:pPr>
                  <a:defRPr sz="80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Sheet1!$B$2:$B$6</c:f>
              <c:numCache>
                <c:formatCode>General</c:formatCode>
                <c:ptCount val="5"/>
                <c:pt idx="0">
                  <c:v>455</c:v>
                </c:pt>
                <c:pt idx="1">
                  <c:v>110</c:v>
                </c:pt>
                <c:pt idx="2">
                  <c:v>40</c:v>
                </c:pt>
                <c:pt idx="3">
                  <c:v>60</c:v>
                </c:pt>
                <c:pt idx="4">
                  <c:v>35</c:v>
                </c:pt>
              </c:numCache>
            </c:numRef>
          </c:val>
          <c:extLst>
            <c:ext xmlns:c16="http://schemas.microsoft.com/office/drawing/2014/chart" uri="{C3380CC4-5D6E-409C-BE32-E72D297353CC}">
              <c16:uniqueId val="{00000000-A4A9-4FDB-A721-3413BB94F5E0}"/>
            </c:ext>
          </c:extLst>
        </c:ser>
        <c:ser>
          <c:idx val="1"/>
          <c:order val="1"/>
          <c:tx>
            <c:strRef>
              <c:f>Sheet1!$C$1</c:f>
              <c:strCache>
                <c:ptCount val="1"/>
                <c:pt idx="0">
                  <c:v>Non-contract</c:v>
                </c:pt>
              </c:strCache>
            </c:strRef>
          </c:tx>
          <c:spPr>
            <a:solidFill>
              <a:srgbClr val="F33844"/>
            </a:solidFill>
            <a:effectLst/>
          </c:spPr>
          <c:invertIfNegative val="0"/>
          <c:dLbls>
            <c:numFmt formatCode="#,##0" sourceLinked="0"/>
            <c:spPr>
              <a:noFill/>
              <a:ln>
                <a:noFill/>
              </a:ln>
              <a:effectLst/>
            </c:spPr>
            <c:txPr>
              <a:bodyPr/>
              <a:lstStyle/>
              <a:p>
                <a:pPr>
                  <a:defRPr sz="80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Sheet1!$C$2:$C$6</c:f>
              <c:numCache>
                <c:formatCode>General</c:formatCode>
                <c:ptCount val="5"/>
                <c:pt idx="0">
                  <c:v>65</c:v>
                </c:pt>
                <c:pt idx="1">
                  <c:v>358</c:v>
                </c:pt>
                <c:pt idx="2">
                  <c:v>118</c:v>
                </c:pt>
                <c:pt idx="3">
                  <c:v>154</c:v>
                </c:pt>
                <c:pt idx="4">
                  <c:v>87</c:v>
                </c:pt>
              </c:numCache>
            </c:numRef>
          </c:val>
          <c:extLst>
            <c:ext xmlns:c16="http://schemas.microsoft.com/office/drawing/2014/chart" uri="{C3380CC4-5D6E-409C-BE32-E72D297353CC}">
              <c16:uniqueId val="{00000001-A4A9-4FDB-A721-3413BB94F5E0}"/>
            </c:ext>
          </c:extLst>
        </c:ser>
        <c:dLbls>
          <c:dLblPos val="ctr"/>
          <c:showLegendKey val="0"/>
          <c:showVal val="1"/>
          <c:showCatName val="0"/>
          <c:showSerName val="0"/>
          <c:showPercent val="0"/>
          <c:showBubbleSize val="0"/>
        </c:dLbls>
        <c:gapWidth val="5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3E6EA"/>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r"/>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DSO</c:v>
                </c:pt>
              </c:strCache>
            </c:strRef>
          </c:tx>
          <c:spPr>
            <a:ln w="25400" cap="flat">
              <a:solidFill>
                <a:srgbClr val="122B82"/>
              </a:solidFill>
              <a:prstDash val="solid"/>
              <a:round/>
            </a:ln>
            <a:effectLst/>
          </c:spPr>
          <c:marker>
            <c:symbol val="circle"/>
            <c:size val="5"/>
            <c:spPr>
              <a:solidFill>
                <a:srgbClr val="122B82"/>
              </a:solidFill>
              <a:ln w="9525" cap="flat">
                <a:solidFill>
                  <a:srgbClr val="122B82"/>
                </a:solidFill>
                <a:prstDash val="solid"/>
                <a:round/>
              </a:ln>
              <a:effectLst/>
            </c:spPr>
          </c:marker>
          <c:cat>
            <c:strRef>
              <c:f>Sheet1!$A$2:$A$7</c:f>
              <c:strCache>
                <c:ptCount val="6"/>
                <c:pt idx="0">
                  <c:v>Apr</c:v>
                </c:pt>
                <c:pt idx="1">
                  <c:v>May</c:v>
                </c:pt>
                <c:pt idx="2">
                  <c:v>Jun</c:v>
                </c:pt>
                <c:pt idx="3">
                  <c:v>Jul</c:v>
                </c:pt>
                <c:pt idx="4">
                  <c:v>Aug</c:v>
                </c:pt>
                <c:pt idx="5">
                  <c:v>Sep</c:v>
                </c:pt>
              </c:strCache>
            </c:strRef>
          </c:cat>
          <c:val>
            <c:numRef>
              <c:f>Sheet1!$B$2:$B$7</c:f>
              <c:numCache>
                <c:formatCode>General</c:formatCode>
                <c:ptCount val="6"/>
                <c:pt idx="0">
                  <c:v>41</c:v>
                </c:pt>
                <c:pt idx="1">
                  <c:v>39</c:v>
                </c:pt>
                <c:pt idx="2">
                  <c:v>44</c:v>
                </c:pt>
                <c:pt idx="3">
                  <c:v>38</c:v>
                </c:pt>
                <c:pt idx="4">
                  <c:v>36</c:v>
                </c:pt>
                <c:pt idx="5">
                  <c:v>35</c:v>
                </c:pt>
              </c:numCache>
            </c:numRef>
          </c:val>
          <c:smooth val="0"/>
          <c:extLst>
            <c:ext xmlns:c16="http://schemas.microsoft.com/office/drawing/2014/chart" uri="{C3380CC4-5D6E-409C-BE32-E72D297353CC}">
              <c16:uniqueId val="{00000000-7596-46ED-A217-BA1E82AECA18}"/>
            </c:ext>
          </c:extLst>
        </c:ser>
        <c:ser>
          <c:idx val="1"/>
          <c:order val="1"/>
          <c:tx>
            <c:strRef>
              <c:f>Sheet1!$C$1</c:f>
              <c:strCache>
                <c:ptCount val="1"/>
                <c:pt idx="0">
                  <c:v>Target</c:v>
                </c:pt>
              </c:strCache>
            </c:strRef>
          </c:tx>
          <c:spPr>
            <a:ln w="25400" cap="flat">
              <a:solidFill>
                <a:srgbClr val="F33844"/>
              </a:solidFill>
              <a:prstDash val="solid"/>
              <a:round/>
            </a:ln>
            <a:effectLst/>
          </c:spPr>
          <c:marker>
            <c:symbol val="circle"/>
            <c:size val="5"/>
            <c:spPr>
              <a:solidFill>
                <a:srgbClr val="F33844"/>
              </a:solidFill>
              <a:ln w="9525" cap="flat">
                <a:solidFill>
                  <a:srgbClr val="F33844"/>
                </a:solidFill>
                <a:prstDash val="solid"/>
                <a:round/>
              </a:ln>
              <a:effectLst/>
            </c:spPr>
          </c:marker>
          <c:cat>
            <c:strRef>
              <c:f>Sheet1!$A$2:$A$7</c:f>
              <c:strCache>
                <c:ptCount val="6"/>
                <c:pt idx="0">
                  <c:v>Apr</c:v>
                </c:pt>
                <c:pt idx="1">
                  <c:v>May</c:v>
                </c:pt>
                <c:pt idx="2">
                  <c:v>Jun</c:v>
                </c:pt>
                <c:pt idx="3">
                  <c:v>Jul</c:v>
                </c:pt>
                <c:pt idx="4">
                  <c:v>Aug</c:v>
                </c:pt>
                <c:pt idx="5">
                  <c:v>Sep</c:v>
                </c:pt>
              </c:strCache>
            </c:strRef>
          </c:cat>
          <c:val>
            <c:numRef>
              <c:f>Sheet1!$C$2:$C$7</c:f>
              <c:numCache>
                <c:formatCode>General</c:formatCode>
                <c:ptCount val="6"/>
                <c:pt idx="0">
                  <c:v>30</c:v>
                </c:pt>
                <c:pt idx="1">
                  <c:v>30</c:v>
                </c:pt>
                <c:pt idx="2">
                  <c:v>30</c:v>
                </c:pt>
                <c:pt idx="3">
                  <c:v>30</c:v>
                </c:pt>
                <c:pt idx="4">
                  <c:v>30</c:v>
                </c:pt>
                <c:pt idx="5">
                  <c:v>30</c:v>
                </c:pt>
              </c:numCache>
            </c:numRef>
          </c:val>
          <c:smooth val="0"/>
          <c:extLst>
            <c:ext xmlns:c16="http://schemas.microsoft.com/office/drawing/2014/chart" uri="{C3380CC4-5D6E-409C-BE32-E72D297353CC}">
              <c16:uniqueId val="{00000001-7596-46ED-A217-BA1E82AECA18}"/>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FY27 YTD</c:v>
                </c:pt>
              </c:strCache>
            </c:strRef>
          </c:tx>
          <c:spPr>
            <a:solidFill>
              <a:srgbClr val="122B82"/>
            </a:solidFill>
            <a:effectLst/>
          </c:spPr>
          <c:invertIfNegative val="0"/>
          <c:cat>
            <c:strRef>
              <c:f>Sheet1!$A$2:$A$11</c:f>
              <c:strCache>
                <c:ptCount val="10"/>
                <c:pt idx="0">
                  <c:v>Client A</c:v>
                </c:pt>
                <c:pt idx="1">
                  <c:v>Client B</c:v>
                </c:pt>
                <c:pt idx="2">
                  <c:v>Client C</c:v>
                </c:pt>
                <c:pt idx="3">
                  <c:v>Client D</c:v>
                </c:pt>
                <c:pt idx="4">
                  <c:v>Client E</c:v>
                </c:pt>
                <c:pt idx="5">
                  <c:v>Client F</c:v>
                </c:pt>
                <c:pt idx="6">
                  <c:v>Client G</c:v>
                </c:pt>
                <c:pt idx="7">
                  <c:v>Client H</c:v>
                </c:pt>
                <c:pt idx="8">
                  <c:v>Client I</c:v>
                </c:pt>
                <c:pt idx="9">
                  <c:v>Client J</c:v>
                </c:pt>
              </c:strCache>
            </c:strRef>
          </c:cat>
          <c:val>
            <c:numRef>
              <c:f>Sheet1!$B$2:$B$11</c:f>
              <c:numCache>
                <c:formatCode>General</c:formatCode>
                <c:ptCount val="10"/>
                <c:pt idx="0">
                  <c:v>612</c:v>
                </c:pt>
                <c:pt idx="1">
                  <c:v>540</c:v>
                </c:pt>
                <c:pt idx="2">
                  <c:v>488</c:v>
                </c:pt>
                <c:pt idx="3">
                  <c:v>410</c:v>
                </c:pt>
                <c:pt idx="4">
                  <c:v>365</c:v>
                </c:pt>
                <c:pt idx="5">
                  <c:v>298</c:v>
                </c:pt>
                <c:pt idx="6">
                  <c:v>255</c:v>
                </c:pt>
                <c:pt idx="7">
                  <c:v>230</c:v>
                </c:pt>
                <c:pt idx="8">
                  <c:v>210</c:v>
                </c:pt>
                <c:pt idx="9">
                  <c:v>188</c:v>
                </c:pt>
              </c:numCache>
            </c:numRef>
          </c:val>
          <c:extLst>
            <c:ext xmlns:c16="http://schemas.microsoft.com/office/drawing/2014/chart" uri="{C3380CC4-5D6E-409C-BE32-E72D297353CC}">
              <c16:uniqueId val="{00000000-FB50-44B3-B8CF-B3EB2787C43D}"/>
            </c:ext>
          </c:extLst>
        </c:ser>
        <c:ser>
          <c:idx val="1"/>
          <c:order val="1"/>
          <c:tx>
            <c:strRef>
              <c:f>Sheet1!$C$1</c:f>
              <c:strCache>
                <c:ptCount val="1"/>
                <c:pt idx="0">
                  <c:v>FY26 YTD</c:v>
                </c:pt>
              </c:strCache>
            </c:strRef>
          </c:tx>
          <c:spPr>
            <a:solidFill>
              <a:srgbClr val="C9CED6"/>
            </a:solidFill>
            <a:effectLst/>
          </c:spPr>
          <c:invertIfNegative val="0"/>
          <c:cat>
            <c:strRef>
              <c:f>Sheet1!$A$2:$A$11</c:f>
              <c:strCache>
                <c:ptCount val="10"/>
                <c:pt idx="0">
                  <c:v>Client A</c:v>
                </c:pt>
                <c:pt idx="1">
                  <c:v>Client B</c:v>
                </c:pt>
                <c:pt idx="2">
                  <c:v>Client C</c:v>
                </c:pt>
                <c:pt idx="3">
                  <c:v>Client D</c:v>
                </c:pt>
                <c:pt idx="4">
                  <c:v>Client E</c:v>
                </c:pt>
                <c:pt idx="5">
                  <c:v>Client F</c:v>
                </c:pt>
                <c:pt idx="6">
                  <c:v>Client G</c:v>
                </c:pt>
                <c:pt idx="7">
                  <c:v>Client H</c:v>
                </c:pt>
                <c:pt idx="8">
                  <c:v>Client I</c:v>
                </c:pt>
                <c:pt idx="9">
                  <c:v>Client J</c:v>
                </c:pt>
              </c:strCache>
            </c:strRef>
          </c:cat>
          <c:val>
            <c:numRef>
              <c:f>Sheet1!$C$2:$C$11</c:f>
              <c:numCache>
                <c:formatCode>General</c:formatCode>
                <c:ptCount val="10"/>
                <c:pt idx="0">
                  <c:v>580</c:v>
                </c:pt>
                <c:pt idx="1">
                  <c:v>505</c:v>
                </c:pt>
                <c:pt idx="2">
                  <c:v>410</c:v>
                </c:pt>
                <c:pt idx="3">
                  <c:v>430</c:v>
                </c:pt>
                <c:pt idx="4">
                  <c:v>300</c:v>
                </c:pt>
                <c:pt idx="5">
                  <c:v>310</c:v>
                </c:pt>
                <c:pt idx="6">
                  <c:v>180</c:v>
                </c:pt>
                <c:pt idx="7">
                  <c:v>240</c:v>
                </c:pt>
                <c:pt idx="8">
                  <c:v>150</c:v>
                </c:pt>
                <c:pt idx="9">
                  <c:v>0</c:v>
                </c:pt>
              </c:numCache>
            </c:numRef>
          </c:val>
          <c:extLst>
            <c:ext xmlns:c16="http://schemas.microsoft.com/office/drawing/2014/chart" uri="{C3380CC4-5D6E-409C-BE32-E72D297353CC}">
              <c16:uniqueId val="{00000001-FB50-44B3-B8CF-B3EB2787C43D}"/>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Utilisation</c:v>
                </c:pt>
              </c:strCache>
            </c:strRef>
          </c:tx>
          <c:spPr>
            <a:solidFill>
              <a:srgbClr val="3FD0C9"/>
            </a:solidFill>
            <a:effectLst/>
          </c:spPr>
          <c:invertIfNegative val="0"/>
          <c:dLbls>
            <c:numFmt formatCode="0.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Sheet1!$B$2:$B$6</c:f>
              <c:numCache>
                <c:formatCode>General</c:formatCode>
                <c:ptCount val="5"/>
                <c:pt idx="0">
                  <c:v>80.2</c:v>
                </c:pt>
                <c:pt idx="1">
                  <c:v>72.599999999999994</c:v>
                </c:pt>
                <c:pt idx="2">
                  <c:v>65.900000000000006</c:v>
                </c:pt>
                <c:pt idx="3">
                  <c:v>73.5</c:v>
                </c:pt>
                <c:pt idx="4">
                  <c:v>73.900000000000006</c:v>
                </c:pt>
              </c:numCache>
            </c:numRef>
          </c:val>
          <c:extLst>
            <c:ext xmlns:c16="http://schemas.microsoft.com/office/drawing/2014/chart" uri="{C3380CC4-5D6E-409C-BE32-E72D297353CC}">
              <c16:uniqueId val="{00000000-C0B8-4B09-A12A-F75606F2B5B7}"/>
            </c:ext>
          </c:extLst>
        </c:ser>
        <c:ser>
          <c:idx val="1"/>
          <c:order val="1"/>
          <c:tx>
            <c:strRef>
              <c:f>Sheet1!$C$1</c:f>
              <c:strCache>
                <c:ptCount val="1"/>
                <c:pt idx="0">
                  <c:v>Target</c:v>
                </c:pt>
              </c:strCache>
            </c:strRef>
          </c:tx>
          <c:spPr>
            <a:solidFill>
              <a:srgbClr val="C9CED6"/>
            </a:solidFill>
            <a:effectLst/>
          </c:spPr>
          <c:invertIfNegative val="0"/>
          <c:dLbls>
            <c:numFmt formatCode="0.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Sheet1!$C$2:$C$6</c:f>
              <c:numCache>
                <c:formatCode>General</c:formatCode>
                <c:ptCount val="5"/>
                <c:pt idx="0">
                  <c:v>75</c:v>
                </c:pt>
                <c:pt idx="1">
                  <c:v>75</c:v>
                </c:pt>
                <c:pt idx="2">
                  <c:v>75</c:v>
                </c:pt>
                <c:pt idx="3">
                  <c:v>75</c:v>
                </c:pt>
                <c:pt idx="4">
                  <c:v>75</c:v>
                </c:pt>
              </c:numCache>
            </c:numRef>
          </c:val>
          <c:extLst>
            <c:ext xmlns:c16="http://schemas.microsoft.com/office/drawing/2014/chart" uri="{C3380CC4-5D6E-409C-BE32-E72D297353CC}">
              <c16:uniqueId val="{00000001-C0B8-4B09-A12A-F75606F2B5B7}"/>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max val="100"/>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r"/>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7214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September 2026 review. Every figure comes from the Financial Controller Pack v18, the Xero general ledger dump inside it, or a Xero report named on the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Lead with the beat, then take it away: the month is ahead, the year is not. The 148k beat is one Integration project. Overheads are on budget so do not let the conversation go there.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Support is the only department covering its overhead. Expect a question on why Events carries 111k: it is the Office Dept key giving it 87.5 per cent of premises cost.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Point at the two bars that clear zero. If asked about the Office Dept key, the answer is that it is fixed for the financial year and is reviewed at FY28.</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Half the book is non-contract. The two budget lines with no budget mapped are a pack fix, not a trading issue, but say so before someone finds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Concentration is the message. Top three are 49 per cent. Aware Super is a project, not a customer relationship yet.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DSO 47 days against a 30 day target. Two invoices over 90 days need a decision this month, chase or provide. Aware Super is current but it is one 226k invoice.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Growth is three new customers, not the base. If they do not repeat, FY28 starts 368k behind.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 straight that Support showing 100 per cent is a recording gap. Video and Integration do not report hours at all.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Revenue per hour is not a charge rate. The pack does not hold charge rates. Say that before anyone treats the Events figure as a rate.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Agree owner and date on each line before the meeting closes.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 Cover (dark)">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6309360" y="-548640"/>
            <a:ext cx="3447288" cy="3447288"/>
          </a:xfrm>
          <a:prstGeom prst="ellipse">
            <a:avLst/>
          </a:prstGeom>
          <a:solidFill>
            <a:srgbClr val="3FD0C9">
              <a:alpha val="85000"/>
            </a:srgbClr>
          </a:solidFill>
          <a:ln w="12700">
            <a:solidFill>
              <a:srgbClr val="3FD0C9">
                <a:alpha val="0"/>
              </a:srgbClr>
            </a:solidFill>
            <a:prstDash val="solid"/>
          </a:ln>
        </p:spPr>
        <p:txBody>
          <a:bodyPr/>
          <a:lstStyle/>
          <a:p>
            <a:endParaRPr lang="en-AU"/>
          </a:p>
        </p:txBody>
      </p:sp>
      <p:sp>
        <p:nvSpPr>
          <p:cNvPr id="3" name="Shape 1"/>
          <p:cNvSpPr/>
          <p:nvPr/>
        </p:nvSpPr>
        <p:spPr>
          <a:xfrm>
            <a:off x="8099298" y="777240"/>
            <a:ext cx="3447288" cy="3447288"/>
          </a:xfrm>
          <a:prstGeom prst="ellipse">
            <a:avLst/>
          </a:prstGeom>
          <a:solidFill>
            <a:srgbClr val="6D71FF">
              <a:alpha val="75000"/>
            </a:srgbClr>
          </a:solidFill>
          <a:ln w="12700">
            <a:solidFill>
              <a:srgbClr val="6D71FF">
                <a:alpha val="0"/>
              </a:srgbClr>
            </a:solidFill>
            <a:prstDash val="solid"/>
          </a:ln>
        </p:spPr>
        <p:txBody>
          <a:bodyPr/>
          <a:lstStyle/>
          <a:p>
            <a:endParaRPr lang="en-AU"/>
          </a:p>
        </p:txBody>
      </p:sp>
      <p:sp>
        <p:nvSpPr>
          <p:cNvPr id="4" name="Shape 2"/>
          <p:cNvSpPr/>
          <p:nvPr/>
        </p:nvSpPr>
        <p:spPr>
          <a:xfrm>
            <a:off x="6773418" y="2235708"/>
            <a:ext cx="3447288" cy="3447288"/>
          </a:xfrm>
          <a:prstGeom prst="ellipse">
            <a:avLst/>
          </a:prstGeom>
          <a:solidFill>
            <a:srgbClr val="F33844">
              <a:alpha val="70000"/>
            </a:srgbClr>
          </a:solidFill>
          <a:ln w="12700">
            <a:solidFill>
              <a:srgbClr val="F33844">
                <a:alpha val="0"/>
              </a:srgbClr>
            </a:solidFill>
            <a:prstDash val="solid"/>
          </a:ln>
        </p:spPr>
        <p:txBody>
          <a:bodyPr/>
          <a:lstStyle/>
          <a:p>
            <a:endParaRPr lang="en-AU"/>
          </a:p>
        </p:txBody>
      </p:sp>
      <p:pic>
        <p:nvPicPr>
          <p:cNvPr id="5" name="Image 0" descr="/home/user/Claude/presentation/assets/cts-logo-dark.png"/>
          <p:cNvPicPr>
            <a:picLocks noChangeAspect="1"/>
          </p:cNvPicPr>
          <p:nvPr/>
        </p:nvPicPr>
        <p:blipFill>
          <a:blip r:embed="rId2"/>
          <a:stretch>
            <a:fillRect/>
          </a:stretch>
        </p:blipFill>
        <p:spPr>
          <a:xfrm>
            <a:off x="502920" y="411480"/>
            <a:ext cx="1143440" cy="777240"/>
          </a:xfrm>
          <a:prstGeom prst="rect">
            <a:avLst/>
          </a:prstGeom>
        </p:spPr>
      </p:pic>
      <p:sp>
        <p:nvSpPr>
          <p:cNvPr id="6" name="Text 3"/>
          <p:cNvSpPr>
            <a:spLocks noGrp="1"/>
          </p:cNvSpPr>
          <p:nvPr>
            <p:ph type="body" idx="104" hasCustomPrompt="1"/>
          </p:nvPr>
        </p:nvSpPr>
        <p:spPr>
          <a:xfrm>
            <a:off x="502920" y="1828800"/>
            <a:ext cx="5669280" cy="320040"/>
          </a:xfrm>
          <a:prstGeom prst="rect">
            <a:avLst/>
          </a:prstGeom>
          <a:noFill/>
          <a:ln/>
        </p:spPr>
        <p:txBody>
          <a:bodyPr wrap="square" rtlCol="0"/>
          <a:lstStyle>
            <a:lvl1pPr marL="0" indent="0">
              <a:buNone/>
              <a:defRPr lang="en-US" sz="1200" b="1" kern="0" spc="300" dirty="0">
                <a:solidFill>
                  <a:srgbClr val="3FD0C9"/>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3FD0C9"/>
                </a:solidFill>
                <a:latin typeface="Calibri" pitchFamily="34" charset="0"/>
                <a:ea typeface="Calibri" pitchFamily="34" charset="-122"/>
                <a:cs typeface="Calibri" pitchFamily="34" charset="-120"/>
              </a:rPr>
              <a:t>PRESENTATION TYPE</a:t>
            </a:r>
            <a:endParaRPr lang="en-US" sz="1200" dirty="0"/>
          </a:p>
        </p:txBody>
      </p:sp>
      <p:sp>
        <p:nvSpPr>
          <p:cNvPr id="7" name="Text 3"/>
          <p:cNvSpPr>
            <a:spLocks noGrp="1"/>
          </p:cNvSpPr>
          <p:nvPr>
            <p:ph type="title" idx="105" hasCustomPrompt="1"/>
          </p:nvPr>
        </p:nvSpPr>
        <p:spPr>
          <a:xfrm>
            <a:off x="502920" y="2148840"/>
            <a:ext cx="566928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8" name="Text 3"/>
          <p:cNvSpPr>
            <a:spLocks noGrp="1"/>
          </p:cNvSpPr>
          <p:nvPr>
            <p:ph type="body" idx="106" hasCustomPrompt="1"/>
          </p:nvPr>
        </p:nvSpPr>
        <p:spPr>
          <a:xfrm>
            <a:off x="502920" y="3383280"/>
            <a:ext cx="566928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9" name="Text 3"/>
          <p:cNvSpPr>
            <a:spLocks noGrp="1"/>
          </p:cNvSpPr>
          <p:nvPr>
            <p:ph type="body" idx="107"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10" name="Text 3"/>
          <p:cNvSpPr>
            <a:spLocks noGrp="1"/>
          </p:cNvSpPr>
          <p:nvPr>
            <p:ph type="body" idx="108"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 Cover (ligh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309360" y="0"/>
            <a:ext cx="2834640" cy="5143500"/>
          </a:xfrm>
          <a:prstGeom prst="rect">
            <a:avLst/>
          </a:prstGeom>
          <a:solidFill>
            <a:srgbClr val="1A1A1A"/>
          </a:solidFill>
          <a:ln w="12700">
            <a:solidFill>
              <a:srgbClr val="1A1A1A"/>
            </a:solidFill>
            <a:prstDash val="solid"/>
          </a:ln>
        </p:spPr>
      </p:sp>
      <p:sp>
        <p:nvSpPr>
          <p:cNvPr id="3" name="Shape 1"/>
          <p:cNvSpPr/>
          <p:nvPr/>
        </p:nvSpPr>
        <p:spPr>
          <a:xfrm>
            <a:off x="5943600" y="365760"/>
            <a:ext cx="2971800" cy="2971800"/>
          </a:xfrm>
          <a:prstGeom prst="ellipse">
            <a:avLst/>
          </a:prstGeom>
          <a:solidFill>
            <a:srgbClr val="3FD0C9">
              <a:alpha val="85000"/>
            </a:srgbClr>
          </a:solidFill>
          <a:ln w="12700">
            <a:solidFill>
              <a:srgbClr val="3FD0C9">
                <a:alpha val="0"/>
              </a:srgbClr>
            </a:solidFill>
            <a:prstDash val="solid"/>
          </a:ln>
        </p:spPr>
      </p:sp>
      <p:sp>
        <p:nvSpPr>
          <p:cNvPr id="4" name="Shape 2"/>
          <p:cNvSpPr/>
          <p:nvPr/>
        </p:nvSpPr>
        <p:spPr>
          <a:xfrm>
            <a:off x="7486650" y="1508760"/>
            <a:ext cx="2971800" cy="2971800"/>
          </a:xfrm>
          <a:prstGeom prst="ellipse">
            <a:avLst/>
          </a:prstGeom>
          <a:solidFill>
            <a:srgbClr val="6D71FF">
              <a:alpha val="75000"/>
            </a:srgbClr>
          </a:solidFill>
          <a:ln w="12700">
            <a:solidFill>
              <a:srgbClr val="6D71FF">
                <a:alpha val="0"/>
              </a:srgbClr>
            </a:solidFill>
            <a:prstDash val="solid"/>
          </a:ln>
        </p:spPr>
      </p:sp>
      <p:sp>
        <p:nvSpPr>
          <p:cNvPr id="5" name="Shape 3"/>
          <p:cNvSpPr/>
          <p:nvPr/>
        </p:nvSpPr>
        <p:spPr>
          <a:xfrm>
            <a:off x="6343650" y="2766060"/>
            <a:ext cx="2971800" cy="2971800"/>
          </a:xfrm>
          <a:prstGeom prst="ellipse">
            <a:avLst/>
          </a:prstGeom>
          <a:solidFill>
            <a:srgbClr val="F33844">
              <a:alpha val="70000"/>
            </a:srgbClr>
          </a:solidFill>
          <a:ln w="12700">
            <a:solidFill>
              <a:srgbClr val="F33844">
                <a:alpha val="0"/>
              </a:srgbClr>
            </a:solidFill>
            <a:prstDash val="solid"/>
          </a:ln>
        </p:spPr>
      </p:sp>
      <p:sp>
        <p:nvSpPr>
          <p:cNvPr id="6" name="Shape 4"/>
          <p:cNvSpPr/>
          <p:nvPr/>
        </p:nvSpPr>
        <p:spPr>
          <a:xfrm>
            <a:off x="0" y="0"/>
            <a:ext cx="6309360" cy="5143500"/>
          </a:xfrm>
          <a:prstGeom prst="rect">
            <a:avLst/>
          </a:prstGeom>
          <a:solidFill>
            <a:srgbClr val="FFFFFF"/>
          </a:solidFill>
          <a:ln w="12700">
            <a:solidFill>
              <a:srgbClr val="FFFFFF"/>
            </a:solidFill>
            <a:prstDash val="solid"/>
          </a:ln>
        </p:spPr>
      </p:sp>
      <p:pic>
        <p:nvPicPr>
          <p:cNvPr id="7" name="Image 0" descr="/home/user/Claude/presentation/assets/cts-logo.png"/>
          <p:cNvPicPr>
            <a:picLocks noChangeAspect="1"/>
          </p:cNvPicPr>
          <p:nvPr/>
        </p:nvPicPr>
        <p:blipFill>
          <a:blip r:embed="rId2"/>
          <a:stretch>
            <a:fillRect/>
          </a:stretch>
        </p:blipFill>
        <p:spPr>
          <a:xfrm>
            <a:off x="502920" y="411480"/>
            <a:ext cx="1143440" cy="777240"/>
          </a:xfrm>
          <a:prstGeom prst="rect">
            <a:avLst/>
          </a:prstGeom>
        </p:spPr>
      </p:pic>
      <p:sp>
        <p:nvSpPr>
          <p:cNvPr id="8" name="Text 5"/>
          <p:cNvSpPr>
            <a:spLocks noGrp="1"/>
          </p:cNvSpPr>
          <p:nvPr>
            <p:ph type="body" idx="106" hasCustomPrompt="1"/>
          </p:nvPr>
        </p:nvSpPr>
        <p:spPr>
          <a:xfrm>
            <a:off x="502920" y="1828800"/>
            <a:ext cx="5394960" cy="320040"/>
          </a:xfrm>
          <a:prstGeom prst="rect">
            <a:avLst/>
          </a:prstGeom>
          <a:noFill/>
          <a:ln/>
        </p:spPr>
        <p:txBody>
          <a:bodyPr wrap="square" rtlCol="0"/>
          <a:lstStyle>
            <a:lvl1pPr marL="0" indent="0">
              <a:buNone/>
              <a:defRPr lang="en-US" sz="12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122B82"/>
                </a:solidFill>
                <a:latin typeface="Calibri" pitchFamily="34" charset="0"/>
                <a:ea typeface="Calibri" pitchFamily="34" charset="-122"/>
                <a:cs typeface="Calibri" pitchFamily="34" charset="-120"/>
              </a:rPr>
              <a:t>PRESENTATION TYPE</a:t>
            </a:r>
            <a:endParaRPr lang="en-US" sz="1200" dirty="0"/>
          </a:p>
        </p:txBody>
      </p:sp>
      <p:sp>
        <p:nvSpPr>
          <p:cNvPr id="9" name="Text 5"/>
          <p:cNvSpPr>
            <a:spLocks noGrp="1"/>
          </p:cNvSpPr>
          <p:nvPr>
            <p:ph type="title" idx="107" hasCustomPrompt="1"/>
          </p:nvPr>
        </p:nvSpPr>
        <p:spPr>
          <a:xfrm>
            <a:off x="502920" y="2148840"/>
            <a:ext cx="5394960" cy="1234440"/>
          </a:xfrm>
          <a:prstGeom prst="rect">
            <a:avLst/>
          </a:prstGeom>
          <a:noFill/>
          <a:ln/>
        </p:spPr>
        <p:txBody>
          <a:bodyPr wrap="square" rtlCol="0"/>
          <a:lstStyle>
            <a:lvl1pPr marL="0" indent="0" algn="l">
              <a:buNone/>
              <a:defRPr lang="en-US" sz="3600" b="1" dirty="0">
                <a:solidFill>
                  <a:srgbClr val="1A1A1A"/>
                </a:solidFill>
                <a:latin typeface="Calibri" pitchFamily="34" charset="0"/>
                <a:ea typeface="Calibri" pitchFamily="34" charset="-122"/>
                <a:cs typeface="Calibri" pitchFamily="34" charset="-120"/>
              </a:defRPr>
            </a:lvl1pPr>
          </a:lstStyle>
          <a:p>
            <a:pPr marL="0" indent="0" algn="l">
              <a:buNone/>
            </a:pPr>
            <a:r>
              <a:rPr lang="en-US" sz="3600" b="1" dirty="0">
                <a:solidFill>
                  <a:srgbClr val="1A1A1A"/>
                </a:solidFill>
                <a:latin typeface="Calibri" pitchFamily="34" charset="0"/>
                <a:ea typeface="Calibri" pitchFamily="34" charset="-122"/>
                <a:cs typeface="Calibri" pitchFamily="34" charset="-120"/>
              </a:rPr>
              <a:t>Presentation title</a:t>
            </a:r>
            <a:endParaRPr lang="en-US" sz="3600" dirty="0"/>
          </a:p>
        </p:txBody>
      </p:sp>
      <p:sp>
        <p:nvSpPr>
          <p:cNvPr id="10" name="Text 5"/>
          <p:cNvSpPr>
            <a:spLocks noGrp="1"/>
          </p:cNvSpPr>
          <p:nvPr>
            <p:ph type="body" idx="108" hasCustomPrompt="1"/>
          </p:nvPr>
        </p:nvSpPr>
        <p:spPr>
          <a:xfrm>
            <a:off x="502920" y="3383280"/>
            <a:ext cx="5394960" cy="548640"/>
          </a:xfrm>
          <a:prstGeom prst="rect">
            <a:avLst/>
          </a:prstGeom>
          <a:noFill/>
          <a:ln/>
        </p:spPr>
        <p:txBody>
          <a:bodyPr wrap="square" rtlCol="0"/>
          <a:lstStyle>
            <a:lvl1pPr marL="0" indent="0">
              <a:buNone/>
              <a:defRPr lang="en-US" sz="1800" dirty="0">
                <a:solidFill>
                  <a:srgbClr val="5F6670"/>
                </a:solidFill>
                <a:latin typeface="Calibri" pitchFamily="34" charset="0"/>
                <a:ea typeface="Calibri" pitchFamily="34" charset="-122"/>
                <a:cs typeface="Calibri" pitchFamily="34" charset="-120"/>
              </a:defRPr>
            </a:lvl1pPr>
          </a:lstStyle>
          <a:p>
            <a:pPr marL="0" indent="0">
              <a:buNone/>
            </a:pPr>
            <a:r>
              <a:rPr lang="en-US" sz="1800" dirty="0">
                <a:solidFill>
                  <a:srgbClr val="5F6670"/>
                </a:solidFill>
                <a:latin typeface="Calibri" pitchFamily="34" charset="0"/>
                <a:ea typeface="Calibri" pitchFamily="34" charset="-122"/>
                <a:cs typeface="Calibri" pitchFamily="34" charset="-120"/>
              </a:rPr>
              <a:t>Subtitle or one-line description</a:t>
            </a:r>
            <a:endParaRPr lang="en-US" sz="1800" dirty="0"/>
          </a:p>
        </p:txBody>
      </p:sp>
      <p:sp>
        <p:nvSpPr>
          <p:cNvPr id="11" name="Text 5"/>
          <p:cNvSpPr>
            <a:spLocks noGrp="1"/>
          </p:cNvSpPr>
          <p:nvPr>
            <p:ph type="body" idx="109"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5F6670"/>
                </a:solidFill>
                <a:latin typeface="Calibri" pitchFamily="34" charset="0"/>
                <a:ea typeface="Calibri" pitchFamily="34" charset="-122"/>
                <a:cs typeface="Calibri" pitchFamily="34" charset="-120"/>
              </a:defRPr>
            </a:lvl1pPr>
          </a:lstStyle>
          <a:p>
            <a:pPr marL="0" indent="0">
              <a:buNone/>
            </a:pPr>
            <a:r>
              <a:rPr lang="en-US" sz="1200" dirty="0">
                <a:solidFill>
                  <a:srgbClr val="5F6670"/>
                </a:solidFill>
                <a:latin typeface="Calibri" pitchFamily="34" charset="0"/>
                <a:ea typeface="Calibri" pitchFamily="34" charset="-122"/>
                <a:cs typeface="Calibri" pitchFamily="34" charset="-120"/>
              </a:rPr>
              <a:t>Presenter name, role</a:t>
            </a:r>
            <a:endParaRPr lang="en-US" sz="1200" dirty="0"/>
          </a:p>
        </p:txBody>
      </p:sp>
      <p:sp>
        <p:nvSpPr>
          <p:cNvPr id="12" name="Text 5"/>
          <p:cNvSpPr>
            <a:spLocks noGrp="1"/>
          </p:cNvSpPr>
          <p:nvPr>
            <p:ph type="body" idx="110" hasCustomPrompt="1"/>
          </p:nvPr>
        </p:nvSpPr>
        <p:spPr>
          <a:xfrm>
            <a:off x="3840480" y="4251960"/>
            <a:ext cx="2194560" cy="502920"/>
          </a:xfrm>
          <a:prstGeom prst="rect">
            <a:avLst/>
          </a:prstGeom>
          <a:noFill/>
          <a:ln/>
        </p:spPr>
        <p:txBody>
          <a:bodyPr wrap="square" rtlCol="0"/>
          <a:lstStyle>
            <a:lvl1pPr marL="0" indent="0" algn="r">
              <a:buNone/>
              <a:defRPr lang="en-US" sz="1200" dirty="0">
                <a:solidFill>
                  <a:srgbClr val="5F6670"/>
                </a:solidFill>
                <a:latin typeface="Calibri" pitchFamily="34" charset="0"/>
                <a:ea typeface="Calibri" pitchFamily="34" charset="-122"/>
                <a:cs typeface="Calibri" pitchFamily="34" charset="-120"/>
              </a:defRPr>
            </a:lvl1pPr>
          </a:lstStyle>
          <a:p>
            <a:pPr marL="0" indent="0" algn="r">
              <a:buNone/>
            </a:pPr>
            <a:r>
              <a:rPr lang="en-US" sz="1200" dirty="0">
                <a:solidFill>
                  <a:srgbClr val="5F6670"/>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TS Cover (20 years)">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6035040" y="2011680"/>
            <a:ext cx="4754880" cy="4754880"/>
          </a:xfrm>
          <a:prstGeom prst="ellipse">
            <a:avLst/>
          </a:prstGeom>
          <a:solidFill>
            <a:srgbClr val="122B82">
              <a:alpha val="45000"/>
            </a:srgbClr>
          </a:solidFill>
          <a:ln w="12700">
            <a:solidFill>
              <a:srgbClr val="122B82">
                <a:alpha val="0"/>
              </a:srgbClr>
            </a:solidFill>
            <a:prstDash val="solid"/>
          </a:ln>
        </p:spPr>
      </p:sp>
      <p:pic>
        <p:nvPicPr>
          <p:cNvPr id="3" name="Image 0" descr="/home/user/Claude/presentation/assets/cts-logo-20yrs-dark.png"/>
          <p:cNvPicPr>
            <a:picLocks noChangeAspect="1"/>
          </p:cNvPicPr>
          <p:nvPr/>
        </p:nvPicPr>
        <p:blipFill>
          <a:blip r:embed="rId2"/>
          <a:stretch>
            <a:fillRect/>
          </a:stretch>
        </p:blipFill>
        <p:spPr>
          <a:xfrm>
            <a:off x="502920" y="457200"/>
            <a:ext cx="3388659" cy="960120"/>
          </a:xfrm>
          <a:prstGeom prst="rect">
            <a:avLst/>
          </a:prstGeom>
        </p:spPr>
      </p:pic>
      <p:sp>
        <p:nvSpPr>
          <p:cNvPr id="4" name="Text 1"/>
          <p:cNvSpPr>
            <a:spLocks noGrp="1"/>
          </p:cNvSpPr>
          <p:nvPr>
            <p:ph type="body" idx="102" hasCustomPrompt="1"/>
          </p:nvPr>
        </p:nvSpPr>
        <p:spPr>
          <a:xfrm>
            <a:off x="502920" y="1828800"/>
            <a:ext cx="5852160" cy="320040"/>
          </a:xfrm>
          <a:prstGeom prst="rect">
            <a:avLst/>
          </a:prstGeom>
          <a:noFill/>
          <a:ln/>
        </p:spPr>
        <p:txBody>
          <a:bodyPr wrap="square" rtlCol="0"/>
          <a:lstStyle>
            <a:lvl1pPr marL="0" indent="0">
              <a:buNone/>
              <a:defRPr lang="en-US" sz="1200" b="1" kern="0" spc="300" dirty="0">
                <a:solidFill>
                  <a:srgbClr val="3FD0C9"/>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3FD0C9"/>
                </a:solidFill>
                <a:latin typeface="Calibri" pitchFamily="34" charset="0"/>
                <a:ea typeface="Calibri" pitchFamily="34" charset="-122"/>
                <a:cs typeface="Calibri" pitchFamily="34" charset="-120"/>
              </a:rPr>
              <a:t>PRESENTATION TYPE</a:t>
            </a:r>
            <a:endParaRPr lang="en-US" sz="1200" dirty="0"/>
          </a:p>
        </p:txBody>
      </p:sp>
      <p:sp>
        <p:nvSpPr>
          <p:cNvPr id="5" name="Text 1"/>
          <p:cNvSpPr>
            <a:spLocks noGrp="1"/>
          </p:cNvSpPr>
          <p:nvPr>
            <p:ph type="title" idx="103" hasCustomPrompt="1"/>
          </p:nvPr>
        </p:nvSpPr>
        <p:spPr>
          <a:xfrm>
            <a:off x="502920" y="2148840"/>
            <a:ext cx="585216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6" name="Text 1"/>
          <p:cNvSpPr>
            <a:spLocks noGrp="1"/>
          </p:cNvSpPr>
          <p:nvPr>
            <p:ph type="body" idx="104" hasCustomPrompt="1"/>
          </p:nvPr>
        </p:nvSpPr>
        <p:spPr>
          <a:xfrm>
            <a:off x="502920" y="3383280"/>
            <a:ext cx="585216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7" name="Text 1"/>
          <p:cNvSpPr>
            <a:spLocks noGrp="1"/>
          </p:cNvSpPr>
          <p:nvPr>
            <p:ph type="body" idx="105"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8" name="Text 1"/>
          <p:cNvSpPr>
            <a:spLocks noGrp="1"/>
          </p:cNvSpPr>
          <p:nvPr>
            <p:ph type="body" idx="106"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TS Production Cover">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5852160" y="-1463040"/>
            <a:ext cx="4206240" cy="4206240"/>
          </a:xfrm>
          <a:prstGeom prst="ellipse">
            <a:avLst/>
          </a:prstGeom>
          <a:solidFill>
            <a:srgbClr val="3FD0C9">
              <a:alpha val="90000"/>
            </a:srgbClr>
          </a:solidFill>
          <a:ln w="12700">
            <a:solidFill>
              <a:srgbClr val="3FD0C9">
                <a:alpha val="0"/>
              </a:srgbClr>
            </a:solidFill>
            <a:prstDash val="solid"/>
          </a:ln>
        </p:spPr>
      </p:sp>
      <p:sp>
        <p:nvSpPr>
          <p:cNvPr id="3" name="Shape 1"/>
          <p:cNvSpPr/>
          <p:nvPr/>
        </p:nvSpPr>
        <p:spPr>
          <a:xfrm>
            <a:off x="6949440" y="2194560"/>
            <a:ext cx="3840480" cy="3840480"/>
          </a:xfrm>
          <a:prstGeom prst="ellipse">
            <a:avLst/>
          </a:prstGeom>
          <a:solidFill>
            <a:srgbClr val="005358">
              <a:alpha val="80000"/>
            </a:srgbClr>
          </a:solidFill>
          <a:ln w="12700">
            <a:solidFill>
              <a:srgbClr val="005358">
                <a:alpha val="0"/>
              </a:srgbClr>
            </a:solidFill>
            <a:prstDash val="solid"/>
          </a:ln>
        </p:spPr>
      </p:sp>
      <p:pic>
        <p:nvPicPr>
          <p:cNvPr id="4" name="Image 0" descr="/home/user/Claude/presentation/assets/cts-production-dark.png"/>
          <p:cNvPicPr>
            <a:picLocks noChangeAspect="1"/>
          </p:cNvPicPr>
          <p:nvPr/>
        </p:nvPicPr>
        <p:blipFill>
          <a:blip r:embed="rId2"/>
          <a:stretch>
            <a:fillRect/>
          </a:stretch>
        </p:blipFill>
        <p:spPr>
          <a:xfrm>
            <a:off x="502920" y="411480"/>
            <a:ext cx="1143440" cy="777240"/>
          </a:xfrm>
          <a:prstGeom prst="rect">
            <a:avLst/>
          </a:prstGeom>
        </p:spPr>
      </p:pic>
      <p:sp>
        <p:nvSpPr>
          <p:cNvPr id="5" name="Text 2"/>
          <p:cNvSpPr>
            <a:spLocks noGrp="1"/>
          </p:cNvSpPr>
          <p:nvPr>
            <p:ph type="body" idx="103" hasCustomPrompt="1"/>
          </p:nvPr>
        </p:nvSpPr>
        <p:spPr>
          <a:xfrm>
            <a:off x="502920" y="1828800"/>
            <a:ext cx="5486400" cy="320040"/>
          </a:xfrm>
          <a:prstGeom prst="rect">
            <a:avLst/>
          </a:prstGeom>
          <a:noFill/>
          <a:ln/>
        </p:spPr>
        <p:txBody>
          <a:bodyPr wrap="square" rtlCol="0"/>
          <a:lstStyle>
            <a:lvl1pPr marL="0" indent="0">
              <a:buNone/>
              <a:defRPr lang="en-US" sz="1200" b="1" kern="0" spc="300" dirty="0">
                <a:solidFill>
                  <a:srgbClr val="3FD0C9"/>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3FD0C9"/>
                </a:solidFill>
                <a:latin typeface="Calibri" pitchFamily="34" charset="0"/>
                <a:ea typeface="Calibri" pitchFamily="34" charset="-122"/>
                <a:cs typeface="Calibri" pitchFamily="34" charset="-120"/>
              </a:rPr>
              <a:t>PRESENTATION TYPE</a:t>
            </a:r>
            <a:endParaRPr lang="en-US" sz="1200" dirty="0"/>
          </a:p>
        </p:txBody>
      </p:sp>
      <p:sp>
        <p:nvSpPr>
          <p:cNvPr id="6" name="Text 2"/>
          <p:cNvSpPr>
            <a:spLocks noGrp="1"/>
          </p:cNvSpPr>
          <p:nvPr>
            <p:ph type="title" idx="104" hasCustomPrompt="1"/>
          </p:nvPr>
        </p:nvSpPr>
        <p:spPr>
          <a:xfrm>
            <a:off x="502920" y="2148840"/>
            <a:ext cx="548640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7" name="Text 2"/>
          <p:cNvSpPr>
            <a:spLocks noGrp="1"/>
          </p:cNvSpPr>
          <p:nvPr>
            <p:ph type="body" idx="105" hasCustomPrompt="1"/>
          </p:nvPr>
        </p:nvSpPr>
        <p:spPr>
          <a:xfrm>
            <a:off x="502920" y="3383280"/>
            <a:ext cx="548640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8" name="Text 2"/>
          <p:cNvSpPr>
            <a:spLocks noGrp="1"/>
          </p:cNvSpPr>
          <p:nvPr>
            <p:ph type="body" idx="106"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9" name="Text 2"/>
          <p:cNvSpPr>
            <a:spLocks noGrp="1"/>
          </p:cNvSpPr>
          <p:nvPr>
            <p:ph type="body" idx="107"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TS Consulting Cover">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5852160" y="-1463040"/>
            <a:ext cx="4206240" cy="4206240"/>
          </a:xfrm>
          <a:prstGeom prst="ellipse">
            <a:avLst/>
          </a:prstGeom>
          <a:solidFill>
            <a:srgbClr val="6D71FF">
              <a:alpha val="90000"/>
            </a:srgbClr>
          </a:solidFill>
          <a:ln w="12700">
            <a:solidFill>
              <a:srgbClr val="6D71FF">
                <a:alpha val="0"/>
              </a:srgbClr>
            </a:solidFill>
            <a:prstDash val="solid"/>
          </a:ln>
        </p:spPr>
      </p:sp>
      <p:sp>
        <p:nvSpPr>
          <p:cNvPr id="3" name="Shape 1"/>
          <p:cNvSpPr/>
          <p:nvPr/>
        </p:nvSpPr>
        <p:spPr>
          <a:xfrm>
            <a:off x="6949440" y="2194560"/>
            <a:ext cx="3840480" cy="3840480"/>
          </a:xfrm>
          <a:prstGeom prst="ellipse">
            <a:avLst/>
          </a:prstGeom>
          <a:solidFill>
            <a:srgbClr val="122B82">
              <a:alpha val="80000"/>
            </a:srgbClr>
          </a:solidFill>
          <a:ln w="12700">
            <a:solidFill>
              <a:srgbClr val="122B82">
                <a:alpha val="0"/>
              </a:srgbClr>
            </a:solidFill>
            <a:prstDash val="solid"/>
          </a:ln>
        </p:spPr>
      </p:sp>
      <p:pic>
        <p:nvPicPr>
          <p:cNvPr id="4" name="Image 0" descr="/home/user/Claude/presentation/assets/cts-consulting-dark.png"/>
          <p:cNvPicPr>
            <a:picLocks noChangeAspect="1"/>
          </p:cNvPicPr>
          <p:nvPr/>
        </p:nvPicPr>
        <p:blipFill>
          <a:blip r:embed="rId2"/>
          <a:stretch>
            <a:fillRect/>
          </a:stretch>
        </p:blipFill>
        <p:spPr>
          <a:xfrm>
            <a:off x="502920" y="411480"/>
            <a:ext cx="1143440" cy="777240"/>
          </a:xfrm>
          <a:prstGeom prst="rect">
            <a:avLst/>
          </a:prstGeom>
        </p:spPr>
      </p:pic>
      <p:sp>
        <p:nvSpPr>
          <p:cNvPr id="5" name="Text 2"/>
          <p:cNvSpPr>
            <a:spLocks noGrp="1"/>
          </p:cNvSpPr>
          <p:nvPr>
            <p:ph type="body" idx="103" hasCustomPrompt="1"/>
          </p:nvPr>
        </p:nvSpPr>
        <p:spPr>
          <a:xfrm>
            <a:off x="502920" y="1828800"/>
            <a:ext cx="5486400" cy="320040"/>
          </a:xfrm>
          <a:prstGeom prst="rect">
            <a:avLst/>
          </a:prstGeom>
          <a:noFill/>
          <a:ln/>
        </p:spPr>
        <p:txBody>
          <a:bodyPr wrap="square" rtlCol="0"/>
          <a:lstStyle>
            <a:lvl1pPr marL="0" indent="0">
              <a:buNone/>
              <a:defRPr lang="en-US" sz="1200" b="1" kern="0" spc="300" dirty="0">
                <a:solidFill>
                  <a:srgbClr val="6D71FF"/>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6D71FF"/>
                </a:solidFill>
                <a:latin typeface="Calibri" pitchFamily="34" charset="0"/>
                <a:ea typeface="Calibri" pitchFamily="34" charset="-122"/>
                <a:cs typeface="Calibri" pitchFamily="34" charset="-120"/>
              </a:rPr>
              <a:t>PRESENTATION TYPE</a:t>
            </a:r>
            <a:endParaRPr lang="en-US" sz="1200" dirty="0"/>
          </a:p>
        </p:txBody>
      </p:sp>
      <p:sp>
        <p:nvSpPr>
          <p:cNvPr id="6" name="Text 2"/>
          <p:cNvSpPr>
            <a:spLocks noGrp="1"/>
          </p:cNvSpPr>
          <p:nvPr>
            <p:ph type="title" idx="104" hasCustomPrompt="1"/>
          </p:nvPr>
        </p:nvSpPr>
        <p:spPr>
          <a:xfrm>
            <a:off x="502920" y="2148840"/>
            <a:ext cx="548640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7" name="Text 2"/>
          <p:cNvSpPr>
            <a:spLocks noGrp="1"/>
          </p:cNvSpPr>
          <p:nvPr>
            <p:ph type="body" idx="105" hasCustomPrompt="1"/>
          </p:nvPr>
        </p:nvSpPr>
        <p:spPr>
          <a:xfrm>
            <a:off x="502920" y="3383280"/>
            <a:ext cx="548640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8" name="Text 2"/>
          <p:cNvSpPr>
            <a:spLocks noGrp="1"/>
          </p:cNvSpPr>
          <p:nvPr>
            <p:ph type="body" idx="106"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9" name="Text 2"/>
          <p:cNvSpPr>
            <a:spLocks noGrp="1"/>
          </p:cNvSpPr>
          <p:nvPr>
            <p:ph type="body" idx="107"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TS Support Cover">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5852160" y="-1463040"/>
            <a:ext cx="4206240" cy="4206240"/>
          </a:xfrm>
          <a:prstGeom prst="ellipse">
            <a:avLst/>
          </a:prstGeom>
          <a:solidFill>
            <a:srgbClr val="F33844">
              <a:alpha val="90000"/>
            </a:srgbClr>
          </a:solidFill>
          <a:ln w="12700">
            <a:solidFill>
              <a:srgbClr val="F33844">
                <a:alpha val="0"/>
              </a:srgbClr>
            </a:solidFill>
            <a:prstDash val="solid"/>
          </a:ln>
        </p:spPr>
      </p:sp>
      <p:sp>
        <p:nvSpPr>
          <p:cNvPr id="3" name="Shape 1"/>
          <p:cNvSpPr/>
          <p:nvPr/>
        </p:nvSpPr>
        <p:spPr>
          <a:xfrm>
            <a:off x="6949440" y="2194560"/>
            <a:ext cx="3840480" cy="3840480"/>
          </a:xfrm>
          <a:prstGeom prst="ellipse">
            <a:avLst/>
          </a:prstGeom>
          <a:solidFill>
            <a:srgbClr val="A8052E">
              <a:alpha val="80000"/>
            </a:srgbClr>
          </a:solidFill>
          <a:ln w="12700">
            <a:solidFill>
              <a:srgbClr val="A8052E">
                <a:alpha val="0"/>
              </a:srgbClr>
            </a:solidFill>
            <a:prstDash val="solid"/>
          </a:ln>
        </p:spPr>
      </p:sp>
      <p:pic>
        <p:nvPicPr>
          <p:cNvPr id="4" name="Image 0" descr="/home/user/Claude/presentation/assets/cts-support-dark.png"/>
          <p:cNvPicPr>
            <a:picLocks noChangeAspect="1"/>
          </p:cNvPicPr>
          <p:nvPr/>
        </p:nvPicPr>
        <p:blipFill>
          <a:blip r:embed="rId2"/>
          <a:stretch>
            <a:fillRect/>
          </a:stretch>
        </p:blipFill>
        <p:spPr>
          <a:xfrm>
            <a:off x="502920" y="411480"/>
            <a:ext cx="1143440" cy="777240"/>
          </a:xfrm>
          <a:prstGeom prst="rect">
            <a:avLst/>
          </a:prstGeom>
        </p:spPr>
      </p:pic>
      <p:sp>
        <p:nvSpPr>
          <p:cNvPr id="5" name="Text 2"/>
          <p:cNvSpPr>
            <a:spLocks noGrp="1"/>
          </p:cNvSpPr>
          <p:nvPr>
            <p:ph type="body" idx="103" hasCustomPrompt="1"/>
          </p:nvPr>
        </p:nvSpPr>
        <p:spPr>
          <a:xfrm>
            <a:off x="502920" y="1828800"/>
            <a:ext cx="5486400" cy="320040"/>
          </a:xfrm>
          <a:prstGeom prst="rect">
            <a:avLst/>
          </a:prstGeom>
          <a:noFill/>
          <a:ln/>
        </p:spPr>
        <p:txBody>
          <a:bodyPr wrap="square" rtlCol="0"/>
          <a:lstStyle>
            <a:lvl1pPr marL="0" indent="0">
              <a:buNone/>
              <a:defRPr lang="en-US" sz="1200" b="1" kern="0" spc="300" dirty="0">
                <a:solidFill>
                  <a:srgbClr val="F33844"/>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F33844"/>
                </a:solidFill>
                <a:latin typeface="Calibri" pitchFamily="34" charset="0"/>
                <a:ea typeface="Calibri" pitchFamily="34" charset="-122"/>
                <a:cs typeface="Calibri" pitchFamily="34" charset="-120"/>
              </a:rPr>
              <a:t>PRESENTATION TYPE</a:t>
            </a:r>
            <a:endParaRPr lang="en-US" sz="1200" dirty="0"/>
          </a:p>
        </p:txBody>
      </p:sp>
      <p:sp>
        <p:nvSpPr>
          <p:cNvPr id="6" name="Text 2"/>
          <p:cNvSpPr>
            <a:spLocks noGrp="1"/>
          </p:cNvSpPr>
          <p:nvPr>
            <p:ph type="title" idx="104" hasCustomPrompt="1"/>
          </p:nvPr>
        </p:nvSpPr>
        <p:spPr>
          <a:xfrm>
            <a:off x="502920" y="2148840"/>
            <a:ext cx="548640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7" name="Text 2"/>
          <p:cNvSpPr>
            <a:spLocks noGrp="1"/>
          </p:cNvSpPr>
          <p:nvPr>
            <p:ph type="body" idx="105" hasCustomPrompt="1"/>
          </p:nvPr>
        </p:nvSpPr>
        <p:spPr>
          <a:xfrm>
            <a:off x="502920" y="3383280"/>
            <a:ext cx="548640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8" name="Text 2"/>
          <p:cNvSpPr>
            <a:spLocks noGrp="1"/>
          </p:cNvSpPr>
          <p:nvPr>
            <p:ph type="body" idx="106"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9" name="Text 2"/>
          <p:cNvSpPr>
            <a:spLocks noGrp="1"/>
          </p:cNvSpPr>
          <p:nvPr>
            <p:ph type="body" idx="107"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TS Section (navy)">
    <p:bg>
      <p:bgPr>
        <a:solidFill>
          <a:srgbClr val="122B82"/>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6D71FF">
              <a:alpha val="45000"/>
            </a:srgbClr>
          </a:solidFill>
          <a:ln w="12700">
            <a:solidFill>
              <a:srgbClr val="6D71FF">
                <a:alpha val="0"/>
              </a:srgbClr>
            </a:solidFill>
            <a:prstDash val="solid"/>
          </a:ln>
        </p:spPr>
      </p:sp>
      <p:pic>
        <p:nvPicPr>
          <p:cNvPr id="3" name="Image 0" descr="/home/user/Claude/presentation/assets/cts-logo-dark.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3FD0C9"/>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3FD0C9"/>
          </a:solidFill>
          <a:ln w="12700">
            <a:solidFill>
              <a:srgbClr val="3FD0C9"/>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1A1A1A"/>
                </a:solidFill>
                <a:latin typeface="Calibri" pitchFamily="34" charset="0"/>
                <a:ea typeface="Calibri" pitchFamily="34" charset="-122"/>
                <a:cs typeface="Calibri" pitchFamily="34" charset="-120"/>
              </a:defRPr>
            </a:lvl1pPr>
          </a:lstStyle>
          <a:p>
            <a:pPr marL="0" indent="0" algn="ctr">
              <a:buNone/>
            </a:pPr>
            <a:r>
              <a:rPr lang="en-US" sz="4800" b="1" dirty="0">
                <a:solidFill>
                  <a:srgbClr val="1A1A1A"/>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Corporate Technology Services  |  Seamless AV</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TS Section (ligh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3FD0C9">
              <a:alpha val="20000"/>
            </a:srgbClr>
          </a:solidFill>
          <a:ln w="12700">
            <a:solidFill>
              <a:srgbClr val="3FD0C9">
                <a:alpha val="0"/>
              </a:srgbClr>
            </a:solidFill>
            <a:prstDash val="solid"/>
          </a:ln>
        </p:spPr>
      </p:sp>
      <p:pic>
        <p:nvPicPr>
          <p:cNvPr id="3" name="Image 0" descr="/home/user/Claude/presentation/assets/cts-logo.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122B82"/>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1A1A1A"/>
          </a:solidFill>
          <a:ln w="12700">
            <a:solidFill>
              <a:srgbClr val="1A1A1A"/>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FFFFFF"/>
                </a:solidFill>
                <a:latin typeface="Calibri" pitchFamily="34" charset="0"/>
                <a:ea typeface="Calibri" pitchFamily="34" charset="-122"/>
                <a:cs typeface="Calibri" pitchFamily="34" charset="-120"/>
              </a:defRPr>
            </a:lvl1pPr>
          </a:lstStyle>
          <a:p>
            <a:pPr marL="0" indent="0" algn="ctr">
              <a:buNone/>
            </a:pPr>
            <a:r>
              <a:rPr lang="en-US" sz="4800" b="1" dirty="0">
                <a:solidFill>
                  <a:srgbClr val="FFFFFF"/>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1A1A1A"/>
                </a:solidFill>
                <a:latin typeface="Calibri" pitchFamily="34" charset="0"/>
                <a:ea typeface="Calibri" pitchFamily="34" charset="-122"/>
                <a:cs typeface="Calibri" pitchFamily="34" charset="-120"/>
              </a:defRPr>
            </a:lvl1pPr>
          </a:lstStyle>
          <a:p>
            <a:pPr marL="0" indent="0" algn="l">
              <a:buNone/>
            </a:pPr>
            <a:r>
              <a:rPr lang="en-US" sz="3600" b="1" dirty="0">
                <a:solidFill>
                  <a:srgbClr val="1A1A1A"/>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5F6670"/>
                </a:solidFill>
                <a:latin typeface="Calibri" pitchFamily="34" charset="0"/>
                <a:ea typeface="Calibri" pitchFamily="34" charset="-122"/>
                <a:cs typeface="Calibri" pitchFamily="34" charset="-120"/>
              </a:defRPr>
            </a:lvl1pPr>
          </a:lstStyle>
          <a:p>
            <a:pPr marL="0" indent="0">
              <a:buNone/>
            </a:pPr>
            <a:r>
              <a:rPr lang="en-US" sz="1600" dirty="0">
                <a:solidFill>
                  <a:srgbClr val="5F6670"/>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Corporate Technology Services  |  Seamless AV</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TS Production Section">
    <p:bg>
      <p:bgPr>
        <a:solidFill>
          <a:srgbClr val="005358"/>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3FD0C9">
              <a:alpha val="40000"/>
            </a:srgbClr>
          </a:solidFill>
          <a:ln w="12700">
            <a:solidFill>
              <a:srgbClr val="3FD0C9">
                <a:alpha val="0"/>
              </a:srgbClr>
            </a:solidFill>
            <a:prstDash val="solid"/>
          </a:ln>
        </p:spPr>
      </p:sp>
      <p:pic>
        <p:nvPicPr>
          <p:cNvPr id="3" name="Image 0" descr="/home/user/Claude/presentation/assets/cts-production-white.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3FD0C9"/>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3FD0C9"/>
          </a:solidFill>
          <a:ln w="12700">
            <a:solidFill>
              <a:srgbClr val="3FD0C9"/>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1A1A1A"/>
                </a:solidFill>
                <a:latin typeface="Calibri" pitchFamily="34" charset="0"/>
                <a:ea typeface="Calibri" pitchFamily="34" charset="-122"/>
                <a:cs typeface="Calibri" pitchFamily="34" charset="-120"/>
              </a:defRPr>
            </a:lvl1pPr>
          </a:lstStyle>
          <a:p>
            <a:pPr marL="0" indent="0" algn="ctr">
              <a:buNone/>
            </a:pPr>
            <a:r>
              <a:rPr lang="en-US" sz="4800" b="1" dirty="0">
                <a:solidFill>
                  <a:srgbClr val="1A1A1A"/>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CTS Production  |  Engaging Experiences</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TS Consulting Section">
    <p:bg>
      <p:bgPr>
        <a:solidFill>
          <a:srgbClr val="122B82"/>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6D71FF">
              <a:alpha val="40000"/>
            </a:srgbClr>
          </a:solidFill>
          <a:ln w="12700">
            <a:solidFill>
              <a:srgbClr val="6D71FF">
                <a:alpha val="0"/>
              </a:srgbClr>
            </a:solidFill>
            <a:prstDash val="solid"/>
          </a:ln>
        </p:spPr>
      </p:sp>
      <p:pic>
        <p:nvPicPr>
          <p:cNvPr id="3" name="Image 0" descr="/home/user/Claude/presentation/assets/cts-consulting-white.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6D71FF"/>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6D71FF"/>
          </a:solidFill>
          <a:ln w="12700">
            <a:solidFill>
              <a:srgbClr val="6D71FF"/>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1A1A1A"/>
                </a:solidFill>
                <a:latin typeface="Calibri" pitchFamily="34" charset="0"/>
                <a:ea typeface="Calibri" pitchFamily="34" charset="-122"/>
                <a:cs typeface="Calibri" pitchFamily="34" charset="-120"/>
              </a:defRPr>
            </a:lvl1pPr>
          </a:lstStyle>
          <a:p>
            <a:pPr marL="0" indent="0" algn="ctr">
              <a:buNone/>
            </a:pPr>
            <a:r>
              <a:rPr lang="en-US" sz="4800" b="1" dirty="0">
                <a:solidFill>
                  <a:srgbClr val="1A1A1A"/>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CTS Consulting  |  End to End collaboration</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TS Support Section">
    <p:bg>
      <p:bgPr>
        <a:solidFill>
          <a:srgbClr val="A8052E"/>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F33844">
              <a:alpha val="40000"/>
            </a:srgbClr>
          </a:solidFill>
          <a:ln w="12700">
            <a:solidFill>
              <a:srgbClr val="F33844">
                <a:alpha val="0"/>
              </a:srgbClr>
            </a:solidFill>
            <a:prstDash val="solid"/>
          </a:ln>
        </p:spPr>
      </p:sp>
      <p:pic>
        <p:nvPicPr>
          <p:cNvPr id="3" name="Image 0" descr="/home/user/Claude/presentation/assets/cts-support-white.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F33844"/>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F33844"/>
          </a:solidFill>
          <a:ln w="12700">
            <a:solidFill>
              <a:srgbClr val="F33844"/>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1A1A1A"/>
                </a:solidFill>
                <a:latin typeface="Calibri" pitchFamily="34" charset="0"/>
                <a:ea typeface="Calibri" pitchFamily="34" charset="-122"/>
                <a:cs typeface="Calibri" pitchFamily="34" charset="-120"/>
              </a:defRPr>
            </a:lvl1pPr>
          </a:lstStyle>
          <a:p>
            <a:pPr marL="0" indent="0" algn="ctr">
              <a:buNone/>
            </a:pPr>
            <a:r>
              <a:rPr lang="en-US" sz="4800" b="1" dirty="0">
                <a:solidFill>
                  <a:srgbClr val="1A1A1A"/>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CTS Support  |  Personalised Service</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TS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logo.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Corporate Technology Services  |  Seamless AV</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TS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logo.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Corporate Technology Services  |  Seamless AV</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1A1A1A"/>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TS Production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005358"/>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005358"/>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production.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Production  |  Engaging Experiences</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TS Production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005358"/>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005358"/>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production.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Production  |  Engaging Experiences</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1A1A1A"/>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TS Consulting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consulting.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Consulting  |  End to End collaboration</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TS Consulting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consulting.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Consulting  |  End to End collaboration</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1A1A1A"/>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TS Support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A8052E"/>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A8052E"/>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support.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Support  |  Personalised Service</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TS Support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A8052E"/>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A8052E"/>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support.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Support  |  Personalised Service</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1A1A1A"/>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chart" Target="../charts/chart1.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chart" Target="../charts/chart2.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chart" Target="../charts/chart3.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7.png"/><Relationship Id="rId3" Type="http://schemas.openxmlformats.org/officeDocument/2006/relationships/chart" Target="../charts/chart5.xml"/><Relationship Id="rId4" Type="http://schemas.openxmlformats.org/officeDocument/2006/relationships/notesSlide" Target="../notesSlides/notesSlide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chart" Target="../charts/chart4.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chart" Target="../charts/chart5.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chart" Target="../charts/chart6.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28800"/>
            <a:ext cx="5669280" cy="320040"/>
          </a:xfrm>
          <a:prstGeom prst="rect">
            <a:avLst/>
          </a:prstGeom>
          <a:noFill/>
          <a:ln/>
        </p:spPr>
        <p:txBody>
          <a:bodyPr wrap="square" lIns="0" tIns="0" rIns="0" bIns="0" rtlCol="0"/>
          <a:lstStyle/>
          <a:p>
            <a:pPr marL="0" indent="0">
              <a:buNone/>
            </a:pPr>
            <a:r>
              <a:rPr lang="en-US" sz="1200" b="1" kern="0" spc="300" dirty="0">
                <a:solidFill>
                  <a:srgbClr val="3FD0C9"/>
                </a:solidFill>
                <a:latin typeface="Calibri" pitchFamily="34" charset="0"/>
                <a:ea typeface="Calibri" pitchFamily="34" charset="-122"/>
                <a:cs typeface="Calibri" pitchFamily="34" charset="-120"/>
              </a:rPr>
              <a:t>MONTHLY BUSINESS REVIEW</a:t>
            </a:r>
            <a:endParaRPr lang="en-US" sz="1200" dirty="0"/>
          </a:p>
        </p:txBody>
      </p:sp>
      <p:sp>
        <p:nvSpPr>
          <p:cNvPr id="3" name="Text 3"/>
          <p:cNvSpPr>
            <a:spLocks noGrp="1"/>
          </p:cNvSpPr>
          <p:nvPr>
            <p:ph type="title" idx="105" hasCustomPrompt="1"/>
          </p:nvPr>
        </p:nvSpPr>
        <p:spPr>
          <a:xfrm>
            <a:off x="502920" y="2148840"/>
            <a:ext cx="5669280" cy="1234440"/>
          </a:xfrm>
          <a:prstGeom prst="rect">
            <a:avLst/>
          </a:prstGeom>
          <a:noFill/>
          <a:ln/>
        </p:spPr>
        <p:txBody>
          <a:bodyPr wrap="square" lIns="0" tIns="0" rIns="0" bIns="0" rtlCol="0" anchor="t"/>
          <a:lstStyle/>
          <a:p>
            <a:pPr marL="0" indent="0" algn="l">
              <a:buNone/>
            </a:pPr>
            <a:r>
              <a:rPr lang="en-US" sz="4000" b="1" dirty="0">
                <a:solidFill>
                  <a:srgbClr val="FFFFFF"/>
                </a:solidFill>
                <a:latin typeface="Calibri" pitchFamily="34" charset="0"/>
                <a:ea typeface="Calibri" pitchFamily="34" charset="-122"/>
                <a:cs typeface="Calibri" pitchFamily="34" charset="-120"/>
              </a:rPr>
              <a:t>September 2026</a:t>
            </a:r>
            <a:endParaRPr lang="en-US" sz="4000" dirty="0"/>
          </a:p>
        </p:txBody>
      </p:sp>
      <p:sp>
        <p:nvSpPr>
          <p:cNvPr id="4" name="Text 3"/>
          <p:cNvSpPr>
            <a:spLocks noGrp="1"/>
          </p:cNvSpPr>
          <p:nvPr>
            <p:ph type="body" idx="106" hasCustomPrompt="1"/>
          </p:nvPr>
        </p:nvSpPr>
        <p:spPr>
          <a:xfrm>
            <a:off x="502920" y="3383280"/>
            <a:ext cx="5669280" cy="548640"/>
          </a:xfrm>
          <a:prstGeom prst="rect">
            <a:avLst/>
          </a:prstGeom>
          <a:noFill/>
          <a:ln/>
        </p:spPr>
        <p:txBody>
          <a:bodyPr wrap="square" lIns="0" tIns="0" rIns="0" bIns="0" rtlCol="0" anchor="t"/>
          <a:lstStyle/>
          <a:p>
            <a:pPr marL="0" indent="0">
              <a:buNone/>
            </a:pPr>
            <a:r>
              <a:rPr lang="en-US" sz="1800" dirty="0">
                <a:solidFill>
                  <a:srgbClr val="C9CED6"/>
                </a:solidFill>
                <a:latin typeface="Calibri" pitchFamily="34" charset="0"/>
                <a:ea typeface="Calibri" pitchFamily="34" charset="-122"/>
                <a:cs typeface="Calibri" pitchFamily="34" charset="-120"/>
              </a:rPr>
              <a:t>Results, risk revenue, customers, cash and utilisation</a:t>
            </a:r>
            <a:endParaRPr lang="en-US" sz="1800" dirty="0"/>
          </a:p>
        </p:txBody>
      </p:sp>
      <p:sp>
        <p:nvSpPr>
          <p:cNvPr id="5" name="Text 3"/>
          <p:cNvSpPr>
            <a:spLocks noGrp="1"/>
          </p:cNvSpPr>
          <p:nvPr>
            <p:ph type="body" idx="107" hasCustomPrompt="1"/>
          </p:nvPr>
        </p:nvSpPr>
        <p:spPr>
          <a:xfrm>
            <a:off x="502920" y="4251960"/>
            <a:ext cx="3657600" cy="502920"/>
          </a:xfrm>
          <a:prstGeom prst="rect">
            <a:avLst/>
          </a:prstGeom>
          <a:noFill/>
          <a:ln/>
        </p:spPr>
        <p:txBody>
          <a:bodyPr wrap="square" lIns="0" tIns="0" rIns="0" bIns="0" rtlCol="0" anchor="b"/>
          <a:lstStyle/>
          <a:p>
            <a:pPr marL="0" indent="0">
              <a:buNone/>
            </a:pPr>
            <a:r>
              <a:rPr lang="en-US" sz="1200" dirty="0">
                <a:solidFill>
                  <a:srgbClr val="C9CED6"/>
                </a:solidFill>
                <a:latin typeface="Calibri" pitchFamily="34" charset="0"/>
                <a:ea typeface="Calibri" pitchFamily="34" charset="-122"/>
                <a:cs typeface="Calibri" pitchFamily="34" charset="-120"/>
              </a:rPr>
              <a:t>Financial Controller</a:t>
            </a:r>
            <a:endParaRPr lang="en-US" sz="1200" dirty="0"/>
          </a:p>
        </p:txBody>
      </p:sp>
      <p:sp>
        <p:nvSpPr>
          <p:cNvPr id="6" name="Text 3"/>
          <p:cNvSpPr>
            <a:spLocks noGrp="1"/>
          </p:cNvSpPr>
          <p:nvPr>
            <p:ph type="body" idx="108" hasCustomPrompt="1"/>
          </p:nvPr>
        </p:nvSpPr>
        <p:spPr>
          <a:xfrm>
            <a:off x="5943600" y="4251960"/>
            <a:ext cx="2697480" cy="502920"/>
          </a:xfrm>
          <a:prstGeom prst="rect">
            <a:avLst/>
          </a:prstGeom>
          <a:noFill/>
          <a:ln/>
        </p:spPr>
        <p:txBody>
          <a:bodyPr wrap="square" lIns="0" tIns="0" rIns="0" bIns="0" rtlCol="0" anchor="b"/>
          <a:lstStyle/>
          <a:p>
            <a:pPr marL="0" indent="0" algn="r">
              <a:buNone/>
            </a:pPr>
            <a:r>
              <a:rPr lang="en-US" sz="1200" dirty="0">
                <a:solidFill>
                  <a:srgbClr val="C9CED6"/>
                </a:solidFill>
                <a:latin typeface="Calibri" pitchFamily="34" charset="0"/>
                <a:ea typeface="Calibri" pitchFamily="34" charset="-122"/>
                <a:cs typeface="Calibri" pitchFamily="34" charset="-120"/>
              </a:rPr>
              <a:t>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AGENDA</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What we will cover</a:t>
            </a:r>
            <a:endParaRPr lang="en-US" sz="2800" dirty="0"/>
          </a:p>
        </p:txBody>
      </p:sp>
      <p:sp>
        <p:nvSpPr>
          <p:cNvPr id="4" name="Text 1"/>
          <p:cNvSpPr>
            <a:spLocks noGrp="1"/>
          </p:cNvSpPr>
          <p:nvPr>
            <p:ph type="body" idx="104" hasCustomPrompt="1"/>
          </p:nvPr>
        </p:nvSpPr>
        <p:spPr>
          <a:xfrm>
            <a:off x="502920" y="1554480"/>
            <a:ext cx="8138160"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Financial performance: P&amp;L summary, P&amp;L per department, risk revenue profile</a:t>
            </a:r>
            <a:endParaRPr lang="en-US" sz="1600" dirty="0"/>
          </a:p>
          <a:p>
            <a:pPr marL="342900" indent="-3429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Customers and cash: top 10 customers, DSO and receivables, top customers year on year</a:t>
            </a:r>
            <a:endParaRPr lang="en-US" sz="1600" dirty="0"/>
          </a:p>
          <a:p>
            <a:pPr marL="342900" indent="-3429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People and utilisation: utilisation by department, profit based on utilisation</a:t>
            </a:r>
            <a:endParaRPr lang="en-US" sz="1600" dirty="0"/>
          </a:p>
          <a:p>
            <a:pPr marL="342900" indent="-3429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Summary and actions</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1A1A1A"/>
                </a:solidFill>
                <a:latin typeface="Calibri" pitchFamily="34" charset="0"/>
                <a:ea typeface="Calibri" pitchFamily="34" charset="-122"/>
                <a:cs typeface="Calibri" pitchFamily="34" charset="-120"/>
              </a:rPr>
              <a:t>01</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FFFFFF"/>
                </a:solidFill>
                <a:latin typeface="Calibri" pitchFamily="34" charset="0"/>
                <a:ea typeface="Calibri" pitchFamily="34" charset="-122"/>
                <a:cs typeface="Calibri" pitchFamily="34" charset="-120"/>
              </a:rPr>
              <a:t>Financial performance</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C9CED6"/>
                </a:solidFill>
                <a:latin typeface="Calibri" pitchFamily="34" charset="0"/>
                <a:ea typeface="Calibri" pitchFamily="34" charset="-122"/>
                <a:cs typeface="Calibri" pitchFamily="34" charset="-120"/>
              </a:rPr>
              <a:t>P&amp;L for September 2026 and YTD (Jul to Sep)</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P&amp;L summary</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975104"/>
        </p:xfrm>
        <a:graphic>
          <a:graphicData uri="http://schemas.openxmlformats.org/drawingml/2006/table">
            <a:tbl>
              <a:tblPr/>
              <a:tblGrid>
                <a:gridCol w="1371600">
                  <a:extLst>
                    <a:ext uri="{9D8B030D-6E8A-4147-A177-3AD203B41FA5}">
                      <a16:colId xmlns:a16="http://schemas.microsoft.com/office/drawing/2014/main" val="20000"/>
                    </a:ext>
                  </a:extLst>
                </a:gridCol>
                <a:gridCol w="603504">
                  <a:extLst>
                    <a:ext uri="{9D8B030D-6E8A-4147-A177-3AD203B41FA5}">
                      <a16:colId xmlns:a16="http://schemas.microsoft.com/office/drawing/2014/main" val="20001"/>
                    </a:ext>
                  </a:extLst>
                </a:gridCol>
                <a:gridCol w="603504">
                  <a:extLst>
                    <a:ext uri="{9D8B030D-6E8A-4147-A177-3AD203B41FA5}">
                      <a16:colId xmlns:a16="http://schemas.microsoft.com/office/drawing/2014/main" val="20002"/>
                    </a:ext>
                  </a:extLst>
                </a:gridCol>
                <a:gridCol w="603504">
                  <a:extLst>
                    <a:ext uri="{9D8B030D-6E8A-4147-A177-3AD203B41FA5}">
                      <a16:colId xmlns:a16="http://schemas.microsoft.com/office/drawing/2014/main" val="20003"/>
                    </a:ext>
                  </a:extLst>
                </a:gridCol>
                <a:gridCol w="603504">
                  <a:extLst>
                    <a:ext uri="{9D8B030D-6E8A-4147-A177-3AD203B41FA5}">
                      <a16:colId xmlns:a16="http://schemas.microsoft.com/office/drawing/2014/main" val="20004"/>
                    </a:ext>
                  </a:extLst>
                </a:gridCol>
                <a:gridCol w="603504">
                  <a:extLst>
                    <a:ext uri="{9D8B030D-6E8A-4147-A177-3AD203B41FA5}">
                      <a16:colId xmlns:a16="http://schemas.microsoft.com/office/drawing/2014/main" val="20005"/>
                    </a:ext>
                  </a:extLst>
                </a:gridCol>
                <a:gridCol w="603504">
                  <a:extLst>
                    <a:ext uri="{9D8B030D-6E8A-4147-A177-3AD203B41FA5}">
                      <a16:colId xmlns:a16="http://schemas.microsoft.com/office/drawing/2014/main" val="20006"/>
                    </a:ext>
                  </a:extLst>
                </a:gridCol>
                <a:gridCol w="585216">
                  <a:extLst>
                    <a:ext uri="{9D8B030D-6E8A-4147-A177-3AD203B41FA5}">
                      <a16:colId xmlns:a16="http://schemas.microsoft.com/office/drawing/2014/main" val="20007"/>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 thousands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Sep 26</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Budget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Var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Budget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Var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Sep 25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Revenue</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562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414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1,624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1,996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-372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356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Cost of sales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(374)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(289)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-85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(992)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(1,084)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+92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(194)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46888">
                <a:tc>
                  <a:txBody>
                    <a:bodyPr/>
                    <a:lstStyle/>
                    <a:p>
                      <a:pPr marL="0" indent="0" algn="l">
                        <a:buNone/>
                      </a:pPr>
                      <a:r>
                        <a:rPr lang="en-US" sz="950" b="1" dirty="0">
                          <a:solidFill>
                            <a:srgbClr val="1A1A1A"/>
                          </a:solidFill>
                          <a:latin typeface="Calibri" pitchFamily="34" charset="0"/>
                          <a:ea typeface="Calibri" pitchFamily="34" charset="-122"/>
                          <a:cs typeface="Calibri" pitchFamily="34" charset="-120"/>
                        </a:rPr>
                        <a:t>Gross profit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188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+63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632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912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-280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162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3"/>
                  </a:ext>
                </a:extLst>
              </a:tr>
              <a:tr h="246888">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Gross margin %</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33.4%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30.1%</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+3.3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45.7%</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-6.8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45.5%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Overheads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(230)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(642)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(690)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(215)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46888">
                <a:tc>
                  <a:txBody>
                    <a:bodyPr/>
                    <a:lstStyle/>
                    <a:p>
                      <a:pPr marL="0" indent="0" algn="l">
                        <a:buNone/>
                      </a:pPr>
                      <a:r>
                        <a:rPr lang="en-US" sz="950" b="1" dirty="0">
                          <a:solidFill>
                            <a:srgbClr val="1A1A1A"/>
                          </a:solidFill>
                          <a:latin typeface="Calibri" pitchFamily="34" charset="0"/>
                          <a:ea typeface="Calibri" pitchFamily="34" charset="-122"/>
                          <a:cs typeface="Calibri" pitchFamily="34" charset="-120"/>
                        </a:rPr>
                        <a:t>EBITDA</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(107)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223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-217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(53)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r h="246888">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EBITDA margin %</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-25.9%</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+20.1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0.4%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11.2%</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-10.8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-14.8%</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4" name="Text 2"/>
          <p:cNvSpPr txBox="1"/>
          <p:nvPr/>
        </p:nvSpPr>
        <p:spPr>
          <a:xfrm>
            <a:off x="502920" y="3547872"/>
            <a:ext cx="5577840" cy="201168"/>
          </a:xfrm>
          <a:prstGeom prst="rect">
            <a:avLst/>
          </a:prstGeom>
          <a:noFill/>
          <a:ln/>
        </p:spPr>
        <p:txBody>
          <a:bodyPr wrap="square" lIns="0" tIns="0" rIns="0" bIns="0" rtlCol="0" anchor="ctr"/>
          <a:lstStyle/>
          <a:p>
            <a:pPr marL="0" indent="0">
              <a:buNone/>
            </a:pPr>
            <a:r>
              <a:rPr lang="en-US" sz="900" b="1" dirty="0">
                <a:solidFill>
                  <a:srgbClr val="5F6670"/>
                </a:solidFill>
                <a:latin typeface="Calibri" pitchFamily="34" charset="0"/>
                <a:ea typeface="Calibri" pitchFamily="34" charset="-122"/>
                <a:cs typeface="Calibri" pitchFamily="34" charset="-120"/>
              </a:rPr>
              <a:t>Revenue and EBITDA, Jul to Sep actual, Oct to Dec budget</a:t>
            </a:r>
            <a:endParaRPr lang="en-US" sz="900" dirty="0"/>
          </a:p>
        </p:txBody>
      </p:sp>
      <p:sp>
        <p:nvSpPr>
          <p:cNvPr id="7"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8"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9"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Revenue beat budget by 148k. The year is still 372k behind.</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The whole beat is one Integration project, Aware Super. It does not repeat.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Gross margin was 33.4 per cent, but that Integration work carries only 10.</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Overheads 230k against 232k budget. Cost control is not the problem.</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EBITDA negative 32k for the month, 6k YTD against a 223k budget.</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4</a:t>
            </a:fld>
            <a:endParaRPr lang="en-US"/>
          </a:p>
        </p:txBody>
      </p:sp>
      <p:pic>
        <p:nvPicPr>
          <p:cNvPr id="26" name="Picture 25" descr="rev_ebitda.png"/>
          <p:cNvPicPr>
            <a:picLocks noChangeAspect="1"/>
          </p:cNvPicPr>
          <p:nvPr/>
        </p:nvPicPr>
        <p:blipFill>
          <a:blip r:embed="rId4"/>
          <a:stretch>
            <a:fillRect/>
          </a:stretch>
        </p:blipFill>
        <p:spPr>
          <a:xfrm>
            <a:off x="884803" y="3730752"/>
            <a:ext cx="4814073" cy="88696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P&amp;L per department, Sep 26</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975104"/>
        </p:xfrm>
        <a:graphic>
          <a:graphicData uri="http://schemas.openxmlformats.org/drawingml/2006/table">
            <a:tbl>
              <a:tblPr/>
              <a:tblGrid>
                <a:gridCol w="10972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713232">
                  <a:extLst>
                    <a:ext uri="{9D8B030D-6E8A-4147-A177-3AD203B41FA5}">
                      <a16:colId xmlns:a16="http://schemas.microsoft.com/office/drawing/2014/main" val="20004"/>
                    </a:ext>
                  </a:extLst>
                </a:gridCol>
                <a:gridCol w="548640">
                  <a:extLst>
                    <a:ext uri="{9D8B030D-6E8A-4147-A177-3AD203B41FA5}">
                      <a16:colId xmlns:a16="http://schemas.microsoft.com/office/drawing/2014/main" val="20005"/>
                    </a:ext>
                  </a:extLst>
                </a:gridCol>
                <a:gridCol w="640080">
                  <a:extLst>
                    <a:ext uri="{9D8B030D-6E8A-4147-A177-3AD203B41FA5}">
                      <a16:colId xmlns:a16="http://schemas.microsoft.com/office/drawing/2014/main" val="20006"/>
                    </a:ext>
                  </a:extLst>
                </a:gridCol>
                <a:gridCol w="749808">
                  <a:extLst>
                    <a:ext uri="{9D8B030D-6E8A-4147-A177-3AD203B41FA5}">
                      <a16:colId xmlns:a16="http://schemas.microsoft.com/office/drawing/2014/main" val="20007"/>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 thousands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Revenue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Budget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Var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Gross profit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GM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All overhead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Result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Support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243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101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41.7%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Events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Video</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79.6%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Integration</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235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10.1%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Consulting</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Admin</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246888">
                <a:tc>
                  <a:txBody>
                    <a:bodyPr/>
                    <a:lstStyle/>
                    <a:p>
                      <a:pPr marL="0" indent="0" algn="l">
                        <a:buNone/>
                      </a:pPr>
                      <a:r>
                        <a:rPr lang="en-US" sz="950" b="1" dirty="0">
                          <a:solidFill>
                            <a:srgbClr val="1A1A1A"/>
                          </a:solidFill>
                          <a:latin typeface="Calibri" pitchFamily="34" charset="0"/>
                          <a:ea typeface="Calibri" pitchFamily="34" charset="-122"/>
                          <a:cs typeface="Calibri" pitchFamily="34" charset="-120"/>
                        </a:rPr>
                        <a:t>CTS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562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414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+148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188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33.4%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(230)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(41)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7"/>
                  </a:ext>
                </a:extLst>
              </a:tr>
            </a:tbl>
          </a:graphicData>
        </a:graphic>
      </p:graphicFrame>
      <p:sp>
        <p:nvSpPr>
          <p:cNvPr id="5" name="Text 2"/>
          <p:cNvSpPr txBox="1"/>
          <p:nvPr/>
        </p:nvSpPr>
        <p:spPr>
          <a:xfrm>
            <a:off x="502920" y="3547872"/>
            <a:ext cx="5577840" cy="457200"/>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All overhead is the department's own overhead plus its share of admin, spread on the preset keys. Admin itself carries nothing once its overhead is charged out. Result is revenue less direct costs less all overhead, and the five departments add back to net profit exactly.</a:t>
            </a:r>
            <a:endParaRPr lang="en-US" sz="900" dirty="0"/>
          </a:p>
        </p:txBody>
      </p:sp>
      <p:sp>
        <p:nvSpPr>
          <p:cNvPr id="4"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Support is the only department covering its overhead. It made 29k.</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Events lost 54k. It earned 73k and was charged 111k of overhead.</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Integration made 10k on 235k. A 10 per cent margin is thin.</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Consulting lost 20k, carrying overhead with almost no fee base.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The five results add back to net profit exactly.</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Revenue and contribution by department</a:t>
            </a:r>
            <a:endParaRPr lang="en-US" sz="2800" dirty="0"/>
          </a:p>
        </p:txBody>
      </p:sp>
      <p:sp>
        <p:nvSpPr>
          <p:cNvPr id="5" name="Shape 2"/>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6" name="Text 3"/>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7" name="Text 4"/>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Support and Integration were 85 per cent of September revenue.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Integration's bar is almost all Aware Super. Strip it out and it changes.</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Only those two clear their overhead charge. The other three do not.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Events carries the biggest charge because of the Office Dept key.</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That key is fixed for the year. Revisit it at FY28, not now.</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6</a:t>
            </a:fld>
            <a:endParaRPr lang="en-US"/>
          </a:p>
        </p:txBody>
      </p:sp>
      <p:pic>
        <p:nvPicPr>
          <p:cNvPr id="26" name="Picture 25" descr="dept.png"/>
          <p:cNvPicPr>
            <a:picLocks noChangeAspect="1"/>
          </p:cNvPicPr>
          <p:nvPr/>
        </p:nvPicPr>
        <p:blipFill>
          <a:blip r:embed="rId4"/>
          <a:stretch>
            <a:fillRect/>
          </a:stretch>
        </p:blipFill>
        <p:spPr>
          <a:xfrm>
            <a:off x="589058" y="1463040"/>
            <a:ext cx="5405563" cy="31546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Risk revenue profile</a:t>
            </a:r>
            <a:endParaRPr lang="en-US" sz="2800" dirty="0"/>
          </a:p>
        </p:txBody>
      </p:sp>
      <p:sp>
        <p:nvSpPr>
          <p:cNvPr id="4" name="Shape 2"/>
          <p:cNvSpPr/>
          <p:nvPr/>
        </p:nvSpPr>
        <p:spPr>
          <a:xfrm>
            <a:off x="502920" y="1463040"/>
            <a:ext cx="1737360" cy="640080"/>
          </a:xfrm>
          <a:prstGeom prst="rect">
            <a:avLst/>
          </a:prstGeom>
          <a:solidFill>
            <a:srgbClr val="F4F4F4"/>
          </a:solidFill>
          <a:ln w="12700">
            <a:solidFill>
              <a:srgbClr val="F4F4F4"/>
            </a:solidFill>
            <a:prstDash val="solid"/>
          </a:ln>
        </p:spPr>
        <p:txBody>
          <a:bodyPr/>
          <a:lstStyle/>
          <a:p>
            <a:endParaRPr lang="en-AU"/>
          </a:p>
        </p:txBody>
      </p:sp>
      <p:sp>
        <p:nvSpPr>
          <p:cNvPr id="5" name="Text 3"/>
          <p:cNvSpPr txBox="1"/>
          <p:nvPr/>
        </p:nvSpPr>
        <p:spPr>
          <a:xfrm>
            <a:off x="640080" y="1554480"/>
            <a:ext cx="1463040" cy="332842"/>
          </a:xfrm>
          <a:prstGeom prst="rect">
            <a:avLst/>
          </a:prstGeom>
          <a:noFill/>
          <a:ln/>
        </p:spPr>
        <p:txBody>
          <a:bodyPr wrap="square" lIns="0" tIns="0" rIns="0" bIns="0" rtlCol="0" anchor="b"/>
          <a:lstStyle/>
          <a:p>
            <a:pPr marL="0" indent="0">
              <a:buNone/>
            </a:pPr>
            <a:r>
              <a:rPr lang="en-US" sz="2200" b="1" dirty="0">
                <a:solidFill>
                  <a:srgbClr val="005358"/>
                </a:solidFill>
                <a:latin typeface="Calibri" pitchFamily="34" charset="0"/>
                <a:ea typeface="Calibri" pitchFamily="34" charset="-122"/>
                <a:cs typeface="Calibri" pitchFamily="34" charset="-120"/>
              </a:rPr>
              <a:t>43%</a:t>
            </a:r>
            <a:endParaRPr lang="en-US" sz="2200" dirty="0"/>
          </a:p>
        </p:txBody>
      </p:sp>
      <p:sp>
        <p:nvSpPr>
          <p:cNvPr id="6" name="Text 4"/>
          <p:cNvSpPr txBox="1"/>
          <p:nvPr/>
        </p:nvSpPr>
        <p:spPr>
          <a:xfrm>
            <a:off x="640080" y="1859890"/>
            <a:ext cx="1463040" cy="217627"/>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Contracted revenue, YTD</a:t>
            </a:r>
            <a:endParaRPr lang="en-US" sz="900" dirty="0"/>
          </a:p>
        </p:txBody>
      </p:sp>
      <p:sp>
        <p:nvSpPr>
          <p:cNvPr id="7" name="Shape 5"/>
          <p:cNvSpPr/>
          <p:nvPr/>
        </p:nvSpPr>
        <p:spPr>
          <a:xfrm>
            <a:off x="2377440" y="1463040"/>
            <a:ext cx="1737360" cy="640080"/>
          </a:xfrm>
          <a:prstGeom prst="rect">
            <a:avLst/>
          </a:prstGeom>
          <a:solidFill>
            <a:srgbClr val="F4F4F4"/>
          </a:solidFill>
          <a:ln w="12700">
            <a:solidFill>
              <a:srgbClr val="F4F4F4"/>
            </a:solidFill>
            <a:prstDash val="solid"/>
          </a:ln>
        </p:spPr>
        <p:txBody>
          <a:bodyPr/>
          <a:lstStyle/>
          <a:p>
            <a:endParaRPr lang="en-AU"/>
          </a:p>
        </p:txBody>
      </p:sp>
      <p:sp>
        <p:nvSpPr>
          <p:cNvPr id="8" name="Text 6"/>
          <p:cNvSpPr txBox="1"/>
          <p:nvPr/>
        </p:nvSpPr>
        <p:spPr>
          <a:xfrm>
            <a:off x="2514600" y="1554480"/>
            <a:ext cx="1463040" cy="332842"/>
          </a:xfrm>
          <a:prstGeom prst="rect">
            <a:avLst/>
          </a:prstGeom>
          <a:noFill/>
          <a:ln/>
        </p:spPr>
        <p:txBody>
          <a:bodyPr wrap="square" lIns="0" tIns="0" rIns="0" bIns="0" rtlCol="0" anchor="b"/>
          <a:lstStyle/>
          <a:p>
            <a:pPr marL="0" indent="0">
              <a:buNone/>
            </a:pPr>
            <a:r>
              <a:rPr lang="en-US" sz="2200" b="1" dirty="0">
                <a:solidFill>
                  <a:srgbClr val="A8052E"/>
                </a:solidFill>
                <a:latin typeface="Calibri" pitchFamily="34" charset="0"/>
                <a:ea typeface="Calibri" pitchFamily="34" charset="-122"/>
                <a:cs typeface="Calibri" pitchFamily="34" charset="-120"/>
              </a:rPr>
              <a:t>55%</a:t>
            </a:r>
            <a:endParaRPr lang="en-US" sz="2200" dirty="0"/>
          </a:p>
        </p:txBody>
      </p:sp>
      <p:sp>
        <p:nvSpPr>
          <p:cNvPr id="9" name="Text 7"/>
          <p:cNvSpPr txBox="1"/>
          <p:nvPr/>
        </p:nvSpPr>
        <p:spPr>
          <a:xfrm>
            <a:off x="2514600" y="1859890"/>
            <a:ext cx="1463040" cy="217627"/>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Non-contract revenue, at risk</a:t>
            </a:r>
            <a:endParaRPr lang="en-US" sz="900" dirty="0"/>
          </a:p>
        </p:txBody>
      </p:sp>
      <p:sp>
        <p:nvSpPr>
          <p:cNvPr id="10" name="Shape 8"/>
          <p:cNvSpPr/>
          <p:nvPr/>
        </p:nvSpPr>
        <p:spPr>
          <a:xfrm>
            <a:off x="4251960" y="1463040"/>
            <a:ext cx="1828800" cy="640080"/>
          </a:xfrm>
          <a:prstGeom prst="rect">
            <a:avLst/>
          </a:prstGeom>
          <a:solidFill>
            <a:srgbClr val="F4F4F4"/>
          </a:solidFill>
          <a:ln w="12700">
            <a:solidFill>
              <a:srgbClr val="F4F4F4"/>
            </a:solidFill>
            <a:prstDash val="solid"/>
          </a:ln>
        </p:spPr>
        <p:txBody>
          <a:bodyPr/>
          <a:lstStyle/>
          <a:p>
            <a:endParaRPr lang="en-AU"/>
          </a:p>
        </p:txBody>
      </p:sp>
      <p:sp>
        <p:nvSpPr>
          <p:cNvPr id="11" name="Text 9"/>
          <p:cNvSpPr txBox="1"/>
          <p:nvPr/>
        </p:nvSpPr>
        <p:spPr>
          <a:xfrm>
            <a:off x="4389120" y="1554480"/>
            <a:ext cx="1554480" cy="332842"/>
          </a:xfrm>
          <a:prstGeom prst="rect">
            <a:avLst/>
          </a:prstGeom>
          <a:noFill/>
          <a:ln/>
        </p:spPr>
        <p:txBody>
          <a:bodyPr wrap="square" lIns="0" tIns="0" rIns="0" bIns="0" rtlCol="0" anchor="b"/>
          <a:lstStyle/>
          <a:p>
            <a:pPr marL="0" indent="0">
              <a:buNone/>
            </a:pPr>
            <a:r>
              <a:rPr lang="en-US" sz="2200" b="1" dirty="0">
                <a:solidFill>
                  <a:srgbClr val="1A1A1A"/>
                </a:solidFill>
                <a:latin typeface="Calibri" pitchFamily="34" charset="0"/>
                <a:ea typeface="Calibri" pitchFamily="34" charset="-122"/>
                <a:cs typeface="Calibri" pitchFamily="34" charset="-120"/>
              </a:rPr>
              <a:t>5</a:t>
            </a:r>
            <a:endParaRPr lang="en-US" sz="2200" dirty="0"/>
          </a:p>
        </p:txBody>
      </p:sp>
      <p:sp>
        <p:nvSpPr>
          <p:cNvPr id="12" name="Text 10"/>
          <p:cNvSpPr txBox="1"/>
          <p:nvPr/>
        </p:nvSpPr>
        <p:spPr>
          <a:xfrm>
            <a:off x="4389120" y="1859890"/>
            <a:ext cx="1554480" cy="217627"/>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Revenue lines flagged Medium or High</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3474720"/>
          <a:ext cx="5577840" cy="1124712"/>
        </p:xfrm>
        <a:graphic>
          <a:graphicData uri="http://schemas.openxmlformats.org/drawingml/2006/table">
            <a:tbl>
              <a:tblPr/>
              <a:tblGrid>
                <a:gridCol w="2286000">
                  <a:extLst>
                    <a:ext uri="{9D8B030D-6E8A-4147-A177-3AD203B41FA5}">
                      <a16:colId xmlns:a16="http://schemas.microsoft.com/office/drawing/2014/main" val="20000"/>
                    </a:ext>
                  </a:extLst>
                </a:gridCol>
                <a:gridCol w="658368">
                  <a:extLst>
                    <a:ext uri="{9D8B030D-6E8A-4147-A177-3AD203B41FA5}">
                      <a16:colId xmlns:a16="http://schemas.microsoft.com/office/drawing/2014/main" val="20001"/>
                    </a:ext>
                  </a:extLst>
                </a:gridCol>
                <a:gridCol w="658368">
                  <a:extLst>
                    <a:ext uri="{9D8B030D-6E8A-4147-A177-3AD203B41FA5}">
                      <a16:colId xmlns:a16="http://schemas.microsoft.com/office/drawing/2014/main" val="20002"/>
                    </a:ext>
                  </a:extLst>
                </a:gridCol>
                <a:gridCol w="566928">
                  <a:extLst>
                    <a:ext uri="{9D8B030D-6E8A-4147-A177-3AD203B41FA5}">
                      <a16:colId xmlns:a16="http://schemas.microsoft.com/office/drawing/2014/main" val="20003"/>
                    </a:ext>
                  </a:extLst>
                </a:gridCol>
                <a:gridCol w="658368">
                  <a:extLst>
                    <a:ext uri="{9D8B030D-6E8A-4147-A177-3AD203B41FA5}">
                      <a16:colId xmlns:a16="http://schemas.microsoft.com/office/drawing/2014/main" val="20004"/>
                    </a:ext>
                  </a:extLst>
                </a:gridCol>
                <a:gridCol w="749808">
                  <a:extLst>
                    <a:ext uri="{9D8B030D-6E8A-4147-A177-3AD203B41FA5}">
                      <a16:colId xmlns:a16="http://schemas.microsoft.com/office/drawing/2014/main" val="20005"/>
                    </a:ext>
                  </a:extLst>
                </a:gridCol>
              </a:tblGrid>
              <a:tr h="187452">
                <a:tc>
                  <a:txBody>
                    <a:bodyPr/>
                    <a:lstStyle/>
                    <a:p>
                      <a:pPr marL="0" indent="0" algn="l">
                        <a:buNone/>
                      </a:pPr>
                      <a:r>
                        <a:rPr lang="en-US" sz="800" b="1" dirty="0">
                          <a:solidFill>
                            <a:srgbClr val="FFFFFF"/>
                          </a:solidFill>
                          <a:latin typeface="Calibri" pitchFamily="34" charset="0"/>
                          <a:ea typeface="Calibri" pitchFamily="34" charset="-122"/>
                          <a:cs typeface="Calibri" pitchFamily="34" charset="-120"/>
                        </a:rPr>
                        <a:t>Revenue line, YTD</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Actual</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Budget</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Var</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Var %</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Risk</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187452">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Integration, non contract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-254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-41.7%</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A8052E"/>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187452">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Consulting, non contract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237</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-233</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-98.3%</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122B82"/>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Support, contract income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610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743</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-134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-18.0%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122B82"/>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Support, non contract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95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+95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no budget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5F6670"/>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Integration, contract income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85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+85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no budget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5F6670"/>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5" name="Shape 11"/>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16" name="Text 12"/>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17" name="Text 13"/>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55 per cent of revenue is non-contract and must be won again.</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Integration non-contract is 254k behind budget for the year.</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Consulting non-contract is 233k behind. That budget needs reforecasting.</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Support contract income is 134k behind. Scope, or a renewal we lost.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Two lines earn with no budget mapped. A pack fix, not trading.</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7</a:t>
            </a:fld>
            <a:endParaRPr lang="en-US"/>
          </a:p>
        </p:txBody>
      </p:sp>
      <p:pic>
        <p:nvPicPr>
          <p:cNvPr id="26" name="Picture 25" descr="mix.png"/>
          <p:cNvPicPr>
            <a:picLocks noChangeAspect="1"/>
          </p:cNvPicPr>
          <p:nvPr/>
        </p:nvPicPr>
        <p:blipFill>
          <a:blip r:embed="rId4"/>
          <a:stretch>
            <a:fillRect/>
          </a:stretch>
        </p:blipFill>
        <p:spPr>
          <a:xfrm>
            <a:off x="744003" y="2194560"/>
            <a:ext cx="5095673" cy="11887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1A1A1A"/>
                </a:solidFill>
                <a:latin typeface="Calibri" pitchFamily="34" charset="0"/>
                <a:ea typeface="Calibri" pitchFamily="34" charset="-122"/>
                <a:cs typeface="Calibri" pitchFamily="34" charset="-120"/>
              </a:rPr>
              <a:t>02</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FFFFFF"/>
                </a:solidFill>
                <a:latin typeface="Calibri" pitchFamily="34" charset="0"/>
                <a:ea typeface="Calibri" pitchFamily="34" charset="-122"/>
                <a:cs typeface="Calibri" pitchFamily="34" charset="-120"/>
              </a:rPr>
              <a:t>Customers and cash</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C9CED6"/>
                </a:solidFill>
                <a:latin typeface="Calibri" pitchFamily="34" charset="0"/>
                <a:ea typeface="Calibri" pitchFamily="34" charset="-122"/>
                <a:cs typeface="Calibri" pitchFamily="34" charset="-120"/>
              </a:rPr>
              <a:t>Top customers, receivables and days sales outstanding</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Top 10 customers</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2798064"/>
        </p:xfrm>
        <a:graphic>
          <a:graphicData uri="http://schemas.openxmlformats.org/drawingml/2006/table">
            <a:tbl>
              <a:tblPr/>
              <a:tblGrid>
                <a:gridCol w="17373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731520">
                  <a:extLst>
                    <a:ext uri="{9D8B030D-6E8A-4147-A177-3AD203B41FA5}">
                      <a16:colId xmlns:a16="http://schemas.microsoft.com/office/drawing/2014/main" val="20005"/>
                    </a:ext>
                  </a:extLst>
                </a:gridCol>
              </a:tblGrid>
              <a:tr h="233172">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Customer, A$ thousands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FY27 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Share of 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FY26 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YoY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YoY A$k</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1.  Deloitte Services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402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382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2.  Aware Super</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285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new</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+285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3.  CBA (Place South)</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105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4.  Ventia</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98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+65%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5.  PwC Services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88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+51%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6.  APT Management (APA)</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+1022%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+58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7.  ASX Operations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-29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8.  Bankwest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8"/>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9.  Data#3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new</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+46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9"/>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10.  Generation-e</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new</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10"/>
                  </a:ext>
                </a:extLst>
              </a:tr>
              <a:tr h="233172">
                <a:tc>
                  <a:txBody>
                    <a:bodyPr/>
                    <a:lstStyle/>
                    <a:p>
                      <a:pPr marL="0" indent="0" algn="l">
                        <a:buNone/>
                      </a:pPr>
                      <a:r>
                        <a:rPr lang="en-US" sz="950" b="1" dirty="0">
                          <a:solidFill>
                            <a:srgbClr val="1A1A1A"/>
                          </a:solidFill>
                          <a:latin typeface="Calibri" pitchFamily="34" charset="0"/>
                          <a:ea typeface="Calibri" pitchFamily="34" charset="-122"/>
                          <a:cs typeface="Calibri" pitchFamily="34" charset="-120"/>
                        </a:rPr>
                        <a:t>Top 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1,240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776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+60%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+464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11"/>
                  </a:ext>
                </a:extLst>
              </a:tr>
            </a:tbl>
          </a:graphicData>
        </a:graphic>
      </p:graphicFrame>
      <p:sp>
        <p:nvSpPr>
          <p:cNvPr id="5" name="Text 2"/>
          <p:cNvSpPr txBox="1"/>
          <p:nvPr/>
        </p:nvSpPr>
        <p:spPr>
          <a:xfrm>
            <a:off x="502920" y="4352544"/>
            <a:ext cx="5577840" cy="365760"/>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FY27 is earned revenue from the Xero general ledger, ex GST, and ties to the P&amp;L. FY26 is invoices issued 1 Jul to 30 Sep 2025 from Xero, ex GST.</a:t>
            </a:r>
            <a:endParaRPr lang="en-US" sz="900" dirty="0"/>
          </a:p>
        </p:txBody>
      </p:sp>
      <p:sp>
        <p:nvSpPr>
          <p:cNvPr id="6"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The top ten are 76 per cent of revenue. The top three, 49.</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Aware Super went from nil to 285k. All of it one fit-out.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Deloitte is the only large recurring customer, steady at 402k.</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Three of the ten are new, worth 368k between them.</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Lose Deloitte and a quarter of the book goes with it.</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Top 10 customers by revenue</a:t>
            </a:r>
            <a:endParaRPr lang="en-US" sz="2800" dirty="0"/>
          </a:p>
        </p:txBody>
      </p:sp>
      <p:sp>
        <p:nvSpPr>
          <p:cNvPr id="5" name="Text 2"/>
          <p:cNvSpPr txBox="1"/>
          <p:nvPr/>
        </p:nvSpPr>
        <p:spPr>
          <a:xfrm>
            <a:off x="502920" y="4343400"/>
            <a:ext cx="5577840" cy="274320"/>
          </a:xfrm>
          <a:prstGeom prst="rect">
            <a:avLst/>
          </a:prstGeom>
          <a:noFill/>
          <a:ln/>
        </p:spPr>
        <p:txBody>
          <a:bodyPr wrap="square" lIns="0" tIns="0" rIns="0" bIns="0" rtlCol="0" anchor="ctr"/>
          <a:lstStyle/>
          <a:p>
            <a:pPr marL="0" indent="0">
              <a:buNone/>
            </a:pPr>
            <a:r>
              <a:rPr lang="en-US" sz="800" dirty="0">
                <a:solidFill>
                  <a:srgbClr val="5F6670"/>
                </a:solidFill>
                <a:latin typeface="Calibri" pitchFamily="34" charset="0"/>
                <a:ea typeface="Calibri" pitchFamily="34" charset="-122"/>
                <a:cs typeface="Calibri" pitchFamily="34" charset="-120"/>
              </a:rPr>
              <a:t>Earned revenue from the Xero general ledger, ex GST, 1 Jul to 30 Sep 2026. Ties to total income on the P&amp;L.</a:t>
            </a:r>
            <a:endParaRPr lang="en-US" sz="800" dirty="0"/>
          </a:p>
        </p:txBody>
      </p:sp>
      <p:sp>
        <p:nvSpPr>
          <p:cNvPr id="6"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Deloitte and Aware Super alone are 42 per cent of the year.</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Below the top five the book falls away fast.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Aware Super is one project. Treat it as one-off when forecasting.</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No customer in the ten could replace Deloitte.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The other eighteen customers are worth 384k between them.</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11</a:t>
            </a:fld>
            <a:endParaRPr lang="en-US"/>
          </a:p>
        </p:txBody>
      </p:sp>
      <p:pic>
        <p:nvPicPr>
          <p:cNvPr id="26" name="Picture 25" descr="top10.png"/>
          <p:cNvPicPr>
            <a:picLocks noChangeAspect="1"/>
          </p:cNvPicPr>
          <p:nvPr/>
        </p:nvPicPr>
        <p:blipFill>
          <a:blip r:embed="rId2"/>
          <a:stretch>
            <a:fillRect/>
          </a:stretch>
        </p:blipFill>
        <p:spPr>
          <a:xfrm>
            <a:off x="565724" y="1463040"/>
            <a:ext cx="5452232" cy="28346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Receivables and days sales outstanding</a:t>
            </a:r>
            <a:endParaRPr lang="en-US" sz="2800" dirty="0"/>
          </a:p>
        </p:txBody>
      </p:sp>
      <p:sp>
        <p:nvSpPr>
          <p:cNvPr id="4" name="Shape 2"/>
          <p:cNvSpPr/>
          <p:nvPr/>
        </p:nvSpPr>
        <p:spPr>
          <a:xfrm>
            <a:off x="502920" y="1463040"/>
            <a:ext cx="1737360" cy="777240"/>
          </a:xfrm>
          <a:prstGeom prst="rect">
            <a:avLst/>
          </a:prstGeom>
          <a:solidFill>
            <a:srgbClr val="F4F4F4"/>
          </a:solidFill>
          <a:ln w="12700">
            <a:solidFill>
              <a:srgbClr val="F4F4F4"/>
            </a:solidFill>
            <a:prstDash val="solid"/>
          </a:ln>
        </p:spPr>
        <p:txBody>
          <a:bodyPr/>
          <a:lstStyle/>
          <a:p>
            <a:endParaRPr lang="en-AU"/>
          </a:p>
        </p:txBody>
      </p:sp>
      <p:sp>
        <p:nvSpPr>
          <p:cNvPr id="5" name="Text 3"/>
          <p:cNvSpPr txBox="1"/>
          <p:nvPr/>
        </p:nvSpPr>
        <p:spPr>
          <a:xfrm>
            <a:off x="640080" y="1554480"/>
            <a:ext cx="1463040" cy="404165"/>
          </a:xfrm>
          <a:prstGeom prst="rect">
            <a:avLst/>
          </a:prstGeom>
          <a:noFill/>
          <a:ln/>
        </p:spPr>
        <p:txBody>
          <a:bodyPr wrap="square" lIns="0" tIns="0" rIns="0" bIns="0" rtlCol="0" anchor="b"/>
          <a:lstStyle/>
          <a:p>
            <a:pPr marL="0" indent="0">
              <a:buNone/>
            </a:pPr>
            <a:r>
              <a:rPr lang="en-US" sz="2200" b="1" dirty="0">
                <a:solidFill>
                  <a:srgbClr val="A8052E"/>
                </a:solidFill>
                <a:latin typeface="Calibri" pitchFamily="34" charset="0"/>
                <a:ea typeface="Calibri" pitchFamily="34" charset="-122"/>
                <a:cs typeface="Calibri" pitchFamily="34" charset="-120"/>
              </a:rPr>
              <a:t>47 days</a:t>
            </a:r>
            <a:endParaRPr lang="en-US" sz="2200" dirty="0"/>
          </a:p>
        </p:txBody>
      </p:sp>
      <p:sp>
        <p:nvSpPr>
          <p:cNvPr id="6" name="Text 4"/>
          <p:cNvSpPr txBox="1"/>
          <p:nvPr/>
        </p:nvSpPr>
        <p:spPr>
          <a:xfrm>
            <a:off x="640080" y="1944929"/>
            <a:ext cx="1463040" cy="264262"/>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DSO, target 30 days</a:t>
            </a:r>
            <a:endParaRPr lang="en-US" sz="900" dirty="0"/>
          </a:p>
        </p:txBody>
      </p:sp>
      <p:sp>
        <p:nvSpPr>
          <p:cNvPr id="7" name="Shape 5"/>
          <p:cNvSpPr/>
          <p:nvPr/>
        </p:nvSpPr>
        <p:spPr>
          <a:xfrm>
            <a:off x="2377440" y="1463040"/>
            <a:ext cx="1737360" cy="777240"/>
          </a:xfrm>
          <a:prstGeom prst="rect">
            <a:avLst/>
          </a:prstGeom>
          <a:solidFill>
            <a:srgbClr val="F4F4F4"/>
          </a:solidFill>
          <a:ln w="12700">
            <a:solidFill>
              <a:srgbClr val="F4F4F4"/>
            </a:solidFill>
            <a:prstDash val="solid"/>
          </a:ln>
        </p:spPr>
        <p:txBody>
          <a:bodyPr/>
          <a:lstStyle/>
          <a:p>
            <a:endParaRPr lang="en-AU"/>
          </a:p>
        </p:txBody>
      </p:sp>
      <p:sp>
        <p:nvSpPr>
          <p:cNvPr id="8" name="Text 6"/>
          <p:cNvSpPr txBox="1"/>
          <p:nvPr/>
        </p:nvSpPr>
        <p:spPr>
          <a:xfrm>
            <a:off x="2514600" y="1554480"/>
            <a:ext cx="1463040" cy="404165"/>
          </a:xfrm>
          <a:prstGeom prst="rect">
            <a:avLst/>
          </a:prstGeom>
          <a:noFill/>
          <a:ln/>
        </p:spPr>
        <p:txBody>
          <a:bodyPr wrap="square" lIns="0" tIns="0" rIns="0" bIns="0" rtlCol="0" anchor="b"/>
          <a:lstStyle/>
          <a:p>
            <a:pPr marL="0" indent="0">
              <a:buNone/>
            </a:pPr>
            <a:r>
              <a:rPr lang="en-US" sz="2200" b="1" dirty="0">
                <a:solidFill>
                  <a:srgbClr val="1A1A1A"/>
                </a:solidFill>
                <a:latin typeface="Calibri" pitchFamily="34" charset="0"/>
                <a:ea typeface="Calibri" pitchFamily="34" charset="-122"/>
                <a:cs typeface="Calibri" pitchFamily="34" charset="-120"/>
              </a:rPr>
              <a:t>$0.83m</a:t>
            </a:r>
            <a:endParaRPr lang="en-US" sz="2200" dirty="0"/>
          </a:p>
        </p:txBody>
      </p:sp>
      <p:sp>
        <p:nvSpPr>
          <p:cNvPr id="9" name="Text 7"/>
          <p:cNvSpPr txBox="1"/>
          <p:nvPr/>
        </p:nvSpPr>
        <p:spPr>
          <a:xfrm>
            <a:off x="2514600" y="1944929"/>
            <a:ext cx="1463040" cy="264262"/>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Trade receivables at month end</a:t>
            </a:r>
            <a:endParaRPr lang="en-US" sz="900" dirty="0"/>
          </a:p>
        </p:txBody>
      </p:sp>
      <p:sp>
        <p:nvSpPr>
          <p:cNvPr id="10" name="Shape 8"/>
          <p:cNvSpPr/>
          <p:nvPr/>
        </p:nvSpPr>
        <p:spPr>
          <a:xfrm>
            <a:off x="4251960" y="1463040"/>
            <a:ext cx="1828800" cy="777240"/>
          </a:xfrm>
          <a:prstGeom prst="rect">
            <a:avLst/>
          </a:prstGeom>
          <a:solidFill>
            <a:srgbClr val="F4F4F4"/>
          </a:solidFill>
          <a:ln w="12700">
            <a:solidFill>
              <a:srgbClr val="F4F4F4"/>
            </a:solidFill>
            <a:prstDash val="solid"/>
          </a:ln>
        </p:spPr>
        <p:txBody>
          <a:bodyPr/>
          <a:lstStyle/>
          <a:p>
            <a:endParaRPr lang="en-AU"/>
          </a:p>
        </p:txBody>
      </p:sp>
      <p:sp>
        <p:nvSpPr>
          <p:cNvPr id="11" name="Text 9"/>
          <p:cNvSpPr txBox="1"/>
          <p:nvPr/>
        </p:nvSpPr>
        <p:spPr>
          <a:xfrm>
            <a:off x="4389120" y="1554480"/>
            <a:ext cx="1554480" cy="404165"/>
          </a:xfrm>
          <a:prstGeom prst="rect">
            <a:avLst/>
          </a:prstGeom>
          <a:noFill/>
          <a:ln/>
        </p:spPr>
        <p:txBody>
          <a:bodyPr wrap="square" lIns="0" tIns="0" rIns="0" bIns="0" rtlCol="0" anchor="b"/>
          <a:lstStyle/>
          <a:p>
            <a:pPr marL="0" indent="0">
              <a:buNone/>
            </a:pPr>
            <a:r>
              <a:rPr lang="en-US" sz="2200" b="1" dirty="0">
                <a:solidFill>
                  <a:srgbClr val="A8052E"/>
                </a:solidFill>
                <a:latin typeface="Calibri" pitchFamily="34" charset="0"/>
                <a:ea typeface="Calibri" pitchFamily="34" charset="-122"/>
                <a:cs typeface="Calibri" pitchFamily="34" charset="-120"/>
              </a:rPr>
              <a:t>$25k</a:t>
            </a:r>
            <a:endParaRPr lang="en-US" sz="2200" dirty="0"/>
          </a:p>
        </p:txBody>
      </p:sp>
      <p:sp>
        <p:nvSpPr>
          <p:cNvPr id="12" name="Text 10"/>
          <p:cNvSpPr txBox="1"/>
          <p:nvPr/>
        </p:nvSpPr>
        <p:spPr>
          <a:xfrm>
            <a:off x="4389120" y="1944929"/>
            <a:ext cx="1554480" cy="264262"/>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Over 60 days</a:t>
            </a:r>
            <a:endParaRPr lang="en-US" sz="900" dirty="0"/>
          </a:p>
        </p:txBody>
      </p:sp>
      <p:sp>
        <p:nvSpPr>
          <p:cNvPr id="13" name="Text 11"/>
          <p:cNvSpPr txBox="1"/>
          <p:nvPr/>
        </p:nvSpPr>
        <p:spPr>
          <a:xfrm>
            <a:off x="502920" y="2377440"/>
            <a:ext cx="2926080" cy="201168"/>
          </a:xfrm>
          <a:prstGeom prst="rect">
            <a:avLst/>
          </a:prstGeom>
          <a:noFill/>
          <a:ln/>
        </p:spPr>
        <p:txBody>
          <a:bodyPr wrap="square" lIns="0" tIns="0" rIns="0" bIns="0" rtlCol="0" anchor="ctr"/>
          <a:lstStyle/>
          <a:p>
            <a:pPr marL="0" indent="0">
              <a:buNone/>
            </a:pPr>
            <a:r>
              <a:rPr lang="en-US" sz="900" b="1" dirty="0">
                <a:solidFill>
                  <a:srgbClr val="5F6670"/>
                </a:solidFill>
                <a:latin typeface="Calibri" pitchFamily="34" charset="0"/>
                <a:ea typeface="Calibri" pitchFamily="34" charset="-122"/>
                <a:cs typeface="Calibri" pitchFamily="34" charset="-120"/>
              </a:rPr>
              <a:t>Aged receivables at 30 September</a:t>
            </a:r>
            <a:endParaRPr lang="en-US" sz="900" dirty="0"/>
          </a:p>
        </p:txBody>
      </p:sp>
      <p:sp>
        <p:nvSpPr>
          <p:cNvPr id="15" name="Text 12"/>
          <p:cNvSpPr txBox="1"/>
          <p:nvPr/>
        </p:nvSpPr>
        <p:spPr>
          <a:xfrm>
            <a:off x="3611880" y="2377440"/>
            <a:ext cx="2468880" cy="201168"/>
          </a:xfrm>
          <a:prstGeom prst="rect">
            <a:avLst/>
          </a:prstGeom>
          <a:noFill/>
          <a:ln/>
        </p:spPr>
        <p:txBody>
          <a:bodyPr wrap="square" lIns="0" tIns="0" rIns="0" bIns="0" rtlCol="0" anchor="ctr"/>
          <a:lstStyle/>
          <a:p>
            <a:pPr marL="0" indent="0">
              <a:buNone/>
            </a:pPr>
            <a:r>
              <a:rPr lang="en-US" sz="900" b="1" dirty="0">
                <a:solidFill>
                  <a:srgbClr val="5F6670"/>
                </a:solidFill>
                <a:latin typeface="Calibri" pitchFamily="34" charset="0"/>
                <a:ea typeface="Calibri" pitchFamily="34" charset="-122"/>
                <a:cs typeface="Calibri" pitchFamily="34" charset="-120"/>
              </a:rPr>
              <a:t>Who owes the most, A$ thousands</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11880" y="2606040"/>
          <a:ext cx="2468880" cy="1664208"/>
        </p:xfrm>
        <a:graphic>
          <a:graphicData uri="http://schemas.openxmlformats.org/drawingml/2006/table">
            <a:tbl>
              <a:tblPr/>
              <a:tblGrid>
                <a:gridCol w="13716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A$k</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Share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Aware Super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277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33.3%</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Deloitte Services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132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Ventia</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Downer EDI</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40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4.8%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Generation-e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39</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37744">
                <a:tc>
                  <a:txBody>
                    <a:bodyPr/>
                    <a:lstStyle/>
                    <a:p>
                      <a:pPr marL="0" indent="0" algn="l">
                        <a:buNone/>
                      </a:pPr>
                      <a:r>
                        <a:rPr lang="en-US" sz="900" b="1" dirty="0">
                          <a:solidFill>
                            <a:srgbClr val="1A1A1A"/>
                          </a:solidFill>
                          <a:latin typeface="Calibri" pitchFamily="34" charset="0"/>
                          <a:ea typeface="Calibri" pitchFamily="34" charset="-122"/>
                          <a:cs typeface="Calibri" pitchFamily="34" charset="-120"/>
                        </a:rPr>
                        <a:t>All others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251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30.0%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bl>
          </a:graphicData>
        </a:graphic>
      </p:graphicFrame>
      <p:sp>
        <p:nvSpPr>
          <p:cNvPr id="17" name="Text 13"/>
          <p:cNvSpPr txBox="1"/>
          <p:nvPr/>
        </p:nvSpPr>
        <p:spPr>
          <a:xfrm>
            <a:off x="3611880" y="4343400"/>
            <a:ext cx="2468880" cy="274320"/>
          </a:xfrm>
          <a:prstGeom prst="rect">
            <a:avLst/>
          </a:prstGeom>
          <a:noFill/>
          <a:ln/>
        </p:spPr>
        <p:txBody>
          <a:bodyPr wrap="square" lIns="0" tIns="0" rIns="0" bIns="0" rtlCol="0" anchor="ctr"/>
          <a:lstStyle/>
          <a:p>
            <a:pPr marL="0" indent="0">
              <a:buNone/>
            </a:pPr>
            <a:r>
              <a:rPr lang="en-US" sz="800" dirty="0">
                <a:solidFill>
                  <a:srgbClr val="5F6670"/>
                </a:solidFill>
                <a:latin typeface="Calibri" pitchFamily="34" charset="0"/>
                <a:ea typeface="Calibri" pitchFamily="34" charset="-122"/>
                <a:cs typeface="Calibri" pitchFamily="34" charset="-120"/>
              </a:rPr>
              <a:t>DSO = receivables / (last three months revenue / 92 days). Source: Xero aged receivables at 30 September 2026.</a:t>
            </a:r>
            <a:endParaRPr lang="en-US" sz="800" dirty="0"/>
          </a:p>
        </p:txBody>
      </p:sp>
      <p:sp>
        <p:nvSpPr>
          <p:cNvPr id="18" name="Shape 14"/>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19" name="Text 15"/>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20" name="Text 16"/>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Receivables are 833k across 61 invoices and 28 customers.</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DSO is 47 days against a 30 day target.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29 per cent of the book is overdue, 245k of it.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Aware Super is a third of the ledger, on one invoice of 226k.</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Two invoices sit over 90 days. Property NSW 20k, Meet Magic 5k.</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10</a:t>
            </a:fld>
            <a:endParaRPr lang="en-US"/>
          </a:p>
        </p:txBody>
      </p:sp>
      <p:pic>
        <p:nvPicPr>
          <p:cNvPr id="26" name="Picture 25" descr="ageing.png"/>
          <p:cNvPicPr>
            <a:picLocks noChangeAspect="1"/>
          </p:cNvPicPr>
          <p:nvPr/>
        </p:nvPicPr>
        <p:blipFill>
          <a:blip r:embed="rId4"/>
          <a:stretch>
            <a:fillRect/>
          </a:stretch>
        </p:blipFill>
        <p:spPr>
          <a:xfrm>
            <a:off x="508450" y="2560320"/>
            <a:ext cx="2915020" cy="20574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Top customers, FY27 vs FY26 year to date</a:t>
            </a:r>
            <a:endParaRPr lang="en-US" sz="2800" dirty="0"/>
          </a:p>
        </p:txBody>
      </p:sp>
      <p:sp>
        <p:nvSpPr>
          <p:cNvPr id="5" name="Text 2"/>
          <p:cNvSpPr txBox="1"/>
          <p:nvPr/>
        </p:nvSpPr>
        <p:spPr>
          <a:xfrm>
            <a:off x="502920" y="4343400"/>
            <a:ext cx="5577840" cy="274320"/>
          </a:xfrm>
          <a:prstGeom prst="rect">
            <a:avLst/>
          </a:prstGeom>
          <a:noFill/>
          <a:ln/>
        </p:spPr>
        <p:txBody>
          <a:bodyPr wrap="square" lIns="0" tIns="0" rIns="0" bIns="0" rtlCol="0" anchor="ctr"/>
          <a:lstStyle/>
          <a:p>
            <a:pPr marL="0" indent="0">
              <a:buNone/>
            </a:pPr>
            <a:r>
              <a:rPr lang="en-US" sz="800" dirty="0">
                <a:solidFill>
                  <a:srgbClr val="5F6670"/>
                </a:solidFill>
                <a:latin typeface="Calibri" pitchFamily="34" charset="0"/>
                <a:ea typeface="Calibri" pitchFamily="34" charset="-122"/>
                <a:cs typeface="Calibri" pitchFamily="34" charset="-120"/>
              </a:rPr>
              <a:t>FY27 is earned revenue from the Xero general ledger, ex GST. FY26 is invoices issued in the same period from Xero, ex GST. Ranked by this year.</a:t>
            </a:r>
            <a:endParaRPr lang="en-US" sz="800" dirty="0"/>
          </a:p>
        </p:txBody>
      </p:sp>
      <p:sp>
        <p:nvSpPr>
          <p:cNvPr id="6"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Revenue is up on last year, but the growth is three new customers.</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Aware Super, Data#3 and Generation-e are 368k of new revenue.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On the customers we had last year the picture is flat.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ASX is down a third, from 90k to 61k, with no replacement.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If the three do not repeat, FY28 starts 368k behind.</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11</a:t>
            </a:fld>
            <a:endParaRPr lang="en-US"/>
          </a:p>
        </p:txBody>
      </p:sp>
      <p:pic>
        <p:nvPicPr>
          <p:cNvPr id="26" name="Picture 25" descr="yoy.png"/>
          <p:cNvPicPr>
            <a:picLocks noChangeAspect="1"/>
          </p:cNvPicPr>
          <p:nvPr/>
        </p:nvPicPr>
        <p:blipFill>
          <a:blip r:embed="rId4"/>
          <a:stretch>
            <a:fillRect/>
          </a:stretch>
        </p:blipFill>
        <p:spPr>
          <a:xfrm>
            <a:off x="565724" y="1463040"/>
            <a:ext cx="5452232" cy="28346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1A1A1A"/>
                </a:solidFill>
                <a:latin typeface="Calibri" pitchFamily="34" charset="0"/>
                <a:ea typeface="Calibri" pitchFamily="34" charset="-122"/>
                <a:cs typeface="Calibri" pitchFamily="34" charset="-120"/>
              </a:rPr>
              <a:t>03</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FFFFFF"/>
                </a:solidFill>
                <a:latin typeface="Calibri" pitchFamily="34" charset="0"/>
                <a:ea typeface="Calibri" pitchFamily="34" charset="-122"/>
                <a:cs typeface="Calibri" pitchFamily="34" charset="-120"/>
              </a:rPr>
              <a:t>People and utilisation</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C9CED6"/>
                </a:solidFill>
                <a:latin typeface="Calibri" pitchFamily="34" charset="0"/>
                <a:ea typeface="Calibri" pitchFamily="34" charset="-122"/>
                <a:cs typeface="Calibri" pitchFamily="34" charset="-120"/>
              </a:rPr>
              <a:t>Chargeable hours, utilisation and the profit they produce</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PEOPLE AND UTILISATION</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Utilisation by department, Sep 26</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664208"/>
        </p:xfrm>
        <a:graphic>
          <a:graphicData uri="http://schemas.openxmlformats.org/drawingml/2006/table">
            <a:tbl>
              <a:tblPr/>
              <a:tblGrid>
                <a:gridCol w="1051560">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640080">
                  <a:extLst>
                    <a:ext uri="{9D8B030D-6E8A-4147-A177-3AD203B41FA5}">
                      <a16:colId xmlns:a16="http://schemas.microsoft.com/office/drawing/2014/main" val="20005"/>
                    </a:ext>
                  </a:extLst>
                </a:gridCol>
                <a:gridCol w="594360">
                  <a:extLst>
                    <a:ext uri="{9D8B030D-6E8A-4147-A177-3AD203B41FA5}">
                      <a16:colId xmlns:a16="http://schemas.microsoft.com/office/drawing/2014/main" val="20006"/>
                    </a:ext>
                  </a:extLst>
                </a:gridCol>
                <a:gridCol w="594360">
                  <a:extLst>
                    <a:ext uri="{9D8B030D-6E8A-4147-A177-3AD203B41FA5}">
                      <a16:colId xmlns:a16="http://schemas.microsoft.com/office/drawing/2014/main" val="20007"/>
                    </a:ext>
                  </a:extLst>
                </a:gridCol>
              </a:tblGrid>
              <a:tr h="237744">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September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FTE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Chargeable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Non-chargeable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Leave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Chg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Prior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vs target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237744">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Support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12.1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2,132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218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Events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266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283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333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48.4%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Consulting</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33.1%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37744">
                <a:tc>
                  <a:txBody>
                    <a:bodyPr/>
                    <a:lstStyle/>
                    <a:p>
                      <a:pPr marL="0" indent="0" algn="l">
                        <a:buNone/>
                      </a:pPr>
                      <a:r>
                        <a:rPr lang="en-US" sz="950" b="1" dirty="0">
                          <a:solidFill>
                            <a:srgbClr val="1A1A1A"/>
                          </a:solidFill>
                          <a:latin typeface="Calibri" pitchFamily="34" charset="0"/>
                          <a:ea typeface="Calibri" pitchFamily="34" charset="-122"/>
                          <a:cs typeface="Calibri" pitchFamily="34" charset="-120"/>
                        </a:rPr>
                        <a:t>CTS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15.9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2,438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365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604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87.0%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bl>
          </a:graphicData>
        </a:graphic>
      </p:graphicFrame>
      <p:sp>
        <p:nvSpPr>
          <p:cNvPr id="7" name="Shape 2"/>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8" name="Text 3"/>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9" name="Text 4"/>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Support shows 100 per cent because no non-chargeable hours are recorded.</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That is a reporting gap. Fix it before the next board pack.</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Events is 48 per cent, with more leave than chargeable hours.</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Consulting is 33 per cent on 40 chargeable hours.</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Video and Integration do not report hours at all.</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13</a:t>
            </a:fld>
            <a:endParaRPr lang="en-US"/>
          </a:p>
        </p:txBody>
      </p:sp>
      <p:pic>
        <p:nvPicPr>
          <p:cNvPr id="26" name="Picture 25" descr="util.png"/>
          <p:cNvPicPr>
            <a:picLocks noChangeAspect="1"/>
          </p:cNvPicPr>
          <p:nvPr/>
        </p:nvPicPr>
        <p:blipFill>
          <a:blip r:embed="rId4"/>
          <a:stretch>
            <a:fillRect/>
          </a:stretch>
        </p:blipFill>
        <p:spPr>
          <a:xfrm>
            <a:off x="950573" y="3264408"/>
            <a:ext cx="4682534" cy="135331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PEOPLE AND UTILISATION</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Profit based on utilisation</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740408"/>
        </p:xfrm>
        <a:graphic>
          <a:graphicData uri="http://schemas.openxmlformats.org/drawingml/2006/table">
            <a:tbl>
              <a:tblPr/>
              <a:tblGrid>
                <a:gridCol w="9144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50292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64008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September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Chg %</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Chg hrs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Rev / hr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Revenue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Labour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After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Per hr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+5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Support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100.0%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2,132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243</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(128)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$54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005358"/>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Events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48.4%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266</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$276</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73</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62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$233</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005358"/>
                          </a:solidFill>
                          <a:latin typeface="Calibri" pitchFamily="34" charset="0"/>
                          <a:ea typeface="Calibri" pitchFamily="34" charset="-122"/>
                          <a:cs typeface="Calibri" pitchFamily="34" charset="-120"/>
                        </a:rPr>
                        <a:t>+8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Consulting</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33.1%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40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$88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$89</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005358"/>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37744">
                <a:tc>
                  <a:txBody>
                    <a:bodyPr/>
                    <a:lstStyle/>
                    <a:p>
                      <a:pPr marL="0" indent="0" algn="l">
                        <a:buNone/>
                      </a:pPr>
                      <a:r>
                        <a:rPr lang="en-US" sz="900" b="1" dirty="0">
                          <a:solidFill>
                            <a:srgbClr val="1A1A1A"/>
                          </a:solidFill>
                          <a:latin typeface="Calibri" pitchFamily="34" charset="0"/>
                          <a:ea typeface="Calibri" pitchFamily="34" charset="-122"/>
                          <a:cs typeface="Calibri" pitchFamily="34" charset="-120"/>
                        </a:rPr>
                        <a:t>CTS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87.0%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2,438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562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(141)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005358"/>
                          </a:solidFill>
                          <a:latin typeface="Calibri" pitchFamily="34" charset="0"/>
                          <a:ea typeface="Calibri" pitchFamily="34" charset="-122"/>
                          <a:cs typeface="Calibri" pitchFamily="34" charset="-120"/>
                        </a:rPr>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bl>
          </a:graphicData>
        </a:graphic>
      </p:graphicFrame>
      <p:sp>
        <p:nvSpPr>
          <p:cNvPr id="5" name="Shape 2"/>
          <p:cNvSpPr/>
          <p:nvPr/>
        </p:nvSpPr>
        <p:spPr>
          <a:xfrm>
            <a:off x="502920" y="3264408"/>
            <a:ext cx="2651760" cy="1353312"/>
          </a:xfrm>
          <a:prstGeom prst="rect">
            <a:avLst/>
          </a:prstGeom>
          <a:solidFill>
            <a:srgbClr val="E8F9F8"/>
          </a:solidFill>
          <a:ln w="12700">
            <a:solidFill>
              <a:srgbClr val="E8F9F8"/>
            </a:solidFill>
            <a:prstDash val="solid"/>
          </a:ln>
        </p:spPr>
        <p:txBody>
          <a:bodyPr/>
          <a:lstStyle/>
          <a:p>
            <a:endParaRPr lang="en-AU"/>
          </a:p>
        </p:txBody>
      </p:sp>
      <p:sp>
        <p:nvSpPr>
          <p:cNvPr id="6" name="Text 3"/>
          <p:cNvSpPr txBox="1"/>
          <p:nvPr/>
        </p:nvSpPr>
        <p:spPr>
          <a:xfrm>
            <a:off x="640080" y="3355848"/>
            <a:ext cx="2377440" cy="703722"/>
          </a:xfrm>
          <a:prstGeom prst="rect">
            <a:avLst/>
          </a:prstGeom>
          <a:noFill/>
          <a:ln/>
        </p:spPr>
        <p:txBody>
          <a:bodyPr wrap="square" lIns="0" tIns="0" rIns="0" bIns="0" rtlCol="0" anchor="b"/>
          <a:lstStyle/>
          <a:p>
            <a:pPr marL="0" indent="0">
              <a:buNone/>
            </a:pPr>
            <a:r>
              <a:rPr lang="en-US" sz="2200" b="1" dirty="0">
                <a:solidFill>
                  <a:srgbClr val="005358"/>
                </a:solidFill>
                <a:latin typeface="Calibri" pitchFamily="34" charset="0"/>
                <a:ea typeface="Calibri" pitchFamily="34" charset="-122"/>
                <a:cs typeface="Calibri" pitchFamily="34" charset="-120"/>
              </a:rPr>
              <a:t>+$13k a month</a:t>
            </a:r>
            <a:endParaRPr lang="en-US" sz="2200" dirty="0"/>
          </a:p>
        </p:txBody>
      </p:sp>
      <p:sp>
        <p:nvSpPr>
          <p:cNvPr id="7" name="Text 4"/>
          <p:cNvSpPr txBox="1"/>
          <p:nvPr/>
        </p:nvSpPr>
        <p:spPr>
          <a:xfrm>
            <a:off x="640080" y="4103461"/>
            <a:ext cx="2377440" cy="460126"/>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Five more points of utilisation across the three departments that report hours, at the revenue per chargeable hour each already earns</a:t>
            </a:r>
            <a:endParaRPr lang="en-US" sz="900" dirty="0"/>
          </a:p>
        </p:txBody>
      </p:sp>
      <p:sp>
        <p:nvSpPr>
          <p:cNvPr id="8" name="Text 5"/>
          <p:cNvSpPr txBox="1"/>
          <p:nvPr/>
        </p:nvSpPr>
        <p:spPr>
          <a:xfrm>
            <a:off x="3291840" y="3264408"/>
            <a:ext cx="2788920" cy="1353312"/>
          </a:xfrm>
          <a:prstGeom prst="rect">
            <a:avLst/>
          </a:prstGeom>
          <a:noFill/>
          <a:ln/>
        </p:spPr>
        <p:txBody>
          <a:bodyPr wrap="square" lIns="0" tIns="0" rIns="0" bIns="0" rtlCol="0" anchor="t"/>
          <a:lstStyle/>
          <a:p>
            <a:pPr marL="0" indent="0">
              <a:buNone/>
            </a:pPr>
            <a:r>
              <a:rPr lang="en-US" sz="850" dirty="0">
                <a:solidFill>
                  <a:srgbClr val="5F6670"/>
                </a:solidFill>
                <a:latin typeface="Calibri" pitchFamily="34" charset="0"/>
                <a:ea typeface="Calibri" pitchFamily="34" charset="-122"/>
                <a:cs typeface="Calibri" pitchFamily="34" charset="-120"/>
              </a:rPr>
              <a:t>Video and Integration are left out: they do not report hours. Revenue per hour is department revenue divided by chargeable hours. It is not a charge rate, it includes equipment, hire and freight, and the pack does not hold charge rates. Labour is wages, salaries, superannuation and workers compensation coded to the department.</a:t>
            </a:r>
            <a:endParaRPr lang="en-US" sz="850" dirty="0"/>
          </a:p>
        </p:txBody>
      </p:sp>
      <p:sp>
        <p:nvSpPr>
          <p:cNvPr id="9" name="Shape 6"/>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10" name="Text 7"/>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11" name="Text 8"/>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Support earns $114 a chargeable hour and keeps $54 after labour.</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Events shows $276 an hour, but that is equipment, not a rate.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Consulting is $88 an hour on only 40 hours. Too thin to read.</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Five points of utilisation is worth about 13k a month.</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This cannot be done properly until every department reports hours.</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FFFFFF"/>
                </a:solidFill>
                <a:latin typeface="Calibri" pitchFamily="34" charset="0"/>
                <a:ea typeface="Calibri" pitchFamily="34" charset="-122"/>
                <a:cs typeface="Calibri" pitchFamily="34" charset="-120"/>
              </a:rPr>
              <a:t>04</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1A1A1A"/>
                </a:solidFill>
                <a:latin typeface="Calibri" pitchFamily="34" charset="0"/>
                <a:ea typeface="Calibri" pitchFamily="34" charset="-122"/>
                <a:cs typeface="Calibri" pitchFamily="34" charset="-120"/>
              </a:rPr>
              <a:t>Summary and actions</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5F6670"/>
                </a:solidFill>
                <a:latin typeface="Calibri" pitchFamily="34" charset="0"/>
                <a:ea typeface="Calibri" pitchFamily="34" charset="-122"/>
                <a:cs typeface="Calibri" pitchFamily="34" charset="-120"/>
              </a:rPr>
              <a:t>The commentary from each sheet, with an owner and a date</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15</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SUMMARY AND ACTIONS</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Commentary and actions from this review</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8138160" cy="3017520"/>
        </p:xfrm>
        <a:graphic>
          <a:graphicData uri="http://schemas.openxmlformats.org/drawingml/2006/table">
            <a:tbl>
              <a:tblPr/>
              <a:tblGrid>
                <a:gridCol w="13716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274320">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Area</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What we agreed</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Due</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685800">
                <a:tc>
                  <a:txBody>
                    <a:bodyPr/>
                    <a:lstStyle/>
                    <a:p>
                      <a:pPr marL="0" indent="0" algn="l">
                        <a:buNone/>
                      </a:pPr>
                      <a:r>
                        <a:rPr lang="en-US" sz="1000" b="1" dirty="0">
                          <a:solidFill>
                            <a:srgbClr val="1A1A1A"/>
                          </a:solidFill>
                          <a:latin typeface="Calibri" pitchFamily="34" charset="0"/>
                          <a:ea typeface="Calibri" pitchFamily="34" charset="-122"/>
                          <a:cs typeface="Calibri" pitchFamily="34" charset="-120"/>
                        </a:rPr>
                        <a:t>P&amp;L</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September beat budget on one Integration project. Reforecast the second half on the recurring base, not on this month.</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GC and FC</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31 Oct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lgn="l">
                        <a:buNone/>
                      </a:pPr>
                      <a:r>
                        <a:rPr lang="en-US" sz="1000" b="1" dirty="0">
                          <a:solidFill>
                            <a:srgbClr val="1A1A1A"/>
                          </a:solidFill>
                          <a:latin typeface="Calibri" pitchFamily="34" charset="0"/>
                          <a:ea typeface="Calibri" pitchFamily="34" charset="-122"/>
                          <a:cs typeface="Calibri" pitchFamily="34" charset="-120"/>
                        </a:rPr>
                        <a:t>Risk revenue</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Integration and Consulting non-contract budgets are 487k behind for the year. Agree a reforecast or a plan to close it.</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Sales and GC</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31 Oct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lgn="l">
                        <a:buNone/>
                      </a:pPr>
                      <a:r>
                        <a:rPr lang="en-US" sz="1000" b="1" dirty="0">
                          <a:solidFill>
                            <a:srgbClr val="1A1A1A"/>
                          </a:solidFill>
                          <a:latin typeface="Calibri" pitchFamily="34" charset="0"/>
                          <a:ea typeface="Calibri" pitchFamily="34" charset="-122"/>
                          <a:cs typeface="Calibri" pitchFamily="34" charset="-120"/>
                        </a:rPr>
                        <a:t>Customers and DSO</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DSO is 47 days against a 30 day target. Chase Property NSW 19.7k and Meet Magic 5.1k, both over 90 days.</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FC</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24 Oct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lgn="l">
                        <a:buNone/>
                      </a:pPr>
                      <a:r>
                        <a:rPr lang="en-US" sz="1000" b="1" dirty="0">
                          <a:solidFill>
                            <a:srgbClr val="1A1A1A"/>
                          </a:solidFill>
                          <a:latin typeface="Calibri" pitchFamily="34" charset="0"/>
                          <a:ea typeface="Calibri" pitchFamily="34" charset="-122"/>
                          <a:cs typeface="Calibri" pitchFamily="34" charset="-120"/>
                        </a:rPr>
                        <a:t>Utilisation</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Support is recording no non-chargeable hours and Video and Integration report none at all. Fix the reporting before the next review.</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Ops</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14 Nov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554781D-8611-20E2-34CE-52607DF53740}"/>
              </a:ext>
            </a:extLst>
          </p:cNvPr>
          <p:cNvSpPr>
            <a:spLocks noGrp="1"/>
          </p:cNvSpPr>
          <p:nvPr>
            <p:ph type="title" idx="101"/>
          </p:nvPr>
        </p:nvSpPr>
        <p:spPr/>
        <p:txBody>
          <a:bodyPr/>
          <a:lstStyle/>
          <a:p>
            <a:r>
              <a:rPr lang="en-AU" dirty="0"/>
              <a:t>Thank you </a:t>
            </a:r>
          </a:p>
        </p:txBody>
      </p:sp>
      <p:pic>
        <p:nvPicPr>
          <p:cNvPr id="4" name="Picture 3">
            <a:extLst>
              <a:ext uri="{FF2B5EF4-FFF2-40B4-BE49-F238E27FC236}">
                <a16:creationId xmlns:a16="http://schemas.microsoft.com/office/drawing/2014/main" id="{2A73098B-389D-778D-8913-4697239AF26E}"/>
              </a:ext>
            </a:extLst>
          </p:cNvPr>
          <p:cNvPicPr>
            <a:picLocks noChangeAspect="1"/>
          </p:cNvPicPr>
          <p:nvPr/>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12151821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1642</Words>
  <Application>Microsoft Office PowerPoint</Application>
  <PresentationFormat>On-screen Show (16:9)</PresentationFormat>
  <Paragraphs>537</Paragraphs>
  <Slides>17</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September 2026</vt:lpstr>
      <vt:lpstr>What we will cover</vt:lpstr>
      <vt:lpstr>Financial performance</vt:lpstr>
      <vt:lpstr>P&amp;L summary</vt:lpstr>
      <vt:lpstr>P&amp;L per department, Sep 26</vt:lpstr>
      <vt:lpstr>Revenue and contribution by department</vt:lpstr>
      <vt:lpstr>Risk revenue profile</vt:lpstr>
      <vt:lpstr>Customers and cash</vt:lpstr>
      <vt:lpstr>Top 10 customers</vt:lpstr>
      <vt:lpstr>Receivables and days sales outstanding</vt:lpstr>
      <vt:lpstr>Top customers, FY27 vs FY26 year to date</vt:lpstr>
      <vt:lpstr>People and utilisation</vt:lpstr>
      <vt:lpstr>Utilisation by department, Sep 26</vt:lpstr>
      <vt:lpstr>Profit based on utilisation</vt:lpstr>
      <vt:lpstr>Summary and actions</vt:lpstr>
      <vt:lpstr>Commentary and actions from this review</vt:lpstr>
      <vt:lpstr>Thank you </vt:lpstr>
    </vt:vector>
  </TitlesOfParts>
  <Company>Corporate Technology Services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September 2026</dc:title>
  <dc:subject>PptxGenJS Presentation</dc:subject>
  <dc:creator>Corporate Technology Services</dc:creator>
  <cp:lastModifiedBy>Danica Nelson</cp:lastModifiedBy>
  <cp:revision>2</cp:revision>
  <dcterms:created xsi:type="dcterms:W3CDTF">2026-10-13T04:28:56Z</dcterms:created>
  <dcterms:modified xsi:type="dcterms:W3CDTF">2026-10-13T04:43:45Z</dcterms:modified>
</cp:coreProperties>
</file>