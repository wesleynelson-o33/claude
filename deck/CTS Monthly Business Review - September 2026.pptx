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Business Review for September 2026. Everything in this pack comes from the Financial Controller Pack, which ties to the Xero general ledger to the cent for every department and for the company.
The headline is that Sep 26 beat budget on revenue by 148 thousand and still lost money. Revenue was 562 thousand against a budget of 414 thousand. EBITDA was (32) thousand against a budgeted loss of (107) thousand.
The story of the month is margin and the overhead base, not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Financial performance first, because that is what the numbers say. What we spend second, because that is where the answer is this month. Then customers and cash, then people, then what we do about the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introduction slide, colour coded by department: Support in red, Events and Video in the Production teals, Integration and Consulting in the Consulting blues.
Support: revenue 242,948, gross margin 41.7%, result 29,007 after all overhead, behind budget by 5,068.
Events: revenue 73,304, gross margin 77.6%, result (54,227) after all overhead, ahead of budget by 7,476.
Video: revenue 7,303, gross margin 79.6%, result (6,846) after all overhead, behind budget by 10,196.
Integration: revenue 234,858, gross margin 10.1%, result 10,471 after all overhead, ahead of budget by 175,586.
Consulting: revenue 3,531, gross margin 2.1%, result (19,870) after all overhead, behind budget by 19,519.
Company revenue 561,945 against 413,665 budget. Gross margin 33.4%. Overheads 230,233. EBITDA (32,437).
If the room only hears one thing from this pack, it is the last figure on the strip. At our real margin we need 549,372 of revenue every month to break even and we are averaging 541,487.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months of FY27 are closed. Revenue is running at 541 thousand a month and break even needs 549 thousand at the margin we actually deliver. That is the whole problem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P&amp;L summary, straight off the Summary tab with the outline shut, so this is the view on screen.
Revenue 561,945 against a budget of 413,665, ahead by 148,280. Against last September at 356,323 we are up 58%.
Gross profit 187,814 at 33.4%, against a budget of 30.1% and last September at 45.5%. The budget margin for this month was unusually low, so beating it is not the achievement it looks like.
Overheads 230,233 against 231,573 budget. Spending is behaving.
EBITDA (32,437) against a budgeted (107,100). Net profit (41,464) after depreciation and amortisation of 9,982.
Year to date revenue 1,624,460 against 1,996,110, behind by 371,650. EBITDA 5,774 against 222,700.
The line to leave in the room: at 38.9% gross margin we need 549,372 of revenue every month to cover overhead. We are averaging 541,487. That gap is structural and selling more at this margin will not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risk in one slide: EBITDA against what was budgeted.
The quarter produced 5,774 of EBITDA against a budget of 222,700. That is a miss of 216,927, or 97.4%.
Why it matters more than the number suggests. The FY27 budget is 397,251 of EBITDA for the year, and it put 222,700 of that, 56%, into the first quarter. The year was planned to be earned early. It was not, so the remaining nine months now have to carry the whole thing.
To still land on 397,251 the nine months from October must produce 391,477, which is 43,497 a month. The budget itself only asked those nine months for 174,551, or 19,395 a month. We would need 2.2 times the monthly profit the plan assumed, in the months the plan already treated as the quiet ones.
Put it against last year and it is clearer. The whole of FY26 delivered 235,273 of EBITDA. The next nine months would need 391,477, which is 1.7 times a full year of last year's earnings. My view is that the full year EBITDA budget is not recoverable and the board should be told that now rather than at the half year.
The cause is margin, not sales. Revenue for the quarter came in at 81.4% of budget, which is not a bad result on its own. Gross profit came in at 69.3% of budget. The gap between those two percentages is the whole problem: we sold reasonably well and kept very little of it. September is the clearest example, where revenue beat budget by 148,280 and the month still lost 32,437 of EBITDA.
Nothing in what we spend can soak that up. Overheads ran at 641,508 for the quarter, 213,836 a month, and came in 48,184 under budget. Spending is not the problem and there is nothing more to cut that would matter. Wages and the office are what we spend, and both are locked in for the year. So when we keep less of each sale it goes straight off the profit.
Where that leaves break even. At the 38.9% gross margin we actually deliver, the business needs 549,372 of revenue a month to cover overhead. We are running at 541,487. The business is trading at break even, not at a profit, and it is doing so in the quarter the budget expected to be the strongest.
Two things make the next two quarters harder, not easier. December is budgeted at a loss because the business closes for two weeks, so Q2 cannot make the gap up. And with EBITDA at break even there is no earnings buffer, while 303,605 of cash sits in debtors above the 30 day target.
The one piece of genuine good news: last year's first quarter was a loss of 85,404. This quarter is 91,178 better than that. The business is improving year on year. It is the budget that was set above what the business can deliver, and that is the distinction to draw in the room.
What I am recommending. Reforecast now, on margin rather than revenue. Rebuild Consulting around the capacity that actually exists. Reset the gross margin assumption to the rate delivered over two years rather than the rate in the plan. Hold December as budgeted. And give the board a revised full year EBITDA they can rely on, because the one in front of them cannot be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department against budget with the full overhead charge, read off section 7 of the Overhead Split tab.
Support: revenue 242,948 against 248,017 budget. Gross profit 101,290 at 41.7%. Overhead 72,283, of which 59,182 is allocated admin. Result 29,007.
Events: revenue 73,304 against 65,828 budget. Gross profit 56,881 at 77.6%. Overhead 111,108, of which 71,672 is allocated admin. Result (54,227).
Video: revenue 7,303 against 17,498 budget. Gross profit 5,813 at 79.6%. Overhead 12,659, of which 9,782 is allocated admin. Result (6,846).
Integration: revenue 234,858 against 59,272 budget. Gross profit 23,756 at 10.1%. Overhead 13,285, of which 4,148 is allocated admin. Result 10,471.
Consulting: revenue 3,531 against 23,050 budget. Gross profit 74 at 2.1%. Overhead 19,944, of which 13,979 is allocated admin. Result (19,870).
The five departments total (41,464), which is net profit for the month.
Two things to flag. Integration sold 175,586 more than planned and it turned into almost no profit, because we keep only 10.1% on reselling equipment. And Events is charged 71,672 of office costs on 73,304 of sales. That charge is split on who uses the office, and Events is not the department sitting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for September 2026, read off the Dept P&amp;L tab.
Sales 242,948 against a budget of 248,017, behind by 5,068. Last September it billed 231,214.
After direct costs of 141,659 it kept 101,290, which is 41.7% of what it sold.
Running costs charged to it were 72,283. 13,101 of that is its own spending and 59,182 is its share of the office, charged on the keys set in the pack.
That leaves 29,007 for the month.
Year to date it has billed 718,587 against a budget of 743,185.
On people: employment expense of 51,242, of which 8,980 is its own staff and 42,262 is its share of office wages. It put 2,132 hours onto jobs and 11 onto work we cannot bill, with 218 hours of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for September 2026, read off the Dept P&amp;L tab.
Sales 73,304 against a budget of 65,828, ahead by 7,476. Last September it billed 75,333.
After direct costs of 16,423 it kept 56,881, which is 77.6% of what it sold.
Running costs charged to it were 111,108. 39,436 of that is its own spending and 71,672 is its share of the office, charged on the keys set in the pack.
That leaves (54,227) for the month.
Year to date it has billed 420,121 against a budget of 321,957.
On people: employment expense of 50,959, of which 35,665 is its own staff and 15,294 is its share of office wages. It put 241 hours onto jobs and 249 onto work we cannot bill, with 333 hours of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Video for September 2026, read off the Dept P&amp;L tab.
Sales 7,303 against a budget of 17,498, behind by 10,196. Last September it billed 20,025.
After direct costs of 1,489 it kept 5,813, which is 79.6% of what it sold.
Running costs charged to it were 12,659. 2,878 of that is its own spending and 9,782 is its share of the office, charged on the keys set in the pack.
That leaves (6,846) for the month.
Year to date it has billed 40,270 against a budget of 85,584.
On people: employment expense of 3,961, of which 2,660 is its own staff and 1,301 is its share of office wages. It put 25 hours onto jobs and 8 onto work we cannot bill, with 0 hours of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Integration for September 2026, read off the Dept P&amp;L tab.
Sales 234,858 against a budget of 59,272, ahead by 175,586. Last September it billed 21,421.
After direct costs of 211,102 it kept 23,756, which is 10.1% of what it sold.
Running costs charged to it were 13,285. 9,136 of that is its own spending and 4,148 is its share of the office, charged on the keys set in the pack.
That leaves 10,471 for the month.
Year to date it has billed 441,414 against a budget of 608,676.
On people: employment expense of 8,832, of which 8,563 is its own staff and 269 is its share of office wages. It put 10 hours onto jobs and 0 onto work we cannot bill, with 0 hours of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Consulting for September 2026, read off the Dept P&amp;L tab.
Sales 3,531 against a budget of 23,050, behind by 19,519. Last September it billed 8,330.
After direct costs of 3,457 it kept 74, which is 2.1% of what it sold.
Running costs charged to it were 19,944. 5,965 of that is its own spending and 13,979 is its share of the office, charged on the keys set in the pack.
That leaves (19,870) for the month.
Year to date it has billed 4,068 against a budget of 236,707.
On people: employment expense of 9,496, of which 5,545 is its own staff and 3,951 is its share of office wages. It put 31 hours onto jobs and 84 onto work we cannot bill, with 53 hours of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by department for September 2026, actual against budget and against the same month last year.
Support: 242,948 against a budget of 248,017 and 231,214 last year.
Integration: 234,858 against a budget of 59,272 and 21,421 last year.
Events: 73,304 against a budget of 65,828 and 75,333 last year.
Video: 7,303 against a budget of 17,498 and 20,025 last year.
Consulting: 3,531 against a budget of 23,050 and 8,330 last year.
Company revenue 561,945 against 413,665 budget and 356,323 last September.
The beat is Integration, and it is one large fit-out at 10.1% gross margin. Read it as timing, not growth. Video and Consulting are short of budget for the third month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costs are steady at about 214 thousand a month. Spending is not the problem, but that is the number sales have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cost distribution for the year to date, cost of sales and overhead on one scale.
Cost of sales, labour 620,737 at 38.0%. Cost of sales, equipment &amp; services 347,307 at 21.3%. Cost of sales, other direct 24,117 at 1.5%. Overhead, General &amp; Administrative Exp 75,700 at 4.6%. Overhead, Business Insurances 25,227 at 1.5%. Overhead, Advertising &amp; Promotion Exp 34,119 at 2.1%. Overhead, Operating Expenses 136,752 at 8.4%. Overhead, Employment Expenses 369,466 at 22.6%.
The message is how concentrated it is. Wages for people on jobs and wages for everyone else are the bulk of it, and the second group is fixed for the year, which is why a quiet month drops straight off the profit.
When the board asks what we can cut, the honest answer is staff numbers or the office. Trimming subscriptions and travel will not change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operating expenses, year to date.
Rent 62,043 at 45.4%. IT Network Service &amp; Support 39,570 at 28.9%. Rental Outgoings 14,684 at 10.7%. Travel &amp; Per Diems 5,627 at 4.1%. Stamp Duty (Indirect) 3,455 at 2.5%. Repairs &amp; Maintenance 2,079 at 1.5%. Office Cleaning 2,079 at 1.5%. Mobile Phones 1,825 at 1.3%. Everything else 5,390 at 3.9%.
Rent and outgoings are fixed by the lease. IT support is the next largest and the only one that moves.
The practical conclusion is that savings do not come from here. Cutting this meaningfully means talking about the office 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Labour mix for the year to date, direct labour charged to cost of sales split by type.
Sub-Contract Labour 117,012. Service - hires 23,704. Direct Salaries 314,763. Direct Wages 111,018. Direct Superannuation 54,240.
The great majority is permanent payroll. Contractors are the only labour cost that rises and falls with the work.
This is the link to the utilisation section. We pay for hours worked and we bill for hours that are chargeable. Where those two diverge, margin goes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Employment expense split between office staff and departmental staff for September 2026.
Departmental staff is the employment expense on each department's own cost centre: Support 8,980, Events 35,665, Video 2,660, Integration 8,563, Consulting 5,545.
Office staff is the admin employment pot of 63,077, charged across the departments on their share of full time equivalent: Support 42,262, Events 15,294, Video 1,301, Integration 269, Consulting 3,951.
FTE is rolling twelve month worked hours on that cost centre divided by 2,024 hours, being 253 working days at eight. That is the method in the training recording.
The change worth noting is that this no longer relies on a typed figure. The pack calculates it from the Labour Hours Report, so it reproduces every month without anyone deciding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is concentrated and cash is slow. Days sales outstanding is 47.2 against a 30 day target, which is 303,605 of cash sitting in the debtor book above where it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ten customers by revenue, year to date, with the top three called out in red.
1. Deloitte Services: 401,755 for the year, 24.7% of the total, 119,614 of it in September 2026.
2. Aware Super: 285,075 for the year, 17.5% of the total, 241,178 of it in September 2026.
3. CBA Place South: 105,040 for the year, 6.5% of the total, 30,409 of it in September 2026.
4. Ventia: 97,662 for the year, 6.0% of the total, 9,105 of it in September 2026.
5. PwC Services: 88,051 for the year, 5.4% of the total, 26,707 of it in September 2026.
6. APT Management Services: 63,613 for the year, 3.9% of the total, 4,527 of it in September 2026.
7. ASX Operations: 60,858 for the year, 3.7% of the total, 17,167 of it in September 2026.
8. Bankwest: 54,971 for the year, 3.4% of the total, 17,230 of it in September 2026.
9. Data#3: 45,909 for the year, 2.8% of the total, 0 of it in September 2026.
10. Generation-e Productivity…: 37,166 for the year, 2.3% of the total, 12,389 of it in September 2026.
The ten together are 1,240,100, or 76.3% of everything we sold. Every other customer on the books makes up the remaining 384,360.
The three red bars are the point of the slide. They are 48.7% of the year between them.
The difference that matters is contract work against one-off projects. Deloitte Services is contracted support that renews every month. Aware Super is a fit-out that has finished. Counting them as the same kind of income is how a forecast goes wrong.
What I am recommending: a named owner for each of the top three before the half year, and the new business target set on customers four to twenty rather than on the ones we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long customers take to pay, at 30 September 2026.
We are owed 833,320. Across the last three months we sold 1,624,460, which over 92 days is 17,657 of sales a day. Divide what we are owed by that and it takes customers 47.2 days to pay us.
The target is 30 days. We are 17.2 days over it. If we collected on time we would be owed 529,715 instead of 833,320, so 303,605 of cash that should already be ours is sitting in the debtor book.
Put that next to the profit position. The quarter made 5,774. There is 303,605 of our own money uncollected. Collecting it is worth many times more than anything we can trade our way to between now and Christmas, and it costs nothing but phone calls.
Every day we take off the number brings in 17,657.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largest amounts owed at 30 September 2026.
Aware Super: 277,395, 33.3% of the total.
Deloitte Services P/L for Deloitte Services Trust: 131,575, 15.8% of the total.
Ventia: 94,701, 11.4% of the total.
Downer EDI Limited: 39,664, 4.8% of the total.
Generation-e Productivity Solutions: 39,106, 4.7% of the total.
The ageing: Current 588,782 at 70.7%, Under 1 month 133,177 at 16.0%, 1 month 86,553 at 10.4%, 3 months 24,809 at 3.0%. Late in total 244,538, or 29.3% of the book.
The action here is narrow and that is the point. Two customers hold most of the balance. A targeted chase on those two is worth more than a general collections exercise across everyone, and it is the fastest money available to us this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company billed 2,437 chargeable hours in September 2026 out of 2,789 worked. Where chargeable hours fall short, margin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each department spent its hours in September 2026.
Read the bars as a mix, not as a size. Each one is scaled to that department's own total, because Support works around a hundred times the hours Integration does and on a straight scale four of the five departments disappear. The number on each segment is the real hours.
Support: 2,132 hours on jobs, 11 not on jobs, 218 leave. 99.5% of worked hours were billable.
Events: 241 hours on jobs, 249 not on jobs, 333 leave. 49.1% of worked hours were billable.
Video: 25 hours on jobs, 8 not on jobs, 0 leave. 76.0% of worked hours were billable.
Integration: 10 hours on jobs, 0 not on jobs, 0 leave. 100.0% of worked hours were billable.
Consulting: 31 hours on jobs, 84 not on jobs, 53 leave. 26.8% of worked hours were billable.
Across the five departments, 2,437 hours on jobs out of 2,789 worked.
I need to be straight about the Support bar. 11 hours not on jobs, in a whole month, for a team that size, is not believable. Non-billable time is being booked to billable jobs. The total hours are right, the split is not, and until timesheet coding is corrected the Support percentage cannot be used to manage anybody.
Events is the real operational issue: 333 hours of leave on a small team takes out most of the month's capacity.
And the prize. Support earns about 48 of margin on every hour it bills. Five more points of billable time across Support and Events, at the rate each already earns, is worth roughly 15,813 a month and costs nothing extra. It is the largest controllable item in this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months are closed and the remaining nine are still at original budget. That is the decision in front of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Revenue by month, actual for the three closed months and original budget for the rest.
Q1 actual 1,624,460 against a budget of 1,996,110, behind by 371,650.
The nine months from October are still at the budget set before the year started. October is budgeted at 950,416, higher than any month we have delivered.
Two things for the board. The Q1 variance is concentrated in Consulting and Video, which were budgeted on a resourcing level that does not exist. And the margin assumption in the budget is above what the business has delivered for two years, so even a month that hits the revenue number will miss the profit number.
My recommendation is a rolling forecast from Q2, rebuilding Consulting around actual capacity and resetting gross margin to delivered rates. December should stay as budgeted: the business closes for two weeks and the loss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actions, each with an owner and a date.
The first two matter most: reforecasting on margin rather than revenue, and testing the overhead keys. Everything else in this pack follows from those two numbers.
The Consulting decision cannot keep being deferred; it has carried running costs against almost no fees for three months.
The cash action is the only one that produces money this quarter, and the utilisation action is the largest controllable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two numbers that matter: break even needs 549,372 a month at our real margin, and we are running at 541,487. Everything else in the pack is detail underneath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TS_DARK">
    <p:bg>
      <p:bgPr>
        <a:solidFill>
          <a:srgbClr val="242C39"/>
        </a:solidFill>
      </p:bgPr>
    </p:bg>
    <p:spTree>
      <p:nvGrpSpPr>
        <p:cNvPr id="1" name=""/>
        <p:cNvGrpSpPr/>
        <p:nvPr/>
      </p:nvGrpSpPr>
      <p:grpSpPr>
        <a:xfrm>
          <a:off x="0" y="0"/>
          <a:ext cx="0" cy="0"/>
          <a:chOff x="0" y="0"/>
          <a:chExt cx="0" cy="0"/>
        </a:xfrm>
      </p:grpSpPr>
      <p:sp>
        <p:nvSpPr>
          <p:cNvPr id="2" name="Text 0"/>
          <p:cNvSpPr txBox="1"/>
          <p:nvPr/>
        </p:nvSpPr>
        <p:spPr>
          <a:xfrm>
            <a:off x="502920" y="4736592"/>
            <a:ext cx="4114800" cy="228600"/>
          </a:xfrm>
          <a:prstGeom prst="rect">
            <a:avLst/>
          </a:prstGeom>
          <a:noFill/>
          <a:ln/>
        </p:spPr>
        <p:txBody>
          <a:bodyPr wrap="square" lIns="0" tIns="0" rIns="0" bIns="0" rtlCol="0" anchor="ctr"/>
          <a:lstStyle/>
          <a:p>
            <a:pPr indent="0" marL="0">
              <a:buNone/>
            </a:pPr>
            <a:r>
              <a:rPr lang="en-US" sz="800" dirty="0">
                <a:solidFill>
                  <a:srgbClr val="C9CED6"/>
                </a:solidFill>
              </a:rPr>
              <a:t>Corporate Technology Services  |  Seamless AV</a:t>
            </a:r>
            <a:endParaRPr lang="en-US" sz="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TS_LIGH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4736592"/>
            <a:ext cx="4114800" cy="228600"/>
          </a:xfrm>
          <a:prstGeom prst="rect">
            <a:avLst/>
          </a:prstGeom>
          <a:noFill/>
          <a:ln/>
        </p:spPr>
        <p:txBody>
          <a:bodyPr wrap="square" lIns="0" tIns="0" rIns="0" bIns="0" rtlCol="0" anchor="ctr"/>
          <a:lstStyle/>
          <a:p>
            <a:pPr indent="0" marL="0">
              <a:buNone/>
            </a:pPr>
            <a:r>
              <a:rPr lang="en-US" sz="800" dirty="0">
                <a:solidFill>
                  <a:srgbClr val="6B7585"/>
                </a:solidFill>
              </a:rPr>
              <a:t>Corporate Technology Services  |  Seamless AV</a:t>
            </a:r>
            <a:endParaRPr lang="en-US" sz="8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0"/>
          <p:cNvSpPr/>
          <p:nvPr/>
        </p:nvSpPr>
        <p:spPr>
          <a:xfrm>
            <a:off x="6355080" y="274320"/>
            <a:ext cx="2148840" cy="2148840"/>
          </a:xfrm>
          <a:prstGeom prst="ellipse">
            <a:avLst/>
          </a:prstGeom>
          <a:solidFill>
            <a:srgbClr val="3FD0C9">
              <a:alpha val="82000"/>
            </a:srgbClr>
          </a:solidFill>
          <a:ln/>
        </p:spPr>
      </p:sp>
      <p:sp>
        <p:nvSpPr>
          <p:cNvPr id="3" name="circle 1"/>
          <p:cNvSpPr/>
          <p:nvPr/>
        </p:nvSpPr>
        <p:spPr>
          <a:xfrm>
            <a:off x="7315200" y="1188720"/>
            <a:ext cx="1783080" cy="1783080"/>
          </a:xfrm>
          <a:prstGeom prst="ellipse">
            <a:avLst/>
          </a:prstGeom>
          <a:solidFill>
            <a:srgbClr val="6D71FF">
              <a:alpha val="82000"/>
            </a:srgbClr>
          </a:solidFill>
          <a:ln/>
        </p:spPr>
      </p:sp>
      <p:sp>
        <p:nvSpPr>
          <p:cNvPr id="4" name="circle 2"/>
          <p:cNvSpPr/>
          <p:nvPr/>
        </p:nvSpPr>
        <p:spPr>
          <a:xfrm>
            <a:off x="6583680" y="2057400"/>
            <a:ext cx="2240280" cy="2240280"/>
          </a:xfrm>
          <a:prstGeom prst="ellipse">
            <a:avLst/>
          </a:prstGeom>
          <a:solidFill>
            <a:srgbClr val="F33844">
              <a:alpha val="82000"/>
            </a:srgbClr>
          </a:solidFill>
          <a:ln/>
        </p:spPr>
      </p:sp>
      <p:sp>
        <p:nvSpPr>
          <p:cNvPr id="5" name="Text 3"/>
          <p:cNvSpPr txBox="1"/>
          <p:nvPr/>
        </p:nvSpPr>
        <p:spPr>
          <a:xfrm>
            <a:off x="502920" y="411480"/>
            <a:ext cx="1828800" cy="640080"/>
          </a:xfrm>
          <a:prstGeom prst="rect">
            <a:avLst/>
          </a:prstGeom>
          <a:noFill/>
          <a:ln/>
        </p:spPr>
        <p:txBody>
          <a:bodyPr wrap="square" lIns="0" tIns="0" rIns="0" bIns="0" rtlCol="0" anchor="ctr"/>
          <a:lstStyle/>
          <a:p>
            <a:pPr indent="0" marL="0">
              <a:buNone/>
            </a:pPr>
            <a:r>
              <a:rPr lang="en-US" sz="4000" b="1" dirty="0">
                <a:solidFill>
                  <a:srgbClr val="FFFFFF"/>
                </a:solidFill>
              </a:rPr>
              <a:t>cts</a:t>
            </a:r>
            <a:endParaRPr lang="en-US" sz="4000" dirty="0"/>
          </a:p>
        </p:txBody>
      </p:sp>
      <p:sp>
        <p:nvSpPr>
          <p:cNvPr id="6" name="Text 4"/>
          <p:cNvSpPr txBox="1"/>
          <p:nvPr/>
        </p:nvSpPr>
        <p:spPr>
          <a:xfrm>
            <a:off x="566928" y="960120"/>
            <a:ext cx="1828800" cy="228600"/>
          </a:xfrm>
          <a:prstGeom prst="rect">
            <a:avLst/>
          </a:prstGeom>
          <a:noFill/>
          <a:ln/>
        </p:spPr>
        <p:txBody>
          <a:bodyPr wrap="square" lIns="0" tIns="0" rIns="0" bIns="0" rtlCol="0" anchor="ctr"/>
          <a:lstStyle/>
          <a:p>
            <a:pPr indent="0" marL="0">
              <a:buNone/>
            </a:pPr>
            <a:r>
              <a:rPr lang="en-US" sz="950" dirty="0">
                <a:solidFill>
                  <a:srgbClr val="C9CED6"/>
                </a:solidFill>
              </a:rPr>
              <a:t>Seamless AV</a:t>
            </a:r>
            <a:endParaRPr lang="en-US" sz="950" dirty="0"/>
          </a:p>
        </p:txBody>
      </p:sp>
      <p:sp>
        <p:nvSpPr>
          <p:cNvPr id="7" name="Text 5"/>
          <p:cNvSpPr txBox="1"/>
          <p:nvPr/>
        </p:nvSpPr>
        <p:spPr>
          <a:xfrm>
            <a:off x="502920" y="1828800"/>
            <a:ext cx="5486400" cy="274320"/>
          </a:xfrm>
          <a:prstGeom prst="rect">
            <a:avLst/>
          </a:prstGeom>
          <a:noFill/>
          <a:ln/>
        </p:spPr>
        <p:txBody>
          <a:bodyPr wrap="square" lIns="0" tIns="0" rIns="0" bIns="0" rtlCol="0" anchor="ctr"/>
          <a:lstStyle/>
          <a:p>
            <a:pPr indent="0" marL="0">
              <a:buNone/>
            </a:pPr>
            <a:r>
              <a:rPr lang="en-US" sz="1050" b="1" spc="300" kern="0" dirty="0">
                <a:solidFill>
                  <a:srgbClr val="3FD0C9"/>
                </a:solidFill>
              </a:rPr>
              <a:t>MONTHLY BUSINESS REVIEW</a:t>
            </a:r>
            <a:endParaRPr lang="en-US" sz="1050" dirty="0"/>
          </a:p>
        </p:txBody>
      </p:sp>
      <p:sp>
        <p:nvSpPr>
          <p:cNvPr id="8" name="Text 6"/>
          <p:cNvSpPr txBox="1"/>
          <p:nvPr/>
        </p:nvSpPr>
        <p:spPr>
          <a:xfrm>
            <a:off x="502920" y="2148840"/>
            <a:ext cx="5486400" cy="731520"/>
          </a:xfrm>
          <a:prstGeom prst="rect">
            <a:avLst/>
          </a:prstGeom>
          <a:noFill/>
          <a:ln/>
        </p:spPr>
        <p:txBody>
          <a:bodyPr wrap="square" lIns="0" tIns="0" rIns="0" bIns="0" rtlCol="0" anchor="ctr"/>
          <a:lstStyle/>
          <a:p>
            <a:pPr indent="0" marL="0">
              <a:buNone/>
            </a:pPr>
            <a:r>
              <a:rPr lang="en-US" sz="4000" b="1" dirty="0">
                <a:solidFill>
                  <a:srgbClr val="FFFFFF"/>
                </a:solidFill>
              </a:rPr>
              <a:t>September 2026</a:t>
            </a:r>
            <a:endParaRPr lang="en-US" sz="4000" dirty="0"/>
          </a:p>
        </p:txBody>
      </p:sp>
      <p:sp>
        <p:nvSpPr>
          <p:cNvPr id="9" name="Text 7"/>
          <p:cNvSpPr txBox="1"/>
          <p:nvPr/>
        </p:nvSpPr>
        <p:spPr>
          <a:xfrm>
            <a:off x="502920" y="3017520"/>
            <a:ext cx="5486400" cy="365760"/>
          </a:xfrm>
          <a:prstGeom prst="rect">
            <a:avLst/>
          </a:prstGeom>
          <a:noFill/>
          <a:ln/>
        </p:spPr>
        <p:txBody>
          <a:bodyPr wrap="square" lIns="0" tIns="0" rIns="0" bIns="0" rtlCol="0" anchor="ctr"/>
          <a:lstStyle/>
          <a:p>
            <a:pPr indent="0" marL="0">
              <a:buNone/>
            </a:pPr>
            <a:r>
              <a:rPr lang="en-US" sz="1300" dirty="0">
                <a:solidFill>
                  <a:srgbClr val="E3E6EA"/>
                </a:solidFill>
              </a:rPr>
              <a:t>Results, departments, spending, customers, cash and utilisation</a:t>
            </a:r>
            <a:endParaRPr lang="en-US" sz="1300" dirty="0"/>
          </a:p>
        </p:txBody>
      </p:sp>
      <p:sp>
        <p:nvSpPr>
          <p:cNvPr id="10" name="Text 8"/>
          <p:cNvSpPr txBox="1"/>
          <p:nvPr/>
        </p:nvSpPr>
        <p:spPr>
          <a:xfrm>
            <a:off x="502920" y="4160520"/>
            <a:ext cx="2743200" cy="228600"/>
          </a:xfrm>
          <a:prstGeom prst="rect">
            <a:avLst/>
          </a:prstGeom>
          <a:noFill/>
          <a:ln/>
        </p:spPr>
        <p:txBody>
          <a:bodyPr wrap="square" lIns="0" tIns="0" rIns="0" bIns="0" rtlCol="0" anchor="ctr"/>
          <a:lstStyle/>
          <a:p>
            <a:pPr indent="0" marL="0">
              <a:buNone/>
            </a:pPr>
            <a:r>
              <a:rPr lang="en-US" sz="950" dirty="0">
                <a:solidFill>
                  <a:srgbClr val="C9CED6"/>
                </a:solidFill>
              </a:rPr>
              <a:t>Financial Controller</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AGENDA</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What we will cover</a:t>
            </a:r>
            <a:endParaRPr lang="en-US" sz="2700" dirty="0"/>
          </a:p>
        </p:txBody>
      </p:sp>
      <p:sp>
        <p:nvSpPr>
          <p:cNvPr id="4" name="Shape 2"/>
          <p:cNvSpPr/>
          <p:nvPr/>
        </p:nvSpPr>
        <p:spPr>
          <a:xfrm>
            <a:off x="502920" y="1417320"/>
            <a:ext cx="384048" cy="384048"/>
          </a:xfrm>
          <a:prstGeom prst="rect">
            <a:avLst/>
          </a:prstGeom>
          <a:solidFill>
            <a:srgbClr val="242C39"/>
          </a:solidFill>
          <a:ln/>
        </p:spPr>
      </p:sp>
      <p:sp>
        <p:nvSpPr>
          <p:cNvPr id="5" name="Text 3"/>
          <p:cNvSpPr txBox="1"/>
          <p:nvPr/>
        </p:nvSpPr>
        <p:spPr>
          <a:xfrm>
            <a:off x="502920" y="141732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01</a:t>
            </a:r>
            <a:endParaRPr lang="en-US" sz="1100" dirty="0"/>
          </a:p>
        </p:txBody>
      </p:sp>
      <p:sp>
        <p:nvSpPr>
          <p:cNvPr id="6" name="Text 4"/>
          <p:cNvSpPr txBox="1"/>
          <p:nvPr/>
        </p:nvSpPr>
        <p:spPr>
          <a:xfrm>
            <a:off x="1051560" y="1399032"/>
            <a:ext cx="7589520" cy="237744"/>
          </a:xfrm>
          <a:prstGeom prst="rect">
            <a:avLst/>
          </a:prstGeom>
          <a:noFill/>
          <a:ln/>
        </p:spPr>
        <p:txBody>
          <a:bodyPr wrap="square" lIns="0" tIns="0" rIns="0" bIns="0" rtlCol="0" anchor="ctr"/>
          <a:lstStyle/>
          <a:p>
            <a:pPr indent="0" marL="0">
              <a:buNone/>
            </a:pPr>
            <a:r>
              <a:rPr lang="en-US" sz="1300" b="1" dirty="0">
                <a:solidFill>
                  <a:srgbClr val="242C39"/>
                </a:solidFill>
              </a:rPr>
              <a:t>Financial performance</a:t>
            </a:r>
            <a:endParaRPr lang="en-US" sz="1300" dirty="0"/>
          </a:p>
        </p:txBody>
      </p:sp>
      <p:sp>
        <p:nvSpPr>
          <p:cNvPr id="7" name="Text 5"/>
          <p:cNvSpPr txBox="1"/>
          <p:nvPr/>
        </p:nvSpPr>
        <p:spPr>
          <a:xfrm>
            <a:off x="1051560" y="1618488"/>
            <a:ext cx="7589520" cy="219456"/>
          </a:xfrm>
          <a:prstGeom prst="rect">
            <a:avLst/>
          </a:prstGeom>
          <a:noFill/>
          <a:ln/>
        </p:spPr>
        <p:txBody>
          <a:bodyPr wrap="square" lIns="0" tIns="0" rIns="0" bIns="0" rtlCol="0" anchor="ctr"/>
          <a:lstStyle/>
          <a:p>
            <a:pPr indent="0" marL="0">
              <a:buNone/>
            </a:pPr>
            <a:r>
              <a:rPr lang="en-US" sz="1000" dirty="0">
                <a:solidFill>
                  <a:srgbClr val="6B7585"/>
                </a:solidFill>
              </a:rPr>
              <a:t>P&amp;L summary, the three months to date, and every department against budget</a:t>
            </a:r>
            <a:endParaRPr lang="en-US" sz="1000" dirty="0"/>
          </a:p>
        </p:txBody>
      </p:sp>
      <p:sp>
        <p:nvSpPr>
          <p:cNvPr id="8" name="Shape 6"/>
          <p:cNvSpPr/>
          <p:nvPr/>
        </p:nvSpPr>
        <p:spPr>
          <a:xfrm>
            <a:off x="502920" y="2057400"/>
            <a:ext cx="384048" cy="384048"/>
          </a:xfrm>
          <a:prstGeom prst="rect">
            <a:avLst/>
          </a:prstGeom>
          <a:solidFill>
            <a:srgbClr val="242C39"/>
          </a:solidFill>
          <a:ln/>
        </p:spPr>
      </p:sp>
      <p:sp>
        <p:nvSpPr>
          <p:cNvPr id="9" name="Text 7"/>
          <p:cNvSpPr txBox="1"/>
          <p:nvPr/>
        </p:nvSpPr>
        <p:spPr>
          <a:xfrm>
            <a:off x="502920" y="205740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02</a:t>
            </a:r>
            <a:endParaRPr lang="en-US" sz="1100" dirty="0"/>
          </a:p>
        </p:txBody>
      </p:sp>
      <p:sp>
        <p:nvSpPr>
          <p:cNvPr id="10" name="Text 8"/>
          <p:cNvSpPr txBox="1"/>
          <p:nvPr/>
        </p:nvSpPr>
        <p:spPr>
          <a:xfrm>
            <a:off x="1051560" y="2039112"/>
            <a:ext cx="7589520" cy="237744"/>
          </a:xfrm>
          <a:prstGeom prst="rect">
            <a:avLst/>
          </a:prstGeom>
          <a:noFill/>
          <a:ln/>
        </p:spPr>
        <p:txBody>
          <a:bodyPr wrap="square" lIns="0" tIns="0" rIns="0" bIns="0" rtlCol="0" anchor="ctr"/>
          <a:lstStyle/>
          <a:p>
            <a:pPr indent="0" marL="0">
              <a:buNone/>
            </a:pPr>
            <a:r>
              <a:rPr lang="en-US" sz="1300" b="1" dirty="0">
                <a:solidFill>
                  <a:srgbClr val="242C39"/>
                </a:solidFill>
              </a:rPr>
              <a:t>What we spend</a:t>
            </a:r>
            <a:endParaRPr lang="en-US" sz="1300" dirty="0"/>
          </a:p>
        </p:txBody>
      </p:sp>
      <p:sp>
        <p:nvSpPr>
          <p:cNvPr id="11" name="Text 9"/>
          <p:cNvSpPr txBox="1"/>
          <p:nvPr/>
        </p:nvSpPr>
        <p:spPr>
          <a:xfrm>
            <a:off x="1051560" y="2258568"/>
            <a:ext cx="7589520" cy="219456"/>
          </a:xfrm>
          <a:prstGeom prst="rect">
            <a:avLst/>
          </a:prstGeom>
          <a:noFill/>
          <a:ln/>
        </p:spPr>
        <p:txBody>
          <a:bodyPr wrap="square" lIns="0" tIns="0" rIns="0" bIns="0" rtlCol="0" anchor="ctr"/>
          <a:lstStyle/>
          <a:p>
            <a:pPr indent="0" marL="0">
              <a:buNone/>
            </a:pPr>
            <a:r>
              <a:rPr lang="en-US" sz="1000" dirty="0">
                <a:solidFill>
                  <a:srgbClr val="6B7585"/>
                </a:solidFill>
              </a:rPr>
              <a:t>Where the money goes: cost distribution, operating expense, labour and employment</a:t>
            </a:r>
            <a:endParaRPr lang="en-US" sz="1000" dirty="0"/>
          </a:p>
        </p:txBody>
      </p:sp>
      <p:sp>
        <p:nvSpPr>
          <p:cNvPr id="12" name="Shape 10"/>
          <p:cNvSpPr/>
          <p:nvPr/>
        </p:nvSpPr>
        <p:spPr>
          <a:xfrm>
            <a:off x="502920" y="2697480"/>
            <a:ext cx="384048" cy="384048"/>
          </a:xfrm>
          <a:prstGeom prst="rect">
            <a:avLst/>
          </a:prstGeom>
          <a:solidFill>
            <a:srgbClr val="242C39"/>
          </a:solidFill>
          <a:ln/>
        </p:spPr>
      </p:sp>
      <p:sp>
        <p:nvSpPr>
          <p:cNvPr id="13" name="Text 11"/>
          <p:cNvSpPr txBox="1"/>
          <p:nvPr/>
        </p:nvSpPr>
        <p:spPr>
          <a:xfrm>
            <a:off x="502920" y="26974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03</a:t>
            </a:r>
            <a:endParaRPr lang="en-US" sz="1100" dirty="0"/>
          </a:p>
        </p:txBody>
      </p:sp>
      <p:sp>
        <p:nvSpPr>
          <p:cNvPr id="14" name="Text 12"/>
          <p:cNvSpPr txBox="1"/>
          <p:nvPr/>
        </p:nvSpPr>
        <p:spPr>
          <a:xfrm>
            <a:off x="1051560" y="2679192"/>
            <a:ext cx="7589520" cy="237744"/>
          </a:xfrm>
          <a:prstGeom prst="rect">
            <a:avLst/>
          </a:prstGeom>
          <a:noFill/>
          <a:ln/>
        </p:spPr>
        <p:txBody>
          <a:bodyPr wrap="square" lIns="0" tIns="0" rIns="0" bIns="0" rtlCol="0" anchor="ctr"/>
          <a:lstStyle/>
          <a:p>
            <a:pPr indent="0" marL="0">
              <a:buNone/>
            </a:pPr>
            <a:r>
              <a:rPr lang="en-US" sz="1300" b="1" dirty="0">
                <a:solidFill>
                  <a:srgbClr val="242C39"/>
                </a:solidFill>
              </a:rPr>
              <a:t>Customers and cash</a:t>
            </a:r>
            <a:endParaRPr lang="en-US" sz="1300" dirty="0"/>
          </a:p>
        </p:txBody>
      </p:sp>
      <p:sp>
        <p:nvSpPr>
          <p:cNvPr id="15" name="Text 13"/>
          <p:cNvSpPr txBox="1"/>
          <p:nvPr/>
        </p:nvSpPr>
        <p:spPr>
          <a:xfrm>
            <a:off x="1051560" y="2898648"/>
            <a:ext cx="7589520" cy="219456"/>
          </a:xfrm>
          <a:prstGeom prst="rect">
            <a:avLst/>
          </a:prstGeom>
          <a:noFill/>
          <a:ln/>
        </p:spPr>
        <p:txBody>
          <a:bodyPr wrap="square" lIns="0" tIns="0" rIns="0" bIns="0" rtlCol="0" anchor="ctr"/>
          <a:lstStyle/>
          <a:p>
            <a:pPr indent="0" marL="0">
              <a:buNone/>
            </a:pPr>
            <a:r>
              <a:rPr lang="en-US" sz="1000" dirty="0">
                <a:solidFill>
                  <a:srgbClr val="6B7585"/>
                </a:solidFill>
              </a:rPr>
              <a:t>Top ten customers, receivables and days sales outstanding</a:t>
            </a:r>
            <a:endParaRPr lang="en-US" sz="1000" dirty="0"/>
          </a:p>
        </p:txBody>
      </p:sp>
      <p:sp>
        <p:nvSpPr>
          <p:cNvPr id="16" name="Shape 14"/>
          <p:cNvSpPr/>
          <p:nvPr/>
        </p:nvSpPr>
        <p:spPr>
          <a:xfrm>
            <a:off x="502920" y="3337560"/>
            <a:ext cx="384048" cy="384048"/>
          </a:xfrm>
          <a:prstGeom prst="rect">
            <a:avLst/>
          </a:prstGeom>
          <a:solidFill>
            <a:srgbClr val="242C39"/>
          </a:solidFill>
          <a:ln/>
        </p:spPr>
      </p:sp>
      <p:sp>
        <p:nvSpPr>
          <p:cNvPr id="17" name="Text 15"/>
          <p:cNvSpPr txBox="1"/>
          <p:nvPr/>
        </p:nvSpPr>
        <p:spPr>
          <a:xfrm>
            <a:off x="502920" y="33375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04</a:t>
            </a:r>
            <a:endParaRPr lang="en-US" sz="1100" dirty="0"/>
          </a:p>
        </p:txBody>
      </p:sp>
      <p:sp>
        <p:nvSpPr>
          <p:cNvPr id="18" name="Text 16"/>
          <p:cNvSpPr txBox="1"/>
          <p:nvPr/>
        </p:nvSpPr>
        <p:spPr>
          <a:xfrm>
            <a:off x="1051560" y="3319272"/>
            <a:ext cx="7589520" cy="237744"/>
          </a:xfrm>
          <a:prstGeom prst="rect">
            <a:avLst/>
          </a:prstGeom>
          <a:noFill/>
          <a:ln/>
        </p:spPr>
        <p:txBody>
          <a:bodyPr wrap="square" lIns="0" tIns="0" rIns="0" bIns="0" rtlCol="0" anchor="ctr"/>
          <a:lstStyle/>
          <a:p>
            <a:pPr indent="0" marL="0">
              <a:buNone/>
            </a:pPr>
            <a:r>
              <a:rPr lang="en-US" sz="1300" b="1" dirty="0">
                <a:solidFill>
                  <a:srgbClr val="242C39"/>
                </a:solidFill>
              </a:rPr>
              <a:t>People and utilisation</a:t>
            </a:r>
            <a:endParaRPr lang="en-US" sz="1300" dirty="0"/>
          </a:p>
        </p:txBody>
      </p:sp>
      <p:sp>
        <p:nvSpPr>
          <p:cNvPr id="19" name="Text 17"/>
          <p:cNvSpPr txBox="1"/>
          <p:nvPr/>
        </p:nvSpPr>
        <p:spPr>
          <a:xfrm>
            <a:off x="1051560" y="3538728"/>
            <a:ext cx="7589520" cy="219456"/>
          </a:xfrm>
          <a:prstGeom prst="rect">
            <a:avLst/>
          </a:prstGeom>
          <a:noFill/>
          <a:ln/>
        </p:spPr>
        <p:txBody>
          <a:bodyPr wrap="square" lIns="0" tIns="0" rIns="0" bIns="0" rtlCol="0" anchor="ctr"/>
          <a:lstStyle/>
          <a:p>
            <a:pPr indent="0" marL="0">
              <a:buNone/>
            </a:pPr>
            <a:r>
              <a:rPr lang="en-US" sz="1000" dirty="0">
                <a:solidFill>
                  <a:srgbClr val="6B7585"/>
                </a:solidFill>
              </a:rPr>
              <a:t>Chargeable hours by department and the profit they produce</a:t>
            </a:r>
            <a:endParaRPr lang="en-US" sz="1000" dirty="0"/>
          </a:p>
        </p:txBody>
      </p:sp>
      <p:sp>
        <p:nvSpPr>
          <p:cNvPr id="20" name="Shape 18"/>
          <p:cNvSpPr/>
          <p:nvPr/>
        </p:nvSpPr>
        <p:spPr>
          <a:xfrm>
            <a:off x="502920" y="3977640"/>
            <a:ext cx="384048" cy="384048"/>
          </a:xfrm>
          <a:prstGeom prst="rect">
            <a:avLst/>
          </a:prstGeom>
          <a:solidFill>
            <a:srgbClr val="242C39"/>
          </a:solidFill>
          <a:ln/>
        </p:spPr>
      </p:sp>
      <p:sp>
        <p:nvSpPr>
          <p:cNvPr id="21" name="Text 19"/>
          <p:cNvSpPr txBox="1"/>
          <p:nvPr/>
        </p:nvSpPr>
        <p:spPr>
          <a:xfrm>
            <a:off x="502920" y="39776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rPr>
              <a:t>05</a:t>
            </a:r>
            <a:endParaRPr lang="en-US" sz="1100" dirty="0"/>
          </a:p>
        </p:txBody>
      </p:sp>
      <p:sp>
        <p:nvSpPr>
          <p:cNvPr id="22" name="Text 20"/>
          <p:cNvSpPr txBox="1"/>
          <p:nvPr/>
        </p:nvSpPr>
        <p:spPr>
          <a:xfrm>
            <a:off x="1051560" y="3959352"/>
            <a:ext cx="7589520" cy="237744"/>
          </a:xfrm>
          <a:prstGeom prst="rect">
            <a:avLst/>
          </a:prstGeom>
          <a:noFill/>
          <a:ln/>
        </p:spPr>
        <p:txBody>
          <a:bodyPr wrap="square" lIns="0" tIns="0" rIns="0" bIns="0" rtlCol="0" anchor="ctr"/>
          <a:lstStyle/>
          <a:p>
            <a:pPr indent="0" marL="0">
              <a:buNone/>
            </a:pPr>
            <a:r>
              <a:rPr lang="en-US" sz="1300" b="1" dirty="0">
                <a:solidFill>
                  <a:srgbClr val="242C39"/>
                </a:solidFill>
              </a:rPr>
              <a:t>Budget and outlook</a:t>
            </a:r>
            <a:endParaRPr lang="en-US" sz="1300" dirty="0"/>
          </a:p>
        </p:txBody>
      </p:sp>
      <p:sp>
        <p:nvSpPr>
          <p:cNvPr id="23" name="Text 21"/>
          <p:cNvSpPr txBox="1"/>
          <p:nvPr/>
        </p:nvSpPr>
        <p:spPr>
          <a:xfrm>
            <a:off x="1051560" y="4178808"/>
            <a:ext cx="7589520" cy="219456"/>
          </a:xfrm>
          <a:prstGeom prst="rect">
            <a:avLst/>
          </a:prstGeom>
          <a:noFill/>
          <a:ln/>
        </p:spPr>
        <p:txBody>
          <a:bodyPr wrap="square" lIns="0" tIns="0" rIns="0" bIns="0" rtlCol="0" anchor="ctr"/>
          <a:lstStyle/>
          <a:p>
            <a:pPr indent="0" marL="0">
              <a:buNone/>
            </a:pPr>
            <a:r>
              <a:rPr lang="en-US" sz="1000" dirty="0">
                <a:solidFill>
                  <a:srgbClr val="6B7585"/>
                </a:solidFill>
              </a:rPr>
              <a:t>Revenue by month against budget, and what we do about it</a:t>
            </a:r>
            <a:endParaRPr lang="en-US" sz="10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INTRODUCTION</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Where the business stands, Sep 26</a:t>
            </a:r>
            <a:endParaRPr lang="en-US" sz="2700" dirty="0"/>
          </a:p>
        </p:txBody>
      </p:sp>
      <p:sp>
        <p:nvSpPr>
          <p:cNvPr id="4" name="Support card"/>
          <p:cNvSpPr/>
          <p:nvPr/>
        </p:nvSpPr>
        <p:spPr>
          <a:xfrm>
            <a:off x="502920" y="1481328"/>
            <a:ext cx="1481328" cy="1627632"/>
          </a:xfrm>
          <a:prstGeom prst="rect">
            <a:avLst/>
          </a:prstGeom>
          <a:solidFill>
            <a:srgbClr val="F33844"/>
          </a:solidFill>
          <a:ln/>
        </p:spPr>
      </p:sp>
      <p:sp>
        <p:nvSpPr>
          <p:cNvPr id="5" name="Text 3"/>
          <p:cNvSpPr txBox="1"/>
          <p:nvPr/>
        </p:nvSpPr>
        <p:spPr>
          <a:xfrm>
            <a:off x="612648" y="1591056"/>
            <a:ext cx="1261872" cy="201168"/>
          </a:xfrm>
          <a:prstGeom prst="rect">
            <a:avLst/>
          </a:prstGeom>
          <a:noFill/>
          <a:ln/>
        </p:spPr>
        <p:txBody>
          <a:bodyPr wrap="square" lIns="0" tIns="0" rIns="0" bIns="0" rtlCol="0" anchor="ctr"/>
          <a:lstStyle/>
          <a:p>
            <a:pPr indent="0" marL="0">
              <a:buNone/>
            </a:pPr>
            <a:r>
              <a:rPr lang="en-US" sz="850" b="1" spc="120" kern="0" dirty="0">
                <a:solidFill>
                  <a:srgbClr val="FFFFFF"/>
                </a:solidFill>
              </a:rPr>
              <a:t>SUPPORT</a:t>
            </a:r>
            <a:endParaRPr lang="en-US" sz="850" dirty="0"/>
          </a:p>
        </p:txBody>
      </p:sp>
      <p:sp>
        <p:nvSpPr>
          <p:cNvPr id="6" name="Text 4"/>
          <p:cNvSpPr txBox="1"/>
          <p:nvPr/>
        </p:nvSpPr>
        <p:spPr>
          <a:xfrm>
            <a:off x="612648" y="1810512"/>
            <a:ext cx="1261872" cy="365760"/>
          </a:xfrm>
          <a:prstGeom prst="rect">
            <a:avLst/>
          </a:prstGeom>
          <a:noFill/>
          <a:ln/>
        </p:spPr>
        <p:txBody>
          <a:bodyPr wrap="square" lIns="0" tIns="0" rIns="0" bIns="0" rtlCol="0" anchor="ctr"/>
          <a:lstStyle/>
          <a:p>
            <a:pPr indent="0" marL="0">
              <a:buNone/>
            </a:pPr>
            <a:r>
              <a:rPr lang="en-US" sz="1900" b="1" dirty="0">
                <a:solidFill>
                  <a:srgbClr val="FFFFFF"/>
                </a:solidFill>
              </a:rPr>
              <a:t>$243k</a:t>
            </a:r>
            <a:endParaRPr lang="en-US" sz="1900" dirty="0"/>
          </a:p>
        </p:txBody>
      </p:sp>
      <p:sp>
        <p:nvSpPr>
          <p:cNvPr id="7" name="Text 5"/>
          <p:cNvSpPr txBox="1"/>
          <p:nvPr/>
        </p:nvSpPr>
        <p:spPr>
          <a:xfrm>
            <a:off x="612648" y="2157984"/>
            <a:ext cx="1261872" cy="182880"/>
          </a:xfrm>
          <a:prstGeom prst="rect">
            <a:avLst/>
          </a:prstGeom>
          <a:noFill/>
          <a:ln/>
        </p:spPr>
        <p:txBody>
          <a:bodyPr wrap="square" lIns="0" tIns="0" rIns="0" bIns="0" rtlCol="0" anchor="ctr"/>
          <a:lstStyle/>
          <a:p>
            <a:pPr indent="0" marL="0">
              <a:buNone/>
            </a:pPr>
            <a:r>
              <a:rPr lang="en-US" sz="800" dirty="0">
                <a:solidFill>
                  <a:srgbClr val="E3E6EA">
                    <a:alpha val="85000"/>
                  </a:srgbClr>
                </a:solidFill>
              </a:rPr>
              <a:t>revenue</a:t>
            </a:r>
            <a:endParaRPr lang="en-US" sz="800" dirty="0"/>
          </a:p>
        </p:txBody>
      </p:sp>
      <p:sp>
        <p:nvSpPr>
          <p:cNvPr id="8" name="Text 6"/>
          <p:cNvSpPr txBox="1"/>
          <p:nvPr/>
        </p:nvSpPr>
        <p:spPr>
          <a:xfrm>
            <a:off x="612648" y="2395728"/>
            <a:ext cx="1261872" cy="182880"/>
          </a:xfrm>
          <a:prstGeom prst="rect">
            <a:avLst/>
          </a:prstGeom>
          <a:noFill/>
          <a:ln/>
        </p:spPr>
        <p:txBody>
          <a:bodyPr wrap="square" lIns="0" tIns="0" rIns="0" bIns="0" rtlCol="0" anchor="ctr"/>
          <a:lstStyle/>
          <a:p>
            <a:pPr indent="0" marL="0">
              <a:buNone/>
            </a:pPr>
            <a:r>
              <a:rPr lang="en-US" sz="900" dirty="0">
                <a:solidFill>
                  <a:srgbClr val="FFFFFF"/>
                </a:solidFill>
              </a:rPr>
              <a:t>42% gross margin</a:t>
            </a:r>
            <a:endParaRPr lang="en-US" sz="900" dirty="0"/>
          </a:p>
        </p:txBody>
      </p:sp>
      <p:sp>
        <p:nvSpPr>
          <p:cNvPr id="9" name="Text 7"/>
          <p:cNvSpPr txBox="1"/>
          <p:nvPr/>
        </p:nvSpPr>
        <p:spPr>
          <a:xfrm>
            <a:off x="612648" y="2615184"/>
            <a:ext cx="1261872" cy="201168"/>
          </a:xfrm>
          <a:prstGeom prst="rect">
            <a:avLst/>
          </a:prstGeom>
          <a:noFill/>
          <a:ln/>
        </p:spPr>
        <p:txBody>
          <a:bodyPr wrap="square" lIns="0" tIns="0" rIns="0" bIns="0" rtlCol="0" anchor="ctr"/>
          <a:lstStyle/>
          <a:p>
            <a:pPr indent="0" marL="0">
              <a:buNone/>
            </a:pPr>
            <a:r>
              <a:rPr lang="en-US" sz="900" b="1" dirty="0">
                <a:solidFill>
                  <a:srgbClr val="FFFFFF"/>
                </a:solidFill>
              </a:rPr>
              <a:t>+$29k after overhead</a:t>
            </a:r>
            <a:endParaRPr lang="en-US" sz="900" dirty="0"/>
          </a:p>
        </p:txBody>
      </p:sp>
      <p:sp>
        <p:nvSpPr>
          <p:cNvPr id="10" name="Text 8"/>
          <p:cNvSpPr txBox="1"/>
          <p:nvPr/>
        </p:nvSpPr>
        <p:spPr>
          <a:xfrm>
            <a:off x="612648" y="2816352"/>
            <a:ext cx="1261872" cy="219456"/>
          </a:xfrm>
          <a:prstGeom prst="rect">
            <a:avLst/>
          </a:prstGeom>
          <a:noFill/>
          <a:ln/>
        </p:spPr>
        <p:txBody>
          <a:bodyPr wrap="square" lIns="0" tIns="0" rIns="0" bIns="0" rtlCol="0" anchor="ctr"/>
          <a:lstStyle/>
          <a:p>
            <a:pPr indent="0" marL="0">
              <a:buNone/>
            </a:pPr>
            <a:r>
              <a:rPr lang="en-US" sz="750" dirty="0">
                <a:solidFill>
                  <a:srgbClr val="E3E6EA"/>
                </a:solidFill>
              </a:rPr>
              <a:t>Behind budget by $5k</a:t>
            </a:r>
            <a:endParaRPr lang="en-US" sz="750" dirty="0"/>
          </a:p>
        </p:txBody>
      </p:sp>
      <p:sp>
        <p:nvSpPr>
          <p:cNvPr id="11" name="Events card"/>
          <p:cNvSpPr/>
          <p:nvPr/>
        </p:nvSpPr>
        <p:spPr>
          <a:xfrm>
            <a:off x="2139696" y="1481328"/>
            <a:ext cx="1481328" cy="1627632"/>
          </a:xfrm>
          <a:prstGeom prst="rect">
            <a:avLst/>
          </a:prstGeom>
          <a:solidFill>
            <a:srgbClr val="005358"/>
          </a:solidFill>
          <a:ln/>
        </p:spPr>
      </p:sp>
      <p:sp>
        <p:nvSpPr>
          <p:cNvPr id="12" name="Text 10"/>
          <p:cNvSpPr txBox="1"/>
          <p:nvPr/>
        </p:nvSpPr>
        <p:spPr>
          <a:xfrm>
            <a:off x="2249424" y="1591056"/>
            <a:ext cx="1261872" cy="201168"/>
          </a:xfrm>
          <a:prstGeom prst="rect">
            <a:avLst/>
          </a:prstGeom>
          <a:noFill/>
          <a:ln/>
        </p:spPr>
        <p:txBody>
          <a:bodyPr wrap="square" lIns="0" tIns="0" rIns="0" bIns="0" rtlCol="0" anchor="ctr"/>
          <a:lstStyle/>
          <a:p>
            <a:pPr indent="0" marL="0">
              <a:buNone/>
            </a:pPr>
            <a:r>
              <a:rPr lang="en-US" sz="850" b="1" spc="120" kern="0" dirty="0">
                <a:solidFill>
                  <a:srgbClr val="FFFFFF"/>
                </a:solidFill>
              </a:rPr>
              <a:t>EVENTS</a:t>
            </a:r>
            <a:endParaRPr lang="en-US" sz="850" dirty="0"/>
          </a:p>
        </p:txBody>
      </p:sp>
      <p:sp>
        <p:nvSpPr>
          <p:cNvPr id="13" name="Text 11"/>
          <p:cNvSpPr txBox="1"/>
          <p:nvPr/>
        </p:nvSpPr>
        <p:spPr>
          <a:xfrm>
            <a:off x="2249424" y="1810512"/>
            <a:ext cx="1261872" cy="365760"/>
          </a:xfrm>
          <a:prstGeom prst="rect">
            <a:avLst/>
          </a:prstGeom>
          <a:noFill/>
          <a:ln/>
        </p:spPr>
        <p:txBody>
          <a:bodyPr wrap="square" lIns="0" tIns="0" rIns="0" bIns="0" rtlCol="0" anchor="ctr"/>
          <a:lstStyle/>
          <a:p>
            <a:pPr indent="0" marL="0">
              <a:buNone/>
            </a:pPr>
            <a:r>
              <a:rPr lang="en-US" sz="1900" b="1" dirty="0">
                <a:solidFill>
                  <a:srgbClr val="FFFFFF"/>
                </a:solidFill>
              </a:rPr>
              <a:t>$73k</a:t>
            </a:r>
            <a:endParaRPr lang="en-US" sz="1900" dirty="0"/>
          </a:p>
        </p:txBody>
      </p:sp>
      <p:sp>
        <p:nvSpPr>
          <p:cNvPr id="14" name="Text 12"/>
          <p:cNvSpPr txBox="1"/>
          <p:nvPr/>
        </p:nvSpPr>
        <p:spPr>
          <a:xfrm>
            <a:off x="2249424" y="2157984"/>
            <a:ext cx="1261872" cy="182880"/>
          </a:xfrm>
          <a:prstGeom prst="rect">
            <a:avLst/>
          </a:prstGeom>
          <a:noFill/>
          <a:ln/>
        </p:spPr>
        <p:txBody>
          <a:bodyPr wrap="square" lIns="0" tIns="0" rIns="0" bIns="0" rtlCol="0" anchor="ctr"/>
          <a:lstStyle/>
          <a:p>
            <a:pPr indent="0" marL="0">
              <a:buNone/>
            </a:pPr>
            <a:r>
              <a:rPr lang="en-US" sz="800" dirty="0">
                <a:solidFill>
                  <a:srgbClr val="E3E6EA">
                    <a:alpha val="85000"/>
                  </a:srgbClr>
                </a:solidFill>
              </a:rPr>
              <a:t>revenue</a:t>
            </a:r>
            <a:endParaRPr lang="en-US" sz="800" dirty="0"/>
          </a:p>
        </p:txBody>
      </p:sp>
      <p:sp>
        <p:nvSpPr>
          <p:cNvPr id="15" name="Text 13"/>
          <p:cNvSpPr txBox="1"/>
          <p:nvPr/>
        </p:nvSpPr>
        <p:spPr>
          <a:xfrm>
            <a:off x="2249424" y="2395728"/>
            <a:ext cx="1261872" cy="182880"/>
          </a:xfrm>
          <a:prstGeom prst="rect">
            <a:avLst/>
          </a:prstGeom>
          <a:noFill/>
          <a:ln/>
        </p:spPr>
        <p:txBody>
          <a:bodyPr wrap="square" lIns="0" tIns="0" rIns="0" bIns="0" rtlCol="0" anchor="ctr"/>
          <a:lstStyle/>
          <a:p>
            <a:pPr indent="0" marL="0">
              <a:buNone/>
            </a:pPr>
            <a:r>
              <a:rPr lang="en-US" sz="900" dirty="0">
                <a:solidFill>
                  <a:srgbClr val="FFFFFF"/>
                </a:solidFill>
              </a:rPr>
              <a:t>78% gross margin</a:t>
            </a:r>
            <a:endParaRPr lang="en-US" sz="900" dirty="0"/>
          </a:p>
        </p:txBody>
      </p:sp>
      <p:sp>
        <p:nvSpPr>
          <p:cNvPr id="16" name="Text 14"/>
          <p:cNvSpPr txBox="1"/>
          <p:nvPr/>
        </p:nvSpPr>
        <p:spPr>
          <a:xfrm>
            <a:off x="2249424" y="2615184"/>
            <a:ext cx="1261872" cy="201168"/>
          </a:xfrm>
          <a:prstGeom prst="rect">
            <a:avLst/>
          </a:prstGeom>
          <a:noFill/>
          <a:ln/>
        </p:spPr>
        <p:txBody>
          <a:bodyPr wrap="square" lIns="0" tIns="0" rIns="0" bIns="0" rtlCol="0" anchor="ctr"/>
          <a:lstStyle/>
          <a:p>
            <a:pPr indent="0" marL="0">
              <a:buNone/>
            </a:pPr>
            <a:r>
              <a:rPr lang="en-US" sz="900" b="1" dirty="0">
                <a:solidFill>
                  <a:srgbClr val="FFFFFF"/>
                </a:solidFill>
              </a:rPr>
              <a:t>$(54)k after overhead</a:t>
            </a:r>
            <a:endParaRPr lang="en-US" sz="900" dirty="0"/>
          </a:p>
        </p:txBody>
      </p:sp>
      <p:sp>
        <p:nvSpPr>
          <p:cNvPr id="17" name="Text 15"/>
          <p:cNvSpPr txBox="1"/>
          <p:nvPr/>
        </p:nvSpPr>
        <p:spPr>
          <a:xfrm>
            <a:off x="2249424" y="2816352"/>
            <a:ext cx="1261872" cy="219456"/>
          </a:xfrm>
          <a:prstGeom prst="rect">
            <a:avLst/>
          </a:prstGeom>
          <a:noFill/>
          <a:ln/>
        </p:spPr>
        <p:txBody>
          <a:bodyPr wrap="square" lIns="0" tIns="0" rIns="0" bIns="0" rtlCol="0" anchor="ctr"/>
          <a:lstStyle/>
          <a:p>
            <a:pPr indent="0" marL="0">
              <a:buNone/>
            </a:pPr>
            <a:r>
              <a:rPr lang="en-US" sz="750" dirty="0">
                <a:solidFill>
                  <a:srgbClr val="E3E6EA"/>
                </a:solidFill>
              </a:rPr>
              <a:t>Ahead of budget by $7k</a:t>
            </a:r>
            <a:endParaRPr lang="en-US" sz="750" dirty="0"/>
          </a:p>
        </p:txBody>
      </p:sp>
      <p:sp>
        <p:nvSpPr>
          <p:cNvPr id="18" name="Video card"/>
          <p:cNvSpPr/>
          <p:nvPr/>
        </p:nvSpPr>
        <p:spPr>
          <a:xfrm>
            <a:off x="3776472" y="1481328"/>
            <a:ext cx="1481328" cy="1627632"/>
          </a:xfrm>
          <a:prstGeom prst="rect">
            <a:avLst/>
          </a:prstGeom>
          <a:solidFill>
            <a:srgbClr val="3FD0C9"/>
          </a:solidFill>
          <a:ln/>
        </p:spPr>
      </p:sp>
      <p:sp>
        <p:nvSpPr>
          <p:cNvPr id="19" name="Text 17"/>
          <p:cNvSpPr txBox="1"/>
          <p:nvPr/>
        </p:nvSpPr>
        <p:spPr>
          <a:xfrm>
            <a:off x="3886200" y="1591056"/>
            <a:ext cx="1261872" cy="201168"/>
          </a:xfrm>
          <a:prstGeom prst="rect">
            <a:avLst/>
          </a:prstGeom>
          <a:noFill/>
          <a:ln/>
        </p:spPr>
        <p:txBody>
          <a:bodyPr wrap="square" lIns="0" tIns="0" rIns="0" bIns="0" rtlCol="0" anchor="ctr"/>
          <a:lstStyle/>
          <a:p>
            <a:pPr indent="0" marL="0">
              <a:buNone/>
            </a:pPr>
            <a:r>
              <a:rPr lang="en-US" sz="850" b="1" spc="120" kern="0" dirty="0">
                <a:solidFill>
                  <a:srgbClr val="242C39"/>
                </a:solidFill>
              </a:rPr>
              <a:t>VIDEO</a:t>
            </a:r>
            <a:endParaRPr lang="en-US" sz="850" dirty="0"/>
          </a:p>
        </p:txBody>
      </p:sp>
      <p:sp>
        <p:nvSpPr>
          <p:cNvPr id="20" name="Text 18"/>
          <p:cNvSpPr txBox="1"/>
          <p:nvPr/>
        </p:nvSpPr>
        <p:spPr>
          <a:xfrm>
            <a:off x="3886200" y="1810512"/>
            <a:ext cx="1261872" cy="365760"/>
          </a:xfrm>
          <a:prstGeom prst="rect">
            <a:avLst/>
          </a:prstGeom>
          <a:noFill/>
          <a:ln/>
        </p:spPr>
        <p:txBody>
          <a:bodyPr wrap="square" lIns="0" tIns="0" rIns="0" bIns="0" rtlCol="0" anchor="ctr"/>
          <a:lstStyle/>
          <a:p>
            <a:pPr indent="0" marL="0">
              <a:buNone/>
            </a:pPr>
            <a:r>
              <a:rPr lang="en-US" sz="1900" b="1" dirty="0">
                <a:solidFill>
                  <a:srgbClr val="242C39"/>
                </a:solidFill>
              </a:rPr>
              <a:t>$7k</a:t>
            </a:r>
            <a:endParaRPr lang="en-US" sz="1900" dirty="0"/>
          </a:p>
        </p:txBody>
      </p:sp>
      <p:sp>
        <p:nvSpPr>
          <p:cNvPr id="21" name="Text 19"/>
          <p:cNvSpPr txBox="1"/>
          <p:nvPr/>
        </p:nvSpPr>
        <p:spPr>
          <a:xfrm>
            <a:off x="3886200" y="2157984"/>
            <a:ext cx="1261872" cy="182880"/>
          </a:xfrm>
          <a:prstGeom prst="rect">
            <a:avLst/>
          </a:prstGeom>
          <a:noFill/>
          <a:ln/>
        </p:spPr>
        <p:txBody>
          <a:bodyPr wrap="square" lIns="0" tIns="0" rIns="0" bIns="0" rtlCol="0" anchor="ctr"/>
          <a:lstStyle/>
          <a:p>
            <a:pPr indent="0" marL="0">
              <a:buNone/>
            </a:pPr>
            <a:r>
              <a:rPr lang="en-US" sz="800" dirty="0">
                <a:solidFill>
                  <a:srgbClr val="242C39">
                    <a:alpha val="85000"/>
                  </a:srgbClr>
                </a:solidFill>
              </a:rPr>
              <a:t>revenue</a:t>
            </a:r>
            <a:endParaRPr lang="en-US" sz="800" dirty="0"/>
          </a:p>
        </p:txBody>
      </p:sp>
      <p:sp>
        <p:nvSpPr>
          <p:cNvPr id="22" name="Text 20"/>
          <p:cNvSpPr txBox="1"/>
          <p:nvPr/>
        </p:nvSpPr>
        <p:spPr>
          <a:xfrm>
            <a:off x="3886200" y="2395728"/>
            <a:ext cx="1261872" cy="182880"/>
          </a:xfrm>
          <a:prstGeom prst="rect">
            <a:avLst/>
          </a:prstGeom>
          <a:noFill/>
          <a:ln/>
        </p:spPr>
        <p:txBody>
          <a:bodyPr wrap="square" lIns="0" tIns="0" rIns="0" bIns="0" rtlCol="0" anchor="ctr"/>
          <a:lstStyle/>
          <a:p>
            <a:pPr indent="0" marL="0">
              <a:buNone/>
            </a:pPr>
            <a:r>
              <a:rPr lang="en-US" sz="900" dirty="0">
                <a:solidFill>
                  <a:srgbClr val="242C39"/>
                </a:solidFill>
              </a:rPr>
              <a:t>80% gross margin</a:t>
            </a:r>
            <a:endParaRPr lang="en-US" sz="900" dirty="0"/>
          </a:p>
        </p:txBody>
      </p:sp>
      <p:sp>
        <p:nvSpPr>
          <p:cNvPr id="23" name="Text 21"/>
          <p:cNvSpPr txBox="1"/>
          <p:nvPr/>
        </p:nvSpPr>
        <p:spPr>
          <a:xfrm>
            <a:off x="3886200" y="2615184"/>
            <a:ext cx="1261872" cy="201168"/>
          </a:xfrm>
          <a:prstGeom prst="rect">
            <a:avLst/>
          </a:prstGeom>
          <a:noFill/>
          <a:ln/>
        </p:spPr>
        <p:txBody>
          <a:bodyPr wrap="square" lIns="0" tIns="0" rIns="0" bIns="0" rtlCol="0" anchor="ctr"/>
          <a:lstStyle/>
          <a:p>
            <a:pPr indent="0" marL="0">
              <a:buNone/>
            </a:pPr>
            <a:r>
              <a:rPr lang="en-US" sz="900" b="1" dirty="0">
                <a:solidFill>
                  <a:srgbClr val="242C39"/>
                </a:solidFill>
              </a:rPr>
              <a:t>$(7)k after overhead</a:t>
            </a:r>
            <a:endParaRPr lang="en-US" sz="900" dirty="0"/>
          </a:p>
        </p:txBody>
      </p:sp>
      <p:sp>
        <p:nvSpPr>
          <p:cNvPr id="24" name="Text 22"/>
          <p:cNvSpPr txBox="1"/>
          <p:nvPr/>
        </p:nvSpPr>
        <p:spPr>
          <a:xfrm>
            <a:off x="3886200" y="2816352"/>
            <a:ext cx="1261872" cy="219456"/>
          </a:xfrm>
          <a:prstGeom prst="rect">
            <a:avLst/>
          </a:prstGeom>
          <a:noFill/>
          <a:ln/>
        </p:spPr>
        <p:txBody>
          <a:bodyPr wrap="square" lIns="0" tIns="0" rIns="0" bIns="0" rtlCol="0" anchor="ctr"/>
          <a:lstStyle/>
          <a:p>
            <a:pPr indent="0" marL="0">
              <a:buNone/>
            </a:pPr>
            <a:r>
              <a:rPr lang="en-US" sz="750" dirty="0">
                <a:solidFill>
                  <a:srgbClr val="242C39"/>
                </a:solidFill>
              </a:rPr>
              <a:t>Behind budget by $10k</a:t>
            </a:r>
            <a:endParaRPr lang="en-US" sz="750" dirty="0"/>
          </a:p>
        </p:txBody>
      </p:sp>
      <p:sp>
        <p:nvSpPr>
          <p:cNvPr id="25" name="Integration card"/>
          <p:cNvSpPr/>
          <p:nvPr/>
        </p:nvSpPr>
        <p:spPr>
          <a:xfrm>
            <a:off x="5413248" y="1481328"/>
            <a:ext cx="1481328" cy="1627632"/>
          </a:xfrm>
          <a:prstGeom prst="rect">
            <a:avLst/>
          </a:prstGeom>
          <a:solidFill>
            <a:srgbClr val="6D71FF"/>
          </a:solidFill>
          <a:ln/>
        </p:spPr>
      </p:sp>
      <p:sp>
        <p:nvSpPr>
          <p:cNvPr id="26" name="Text 24"/>
          <p:cNvSpPr txBox="1"/>
          <p:nvPr/>
        </p:nvSpPr>
        <p:spPr>
          <a:xfrm>
            <a:off x="5522976" y="1591056"/>
            <a:ext cx="1261872" cy="201168"/>
          </a:xfrm>
          <a:prstGeom prst="rect">
            <a:avLst/>
          </a:prstGeom>
          <a:noFill/>
          <a:ln/>
        </p:spPr>
        <p:txBody>
          <a:bodyPr wrap="square" lIns="0" tIns="0" rIns="0" bIns="0" rtlCol="0" anchor="ctr"/>
          <a:lstStyle/>
          <a:p>
            <a:pPr indent="0" marL="0">
              <a:buNone/>
            </a:pPr>
            <a:r>
              <a:rPr lang="en-US" sz="850" b="1" spc="120" kern="0" dirty="0">
                <a:solidFill>
                  <a:srgbClr val="FFFFFF"/>
                </a:solidFill>
              </a:rPr>
              <a:t>INTEGRATION</a:t>
            </a:r>
            <a:endParaRPr lang="en-US" sz="850" dirty="0"/>
          </a:p>
        </p:txBody>
      </p:sp>
      <p:sp>
        <p:nvSpPr>
          <p:cNvPr id="27" name="Text 25"/>
          <p:cNvSpPr txBox="1"/>
          <p:nvPr/>
        </p:nvSpPr>
        <p:spPr>
          <a:xfrm>
            <a:off x="5522976" y="1810512"/>
            <a:ext cx="1261872" cy="365760"/>
          </a:xfrm>
          <a:prstGeom prst="rect">
            <a:avLst/>
          </a:prstGeom>
          <a:noFill/>
          <a:ln/>
        </p:spPr>
        <p:txBody>
          <a:bodyPr wrap="square" lIns="0" tIns="0" rIns="0" bIns="0" rtlCol="0" anchor="ctr"/>
          <a:lstStyle/>
          <a:p>
            <a:pPr indent="0" marL="0">
              <a:buNone/>
            </a:pPr>
            <a:r>
              <a:rPr lang="en-US" sz="1900" b="1" dirty="0">
                <a:solidFill>
                  <a:srgbClr val="FFFFFF"/>
                </a:solidFill>
              </a:rPr>
              <a:t>$235k</a:t>
            </a:r>
            <a:endParaRPr lang="en-US" sz="1900" dirty="0"/>
          </a:p>
        </p:txBody>
      </p:sp>
      <p:sp>
        <p:nvSpPr>
          <p:cNvPr id="28" name="Text 26"/>
          <p:cNvSpPr txBox="1"/>
          <p:nvPr/>
        </p:nvSpPr>
        <p:spPr>
          <a:xfrm>
            <a:off x="5522976" y="2157984"/>
            <a:ext cx="1261872" cy="182880"/>
          </a:xfrm>
          <a:prstGeom prst="rect">
            <a:avLst/>
          </a:prstGeom>
          <a:noFill/>
          <a:ln/>
        </p:spPr>
        <p:txBody>
          <a:bodyPr wrap="square" lIns="0" tIns="0" rIns="0" bIns="0" rtlCol="0" anchor="ctr"/>
          <a:lstStyle/>
          <a:p>
            <a:pPr indent="0" marL="0">
              <a:buNone/>
            </a:pPr>
            <a:r>
              <a:rPr lang="en-US" sz="800" dirty="0">
                <a:solidFill>
                  <a:srgbClr val="E3E6EA">
                    <a:alpha val="85000"/>
                  </a:srgbClr>
                </a:solidFill>
              </a:rPr>
              <a:t>revenue</a:t>
            </a:r>
            <a:endParaRPr lang="en-US" sz="800" dirty="0"/>
          </a:p>
        </p:txBody>
      </p:sp>
      <p:sp>
        <p:nvSpPr>
          <p:cNvPr id="29" name="Text 27"/>
          <p:cNvSpPr txBox="1"/>
          <p:nvPr/>
        </p:nvSpPr>
        <p:spPr>
          <a:xfrm>
            <a:off x="5522976" y="2395728"/>
            <a:ext cx="1261872" cy="182880"/>
          </a:xfrm>
          <a:prstGeom prst="rect">
            <a:avLst/>
          </a:prstGeom>
          <a:noFill/>
          <a:ln/>
        </p:spPr>
        <p:txBody>
          <a:bodyPr wrap="square" lIns="0" tIns="0" rIns="0" bIns="0" rtlCol="0" anchor="ctr"/>
          <a:lstStyle/>
          <a:p>
            <a:pPr indent="0" marL="0">
              <a:buNone/>
            </a:pPr>
            <a:r>
              <a:rPr lang="en-US" sz="900" dirty="0">
                <a:solidFill>
                  <a:srgbClr val="FFFFFF"/>
                </a:solidFill>
              </a:rPr>
              <a:t>10% gross margin</a:t>
            </a:r>
            <a:endParaRPr lang="en-US" sz="900" dirty="0"/>
          </a:p>
        </p:txBody>
      </p:sp>
      <p:sp>
        <p:nvSpPr>
          <p:cNvPr id="30" name="Text 28"/>
          <p:cNvSpPr txBox="1"/>
          <p:nvPr/>
        </p:nvSpPr>
        <p:spPr>
          <a:xfrm>
            <a:off x="5522976" y="2615184"/>
            <a:ext cx="1261872" cy="201168"/>
          </a:xfrm>
          <a:prstGeom prst="rect">
            <a:avLst/>
          </a:prstGeom>
          <a:noFill/>
          <a:ln/>
        </p:spPr>
        <p:txBody>
          <a:bodyPr wrap="square" lIns="0" tIns="0" rIns="0" bIns="0" rtlCol="0" anchor="ctr"/>
          <a:lstStyle/>
          <a:p>
            <a:pPr indent="0" marL="0">
              <a:buNone/>
            </a:pPr>
            <a:r>
              <a:rPr lang="en-US" sz="900" b="1" dirty="0">
                <a:solidFill>
                  <a:srgbClr val="FFFFFF"/>
                </a:solidFill>
              </a:rPr>
              <a:t>+$10k after overhead</a:t>
            </a:r>
            <a:endParaRPr lang="en-US" sz="900" dirty="0"/>
          </a:p>
        </p:txBody>
      </p:sp>
      <p:sp>
        <p:nvSpPr>
          <p:cNvPr id="31" name="Text 29"/>
          <p:cNvSpPr txBox="1"/>
          <p:nvPr/>
        </p:nvSpPr>
        <p:spPr>
          <a:xfrm>
            <a:off x="5522976" y="2816352"/>
            <a:ext cx="1261872" cy="219456"/>
          </a:xfrm>
          <a:prstGeom prst="rect">
            <a:avLst/>
          </a:prstGeom>
          <a:noFill/>
          <a:ln/>
        </p:spPr>
        <p:txBody>
          <a:bodyPr wrap="square" lIns="0" tIns="0" rIns="0" bIns="0" rtlCol="0" anchor="ctr"/>
          <a:lstStyle/>
          <a:p>
            <a:pPr indent="0" marL="0">
              <a:buNone/>
            </a:pPr>
            <a:r>
              <a:rPr lang="en-US" sz="750" dirty="0">
                <a:solidFill>
                  <a:srgbClr val="E3E6EA"/>
                </a:solidFill>
              </a:rPr>
              <a:t>Ahead of budget by $176k</a:t>
            </a:r>
            <a:endParaRPr lang="en-US" sz="750" dirty="0"/>
          </a:p>
        </p:txBody>
      </p:sp>
      <p:sp>
        <p:nvSpPr>
          <p:cNvPr id="32" name="Consulting card"/>
          <p:cNvSpPr/>
          <p:nvPr/>
        </p:nvSpPr>
        <p:spPr>
          <a:xfrm>
            <a:off x="7050024" y="1481328"/>
            <a:ext cx="1481328" cy="1627632"/>
          </a:xfrm>
          <a:prstGeom prst="rect">
            <a:avLst/>
          </a:prstGeom>
          <a:solidFill>
            <a:srgbClr val="8F4AFA"/>
          </a:solidFill>
          <a:ln/>
        </p:spPr>
      </p:sp>
      <p:sp>
        <p:nvSpPr>
          <p:cNvPr id="33" name="Text 31"/>
          <p:cNvSpPr txBox="1"/>
          <p:nvPr/>
        </p:nvSpPr>
        <p:spPr>
          <a:xfrm>
            <a:off x="7159752" y="1591056"/>
            <a:ext cx="1261872" cy="201168"/>
          </a:xfrm>
          <a:prstGeom prst="rect">
            <a:avLst/>
          </a:prstGeom>
          <a:noFill/>
          <a:ln/>
        </p:spPr>
        <p:txBody>
          <a:bodyPr wrap="square" lIns="0" tIns="0" rIns="0" bIns="0" rtlCol="0" anchor="ctr"/>
          <a:lstStyle/>
          <a:p>
            <a:pPr indent="0" marL="0">
              <a:buNone/>
            </a:pPr>
            <a:r>
              <a:rPr lang="en-US" sz="850" b="1" spc="120" kern="0" dirty="0">
                <a:solidFill>
                  <a:srgbClr val="FFFFFF"/>
                </a:solidFill>
              </a:rPr>
              <a:t>CONSULTING</a:t>
            </a:r>
            <a:endParaRPr lang="en-US" sz="850" dirty="0"/>
          </a:p>
        </p:txBody>
      </p:sp>
      <p:sp>
        <p:nvSpPr>
          <p:cNvPr id="34" name="Text 32"/>
          <p:cNvSpPr txBox="1"/>
          <p:nvPr/>
        </p:nvSpPr>
        <p:spPr>
          <a:xfrm>
            <a:off x="7159752" y="1810512"/>
            <a:ext cx="1261872" cy="365760"/>
          </a:xfrm>
          <a:prstGeom prst="rect">
            <a:avLst/>
          </a:prstGeom>
          <a:noFill/>
          <a:ln/>
        </p:spPr>
        <p:txBody>
          <a:bodyPr wrap="square" lIns="0" tIns="0" rIns="0" bIns="0" rtlCol="0" anchor="ctr"/>
          <a:lstStyle/>
          <a:p>
            <a:pPr indent="0" marL="0">
              <a:buNone/>
            </a:pPr>
            <a:r>
              <a:rPr lang="en-US" sz="1900" b="1" dirty="0">
                <a:solidFill>
                  <a:srgbClr val="FFFFFF"/>
                </a:solidFill>
              </a:rPr>
              <a:t>$4k</a:t>
            </a:r>
            <a:endParaRPr lang="en-US" sz="1900" dirty="0"/>
          </a:p>
        </p:txBody>
      </p:sp>
      <p:sp>
        <p:nvSpPr>
          <p:cNvPr id="35" name="Text 33"/>
          <p:cNvSpPr txBox="1"/>
          <p:nvPr/>
        </p:nvSpPr>
        <p:spPr>
          <a:xfrm>
            <a:off x="7159752" y="2157984"/>
            <a:ext cx="1261872" cy="182880"/>
          </a:xfrm>
          <a:prstGeom prst="rect">
            <a:avLst/>
          </a:prstGeom>
          <a:noFill/>
          <a:ln/>
        </p:spPr>
        <p:txBody>
          <a:bodyPr wrap="square" lIns="0" tIns="0" rIns="0" bIns="0" rtlCol="0" anchor="ctr"/>
          <a:lstStyle/>
          <a:p>
            <a:pPr indent="0" marL="0">
              <a:buNone/>
            </a:pPr>
            <a:r>
              <a:rPr lang="en-US" sz="800" dirty="0">
                <a:solidFill>
                  <a:srgbClr val="E3E6EA">
                    <a:alpha val="85000"/>
                  </a:srgbClr>
                </a:solidFill>
              </a:rPr>
              <a:t>revenue</a:t>
            </a:r>
            <a:endParaRPr lang="en-US" sz="800" dirty="0"/>
          </a:p>
        </p:txBody>
      </p:sp>
      <p:sp>
        <p:nvSpPr>
          <p:cNvPr id="36" name="Text 34"/>
          <p:cNvSpPr txBox="1"/>
          <p:nvPr/>
        </p:nvSpPr>
        <p:spPr>
          <a:xfrm>
            <a:off x="7159752" y="2395728"/>
            <a:ext cx="1261872" cy="182880"/>
          </a:xfrm>
          <a:prstGeom prst="rect">
            <a:avLst/>
          </a:prstGeom>
          <a:noFill/>
          <a:ln/>
        </p:spPr>
        <p:txBody>
          <a:bodyPr wrap="square" lIns="0" tIns="0" rIns="0" bIns="0" rtlCol="0" anchor="ctr"/>
          <a:lstStyle/>
          <a:p>
            <a:pPr indent="0" marL="0">
              <a:buNone/>
            </a:pPr>
            <a:r>
              <a:rPr lang="en-US" sz="900" dirty="0">
                <a:solidFill>
                  <a:srgbClr val="FFFFFF"/>
                </a:solidFill>
              </a:rPr>
              <a:t>2% gross margin</a:t>
            </a:r>
            <a:endParaRPr lang="en-US" sz="900" dirty="0"/>
          </a:p>
        </p:txBody>
      </p:sp>
      <p:sp>
        <p:nvSpPr>
          <p:cNvPr id="37" name="Text 35"/>
          <p:cNvSpPr txBox="1"/>
          <p:nvPr/>
        </p:nvSpPr>
        <p:spPr>
          <a:xfrm>
            <a:off x="7159752" y="2615184"/>
            <a:ext cx="1261872" cy="201168"/>
          </a:xfrm>
          <a:prstGeom prst="rect">
            <a:avLst/>
          </a:prstGeom>
          <a:noFill/>
          <a:ln/>
        </p:spPr>
        <p:txBody>
          <a:bodyPr wrap="square" lIns="0" tIns="0" rIns="0" bIns="0" rtlCol="0" anchor="ctr"/>
          <a:lstStyle/>
          <a:p>
            <a:pPr indent="0" marL="0">
              <a:buNone/>
            </a:pPr>
            <a:r>
              <a:rPr lang="en-US" sz="900" b="1" dirty="0">
                <a:solidFill>
                  <a:srgbClr val="FFFFFF"/>
                </a:solidFill>
              </a:rPr>
              <a:t>$(20)k after overhead</a:t>
            </a:r>
            <a:endParaRPr lang="en-US" sz="900" dirty="0"/>
          </a:p>
        </p:txBody>
      </p:sp>
      <p:sp>
        <p:nvSpPr>
          <p:cNvPr id="38" name="Text 36"/>
          <p:cNvSpPr txBox="1"/>
          <p:nvPr/>
        </p:nvSpPr>
        <p:spPr>
          <a:xfrm>
            <a:off x="7159752" y="2816352"/>
            <a:ext cx="1261872" cy="219456"/>
          </a:xfrm>
          <a:prstGeom prst="rect">
            <a:avLst/>
          </a:prstGeom>
          <a:noFill/>
          <a:ln/>
        </p:spPr>
        <p:txBody>
          <a:bodyPr wrap="square" lIns="0" tIns="0" rIns="0" bIns="0" rtlCol="0" anchor="ctr"/>
          <a:lstStyle/>
          <a:p>
            <a:pPr indent="0" marL="0">
              <a:buNone/>
            </a:pPr>
            <a:r>
              <a:rPr lang="en-US" sz="750" dirty="0">
                <a:solidFill>
                  <a:srgbClr val="E3E6EA"/>
                </a:solidFill>
              </a:rPr>
              <a:t>Behind budget by $20k</a:t>
            </a:r>
            <a:endParaRPr lang="en-US" sz="750" dirty="0"/>
          </a:p>
        </p:txBody>
      </p:sp>
      <p:sp>
        <p:nvSpPr>
          <p:cNvPr id="39" name="company strip"/>
          <p:cNvSpPr/>
          <p:nvPr/>
        </p:nvSpPr>
        <p:spPr>
          <a:xfrm>
            <a:off x="502920" y="3273552"/>
            <a:ext cx="8138160" cy="566928"/>
          </a:xfrm>
          <a:prstGeom prst="rect">
            <a:avLst/>
          </a:prstGeom>
          <a:solidFill>
            <a:srgbClr val="F4F4F4"/>
          </a:solidFill>
          <a:ln/>
        </p:spPr>
      </p:sp>
      <p:sp>
        <p:nvSpPr>
          <p:cNvPr id="40" name="Text 38"/>
          <p:cNvSpPr txBox="1"/>
          <p:nvPr/>
        </p:nvSpPr>
        <p:spPr>
          <a:xfrm>
            <a:off x="640080" y="3328416"/>
            <a:ext cx="1463040" cy="164592"/>
          </a:xfrm>
          <a:prstGeom prst="rect">
            <a:avLst/>
          </a:prstGeom>
          <a:noFill/>
          <a:ln/>
        </p:spPr>
        <p:txBody>
          <a:bodyPr wrap="square" lIns="0" tIns="0" rIns="0" bIns="0" rtlCol="0" anchor="ctr"/>
          <a:lstStyle/>
          <a:p>
            <a:pPr indent="0" marL="0">
              <a:buNone/>
            </a:pPr>
            <a:r>
              <a:rPr lang="en-US" sz="750" spc="60" kern="0" dirty="0">
                <a:solidFill>
                  <a:srgbClr val="6B7585"/>
                </a:solidFill>
              </a:rPr>
              <a:t>Revenue</a:t>
            </a:r>
            <a:endParaRPr lang="en-US" sz="750" dirty="0"/>
          </a:p>
        </p:txBody>
      </p:sp>
      <p:sp>
        <p:nvSpPr>
          <p:cNvPr id="41" name="Text 39"/>
          <p:cNvSpPr txBox="1"/>
          <p:nvPr/>
        </p:nvSpPr>
        <p:spPr>
          <a:xfrm>
            <a:off x="640080" y="3474720"/>
            <a:ext cx="1463040" cy="219456"/>
          </a:xfrm>
          <a:prstGeom prst="rect">
            <a:avLst/>
          </a:prstGeom>
          <a:noFill/>
          <a:ln/>
        </p:spPr>
        <p:txBody>
          <a:bodyPr wrap="square" lIns="0" tIns="0" rIns="0" bIns="0" rtlCol="0" anchor="ctr"/>
          <a:lstStyle/>
          <a:p>
            <a:pPr indent="0" marL="0">
              <a:buNone/>
            </a:pPr>
            <a:r>
              <a:rPr lang="en-US" sz="1300" b="1" dirty="0">
                <a:solidFill>
                  <a:srgbClr val="242C39"/>
                </a:solidFill>
              </a:rPr>
              <a:t>$562k</a:t>
            </a:r>
            <a:endParaRPr lang="en-US" sz="1300" dirty="0"/>
          </a:p>
        </p:txBody>
      </p:sp>
      <p:sp>
        <p:nvSpPr>
          <p:cNvPr id="42" name="Text 40"/>
          <p:cNvSpPr txBox="1"/>
          <p:nvPr/>
        </p:nvSpPr>
        <p:spPr>
          <a:xfrm>
            <a:off x="640080" y="3675888"/>
            <a:ext cx="1463040" cy="146304"/>
          </a:xfrm>
          <a:prstGeom prst="rect">
            <a:avLst/>
          </a:prstGeom>
          <a:noFill/>
          <a:ln/>
        </p:spPr>
        <p:txBody>
          <a:bodyPr wrap="square" lIns="0" tIns="0" rIns="0" bIns="0" rtlCol="0" anchor="ctr"/>
          <a:lstStyle/>
          <a:p>
            <a:pPr indent="0" marL="0">
              <a:buNone/>
            </a:pPr>
            <a:r>
              <a:rPr lang="en-US" sz="700" dirty="0">
                <a:solidFill>
                  <a:srgbClr val="6B7585"/>
                </a:solidFill>
              </a:rPr>
              <a:t>budget $414k</a:t>
            </a:r>
            <a:endParaRPr lang="en-US" sz="700" dirty="0"/>
          </a:p>
        </p:txBody>
      </p:sp>
      <p:sp>
        <p:nvSpPr>
          <p:cNvPr id="43" name="Text 41"/>
          <p:cNvSpPr txBox="1"/>
          <p:nvPr/>
        </p:nvSpPr>
        <p:spPr>
          <a:xfrm>
            <a:off x="2249424" y="3328416"/>
            <a:ext cx="1463040" cy="164592"/>
          </a:xfrm>
          <a:prstGeom prst="rect">
            <a:avLst/>
          </a:prstGeom>
          <a:noFill/>
          <a:ln/>
        </p:spPr>
        <p:txBody>
          <a:bodyPr wrap="square" lIns="0" tIns="0" rIns="0" bIns="0" rtlCol="0" anchor="ctr"/>
          <a:lstStyle/>
          <a:p>
            <a:pPr indent="0" marL="0">
              <a:buNone/>
            </a:pPr>
            <a:r>
              <a:rPr lang="en-US" sz="750" spc="60" kern="0" dirty="0">
                <a:solidFill>
                  <a:srgbClr val="6B7585"/>
                </a:solidFill>
              </a:rPr>
              <a:t>Gross margin</a:t>
            </a:r>
            <a:endParaRPr lang="en-US" sz="750" dirty="0"/>
          </a:p>
        </p:txBody>
      </p:sp>
      <p:sp>
        <p:nvSpPr>
          <p:cNvPr id="44" name="Text 42"/>
          <p:cNvSpPr txBox="1"/>
          <p:nvPr/>
        </p:nvSpPr>
        <p:spPr>
          <a:xfrm>
            <a:off x="2249424" y="3474720"/>
            <a:ext cx="1463040" cy="219456"/>
          </a:xfrm>
          <a:prstGeom prst="rect">
            <a:avLst/>
          </a:prstGeom>
          <a:noFill/>
          <a:ln/>
        </p:spPr>
        <p:txBody>
          <a:bodyPr wrap="square" lIns="0" tIns="0" rIns="0" bIns="0" rtlCol="0" anchor="ctr"/>
          <a:lstStyle/>
          <a:p>
            <a:pPr indent="0" marL="0">
              <a:buNone/>
            </a:pPr>
            <a:r>
              <a:rPr lang="en-US" sz="1300" b="1" dirty="0">
                <a:solidFill>
                  <a:srgbClr val="242C39"/>
                </a:solidFill>
              </a:rPr>
              <a:t>33.4%</a:t>
            </a:r>
            <a:endParaRPr lang="en-US" sz="1300" dirty="0"/>
          </a:p>
        </p:txBody>
      </p:sp>
      <p:sp>
        <p:nvSpPr>
          <p:cNvPr id="45" name="Text 43"/>
          <p:cNvSpPr txBox="1"/>
          <p:nvPr/>
        </p:nvSpPr>
        <p:spPr>
          <a:xfrm>
            <a:off x="2249424" y="3675888"/>
            <a:ext cx="1463040" cy="146304"/>
          </a:xfrm>
          <a:prstGeom prst="rect">
            <a:avLst/>
          </a:prstGeom>
          <a:noFill/>
          <a:ln/>
        </p:spPr>
        <p:txBody>
          <a:bodyPr wrap="square" lIns="0" tIns="0" rIns="0" bIns="0" rtlCol="0" anchor="ctr"/>
          <a:lstStyle/>
          <a:p>
            <a:pPr indent="0" marL="0">
              <a:buNone/>
            </a:pPr>
            <a:r>
              <a:rPr lang="en-US" sz="700" dirty="0">
                <a:solidFill>
                  <a:srgbClr val="6B7585"/>
                </a:solidFill>
              </a:rPr>
              <a:t>last Sep 45.5%</a:t>
            </a:r>
            <a:endParaRPr lang="en-US" sz="700" dirty="0"/>
          </a:p>
        </p:txBody>
      </p:sp>
      <p:sp>
        <p:nvSpPr>
          <p:cNvPr id="46" name="Text 44"/>
          <p:cNvSpPr txBox="1"/>
          <p:nvPr/>
        </p:nvSpPr>
        <p:spPr>
          <a:xfrm>
            <a:off x="3858768" y="3328416"/>
            <a:ext cx="1463040" cy="164592"/>
          </a:xfrm>
          <a:prstGeom prst="rect">
            <a:avLst/>
          </a:prstGeom>
          <a:noFill/>
          <a:ln/>
        </p:spPr>
        <p:txBody>
          <a:bodyPr wrap="square" lIns="0" tIns="0" rIns="0" bIns="0" rtlCol="0" anchor="ctr"/>
          <a:lstStyle/>
          <a:p>
            <a:pPr indent="0" marL="0">
              <a:buNone/>
            </a:pPr>
            <a:r>
              <a:rPr lang="en-US" sz="750" spc="60" kern="0" dirty="0">
                <a:solidFill>
                  <a:srgbClr val="6B7585"/>
                </a:solidFill>
              </a:rPr>
              <a:t>Overheads</a:t>
            </a:r>
            <a:endParaRPr lang="en-US" sz="750" dirty="0"/>
          </a:p>
        </p:txBody>
      </p:sp>
      <p:sp>
        <p:nvSpPr>
          <p:cNvPr id="47" name="Text 45"/>
          <p:cNvSpPr txBox="1"/>
          <p:nvPr/>
        </p:nvSpPr>
        <p:spPr>
          <a:xfrm>
            <a:off x="3858768" y="3474720"/>
            <a:ext cx="1463040" cy="219456"/>
          </a:xfrm>
          <a:prstGeom prst="rect">
            <a:avLst/>
          </a:prstGeom>
          <a:noFill/>
          <a:ln/>
        </p:spPr>
        <p:txBody>
          <a:bodyPr wrap="square" lIns="0" tIns="0" rIns="0" bIns="0" rtlCol="0" anchor="ctr"/>
          <a:lstStyle/>
          <a:p>
            <a:pPr indent="0" marL="0">
              <a:buNone/>
            </a:pPr>
            <a:r>
              <a:rPr lang="en-US" sz="1300" b="1" dirty="0">
                <a:solidFill>
                  <a:srgbClr val="242C39"/>
                </a:solidFill>
              </a:rPr>
              <a:t>$230k</a:t>
            </a:r>
            <a:endParaRPr lang="en-US" sz="1300" dirty="0"/>
          </a:p>
        </p:txBody>
      </p:sp>
      <p:sp>
        <p:nvSpPr>
          <p:cNvPr id="48" name="Text 46"/>
          <p:cNvSpPr txBox="1"/>
          <p:nvPr/>
        </p:nvSpPr>
        <p:spPr>
          <a:xfrm>
            <a:off x="3858768" y="3675888"/>
            <a:ext cx="1463040" cy="146304"/>
          </a:xfrm>
          <a:prstGeom prst="rect">
            <a:avLst/>
          </a:prstGeom>
          <a:noFill/>
          <a:ln/>
        </p:spPr>
        <p:txBody>
          <a:bodyPr wrap="square" lIns="0" tIns="0" rIns="0" bIns="0" rtlCol="0" anchor="ctr"/>
          <a:lstStyle/>
          <a:p>
            <a:pPr indent="0" marL="0">
              <a:buNone/>
            </a:pPr>
            <a:r>
              <a:rPr lang="en-US" sz="700" dirty="0">
                <a:solidFill>
                  <a:srgbClr val="6B7585"/>
                </a:solidFill>
              </a:rPr>
              <a:t>budget $232k</a:t>
            </a:r>
            <a:endParaRPr lang="en-US" sz="700" dirty="0"/>
          </a:p>
        </p:txBody>
      </p:sp>
      <p:sp>
        <p:nvSpPr>
          <p:cNvPr id="49" name="Text 47"/>
          <p:cNvSpPr txBox="1"/>
          <p:nvPr/>
        </p:nvSpPr>
        <p:spPr>
          <a:xfrm>
            <a:off x="5468112" y="3328416"/>
            <a:ext cx="1463040" cy="164592"/>
          </a:xfrm>
          <a:prstGeom prst="rect">
            <a:avLst/>
          </a:prstGeom>
          <a:noFill/>
          <a:ln/>
        </p:spPr>
        <p:txBody>
          <a:bodyPr wrap="square" lIns="0" tIns="0" rIns="0" bIns="0" rtlCol="0" anchor="ctr"/>
          <a:lstStyle/>
          <a:p>
            <a:pPr indent="0" marL="0">
              <a:buNone/>
            </a:pPr>
            <a:r>
              <a:rPr lang="en-US" sz="750" spc="60" kern="0" dirty="0">
                <a:solidFill>
                  <a:srgbClr val="6B7585"/>
                </a:solidFill>
              </a:rPr>
              <a:t>EBITDA</a:t>
            </a:r>
            <a:endParaRPr lang="en-US" sz="750" dirty="0"/>
          </a:p>
        </p:txBody>
      </p:sp>
      <p:sp>
        <p:nvSpPr>
          <p:cNvPr id="50" name="Text 48"/>
          <p:cNvSpPr txBox="1"/>
          <p:nvPr/>
        </p:nvSpPr>
        <p:spPr>
          <a:xfrm>
            <a:off x="5468112" y="3474720"/>
            <a:ext cx="1463040" cy="219456"/>
          </a:xfrm>
          <a:prstGeom prst="rect">
            <a:avLst/>
          </a:prstGeom>
          <a:noFill/>
          <a:ln/>
        </p:spPr>
        <p:txBody>
          <a:bodyPr wrap="square" lIns="0" tIns="0" rIns="0" bIns="0" rtlCol="0" anchor="ctr"/>
          <a:lstStyle/>
          <a:p>
            <a:pPr indent="0" marL="0">
              <a:buNone/>
            </a:pPr>
            <a:r>
              <a:rPr lang="en-US" sz="1300" b="1" dirty="0">
                <a:solidFill>
                  <a:srgbClr val="A8052E"/>
                </a:solidFill>
              </a:rPr>
              <a:t>$(32)k</a:t>
            </a:r>
            <a:endParaRPr lang="en-US" sz="1300" dirty="0"/>
          </a:p>
        </p:txBody>
      </p:sp>
      <p:sp>
        <p:nvSpPr>
          <p:cNvPr id="51" name="Text 49"/>
          <p:cNvSpPr txBox="1"/>
          <p:nvPr/>
        </p:nvSpPr>
        <p:spPr>
          <a:xfrm>
            <a:off x="5468112" y="3675888"/>
            <a:ext cx="1463040" cy="146304"/>
          </a:xfrm>
          <a:prstGeom prst="rect">
            <a:avLst/>
          </a:prstGeom>
          <a:noFill/>
          <a:ln/>
        </p:spPr>
        <p:txBody>
          <a:bodyPr wrap="square" lIns="0" tIns="0" rIns="0" bIns="0" rtlCol="0" anchor="ctr"/>
          <a:lstStyle/>
          <a:p>
            <a:pPr indent="0" marL="0">
              <a:buNone/>
            </a:pPr>
            <a:r>
              <a:rPr lang="en-US" sz="700" dirty="0">
                <a:solidFill>
                  <a:srgbClr val="6B7585"/>
                </a:solidFill>
              </a:rPr>
              <a:t>budget $(107)k</a:t>
            </a:r>
            <a:endParaRPr lang="en-US" sz="700" dirty="0"/>
          </a:p>
        </p:txBody>
      </p:sp>
      <p:sp>
        <p:nvSpPr>
          <p:cNvPr id="52" name="Text 50"/>
          <p:cNvSpPr txBox="1"/>
          <p:nvPr/>
        </p:nvSpPr>
        <p:spPr>
          <a:xfrm>
            <a:off x="7077456" y="3328416"/>
            <a:ext cx="1463040" cy="164592"/>
          </a:xfrm>
          <a:prstGeom prst="rect">
            <a:avLst/>
          </a:prstGeom>
          <a:noFill/>
          <a:ln/>
        </p:spPr>
        <p:txBody>
          <a:bodyPr wrap="square" lIns="0" tIns="0" rIns="0" bIns="0" rtlCol="0" anchor="ctr"/>
          <a:lstStyle/>
          <a:p>
            <a:pPr indent="0" marL="0">
              <a:buNone/>
            </a:pPr>
            <a:r>
              <a:rPr lang="en-US" sz="750" spc="60" kern="0" dirty="0">
                <a:solidFill>
                  <a:srgbClr val="6B7585"/>
                </a:solidFill>
              </a:rPr>
              <a:t>Break even needs</a:t>
            </a:r>
            <a:endParaRPr lang="en-US" sz="750" dirty="0"/>
          </a:p>
        </p:txBody>
      </p:sp>
      <p:sp>
        <p:nvSpPr>
          <p:cNvPr id="53" name="Text 51"/>
          <p:cNvSpPr txBox="1"/>
          <p:nvPr/>
        </p:nvSpPr>
        <p:spPr>
          <a:xfrm>
            <a:off x="7077456" y="3474720"/>
            <a:ext cx="1463040" cy="219456"/>
          </a:xfrm>
          <a:prstGeom prst="rect">
            <a:avLst/>
          </a:prstGeom>
          <a:noFill/>
          <a:ln/>
        </p:spPr>
        <p:txBody>
          <a:bodyPr wrap="square" lIns="0" tIns="0" rIns="0" bIns="0" rtlCol="0" anchor="ctr"/>
          <a:lstStyle/>
          <a:p>
            <a:pPr indent="0" marL="0">
              <a:buNone/>
            </a:pPr>
            <a:r>
              <a:rPr lang="en-US" sz="1300" b="1" dirty="0">
                <a:solidFill>
                  <a:srgbClr val="242C39"/>
                </a:solidFill>
              </a:rPr>
              <a:t>$549k</a:t>
            </a:r>
            <a:endParaRPr lang="en-US" sz="1300" dirty="0"/>
          </a:p>
        </p:txBody>
      </p:sp>
      <p:sp>
        <p:nvSpPr>
          <p:cNvPr id="54" name="Text 52"/>
          <p:cNvSpPr txBox="1"/>
          <p:nvPr/>
        </p:nvSpPr>
        <p:spPr>
          <a:xfrm>
            <a:off x="7077456" y="3675888"/>
            <a:ext cx="1463040" cy="146304"/>
          </a:xfrm>
          <a:prstGeom prst="rect">
            <a:avLst/>
          </a:prstGeom>
          <a:noFill/>
          <a:ln/>
        </p:spPr>
        <p:txBody>
          <a:bodyPr wrap="square" lIns="0" tIns="0" rIns="0" bIns="0" rtlCol="0" anchor="ctr"/>
          <a:lstStyle/>
          <a:p>
            <a:pPr indent="0" marL="0">
              <a:buNone/>
            </a:pPr>
            <a:r>
              <a:rPr lang="en-US" sz="700" dirty="0">
                <a:solidFill>
                  <a:srgbClr val="6B7585"/>
                </a:solidFill>
              </a:rPr>
              <a:t>running at $541k</a:t>
            </a:r>
            <a:endParaRPr lang="en-US" sz="700" dirty="0"/>
          </a:p>
        </p:txBody>
      </p:sp>
      <p:sp>
        <p:nvSpPr>
          <p:cNvPr id="55" name="Text 53"/>
          <p:cNvSpPr txBox="1"/>
          <p:nvPr/>
        </p:nvSpPr>
        <p:spPr>
          <a:xfrm>
            <a:off x="502920" y="3986784"/>
            <a:ext cx="8138160" cy="640080"/>
          </a:xfrm>
          <a:prstGeom prst="rect">
            <a:avLst/>
          </a:prstGeom>
          <a:noFill/>
          <a:ln/>
        </p:spPr>
        <p:txBody>
          <a:bodyPr wrap="square" lIns="0" tIns="0" rIns="0" bIns="0" rtlCol="0" anchor="t"/>
          <a:lstStyle/>
          <a:p>
            <a:pPr indent="0" marL="0">
              <a:lnSpc>
                <a:spcPts val="1400"/>
              </a:lnSpc>
              <a:buNone/>
            </a:pPr>
            <a:r>
              <a:rPr lang="en-US" sz="1000" b="1" dirty="0">
                <a:solidFill>
                  <a:srgbClr val="242C39"/>
                </a:solidFill>
              </a:rPr>
              <a:t>The month in one line. </a:t>
            </a:r>
            <a:pPr indent="0" marL="0">
              <a:lnSpc>
                <a:spcPts val="1400"/>
              </a:lnSpc>
              <a:buNone/>
            </a:pPr>
            <a:r>
              <a:rPr lang="en-US" sz="1000" dirty="0">
                <a:solidFill>
                  <a:srgbClr val="3A4453"/>
                </a:solidFill>
              </a:rPr>
              <a:t>Revenue beat budget by $148k and the company still lost $32k of EBITDA. Support is the only department that covers its own overhead. Integration delivered the revenue beat at 10.1% gross margin, so it added turnover and almost no profit. At the 38.9% margin we actually deliver, break even needs $549k of revenue a month and we are running at $541k.</a:t>
            </a:r>
            <a:endParaRPr lang="en-US" sz="10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divider circle"/>
          <p:cNvSpPr/>
          <p:nvPr/>
        </p:nvSpPr>
        <p:spPr>
          <a:xfrm>
            <a:off x="6446520" y="1600200"/>
            <a:ext cx="2651760" cy="2651760"/>
          </a:xfrm>
          <a:prstGeom prst="ellipse">
            <a:avLst/>
          </a:prstGeom>
          <a:solidFill>
            <a:srgbClr val="6D71FF">
              <a:alpha val="55000"/>
            </a:srgbClr>
          </a:solidFill>
          <a:ln/>
        </p:spPr>
      </p:sp>
      <p:sp>
        <p:nvSpPr>
          <p:cNvPr id="3" name="Shape 1"/>
          <p:cNvSpPr/>
          <p:nvPr/>
        </p:nvSpPr>
        <p:spPr>
          <a:xfrm>
            <a:off x="502920" y="1874520"/>
            <a:ext cx="868680" cy="868680"/>
          </a:xfrm>
          <a:prstGeom prst="rect">
            <a:avLst/>
          </a:prstGeom>
          <a:solidFill>
            <a:srgbClr val="3FD0C9"/>
          </a:solidFill>
          <a:ln/>
        </p:spPr>
      </p:sp>
      <p:sp>
        <p:nvSpPr>
          <p:cNvPr id="4" name="Text 2"/>
          <p:cNvSpPr txBox="1"/>
          <p:nvPr/>
        </p:nvSpPr>
        <p:spPr>
          <a:xfrm>
            <a:off x="502920" y="1874520"/>
            <a:ext cx="868680" cy="868680"/>
          </a:xfrm>
          <a:prstGeom prst="rect">
            <a:avLst/>
          </a:prstGeom>
          <a:noFill/>
          <a:ln/>
        </p:spPr>
        <p:txBody>
          <a:bodyPr wrap="square" lIns="0" tIns="0" rIns="0" bIns="0" rtlCol="0" anchor="ctr"/>
          <a:lstStyle/>
          <a:p>
            <a:pPr algn="ctr" indent="0" marL="0">
              <a:buNone/>
            </a:pPr>
            <a:r>
              <a:rPr lang="en-US" sz="2600" b="1" dirty="0">
                <a:solidFill>
                  <a:srgbClr val="242C39"/>
                </a:solidFill>
              </a:rPr>
              <a:t>01</a:t>
            </a:r>
            <a:endParaRPr lang="en-US" sz="2600" dirty="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indent="0" marL="0">
              <a:buNone/>
            </a:pPr>
            <a:r>
              <a:rPr lang="en-US" sz="950" b="1" spc="220" kern="0" dirty="0">
                <a:solidFill>
                  <a:srgbClr val="3FD0C9"/>
                </a:solidFill>
              </a:rPr>
              <a:t>SECTION</a:t>
            </a:r>
            <a:endParaRPr lang="en-US" sz="950" dirty="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indent="0" marL="0">
              <a:buNone/>
            </a:pPr>
            <a:r>
              <a:rPr lang="en-US" sz="2800" b="1" dirty="0">
                <a:solidFill>
                  <a:srgbClr val="FFFFFF"/>
                </a:solidFill>
              </a:rPr>
              <a:t>Financial performance</a:t>
            </a:r>
            <a:endParaRPr lang="en-US" sz="2800" dirty="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indent="0" marL="0">
              <a:buNone/>
            </a:pPr>
            <a:r>
              <a:rPr lang="en-US" sz="1200" dirty="0">
                <a:solidFill>
                  <a:srgbClr val="C9CED6"/>
                </a:solidFill>
              </a:rPr>
              <a:t>The P&amp;L for September 2026 and the year to date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P&amp;L summary, income</a:t>
            </a:r>
            <a:endParaRPr lang="en-US" sz="2700" dirty="0"/>
          </a:p>
        </p:txBody>
      </p:sp>
      <p:pic>
        <p:nvPicPr>
          <p:cNvPr id="4" name="snip pl_income" descr="/home/user/Claude/deck/snips/pl_income.png">    </p:cNvPr>
          <p:cNvPicPr>
            <a:picLocks noChangeAspect="1"/>
          </p:cNvPicPr>
          <p:nvPr/>
        </p:nvPicPr>
        <p:blipFill>
          <a:blip r:embed="rId1"/>
          <a:stretch>
            <a:fillRect/>
          </a:stretch>
        </p:blipFill>
        <p:spPr>
          <a:xfrm>
            <a:off x="502920" y="1444752"/>
            <a:ext cx="5577840" cy="1982595"/>
          </a:xfrm>
          <a:prstGeom prst="rect">
            <a:avLst/>
          </a:prstGeom>
        </p:spPr>
      </p:pic>
      <p:sp>
        <p:nvSpPr>
          <p:cNvPr id="5" name="Text 2"/>
          <p:cNvSpPr txBox="1"/>
          <p:nvPr/>
        </p:nvSpPr>
        <p:spPr>
          <a:xfrm>
            <a:off x="502920" y="3500499"/>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Summary tab, income by department, the three closed months and year to date.</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We need 549k of sales a month just to cover our costs. We are averaging 541k.</a:t>
            </a:r>
            <a:endParaRPr lang="en-US" sz="900" dirty="0"/>
          </a:p>
          <a:p>
            <a:pPr marL="342900" indent="-342900">
              <a:lnSpc>
                <a:spcPts val="1150"/>
              </a:lnSpc>
              <a:spcAft>
                <a:spcPts val="500"/>
              </a:spcAft>
              <a:buSzPct val="100000"/>
              <a:buChar char="•"/>
            </a:pPr>
            <a:r>
              <a:rPr lang="en-US" sz="900" dirty="0">
                <a:solidFill>
                  <a:srgbClr val="3A4453"/>
                </a:solidFill>
              </a:rPr>
              <a:t>Sep 26 sold 148k more than planned and still lost 32k. We sold enough. We did not keep enough of it.</a:t>
            </a:r>
            <a:endParaRPr lang="en-US" sz="900" dirty="0"/>
          </a:p>
          <a:p>
            <a:pPr marL="342900" indent="-342900">
              <a:lnSpc>
                <a:spcPts val="1150"/>
              </a:lnSpc>
              <a:spcAft>
                <a:spcPts val="500"/>
              </a:spcAft>
              <a:buSzPct val="100000"/>
              <a:buChar char="•"/>
            </a:pPr>
            <a:r>
              <a:rPr lang="en-US" sz="900" dirty="0">
                <a:solidFill>
                  <a:srgbClr val="3A4453"/>
                </a:solidFill>
              </a:rPr>
              <a:t>We kept 33% of every dollar sold. The plan said 30%, but last September we kept 46%.</a:t>
            </a:r>
            <a:endParaRPr lang="en-US" sz="900" dirty="0"/>
          </a:p>
          <a:p>
            <a:pPr marL="342900" indent="-342900">
              <a:lnSpc>
                <a:spcPts val="1150"/>
              </a:lnSpc>
              <a:spcAft>
                <a:spcPts val="500"/>
              </a:spcAft>
              <a:buSzPct val="100000"/>
              <a:buChar char="•"/>
            </a:pPr>
            <a:r>
              <a:rPr lang="en-US" sz="900" dirty="0">
                <a:solidFill>
                  <a:srgbClr val="3A4453"/>
                </a:solidFill>
              </a:rPr>
              <a:t>Running costs came in at 230k against 232k planned. Spending is not the problem.</a:t>
            </a:r>
            <a:endParaRPr lang="en-US" sz="900" dirty="0"/>
          </a:p>
          <a:p>
            <a:pPr marL="342900" indent="-342900">
              <a:lnSpc>
                <a:spcPts val="1150"/>
              </a:lnSpc>
              <a:spcAft>
                <a:spcPts val="500"/>
              </a:spcAft>
              <a:buSzPct val="100000"/>
              <a:buChar char="•"/>
            </a:pPr>
            <a:r>
              <a:rPr lang="en-US" sz="900" dirty="0">
                <a:solidFill>
                  <a:srgbClr val="3A4453"/>
                </a:solidFill>
              </a:rPr>
              <a:t>Profit for the quarter is 6k against 223k planned. The plan needs redoing around what we keep, not what we sell.</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P&amp;L summary, cost and profit</a:t>
            </a:r>
            <a:endParaRPr lang="en-US" sz="2700" dirty="0"/>
          </a:p>
        </p:txBody>
      </p:sp>
      <p:pic>
        <p:nvPicPr>
          <p:cNvPr id="4" name="snip pl_result" descr="/home/user/Claude/deck/snips/pl_result.png">    </p:cNvPr>
          <p:cNvPicPr>
            <a:picLocks noChangeAspect="1"/>
          </p:cNvPicPr>
          <p:nvPr/>
        </p:nvPicPr>
        <p:blipFill>
          <a:blip r:embed="rId1"/>
          <a:stretch>
            <a:fillRect/>
          </a:stretch>
        </p:blipFill>
        <p:spPr>
          <a:xfrm>
            <a:off x="694851" y="1444752"/>
            <a:ext cx="5193979" cy="3090672"/>
          </a:xfrm>
          <a:prstGeom prst="rect">
            <a:avLst/>
          </a:prstGeom>
        </p:spPr>
      </p:pic>
      <p:sp>
        <p:nvSpPr>
          <p:cNvPr id="5" name="Text 2"/>
          <p:cNvSpPr txBox="1"/>
          <p:nvPr/>
        </p:nvSpPr>
        <p:spPr>
          <a:xfrm>
            <a:off x="502920" y="4608576"/>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Summary tab, cost of sales, overheads and the profit lines.</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00"/>
              </a:lnSpc>
              <a:spcAft>
                <a:spcPts val="500"/>
              </a:spcAft>
              <a:buSzPct val="100000"/>
              <a:buChar char="•"/>
            </a:pPr>
            <a:r>
              <a:rPr lang="en-US" sz="850" dirty="0">
                <a:solidFill>
                  <a:srgbClr val="3A4453"/>
                </a:solidFill>
              </a:rPr>
              <a:t>Operating profit, or EBITDA, is 6k for the quarter against 223k planned. We are 217k short, which is 97% of it.</a:t>
            </a:r>
            <a:endParaRPr lang="en-US" sz="850" dirty="0"/>
          </a:p>
          <a:p>
            <a:pPr marL="342900" indent="-342900">
              <a:lnSpc>
                <a:spcPts val="1100"/>
              </a:lnSpc>
              <a:spcAft>
                <a:spcPts val="500"/>
              </a:spcAft>
              <a:buSzPct val="100000"/>
              <a:buChar char="•"/>
            </a:pPr>
            <a:r>
              <a:rPr lang="en-US" sz="850" dirty="0">
                <a:solidFill>
                  <a:srgbClr val="3A4453"/>
                </a:solidFill>
              </a:rPr>
              <a:t>The plan expected 56% of the year's profit in these first three months. It did not happen, so the whole year now rides on the nine months left.</a:t>
            </a:r>
            <a:endParaRPr lang="en-US" sz="850" dirty="0"/>
          </a:p>
          <a:p>
            <a:pPr marL="342900" indent="-342900">
              <a:lnSpc>
                <a:spcPts val="1100"/>
              </a:lnSpc>
              <a:spcAft>
                <a:spcPts val="500"/>
              </a:spcAft>
              <a:buSzPct val="100000"/>
              <a:buChar char="•"/>
            </a:pPr>
            <a:r>
              <a:rPr lang="en-US" sz="850" dirty="0">
                <a:solidFill>
                  <a:srgbClr val="3A4453"/>
                </a:solidFill>
              </a:rPr>
              <a:t>To still hit the 397k target those nine months have to make 391k. The plan only ever asked them for 175k.</a:t>
            </a:r>
            <a:endParaRPr lang="en-US" sz="850" dirty="0"/>
          </a:p>
          <a:p>
            <a:pPr marL="342900" indent="-342900">
              <a:lnSpc>
                <a:spcPts val="1100"/>
              </a:lnSpc>
              <a:spcAft>
                <a:spcPts val="500"/>
              </a:spcAft>
              <a:buSzPct val="100000"/>
              <a:buChar char="•"/>
            </a:pPr>
            <a:r>
              <a:rPr lang="en-US" sz="850" dirty="0">
                <a:solidFill>
                  <a:srgbClr val="3A4453"/>
                </a:solidFill>
              </a:rPr>
              <a:t>391k is 1.7 times what the whole of last year made, which was 235k. We will not get the year back.</a:t>
            </a:r>
            <a:endParaRPr lang="en-US" sz="850" dirty="0"/>
          </a:p>
          <a:p>
            <a:pPr marL="342900" indent="-342900">
              <a:lnSpc>
                <a:spcPts val="1100"/>
              </a:lnSpc>
              <a:spcAft>
                <a:spcPts val="500"/>
              </a:spcAft>
              <a:buSzPct val="100000"/>
              <a:buChar char="•"/>
            </a:pPr>
            <a:r>
              <a:rPr lang="en-US" sz="850" dirty="0">
                <a:solidFill>
                  <a:srgbClr val="3A4453"/>
                </a:solidFill>
              </a:rPr>
              <a:t>The problem is what we keep, not what we sell. Sales hit 81% of plan. What was left after direct costs hit only 69%.</a:t>
            </a:r>
            <a:endParaRPr lang="en-US" sz="8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Department result, Sep 26</a:t>
            </a:r>
            <a:endParaRPr lang="en-US" sz="2700" dirty="0"/>
          </a:p>
        </p:txBody>
      </p:sp>
      <p:pic>
        <p:nvPicPr>
          <p:cNvPr id="4" name="snip dept_result" descr="/home/user/Claude/deck/snips/dept_result.png">    </p:cNvPr>
          <p:cNvPicPr>
            <a:picLocks noChangeAspect="1"/>
          </p:cNvPicPr>
          <p:nvPr/>
        </p:nvPicPr>
        <p:blipFill>
          <a:blip r:embed="rId1"/>
          <a:stretch>
            <a:fillRect/>
          </a:stretch>
        </p:blipFill>
        <p:spPr>
          <a:xfrm>
            <a:off x="502920" y="1389888"/>
            <a:ext cx="8138160" cy="1637160"/>
          </a:xfrm>
          <a:prstGeom prst="rect">
            <a:avLst/>
          </a:prstGeom>
        </p:spPr>
      </p:pic>
      <p:sp>
        <p:nvSpPr>
          <p:cNvPr id="5" name="Text 2"/>
          <p:cNvSpPr txBox="1"/>
          <p:nvPr/>
        </p:nvSpPr>
        <p:spPr>
          <a:xfrm>
            <a:off x="502920" y="3100200"/>
            <a:ext cx="813816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Overhead Split tab, section 7, department result.</a:t>
            </a:r>
            <a:endParaRPr lang="en-US" sz="800" dirty="0"/>
          </a:p>
        </p:txBody>
      </p:sp>
      <p:sp>
        <p:nvSpPr>
          <p:cNvPr id="6" name="commentary panel"/>
          <p:cNvSpPr/>
          <p:nvPr/>
        </p:nvSpPr>
        <p:spPr>
          <a:xfrm>
            <a:off x="502920" y="3675888"/>
            <a:ext cx="8138160" cy="950976"/>
          </a:xfrm>
          <a:prstGeom prst="rect">
            <a:avLst/>
          </a:prstGeom>
          <a:solidFill>
            <a:srgbClr val="E8F9F8"/>
          </a:solidFill>
          <a:ln/>
        </p:spPr>
      </p:sp>
      <p:sp>
        <p:nvSpPr>
          <p:cNvPr id="7" name="Text 4"/>
          <p:cNvSpPr txBox="1"/>
          <p:nvPr/>
        </p:nvSpPr>
        <p:spPr>
          <a:xfrm>
            <a:off x="685800" y="3758184"/>
            <a:ext cx="2743200" cy="164592"/>
          </a:xfrm>
          <a:prstGeom prst="rect">
            <a:avLst/>
          </a:prstGeom>
          <a:noFill/>
          <a:ln/>
        </p:spPr>
        <p:txBody>
          <a:bodyPr wrap="square" lIns="0" tIns="0" rIns="0" bIns="0" rtlCol="0" anchor="ctr"/>
          <a:lstStyle/>
          <a:p>
            <a:pPr indent="0" marL="0">
              <a:buNone/>
            </a:pPr>
            <a:r>
              <a:rPr lang="en-US" sz="850" b="1" spc="180" kern="0" dirty="0">
                <a:solidFill>
                  <a:srgbClr val="005358"/>
                </a:solidFill>
              </a:rPr>
              <a:t>COMMENTARY</a:t>
            </a:r>
            <a:endParaRPr lang="en-US" sz="850" dirty="0"/>
          </a:p>
        </p:txBody>
      </p:sp>
      <p:sp>
        <p:nvSpPr>
          <p:cNvPr id="8" name="Text 5"/>
          <p:cNvSpPr txBox="1"/>
          <p:nvPr/>
        </p:nvSpPr>
        <p:spPr>
          <a:xfrm>
            <a:off x="685800" y="3941064"/>
            <a:ext cx="3703320" cy="621792"/>
          </a:xfrm>
          <a:prstGeom prst="rect">
            <a:avLst/>
          </a:prstGeom>
          <a:noFill/>
          <a:ln/>
        </p:spPr>
        <p:txBody>
          <a:bodyPr wrap="square" lIns="0" tIns="0" rIns="0" bIns="0" rtlCol="0" anchor="t"/>
          <a:lstStyle/>
          <a:p>
            <a:pPr marL="342900" indent="-342900">
              <a:lnSpc>
                <a:spcPts val="1000"/>
              </a:lnSpc>
              <a:spcAft>
                <a:spcPts val="300"/>
              </a:spcAft>
              <a:buSzPct val="100000"/>
              <a:buChar char="•"/>
            </a:pPr>
            <a:r>
              <a:rPr lang="en-US" sz="800" dirty="0">
                <a:solidFill>
                  <a:srgbClr val="3A4453"/>
                </a:solidFill>
              </a:rPr>
              <a:t>Support is the only department earning enough to cover its share of running costs. It made 29k on 243k of sales.</a:t>
            </a:r>
            <a:endParaRPr lang="en-US" sz="800" dirty="0"/>
          </a:p>
          <a:p>
            <a:pPr marL="342900" indent="-342900">
              <a:lnSpc>
                <a:spcPts val="1000"/>
              </a:lnSpc>
              <a:spcAft>
                <a:spcPts val="300"/>
              </a:spcAft>
              <a:buSzPct val="100000"/>
              <a:buChar char="•"/>
            </a:pPr>
            <a:r>
              <a:rPr lang="en-US" sz="800" dirty="0">
                <a:solidFill>
                  <a:srgbClr val="3A4453"/>
                </a:solidFill>
              </a:rPr>
              <a:t>Events is charged 111k of running costs and only billed 73k. It keeps 78% of what it sells and still loses 54k.</a:t>
            </a:r>
            <a:endParaRPr lang="en-US" sz="800" dirty="0"/>
          </a:p>
        </p:txBody>
      </p:sp>
      <p:sp>
        <p:nvSpPr>
          <p:cNvPr id="9" name="Text 6"/>
          <p:cNvSpPr txBox="1"/>
          <p:nvPr/>
        </p:nvSpPr>
        <p:spPr>
          <a:xfrm>
            <a:off x="4663440" y="3941064"/>
            <a:ext cx="3703320" cy="621792"/>
          </a:xfrm>
          <a:prstGeom prst="rect">
            <a:avLst/>
          </a:prstGeom>
          <a:noFill/>
          <a:ln/>
        </p:spPr>
        <p:txBody>
          <a:bodyPr wrap="square" lIns="0" tIns="0" rIns="0" bIns="0" rtlCol="0" anchor="t"/>
          <a:lstStyle/>
          <a:p>
            <a:pPr marL="342900" indent="-342900">
              <a:lnSpc>
                <a:spcPts val="1000"/>
              </a:lnSpc>
              <a:spcAft>
                <a:spcPts val="300"/>
              </a:spcAft>
              <a:buSzPct val="100000"/>
              <a:buChar char="•"/>
            </a:pPr>
            <a:r>
              <a:rPr lang="en-US" sz="800" dirty="0">
                <a:solidFill>
                  <a:srgbClr val="3A4453"/>
                </a:solidFill>
              </a:rPr>
              <a:t>Integration billed 235k against a 59k plan but keeps only 10% of it, so it made just 10k.</a:t>
            </a:r>
            <a:endParaRPr lang="en-US" sz="800" dirty="0"/>
          </a:p>
          <a:p>
            <a:pPr marL="342900" indent="-342900">
              <a:lnSpc>
                <a:spcPts val="1000"/>
              </a:lnSpc>
              <a:spcAft>
                <a:spcPts val="300"/>
              </a:spcAft>
              <a:buSzPct val="100000"/>
              <a:buChar char="•"/>
            </a:pPr>
            <a:r>
              <a:rPr lang="en-US" sz="800" dirty="0">
                <a:solidFill>
                  <a:srgbClr val="3A4453"/>
                </a:solidFill>
              </a:rPr>
              <a:t>Consulting is charged 20k of running costs and billed 4k. That needs a decision, not a forecast.</a:t>
            </a:r>
            <a:endParaRPr lang="en-US" sz="8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Support, Sep 26</a:t>
            </a:r>
            <a:endParaRPr lang="en-US" sz="2700" dirty="0"/>
          </a:p>
        </p:txBody>
      </p:sp>
      <p:pic>
        <p:nvPicPr>
          <p:cNvPr id="4" name="snip dept_Support" descr="/home/user/Claude/deck/snips/dept_Support.png">    </p:cNvPr>
          <p:cNvPicPr>
            <a:picLocks noChangeAspect="1"/>
          </p:cNvPicPr>
          <p:nvPr/>
        </p:nvPicPr>
        <p:blipFill>
          <a:blip r:embed="rId1"/>
          <a:stretch>
            <a:fillRect/>
          </a:stretch>
        </p:blipFill>
        <p:spPr>
          <a:xfrm>
            <a:off x="502920" y="1444752"/>
            <a:ext cx="5577840" cy="2594047"/>
          </a:xfrm>
          <a:prstGeom prst="rect">
            <a:avLst/>
          </a:prstGeom>
        </p:spPr>
      </p:pic>
      <p:sp>
        <p:nvSpPr>
          <p:cNvPr id="5" name="Text 2"/>
          <p:cNvSpPr txBox="1"/>
          <p:nvPr/>
        </p:nvSpPr>
        <p:spPr>
          <a:xfrm>
            <a:off x="502920" y="411195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Dept P&amp;L tab, the department selector set to Support.</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Billed 243k against 248k. Within 5k of plan, which is what fixed monthly contracts should do.</a:t>
            </a:r>
            <a:endParaRPr lang="en-US" sz="900" dirty="0"/>
          </a:p>
          <a:p>
            <a:pPr marL="342900" indent="-342900">
              <a:lnSpc>
                <a:spcPts val="1150"/>
              </a:lnSpc>
              <a:spcAft>
                <a:spcPts val="500"/>
              </a:spcAft>
              <a:buSzPct val="100000"/>
              <a:buChar char="•"/>
            </a:pPr>
            <a:r>
              <a:rPr lang="en-US" sz="900" dirty="0">
                <a:solidFill>
                  <a:srgbClr val="3A4453"/>
                </a:solidFill>
              </a:rPr>
              <a:t>Keeps 42% of what it sells, the same as last September. Steady and predictable.</a:t>
            </a:r>
            <a:endParaRPr lang="en-US" sz="900" dirty="0"/>
          </a:p>
          <a:p>
            <a:pPr marL="342900" indent="-342900">
              <a:lnSpc>
                <a:spcPts val="1150"/>
              </a:lnSpc>
              <a:spcAft>
                <a:spcPts val="500"/>
              </a:spcAft>
              <a:buSzPct val="100000"/>
              <a:buChar char="•"/>
            </a:pPr>
            <a:r>
              <a:rPr lang="en-US" sz="900" dirty="0">
                <a:solidFill>
                  <a:srgbClr val="3A4453"/>
                </a:solidFill>
              </a:rPr>
              <a:t>After its 72k share of running costs it still made 29k. The only department that does.</a:t>
            </a:r>
            <a:endParaRPr lang="en-US" sz="900" dirty="0"/>
          </a:p>
          <a:p>
            <a:pPr marL="342900" indent="-342900">
              <a:lnSpc>
                <a:spcPts val="1150"/>
              </a:lnSpc>
              <a:spcAft>
                <a:spcPts val="500"/>
              </a:spcAft>
              <a:buSzPct val="100000"/>
              <a:buChar char="•"/>
            </a:pPr>
            <a:r>
              <a:rPr lang="en-US" sz="900" dirty="0">
                <a:solidFill>
                  <a:srgbClr val="3A4453"/>
                </a:solidFill>
              </a:rPr>
              <a:t>Of that share, 42,262 is office wages. Support picks up the most because it works the most hours.</a:t>
            </a:r>
            <a:endParaRPr lang="en-US" sz="900" dirty="0"/>
          </a:p>
          <a:p>
            <a:pPr marL="342900" indent="-342900">
              <a:lnSpc>
                <a:spcPts val="1150"/>
              </a:lnSpc>
              <a:spcAft>
                <a:spcPts val="500"/>
              </a:spcAft>
              <a:buSzPct val="100000"/>
              <a:buChar char="•"/>
            </a:pPr>
            <a:r>
              <a:rPr lang="en-US" sz="900" dirty="0">
                <a:solidFill>
                  <a:srgbClr val="3A4453"/>
                </a:solidFill>
              </a:rPr>
              <a:t>The one thing not to trust here is the 99% billable figure. Non-billable time is being booked to jobs.</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Events, Sep 26</a:t>
            </a:r>
            <a:endParaRPr lang="en-US" sz="2700" dirty="0"/>
          </a:p>
        </p:txBody>
      </p:sp>
      <p:pic>
        <p:nvPicPr>
          <p:cNvPr id="4" name="snip dept_Events" descr="/home/user/Claude/deck/snips/dept_Events.png">    </p:cNvPr>
          <p:cNvPicPr>
            <a:picLocks noChangeAspect="1"/>
          </p:cNvPicPr>
          <p:nvPr/>
        </p:nvPicPr>
        <p:blipFill>
          <a:blip r:embed="rId1"/>
          <a:stretch>
            <a:fillRect/>
          </a:stretch>
        </p:blipFill>
        <p:spPr>
          <a:xfrm>
            <a:off x="502920" y="1444752"/>
            <a:ext cx="5577840" cy="2594047"/>
          </a:xfrm>
          <a:prstGeom prst="rect">
            <a:avLst/>
          </a:prstGeom>
        </p:spPr>
      </p:pic>
      <p:sp>
        <p:nvSpPr>
          <p:cNvPr id="5" name="Text 2"/>
          <p:cNvSpPr txBox="1"/>
          <p:nvPr/>
        </p:nvSpPr>
        <p:spPr>
          <a:xfrm>
            <a:off x="502920" y="411195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Dept P&amp;L tab, the department selector set to Events.</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Billed 73k against 66k, in a month between the busy results periods.</a:t>
            </a:r>
            <a:endParaRPr lang="en-US" sz="950" dirty="0"/>
          </a:p>
          <a:p>
            <a:pPr marL="342900" indent="-342900">
              <a:lnSpc>
                <a:spcPts val="1300"/>
              </a:lnSpc>
              <a:spcAft>
                <a:spcPts val="500"/>
              </a:spcAft>
              <a:buSzPct val="100000"/>
              <a:buChar char="•"/>
            </a:pPr>
            <a:r>
              <a:rPr lang="en-US" sz="950" dirty="0">
                <a:solidFill>
                  <a:srgbClr val="3A4453"/>
                </a:solidFill>
              </a:rPr>
              <a:t>Keeps 78% of what it sells, the second best in the business.</a:t>
            </a:r>
            <a:endParaRPr lang="en-US" sz="950" dirty="0"/>
          </a:p>
          <a:p>
            <a:pPr marL="342900" indent="-342900">
              <a:lnSpc>
                <a:spcPts val="1300"/>
              </a:lnSpc>
              <a:spcAft>
                <a:spcPts val="500"/>
              </a:spcAft>
              <a:buSzPct val="100000"/>
              <a:buChar char="•"/>
            </a:pPr>
            <a:r>
              <a:rPr lang="en-US" sz="950" dirty="0">
                <a:solidFill>
                  <a:srgbClr val="3A4453"/>
                </a:solidFill>
              </a:rPr>
              <a:t>And still loses 54k, because it is charged 111k of running costs on 73k of sales.</a:t>
            </a:r>
            <a:endParaRPr lang="en-US" sz="950" dirty="0"/>
          </a:p>
          <a:p>
            <a:pPr marL="342900" indent="-342900">
              <a:lnSpc>
                <a:spcPts val="1300"/>
              </a:lnSpc>
              <a:spcAft>
                <a:spcPts val="500"/>
              </a:spcAft>
              <a:buSzPct val="100000"/>
              <a:buChar char="•"/>
            </a:pPr>
            <a:r>
              <a:rPr lang="en-US" sz="950" dirty="0">
                <a:solidFill>
                  <a:srgbClr val="3A4453"/>
                </a:solidFill>
              </a:rPr>
              <a:t>72k of that is office cost, split on who uses the office. Events is not the department sitting in it.</a:t>
            </a:r>
            <a:endParaRPr lang="en-US" sz="950" dirty="0"/>
          </a:p>
          <a:p>
            <a:pPr marL="342900" indent="-342900">
              <a:lnSpc>
                <a:spcPts val="1300"/>
              </a:lnSpc>
              <a:spcAft>
                <a:spcPts val="500"/>
              </a:spcAft>
              <a:buSzPct val="100000"/>
              <a:buChar char="•"/>
            </a:pPr>
            <a:r>
              <a:rPr lang="en-US" sz="950" dirty="0">
                <a:solidFill>
                  <a:srgbClr val="3A4453"/>
                </a:solidFill>
              </a:rPr>
              <a:t>333 hours went to leave and only 241 onto jobs. The people were there, the work was not.</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Video, Sep 26</a:t>
            </a:r>
            <a:endParaRPr lang="en-US" sz="2700" dirty="0"/>
          </a:p>
        </p:txBody>
      </p:sp>
      <p:pic>
        <p:nvPicPr>
          <p:cNvPr id="4" name="snip dept_Video" descr="/home/user/Claude/deck/snips/dept_Video.png">    </p:cNvPr>
          <p:cNvPicPr>
            <a:picLocks noChangeAspect="1"/>
          </p:cNvPicPr>
          <p:nvPr/>
        </p:nvPicPr>
        <p:blipFill>
          <a:blip r:embed="rId1"/>
          <a:stretch>
            <a:fillRect/>
          </a:stretch>
        </p:blipFill>
        <p:spPr>
          <a:xfrm>
            <a:off x="502920" y="1444752"/>
            <a:ext cx="5577840" cy="2594047"/>
          </a:xfrm>
          <a:prstGeom prst="rect">
            <a:avLst/>
          </a:prstGeom>
        </p:spPr>
      </p:pic>
      <p:sp>
        <p:nvSpPr>
          <p:cNvPr id="5" name="Text 2"/>
          <p:cNvSpPr txBox="1"/>
          <p:nvPr/>
        </p:nvSpPr>
        <p:spPr>
          <a:xfrm>
            <a:off x="502920" y="411195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Dept P&amp;L tab, the department selector set to Video.</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1000" dirty="0">
                <a:solidFill>
                  <a:srgbClr val="3A4453"/>
                </a:solidFill>
              </a:rPr>
              <a:t>Billed 7k against 17k. Short of plan for the third month running.</a:t>
            </a:r>
            <a:endParaRPr lang="en-US" sz="1000" dirty="0"/>
          </a:p>
          <a:p>
            <a:pPr marL="342900" indent="-342900">
              <a:lnSpc>
                <a:spcPts val="1300"/>
              </a:lnSpc>
              <a:spcAft>
                <a:spcPts val="500"/>
              </a:spcAft>
              <a:buSzPct val="100000"/>
              <a:buChar char="•"/>
            </a:pPr>
            <a:r>
              <a:rPr lang="en-US" sz="1000" dirty="0">
                <a:solidFill>
                  <a:srgbClr val="3A4453"/>
                </a:solidFill>
              </a:rPr>
              <a:t>Keeps 80% of what it sells, the best margin in the business.</a:t>
            </a:r>
            <a:endParaRPr lang="en-US" sz="1000" dirty="0"/>
          </a:p>
          <a:p>
            <a:pPr marL="342900" indent="-342900">
              <a:lnSpc>
                <a:spcPts val="1300"/>
              </a:lnSpc>
              <a:spcAft>
                <a:spcPts val="500"/>
              </a:spcAft>
              <a:buSzPct val="100000"/>
              <a:buChar char="•"/>
            </a:pPr>
            <a:r>
              <a:rPr lang="en-US" sz="1000" dirty="0">
                <a:solidFill>
                  <a:srgbClr val="3A4453"/>
                </a:solidFill>
              </a:rPr>
              <a:t>But on 7k of sales that is only 6k, against 13k of running costs.</a:t>
            </a:r>
            <a:endParaRPr lang="en-US" sz="1000" dirty="0"/>
          </a:p>
          <a:p>
            <a:pPr marL="342900" indent="-342900">
              <a:lnSpc>
                <a:spcPts val="1300"/>
              </a:lnSpc>
              <a:spcAft>
                <a:spcPts val="500"/>
              </a:spcAft>
              <a:buSzPct val="100000"/>
              <a:buChar char="•"/>
            </a:pPr>
            <a:r>
              <a:rPr lang="en-US" sz="1000" dirty="0">
                <a:solidFill>
                  <a:srgbClr val="3A4453"/>
                </a:solidFill>
              </a:rPr>
              <a:t>The margin is not the problem. There is not enough work going through it.</a:t>
            </a:r>
            <a:endParaRPr lang="en-US" sz="1000" dirty="0"/>
          </a:p>
          <a:p>
            <a:pPr marL="342900" indent="-342900">
              <a:lnSpc>
                <a:spcPts val="1300"/>
              </a:lnSpc>
              <a:spcAft>
                <a:spcPts val="500"/>
              </a:spcAft>
              <a:buSzPct val="100000"/>
              <a:buChar char="•"/>
            </a:pPr>
            <a:r>
              <a:rPr lang="en-US" sz="1000" dirty="0">
                <a:solidFill>
                  <a:srgbClr val="3A4453"/>
                </a:solidFill>
              </a:rPr>
              <a:t>25 billable hours in the month. That is one person, part of the time.</a:t>
            </a:r>
            <a:endParaRPr lang="en-US" sz="10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Integration, Sep 26</a:t>
            </a:r>
            <a:endParaRPr lang="en-US" sz="2700" dirty="0"/>
          </a:p>
        </p:txBody>
      </p:sp>
      <p:pic>
        <p:nvPicPr>
          <p:cNvPr id="4" name="snip dept_Integration" descr="/home/user/Claude/deck/snips/dept_Integration.png">    </p:cNvPr>
          <p:cNvPicPr>
            <a:picLocks noChangeAspect="1"/>
          </p:cNvPicPr>
          <p:nvPr/>
        </p:nvPicPr>
        <p:blipFill>
          <a:blip r:embed="rId1"/>
          <a:stretch>
            <a:fillRect/>
          </a:stretch>
        </p:blipFill>
        <p:spPr>
          <a:xfrm>
            <a:off x="502920" y="1444752"/>
            <a:ext cx="5577840" cy="2594047"/>
          </a:xfrm>
          <a:prstGeom prst="rect">
            <a:avLst/>
          </a:prstGeom>
        </p:spPr>
      </p:pic>
      <p:sp>
        <p:nvSpPr>
          <p:cNvPr id="5" name="Text 2"/>
          <p:cNvSpPr txBox="1"/>
          <p:nvPr/>
        </p:nvSpPr>
        <p:spPr>
          <a:xfrm>
            <a:off x="502920" y="411195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Dept P&amp;L tab, the department selector set to Integration.</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Billed 235k against a 59k plan. Nearly all of it one installation job, now finished.</a:t>
            </a:r>
            <a:endParaRPr lang="en-US" sz="950" dirty="0"/>
          </a:p>
          <a:p>
            <a:pPr marL="342900" indent="-342900">
              <a:lnSpc>
                <a:spcPts val="1300"/>
              </a:lnSpc>
              <a:spcAft>
                <a:spcPts val="500"/>
              </a:spcAft>
              <a:buSzPct val="100000"/>
              <a:buChar char="•"/>
            </a:pPr>
            <a:r>
              <a:rPr lang="en-US" sz="950" dirty="0">
                <a:solidFill>
                  <a:srgbClr val="3A4453"/>
                </a:solidFill>
              </a:rPr>
              <a:t>Keeps only 10% of it. We bought the equipment and resold it, so the money went mostly to suppliers.</a:t>
            </a:r>
            <a:endParaRPr lang="en-US" sz="950" dirty="0"/>
          </a:p>
          <a:p>
            <a:pPr marL="342900" indent="-342900">
              <a:lnSpc>
                <a:spcPts val="1300"/>
              </a:lnSpc>
              <a:spcAft>
                <a:spcPts val="500"/>
              </a:spcAft>
              <a:buSzPct val="100000"/>
              <a:buChar char="•"/>
            </a:pPr>
            <a:r>
              <a:rPr lang="en-US" sz="950" dirty="0">
                <a:solidFill>
                  <a:srgbClr val="3A4453"/>
                </a:solidFill>
              </a:rPr>
              <a:t>235k of sales turned into 24k. Do not read the revenue line as a good month.</a:t>
            </a:r>
            <a:endParaRPr lang="en-US" sz="950" dirty="0"/>
          </a:p>
          <a:p>
            <a:pPr marL="342900" indent="-342900">
              <a:lnSpc>
                <a:spcPts val="1300"/>
              </a:lnSpc>
              <a:spcAft>
                <a:spcPts val="500"/>
              </a:spcAft>
              <a:buSzPct val="100000"/>
              <a:buChar char="•"/>
            </a:pPr>
            <a:r>
              <a:rPr lang="en-US" sz="950" dirty="0">
                <a:solidFill>
                  <a:srgbClr val="3A4453"/>
                </a:solidFill>
              </a:rPr>
              <a:t>It shows a 10k profit only because it carries almost no running costs, 13k.</a:t>
            </a:r>
            <a:endParaRPr lang="en-US" sz="950" dirty="0"/>
          </a:p>
          <a:p>
            <a:pPr marL="342900" indent="-342900">
              <a:lnSpc>
                <a:spcPts val="1300"/>
              </a:lnSpc>
              <a:spcAft>
                <a:spcPts val="500"/>
              </a:spcAft>
              <a:buSzPct val="100000"/>
              <a:buChar char="•"/>
            </a:pPr>
            <a:r>
              <a:rPr lang="en-US" sz="950" dirty="0">
                <a:solidFill>
                  <a:srgbClr val="3A4453"/>
                </a:solidFill>
              </a:rPr>
              <a:t>10 billable hours against 235k of sales. We resold, we did not deliver.</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Consulting, Sep 26</a:t>
            </a:r>
            <a:endParaRPr lang="en-US" sz="2700" dirty="0"/>
          </a:p>
        </p:txBody>
      </p:sp>
      <p:pic>
        <p:nvPicPr>
          <p:cNvPr id="4" name="snip dept_Consulting" descr="/home/user/Claude/deck/snips/dept_Consulting.png">    </p:cNvPr>
          <p:cNvPicPr>
            <a:picLocks noChangeAspect="1"/>
          </p:cNvPicPr>
          <p:nvPr/>
        </p:nvPicPr>
        <p:blipFill>
          <a:blip r:embed="rId1"/>
          <a:stretch>
            <a:fillRect/>
          </a:stretch>
        </p:blipFill>
        <p:spPr>
          <a:xfrm>
            <a:off x="502920" y="1444752"/>
            <a:ext cx="5577840" cy="2594047"/>
          </a:xfrm>
          <a:prstGeom prst="rect">
            <a:avLst/>
          </a:prstGeom>
        </p:spPr>
      </p:pic>
      <p:sp>
        <p:nvSpPr>
          <p:cNvPr id="5" name="Text 2"/>
          <p:cNvSpPr txBox="1"/>
          <p:nvPr/>
        </p:nvSpPr>
        <p:spPr>
          <a:xfrm>
            <a:off x="502920" y="411195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Dept P&amp;L tab, the department selector set to Consulting.</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Billed 4k against a 23k plan. There is almost no fee income here.</a:t>
            </a:r>
            <a:endParaRPr lang="en-US" sz="950" dirty="0"/>
          </a:p>
          <a:p>
            <a:pPr marL="342900" indent="-342900">
              <a:lnSpc>
                <a:spcPts val="1300"/>
              </a:lnSpc>
              <a:spcAft>
                <a:spcPts val="500"/>
              </a:spcAft>
              <a:buSzPct val="100000"/>
              <a:buChar char="•"/>
            </a:pPr>
            <a:r>
              <a:rPr lang="en-US" sz="950" dirty="0">
                <a:solidFill>
                  <a:srgbClr val="3A4453"/>
                </a:solidFill>
              </a:rPr>
              <a:t>Carries 20k of running costs against 4k of sales, so it loses 20k.</a:t>
            </a:r>
            <a:endParaRPr lang="en-US" sz="950" dirty="0"/>
          </a:p>
          <a:p>
            <a:pPr marL="342900" indent="-342900">
              <a:lnSpc>
                <a:spcPts val="1300"/>
              </a:lnSpc>
              <a:spcAft>
                <a:spcPts val="500"/>
              </a:spcAft>
              <a:buSzPct val="100000"/>
              <a:buChar char="•"/>
            </a:pPr>
            <a:r>
              <a:rPr lang="en-US" sz="950" dirty="0">
                <a:solidFill>
                  <a:srgbClr val="3A4453"/>
                </a:solidFill>
              </a:rPr>
              <a:t>84 hours went into work we cannot bill against 31 we can.</a:t>
            </a:r>
            <a:endParaRPr lang="en-US" sz="950" dirty="0"/>
          </a:p>
          <a:p>
            <a:pPr marL="342900" indent="-342900">
              <a:lnSpc>
                <a:spcPts val="1300"/>
              </a:lnSpc>
              <a:spcAft>
                <a:spcPts val="500"/>
              </a:spcAft>
              <a:buSzPct val="100000"/>
              <a:buChar char="•"/>
            </a:pPr>
            <a:r>
              <a:rPr lang="en-US" sz="950" dirty="0">
                <a:solidFill>
                  <a:srgbClr val="3A4453"/>
                </a:solidFill>
              </a:rPr>
              <a:t>Year to date it has billed 4k against a 237k plan.</a:t>
            </a:r>
            <a:endParaRPr lang="en-US" sz="950" dirty="0"/>
          </a:p>
          <a:p>
            <a:pPr marL="342900" indent="-342900">
              <a:lnSpc>
                <a:spcPts val="1300"/>
              </a:lnSpc>
              <a:spcAft>
                <a:spcPts val="500"/>
              </a:spcAft>
              <a:buSzPct val="100000"/>
              <a:buChar char="•"/>
            </a:pPr>
            <a:r>
              <a:rPr lang="en-US" sz="950" dirty="0">
                <a:solidFill>
                  <a:srgbClr val="3A4453"/>
                </a:solidFill>
              </a:rPr>
              <a:t>This is a decision for the board, not a forecast. Rebuild it, merge it into Integration, or close it.</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FINANCIAL PERFORMANCE</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Revenue against budget and last year</a:t>
            </a:r>
            <a:endParaRPr lang="en-US" sz="2700" dirty="0"/>
          </a:p>
        </p:txBody>
      </p:sp>
      <p:pic>
        <p:nvPicPr>
          <p:cNvPr id="4" name="snip rev_by_dept" descr="/home/user/Claude/deck/snips/rev_by_dept.png">    </p:cNvPr>
          <p:cNvPicPr>
            <a:picLocks noChangeAspect="1"/>
          </p:cNvPicPr>
          <p:nvPr/>
        </p:nvPicPr>
        <p:blipFill>
          <a:blip r:embed="rId1"/>
          <a:stretch>
            <a:fillRect/>
          </a:stretch>
        </p:blipFill>
        <p:spPr>
          <a:xfrm>
            <a:off x="502920" y="1444752"/>
            <a:ext cx="5577840" cy="2392962"/>
          </a:xfrm>
          <a:prstGeom prst="rect">
            <a:avLst/>
          </a:prstGeom>
        </p:spPr>
      </p:pic>
      <p:sp>
        <p:nvSpPr>
          <p:cNvPr id="5" name="Text 2"/>
          <p:cNvSpPr txBox="1"/>
          <p:nvPr/>
        </p:nvSpPr>
        <p:spPr>
          <a:xfrm>
            <a:off x="502920" y="3910866"/>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Cost Analysis tab, revenue by department, the month.</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Integration billed 235k against a 59k plan. Nearly all of it was one big installation job, now finished, so next month drops back.</a:t>
            </a:r>
            <a:endParaRPr lang="en-US" sz="900" dirty="0"/>
          </a:p>
          <a:p>
            <a:pPr marL="342900" indent="-342900">
              <a:lnSpc>
                <a:spcPts val="1150"/>
              </a:lnSpc>
              <a:spcAft>
                <a:spcPts val="500"/>
              </a:spcAft>
              <a:buSzPct val="100000"/>
              <a:buChar char="•"/>
            </a:pPr>
            <a:r>
              <a:rPr lang="en-US" sz="900" dirty="0">
                <a:solidFill>
                  <a:srgbClr val="3A4453"/>
                </a:solidFill>
              </a:rPr>
              <a:t>Support billed 243k against 248k. On plan, which is what fixed monthly contracts should do.</a:t>
            </a:r>
            <a:endParaRPr lang="en-US" sz="900" dirty="0"/>
          </a:p>
          <a:p>
            <a:pPr marL="342900" indent="-342900">
              <a:lnSpc>
                <a:spcPts val="1150"/>
              </a:lnSpc>
              <a:spcAft>
                <a:spcPts val="500"/>
              </a:spcAft>
              <a:buSzPct val="100000"/>
              <a:buChar char="•"/>
            </a:pPr>
            <a:r>
              <a:rPr lang="en-US" sz="900" dirty="0">
                <a:solidFill>
                  <a:srgbClr val="3A4453"/>
                </a:solidFill>
              </a:rPr>
              <a:t>Events billed 73k against 66k, in a month that sits between the busy results periods.</a:t>
            </a:r>
            <a:endParaRPr lang="en-US" sz="900" dirty="0"/>
          </a:p>
          <a:p>
            <a:pPr marL="342900" indent="-342900">
              <a:lnSpc>
                <a:spcPts val="1150"/>
              </a:lnSpc>
              <a:spcAft>
                <a:spcPts val="500"/>
              </a:spcAft>
              <a:buSzPct val="100000"/>
              <a:buChar char="•"/>
            </a:pPr>
            <a:r>
              <a:rPr lang="en-US" sz="900" dirty="0">
                <a:solidFill>
                  <a:srgbClr val="3A4453"/>
                </a:solidFill>
              </a:rPr>
              <a:t>Video billed 7k against 17k and Consulting 4k against 23k. Both have been short every month this year.</a:t>
            </a:r>
            <a:endParaRPr lang="en-US" sz="900" dirty="0"/>
          </a:p>
          <a:p>
            <a:pPr marL="342900" indent="-342900">
              <a:lnSpc>
                <a:spcPts val="1150"/>
              </a:lnSpc>
              <a:spcAft>
                <a:spcPts val="500"/>
              </a:spcAft>
              <a:buSzPct val="100000"/>
              <a:buChar char="•"/>
            </a:pPr>
            <a:r>
              <a:rPr lang="en-US" sz="900" dirty="0">
                <a:solidFill>
                  <a:srgbClr val="3A4453"/>
                </a:solidFill>
              </a:rPr>
              <a:t>Company sales are 58% up on last September. We are selling more than last year and keeping less of it.</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ivider circle"/>
          <p:cNvSpPr/>
          <p:nvPr/>
        </p:nvSpPr>
        <p:spPr>
          <a:xfrm>
            <a:off x="6446520" y="1600200"/>
            <a:ext cx="2651760" cy="2651760"/>
          </a:xfrm>
          <a:prstGeom prst="ellipse">
            <a:avLst/>
          </a:prstGeom>
          <a:solidFill>
            <a:srgbClr val="6D71FF">
              <a:alpha val="55000"/>
            </a:srgbClr>
          </a:solidFill>
          <a:ln/>
        </p:spPr>
      </p:sp>
      <p:sp>
        <p:nvSpPr>
          <p:cNvPr id="3" name="Shape 1"/>
          <p:cNvSpPr/>
          <p:nvPr/>
        </p:nvSpPr>
        <p:spPr>
          <a:xfrm>
            <a:off x="502920" y="1874520"/>
            <a:ext cx="868680" cy="868680"/>
          </a:xfrm>
          <a:prstGeom prst="rect">
            <a:avLst/>
          </a:prstGeom>
          <a:solidFill>
            <a:srgbClr val="3FD0C9"/>
          </a:solidFill>
          <a:ln/>
        </p:spPr>
      </p:sp>
      <p:sp>
        <p:nvSpPr>
          <p:cNvPr id="4" name="Text 2"/>
          <p:cNvSpPr txBox="1"/>
          <p:nvPr/>
        </p:nvSpPr>
        <p:spPr>
          <a:xfrm>
            <a:off x="502920" y="1874520"/>
            <a:ext cx="868680" cy="868680"/>
          </a:xfrm>
          <a:prstGeom prst="rect">
            <a:avLst/>
          </a:prstGeom>
          <a:noFill/>
          <a:ln/>
        </p:spPr>
        <p:txBody>
          <a:bodyPr wrap="square" lIns="0" tIns="0" rIns="0" bIns="0" rtlCol="0" anchor="ctr"/>
          <a:lstStyle/>
          <a:p>
            <a:pPr algn="ctr" indent="0" marL="0">
              <a:buNone/>
            </a:pPr>
            <a:r>
              <a:rPr lang="en-US" sz="2600" b="1" dirty="0">
                <a:solidFill>
                  <a:srgbClr val="242C39"/>
                </a:solidFill>
              </a:rPr>
              <a:t>02</a:t>
            </a:r>
            <a:endParaRPr lang="en-US" sz="2600" dirty="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indent="0" marL="0">
              <a:buNone/>
            </a:pPr>
            <a:r>
              <a:rPr lang="en-US" sz="950" b="1" spc="220" kern="0" dirty="0">
                <a:solidFill>
                  <a:srgbClr val="3FD0C9"/>
                </a:solidFill>
              </a:rPr>
              <a:t>SECTION</a:t>
            </a:r>
            <a:endParaRPr lang="en-US" sz="950" dirty="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indent="0" marL="0">
              <a:buNone/>
            </a:pPr>
            <a:r>
              <a:rPr lang="en-US" sz="2800" b="1" dirty="0">
                <a:solidFill>
                  <a:srgbClr val="FFFFFF"/>
                </a:solidFill>
              </a:rPr>
              <a:t>What we spend</a:t>
            </a:r>
            <a:endParaRPr lang="en-US" sz="2800" dirty="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indent="0" marL="0">
              <a:buNone/>
            </a:pPr>
            <a:r>
              <a:rPr lang="en-US" sz="1200" dirty="0">
                <a:solidFill>
                  <a:srgbClr val="C9CED6"/>
                </a:solidFill>
              </a:rPr>
              <a:t>Where the money goes and which lines move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WHAT WE SPEND</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Operating cost distribution, year to date</a:t>
            </a:r>
            <a:endParaRPr lang="en-US" sz="2700" dirty="0"/>
          </a:p>
        </p:txBody>
      </p:sp>
      <p:pic>
        <p:nvPicPr>
          <p:cNvPr id="4" name="snip cost_dist" descr="/home/user/Claude/deck/snips/cost_dist.png">    </p:cNvPr>
          <p:cNvPicPr>
            <a:picLocks noChangeAspect="1"/>
          </p:cNvPicPr>
          <p:nvPr/>
        </p:nvPicPr>
        <p:blipFill>
          <a:blip r:embed="rId1"/>
          <a:stretch>
            <a:fillRect/>
          </a:stretch>
        </p:blipFill>
        <p:spPr>
          <a:xfrm>
            <a:off x="502920" y="1444752"/>
            <a:ext cx="5577840" cy="2820757"/>
          </a:xfrm>
          <a:prstGeom prst="rect">
            <a:avLst/>
          </a:prstGeom>
        </p:spPr>
      </p:pic>
      <p:sp>
        <p:nvSpPr>
          <p:cNvPr id="5" name="Text 2"/>
          <p:cNvSpPr txBox="1"/>
          <p:nvPr/>
        </p:nvSpPr>
        <p:spPr>
          <a:xfrm>
            <a:off x="502920" y="4338661"/>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Cost Analysis tab, operating cost distribution.</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Wages for people on jobs (621)k, and wages for everyone else (369)k. Together that is most of what we spend.</a:t>
            </a:r>
            <a:endParaRPr lang="en-US" sz="900" dirty="0"/>
          </a:p>
          <a:p>
            <a:pPr marL="342900" indent="-342900">
              <a:lnSpc>
                <a:spcPts val="1150"/>
              </a:lnSpc>
              <a:spcAft>
                <a:spcPts val="500"/>
              </a:spcAft>
              <a:buSzPct val="100000"/>
              <a:buChar char="•"/>
            </a:pPr>
            <a:r>
              <a:rPr lang="en-US" sz="900" dirty="0">
                <a:solidFill>
                  <a:srgbClr val="3A4453"/>
                </a:solidFill>
              </a:rPr>
              <a:t>Wages are what this business spends its money on. Everything else is small next to them.</a:t>
            </a:r>
            <a:endParaRPr lang="en-US" sz="900" dirty="0"/>
          </a:p>
          <a:p>
            <a:pPr marL="342900" indent="-342900">
              <a:lnSpc>
                <a:spcPts val="1150"/>
              </a:lnSpc>
              <a:spcAft>
                <a:spcPts val="500"/>
              </a:spcAft>
              <a:buSzPct val="100000"/>
              <a:buChar char="•"/>
            </a:pPr>
            <a:r>
              <a:rPr lang="en-US" sz="900" dirty="0">
                <a:solidFill>
                  <a:srgbClr val="3A4453"/>
                </a:solidFill>
              </a:rPr>
              <a:t>The (369)k of wages for people not on jobs is the same every month. When sales drop this does not, so a bad month lands straight on the profit.</a:t>
            </a:r>
            <a:endParaRPr lang="en-US" sz="900" dirty="0"/>
          </a:p>
          <a:p>
            <a:pPr marL="342900" indent="-342900">
              <a:lnSpc>
                <a:spcPts val="1150"/>
              </a:lnSpc>
              <a:spcAft>
                <a:spcPts val="500"/>
              </a:spcAft>
              <a:buSzPct val="100000"/>
              <a:buChar char="•"/>
            </a:pPr>
            <a:r>
              <a:rPr lang="en-US" sz="900" dirty="0">
                <a:solidFill>
                  <a:srgbClr val="3A4453"/>
                </a:solidFill>
              </a:rPr>
              <a:t>Equipment and services at (347)k is the only cost that rises and falls with the work.</a:t>
            </a:r>
            <a:endParaRPr lang="en-US" sz="900" dirty="0"/>
          </a:p>
          <a:p>
            <a:pPr marL="342900" indent="-342900">
              <a:lnSpc>
                <a:spcPts val="1150"/>
              </a:lnSpc>
              <a:spcAft>
                <a:spcPts val="500"/>
              </a:spcAft>
              <a:buSzPct val="100000"/>
              <a:buChar char="•"/>
            </a:pPr>
            <a:r>
              <a:rPr lang="en-US" sz="900" dirty="0">
                <a:solidFill>
                  <a:srgbClr val="3A4453"/>
                </a:solidFill>
              </a:rPr>
              <a:t>If we have to cut cost it is people or the office. Nothing else is big enough to matter.</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WHAT WE SPEND</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Other operating expenses, year to date</a:t>
            </a:r>
            <a:endParaRPr lang="en-US" sz="2700" dirty="0"/>
          </a:p>
        </p:txBody>
      </p:sp>
      <p:pic>
        <p:nvPicPr>
          <p:cNvPr id="4" name="snip other_opex" descr="/home/user/Claude/deck/snips/other_opex.png">    </p:cNvPr>
          <p:cNvPicPr>
            <a:picLocks noChangeAspect="1"/>
          </p:cNvPicPr>
          <p:nvPr/>
        </p:nvPicPr>
        <p:blipFill>
          <a:blip r:embed="rId1"/>
          <a:stretch>
            <a:fillRect/>
          </a:stretch>
        </p:blipFill>
        <p:spPr>
          <a:xfrm>
            <a:off x="502920" y="1444752"/>
            <a:ext cx="5577840" cy="2569245"/>
          </a:xfrm>
          <a:prstGeom prst="rect">
            <a:avLst/>
          </a:prstGeom>
        </p:spPr>
      </p:pic>
      <p:sp>
        <p:nvSpPr>
          <p:cNvPr id="5" name="Text 2"/>
          <p:cNvSpPr txBox="1"/>
          <p:nvPr/>
        </p:nvSpPr>
        <p:spPr>
          <a:xfrm>
            <a:off x="502920" y="4087149"/>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Cost Analysis tab, other operating expenses.</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The office is the big one: rent (62)k plus outgoings (15)k, 77k together.</a:t>
            </a:r>
            <a:endParaRPr lang="en-US" sz="950" dirty="0"/>
          </a:p>
          <a:p>
            <a:pPr marL="342900" indent="-342900">
              <a:lnSpc>
                <a:spcPts val="1300"/>
              </a:lnSpc>
              <a:spcAft>
                <a:spcPts val="500"/>
              </a:spcAft>
              <a:buSzPct val="100000"/>
              <a:buChar char="•"/>
            </a:pPr>
            <a:r>
              <a:rPr lang="en-US" sz="950" dirty="0">
                <a:solidFill>
                  <a:srgbClr val="3A4453"/>
                </a:solidFill>
              </a:rPr>
              <a:t>IT support at (40)k is next, and the only one that moves much month to month.</a:t>
            </a:r>
            <a:endParaRPr lang="en-US" sz="950" dirty="0"/>
          </a:p>
          <a:p>
            <a:pPr marL="342900" indent="-342900">
              <a:lnSpc>
                <a:spcPts val="1300"/>
              </a:lnSpc>
              <a:spcAft>
                <a:spcPts val="500"/>
              </a:spcAft>
              <a:buSzPct val="100000"/>
              <a:buChar char="•"/>
            </a:pPr>
            <a:r>
              <a:rPr lang="en-US" sz="950" dirty="0">
                <a:solidFill>
                  <a:srgbClr val="3A4453"/>
                </a:solidFill>
              </a:rPr>
              <a:t>Everything below the top three is under six thousand across a full quarter.</a:t>
            </a:r>
            <a:endParaRPr lang="en-US" sz="950" dirty="0"/>
          </a:p>
          <a:p>
            <a:pPr marL="342900" indent="-342900">
              <a:lnSpc>
                <a:spcPts val="1300"/>
              </a:lnSpc>
              <a:spcAft>
                <a:spcPts val="500"/>
              </a:spcAft>
              <a:buSzPct val="100000"/>
              <a:buChar char="•"/>
            </a:pPr>
            <a:r>
              <a:rPr lang="en-US" sz="950" dirty="0">
                <a:solidFill>
                  <a:srgbClr val="3A4453"/>
                </a:solidFill>
              </a:rPr>
              <a:t>There is nothing worth saving further down the list. Do not spend management time there.</a:t>
            </a:r>
            <a:endParaRPr lang="en-US" sz="950" dirty="0"/>
          </a:p>
          <a:p>
            <a:pPr marL="342900" indent="-342900">
              <a:lnSpc>
                <a:spcPts val="1300"/>
              </a:lnSpc>
              <a:spcAft>
                <a:spcPts val="500"/>
              </a:spcAft>
              <a:buSzPct val="100000"/>
              <a:buChar char="•"/>
            </a:pPr>
            <a:r>
              <a:rPr lang="en-US" sz="950" dirty="0">
                <a:solidFill>
                  <a:srgbClr val="3A4453"/>
                </a:solidFill>
              </a:rPr>
              <a:t>The office is the only real saving here, and that is a lease decision, not a budget one.</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WHAT WE SPEND</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Labour mix, year to date</a:t>
            </a:r>
            <a:endParaRPr lang="en-US" sz="2700" dirty="0"/>
          </a:p>
        </p:txBody>
      </p:sp>
      <p:pic>
        <p:nvPicPr>
          <p:cNvPr id="4" name="snip labour_mix" descr="/home/user/Claude/deck/snips/labour_mix.png">    </p:cNvPr>
          <p:cNvPicPr>
            <a:picLocks noChangeAspect="1"/>
          </p:cNvPicPr>
          <p:nvPr/>
        </p:nvPicPr>
        <p:blipFill>
          <a:blip r:embed="rId1"/>
          <a:stretch>
            <a:fillRect/>
          </a:stretch>
        </p:blipFill>
        <p:spPr>
          <a:xfrm>
            <a:off x="696031" y="1444752"/>
            <a:ext cx="5191618" cy="3090672"/>
          </a:xfrm>
          <a:prstGeom prst="rect">
            <a:avLst/>
          </a:prstGeom>
        </p:spPr>
      </p:pic>
      <p:sp>
        <p:nvSpPr>
          <p:cNvPr id="5" name="Text 2"/>
          <p:cNvSpPr txBox="1"/>
          <p:nvPr/>
        </p:nvSpPr>
        <p:spPr>
          <a:xfrm>
            <a:off x="502920" y="4608576"/>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Cost Analysis tab, labour mix, direct against indirect.</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Labour on jobs splits two ways: our own staff, and contractors we bring in.</a:t>
            </a:r>
            <a:endParaRPr lang="en-US" sz="950" dirty="0"/>
          </a:p>
          <a:p>
            <a:pPr marL="342900" indent="-342900">
              <a:lnSpc>
                <a:spcPts val="1300"/>
              </a:lnSpc>
              <a:spcAft>
                <a:spcPts val="500"/>
              </a:spcAft>
              <a:buSzPct val="100000"/>
              <a:buChar char="•"/>
            </a:pPr>
            <a:r>
              <a:rPr lang="en-US" sz="950" dirty="0">
                <a:solidFill>
                  <a:srgbClr val="3A4453"/>
                </a:solidFill>
              </a:rPr>
              <a:t>Salaries, wages and super are most of it, and we are committed to paying them.</a:t>
            </a:r>
            <a:endParaRPr lang="en-US" sz="950" dirty="0"/>
          </a:p>
          <a:p>
            <a:pPr marL="342900" indent="-342900">
              <a:lnSpc>
                <a:spcPts val="1300"/>
              </a:lnSpc>
              <a:spcAft>
                <a:spcPts val="500"/>
              </a:spcAft>
              <a:buSzPct val="100000"/>
              <a:buChar char="•"/>
            </a:pPr>
            <a:r>
              <a:rPr lang="en-US" sz="950" dirty="0">
                <a:solidFill>
                  <a:srgbClr val="3A4453"/>
                </a:solidFill>
              </a:rPr>
              <a:t>Contractors are the only labour cost that goes up and down with the work.</a:t>
            </a:r>
            <a:endParaRPr lang="en-US" sz="950" dirty="0"/>
          </a:p>
          <a:p>
            <a:pPr marL="342900" indent="-342900">
              <a:lnSpc>
                <a:spcPts val="1300"/>
              </a:lnSpc>
              <a:spcAft>
                <a:spcPts val="500"/>
              </a:spcAft>
              <a:buSzPct val="100000"/>
              <a:buChar char="•"/>
            </a:pPr>
            <a:r>
              <a:rPr lang="en-US" sz="950" dirty="0">
                <a:solidFill>
                  <a:srgbClr val="3A4453"/>
                </a:solidFill>
              </a:rPr>
              <a:t>It rises when our own team runs out of hours, so watch it against the utilisation page.</a:t>
            </a:r>
            <a:endParaRPr lang="en-US" sz="950" dirty="0"/>
          </a:p>
          <a:p>
            <a:pPr marL="342900" indent="-342900">
              <a:lnSpc>
                <a:spcPts val="1300"/>
              </a:lnSpc>
              <a:spcAft>
                <a:spcPts val="500"/>
              </a:spcAft>
              <a:buSzPct val="100000"/>
              <a:buChar char="•"/>
            </a:pPr>
            <a:r>
              <a:rPr lang="en-US" sz="950" dirty="0">
                <a:solidFill>
                  <a:srgbClr val="3A4453"/>
                </a:solidFill>
              </a:rPr>
              <a:t>We pay for every hour worked. We only bill the hours spent on jobs. The difference is profit we never make.</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WHAT WE SPEND</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Employment expense, office and departmental</a:t>
            </a:r>
            <a:endParaRPr lang="en-US" sz="2700" dirty="0"/>
          </a:p>
        </p:txBody>
      </p:sp>
      <p:pic>
        <p:nvPicPr>
          <p:cNvPr id="4" name="snip staff_split" descr="/home/user/Claude/deck/snips/staff_split.png">    </p:cNvPr>
          <p:cNvPicPr>
            <a:picLocks noChangeAspect="1"/>
          </p:cNvPicPr>
          <p:nvPr/>
        </p:nvPicPr>
        <p:blipFill>
          <a:blip r:embed="rId1"/>
          <a:stretch>
            <a:fillRect/>
          </a:stretch>
        </p:blipFill>
        <p:spPr>
          <a:xfrm>
            <a:off x="502920" y="1389888"/>
            <a:ext cx="8138160" cy="2176723"/>
          </a:xfrm>
          <a:prstGeom prst="rect">
            <a:avLst/>
          </a:prstGeom>
        </p:spPr>
      </p:pic>
      <p:sp>
        <p:nvSpPr>
          <p:cNvPr id="5" name="Text 2"/>
          <p:cNvSpPr txBox="1"/>
          <p:nvPr/>
        </p:nvSpPr>
        <p:spPr>
          <a:xfrm>
            <a:off x="502920" y="3639763"/>
            <a:ext cx="813816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Overheads MoM tab, employment expense split, the month.</a:t>
            </a:r>
            <a:endParaRPr lang="en-US" sz="800" dirty="0"/>
          </a:p>
        </p:txBody>
      </p:sp>
      <p:sp>
        <p:nvSpPr>
          <p:cNvPr id="6" name="commentary panel"/>
          <p:cNvSpPr/>
          <p:nvPr/>
        </p:nvSpPr>
        <p:spPr>
          <a:xfrm>
            <a:off x="502920" y="3675888"/>
            <a:ext cx="8138160" cy="950976"/>
          </a:xfrm>
          <a:prstGeom prst="rect">
            <a:avLst/>
          </a:prstGeom>
          <a:solidFill>
            <a:srgbClr val="E8F9F8"/>
          </a:solidFill>
          <a:ln/>
        </p:spPr>
      </p:sp>
      <p:sp>
        <p:nvSpPr>
          <p:cNvPr id="7" name="Text 4"/>
          <p:cNvSpPr txBox="1"/>
          <p:nvPr/>
        </p:nvSpPr>
        <p:spPr>
          <a:xfrm>
            <a:off x="685800" y="3758184"/>
            <a:ext cx="2743200" cy="164592"/>
          </a:xfrm>
          <a:prstGeom prst="rect">
            <a:avLst/>
          </a:prstGeom>
          <a:noFill/>
          <a:ln/>
        </p:spPr>
        <p:txBody>
          <a:bodyPr wrap="square" lIns="0" tIns="0" rIns="0" bIns="0" rtlCol="0" anchor="ctr"/>
          <a:lstStyle/>
          <a:p>
            <a:pPr indent="0" marL="0">
              <a:buNone/>
            </a:pPr>
            <a:r>
              <a:rPr lang="en-US" sz="850" b="1" spc="180" kern="0" dirty="0">
                <a:solidFill>
                  <a:srgbClr val="005358"/>
                </a:solidFill>
              </a:rPr>
              <a:t>COMMENTARY</a:t>
            </a:r>
            <a:endParaRPr lang="en-US" sz="850" dirty="0"/>
          </a:p>
        </p:txBody>
      </p:sp>
      <p:sp>
        <p:nvSpPr>
          <p:cNvPr id="8" name="Text 5"/>
          <p:cNvSpPr txBox="1"/>
          <p:nvPr/>
        </p:nvSpPr>
        <p:spPr>
          <a:xfrm>
            <a:off x="685800" y="3941064"/>
            <a:ext cx="3703320" cy="621792"/>
          </a:xfrm>
          <a:prstGeom prst="rect">
            <a:avLst/>
          </a:prstGeom>
          <a:noFill/>
          <a:ln/>
        </p:spPr>
        <p:txBody>
          <a:bodyPr wrap="square" lIns="0" tIns="0" rIns="0" bIns="0" rtlCol="0" anchor="t"/>
          <a:lstStyle/>
          <a:p>
            <a:pPr marL="342900" indent="-342900">
              <a:lnSpc>
                <a:spcPts val="1000"/>
              </a:lnSpc>
              <a:spcAft>
                <a:spcPts val="300"/>
              </a:spcAft>
              <a:buSzPct val="100000"/>
              <a:buChar char="•"/>
            </a:pPr>
            <a:r>
              <a:rPr lang="en-US" sz="800" dirty="0">
                <a:solidFill>
                  <a:srgbClr val="3A4453"/>
                </a:solidFill>
              </a:rPr>
              <a:t>63,077 of office wages this month, and all of it is charged out to the departments.</a:t>
            </a:r>
            <a:endParaRPr lang="en-US" sz="800" dirty="0"/>
          </a:p>
          <a:p>
            <a:pPr marL="342900" indent="-342900">
              <a:lnSpc>
                <a:spcPts val="1000"/>
              </a:lnSpc>
              <a:spcAft>
                <a:spcPts val="300"/>
              </a:spcAft>
              <a:buSzPct val="100000"/>
              <a:buChar char="•"/>
            </a:pPr>
            <a:r>
              <a:rPr lang="en-US" sz="800" dirty="0">
                <a:solidFill>
                  <a:srgbClr val="3A4453"/>
                </a:solidFill>
              </a:rPr>
              <a:t>Support picks up 67% of it, based on its share of hours worked over the last twelve months.</a:t>
            </a:r>
            <a:endParaRPr lang="en-US" sz="800" dirty="0"/>
          </a:p>
        </p:txBody>
      </p:sp>
      <p:sp>
        <p:nvSpPr>
          <p:cNvPr id="9" name="Text 6"/>
          <p:cNvSpPr txBox="1"/>
          <p:nvPr/>
        </p:nvSpPr>
        <p:spPr>
          <a:xfrm>
            <a:off x="4663440" y="3941064"/>
            <a:ext cx="3703320" cy="621792"/>
          </a:xfrm>
          <a:prstGeom prst="rect">
            <a:avLst/>
          </a:prstGeom>
          <a:noFill/>
          <a:ln/>
        </p:spPr>
        <p:txBody>
          <a:bodyPr wrap="square" lIns="0" tIns="0" rIns="0" bIns="0" rtlCol="0" anchor="t"/>
          <a:lstStyle/>
          <a:p>
            <a:pPr marL="342900" indent="-342900">
              <a:lnSpc>
                <a:spcPts val="1000"/>
              </a:lnSpc>
              <a:spcAft>
                <a:spcPts val="300"/>
              </a:spcAft>
              <a:buSzPct val="100000"/>
              <a:buChar char="•"/>
            </a:pPr>
            <a:r>
              <a:rPr lang="en-US" sz="800" dirty="0">
                <a:solidFill>
                  <a:srgbClr val="3A4453"/>
                </a:solidFill>
              </a:rPr>
              <a:t>Events pays more for its own staff, 35,665, than it does for office staff.</a:t>
            </a:r>
            <a:endParaRPr lang="en-US" sz="800" dirty="0"/>
          </a:p>
          <a:p>
            <a:pPr marL="342900" indent="-342900">
              <a:lnSpc>
                <a:spcPts val="1000"/>
              </a:lnSpc>
              <a:spcAft>
                <a:spcPts val="300"/>
              </a:spcAft>
              <a:buSzPct val="100000"/>
              <a:buChar char="•"/>
            </a:pPr>
            <a:r>
              <a:rPr lang="en-US" sz="800" dirty="0">
                <a:solidFill>
                  <a:srgbClr val="3A4453"/>
                </a:solidFill>
              </a:rPr>
              <a:t>Integration picks up almost no office wages, because almost no hours were booked to it.</a:t>
            </a:r>
            <a:endParaRPr lang="en-US" sz="8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divider circle"/>
          <p:cNvSpPr/>
          <p:nvPr/>
        </p:nvSpPr>
        <p:spPr>
          <a:xfrm>
            <a:off x="6446520" y="1600200"/>
            <a:ext cx="2651760" cy="2651760"/>
          </a:xfrm>
          <a:prstGeom prst="ellipse">
            <a:avLst/>
          </a:prstGeom>
          <a:solidFill>
            <a:srgbClr val="6D71FF">
              <a:alpha val="55000"/>
            </a:srgbClr>
          </a:solidFill>
          <a:ln/>
        </p:spPr>
      </p:sp>
      <p:sp>
        <p:nvSpPr>
          <p:cNvPr id="3" name="Shape 1"/>
          <p:cNvSpPr/>
          <p:nvPr/>
        </p:nvSpPr>
        <p:spPr>
          <a:xfrm>
            <a:off x="502920" y="1874520"/>
            <a:ext cx="868680" cy="868680"/>
          </a:xfrm>
          <a:prstGeom prst="rect">
            <a:avLst/>
          </a:prstGeom>
          <a:solidFill>
            <a:srgbClr val="3FD0C9"/>
          </a:solidFill>
          <a:ln/>
        </p:spPr>
      </p:sp>
      <p:sp>
        <p:nvSpPr>
          <p:cNvPr id="4" name="Text 2"/>
          <p:cNvSpPr txBox="1"/>
          <p:nvPr/>
        </p:nvSpPr>
        <p:spPr>
          <a:xfrm>
            <a:off x="502920" y="1874520"/>
            <a:ext cx="868680" cy="868680"/>
          </a:xfrm>
          <a:prstGeom prst="rect">
            <a:avLst/>
          </a:prstGeom>
          <a:noFill/>
          <a:ln/>
        </p:spPr>
        <p:txBody>
          <a:bodyPr wrap="square" lIns="0" tIns="0" rIns="0" bIns="0" rtlCol="0" anchor="ctr"/>
          <a:lstStyle/>
          <a:p>
            <a:pPr algn="ctr" indent="0" marL="0">
              <a:buNone/>
            </a:pPr>
            <a:r>
              <a:rPr lang="en-US" sz="2600" b="1" dirty="0">
                <a:solidFill>
                  <a:srgbClr val="242C39"/>
                </a:solidFill>
              </a:rPr>
              <a:t>03</a:t>
            </a:r>
            <a:endParaRPr lang="en-US" sz="2600" dirty="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indent="0" marL="0">
              <a:buNone/>
            </a:pPr>
            <a:r>
              <a:rPr lang="en-US" sz="950" b="1" spc="220" kern="0" dirty="0">
                <a:solidFill>
                  <a:srgbClr val="3FD0C9"/>
                </a:solidFill>
              </a:rPr>
              <a:t>SECTION</a:t>
            </a:r>
            <a:endParaRPr lang="en-US" sz="950" dirty="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indent="0" marL="0">
              <a:buNone/>
            </a:pPr>
            <a:r>
              <a:rPr lang="en-US" sz="2800" b="1" dirty="0">
                <a:solidFill>
                  <a:srgbClr val="FFFFFF"/>
                </a:solidFill>
              </a:rPr>
              <a:t>Customers and cash</a:t>
            </a:r>
            <a:endParaRPr lang="en-US" sz="2800" dirty="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indent="0" marL="0">
              <a:buNone/>
            </a:pPr>
            <a:r>
              <a:rPr lang="en-US" sz="1200" dirty="0">
                <a:solidFill>
                  <a:srgbClr val="C9CED6"/>
                </a:solidFill>
              </a:rPr>
              <a:t>Who pays us, how much, and how slowly</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CUSTOMERS AND CASH</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Top ten customers, year to date</a:t>
            </a:r>
            <a:endParaRPr lang="en-US" sz="2700" dirty="0"/>
          </a:p>
        </p:txBody>
      </p:sp>
      <p:pic>
        <p:nvPicPr>
          <p:cNvPr id="4" name="snip top10" descr="/home/user/Claude/deck/snips/top10.png">    </p:cNvPr>
          <p:cNvPicPr>
            <a:picLocks noChangeAspect="1"/>
          </p:cNvPicPr>
          <p:nvPr/>
        </p:nvPicPr>
        <p:blipFill>
          <a:blip r:embed="rId1"/>
          <a:stretch>
            <a:fillRect/>
          </a:stretch>
        </p:blipFill>
        <p:spPr>
          <a:xfrm>
            <a:off x="502920" y="1444752"/>
            <a:ext cx="5577840" cy="2815203"/>
          </a:xfrm>
          <a:prstGeom prst="rect">
            <a:avLst/>
          </a:prstGeom>
        </p:spPr>
      </p:pic>
      <p:sp>
        <p:nvSpPr>
          <p:cNvPr id="5" name="Text 2"/>
          <p:cNvSpPr txBox="1"/>
          <p:nvPr/>
        </p:nvSpPr>
        <p:spPr>
          <a:xfrm>
            <a:off x="502920" y="4333107"/>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Top 10 Clients tab, top ten customers by revenue, the top three in red.</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The three red bars are 49% of everything we sold this year.</a:t>
            </a:r>
            <a:endParaRPr lang="en-US" sz="950" dirty="0"/>
          </a:p>
          <a:p>
            <a:pPr marL="342900" indent="-342900">
              <a:lnSpc>
                <a:spcPts val="1300"/>
              </a:lnSpc>
              <a:spcAft>
                <a:spcPts val="500"/>
              </a:spcAft>
              <a:buSzPct val="100000"/>
              <a:buChar char="•"/>
            </a:pPr>
            <a:r>
              <a:rPr lang="en-US" sz="950" dirty="0">
                <a:solidFill>
                  <a:srgbClr val="3A4453"/>
                </a:solidFill>
              </a:rPr>
              <a:t>All ten together are 76%. Every other customer we have is the remaining 24%.</a:t>
            </a:r>
            <a:endParaRPr lang="en-US" sz="950" dirty="0"/>
          </a:p>
          <a:p>
            <a:pPr marL="342900" indent="-342900">
              <a:lnSpc>
                <a:spcPts val="1300"/>
              </a:lnSpc>
              <a:spcAft>
                <a:spcPts val="500"/>
              </a:spcAft>
              <a:buSzPct val="100000"/>
              <a:buChar char="•"/>
            </a:pPr>
            <a:r>
              <a:rPr lang="en-US" sz="950" dirty="0">
                <a:solidFill>
                  <a:srgbClr val="3A4453"/>
                </a:solidFill>
              </a:rPr>
              <a:t>Deloitte Services at 401,755 is 25% on its own. Losing them would wipe out more than the whole year's profit plan.</a:t>
            </a:r>
            <a:endParaRPr lang="en-US" sz="950" dirty="0"/>
          </a:p>
          <a:p>
            <a:pPr marL="342900" indent="-342900">
              <a:lnSpc>
                <a:spcPts val="1300"/>
              </a:lnSpc>
              <a:spcAft>
                <a:spcPts val="500"/>
              </a:spcAft>
              <a:buSzPct val="100000"/>
              <a:buChar char="•"/>
            </a:pPr>
            <a:r>
              <a:rPr lang="en-US" sz="950" dirty="0">
                <a:solidFill>
                  <a:srgbClr val="3A4453"/>
                </a:solidFill>
              </a:rPr>
              <a:t>Aware Super came from nothing to 285,075 in a quarter, and nearly all of it was one job in September.</a:t>
            </a:r>
            <a:endParaRPr lang="en-US" sz="950" dirty="0"/>
          </a:p>
          <a:p>
            <a:pPr marL="342900" indent="-342900">
              <a:lnSpc>
                <a:spcPts val="1300"/>
              </a:lnSpc>
              <a:spcAft>
                <a:spcPts val="500"/>
              </a:spcAft>
              <a:buSzPct val="100000"/>
              <a:buChar char="•"/>
            </a:pPr>
            <a:r>
              <a:rPr lang="en-US" sz="950" dirty="0">
                <a:solidFill>
                  <a:srgbClr val="3A4453"/>
                </a:solidFill>
              </a:rPr>
              <a:t>After the top five it falls away fast. Number ten is only 37,166.</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CUSTOMERS AND CASH</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How long customers take to pay</a:t>
            </a:r>
            <a:endParaRPr lang="en-US" sz="2700" dirty="0"/>
          </a:p>
        </p:txBody>
      </p:sp>
      <p:pic>
        <p:nvPicPr>
          <p:cNvPr id="4" name="snip dso_calc" descr="/home/user/Claude/deck/snips/dso_calc.png">    </p:cNvPr>
          <p:cNvPicPr>
            <a:picLocks noChangeAspect="1"/>
          </p:cNvPicPr>
          <p:nvPr/>
        </p:nvPicPr>
        <p:blipFill>
          <a:blip r:embed="rId1"/>
          <a:stretch>
            <a:fillRect/>
          </a:stretch>
        </p:blipFill>
        <p:spPr>
          <a:xfrm>
            <a:off x="502920" y="1444752"/>
            <a:ext cx="5577840" cy="2900215"/>
          </a:xfrm>
          <a:prstGeom prst="rect">
            <a:avLst/>
          </a:prstGeom>
        </p:spPr>
      </p:pic>
      <p:sp>
        <p:nvSpPr>
          <p:cNvPr id="5" name="Text 2"/>
          <p:cNvSpPr txBox="1"/>
          <p:nvPr/>
        </p:nvSpPr>
        <p:spPr>
          <a:xfrm>
            <a:off x="502920" y="4418119"/>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DSO tab, the calculation, built off the Xero age analysis.</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1000" dirty="0">
                <a:solidFill>
                  <a:srgbClr val="3A4453"/>
                </a:solidFill>
              </a:rPr>
              <a:t>Customers take 47 days to pay us. We want 30.</a:t>
            </a:r>
            <a:endParaRPr lang="en-US" sz="1000" dirty="0"/>
          </a:p>
          <a:p>
            <a:pPr marL="342900" indent="-342900">
              <a:lnSpc>
                <a:spcPts val="1300"/>
              </a:lnSpc>
              <a:spcAft>
                <a:spcPts val="500"/>
              </a:spcAft>
              <a:buSzPct val="100000"/>
              <a:buChar char="•"/>
            </a:pPr>
            <a:r>
              <a:rPr lang="en-US" sz="1000" dirty="0">
                <a:solidFill>
                  <a:srgbClr val="3A4453"/>
                </a:solidFill>
              </a:rPr>
              <a:t>That is 17 days of sales sitting in the debtor book instead of the bank.</a:t>
            </a:r>
            <a:endParaRPr lang="en-US" sz="1000" dirty="0"/>
          </a:p>
          <a:p>
            <a:pPr marL="342900" indent="-342900">
              <a:lnSpc>
                <a:spcPts val="1300"/>
              </a:lnSpc>
              <a:spcAft>
                <a:spcPts val="500"/>
              </a:spcAft>
              <a:buSzPct val="100000"/>
              <a:buChar char="•"/>
            </a:pPr>
            <a:r>
              <a:rPr lang="en-US" sz="1000" dirty="0">
                <a:solidFill>
                  <a:srgbClr val="3A4453"/>
                </a:solidFill>
              </a:rPr>
              <a:t>In money, 303,605 that should be ours already.</a:t>
            </a:r>
            <a:endParaRPr lang="en-US" sz="1000" dirty="0"/>
          </a:p>
          <a:p>
            <a:pPr marL="342900" indent="-342900">
              <a:lnSpc>
                <a:spcPts val="1300"/>
              </a:lnSpc>
              <a:spcAft>
                <a:spcPts val="500"/>
              </a:spcAft>
              <a:buSzPct val="100000"/>
              <a:buChar char="•"/>
            </a:pPr>
            <a:r>
              <a:rPr lang="en-US" sz="1000" dirty="0">
                <a:solidFill>
                  <a:srgbClr val="3A4453"/>
                </a:solidFill>
              </a:rPr>
              <a:t>Every single day we pull that back brings in 17,657.</a:t>
            </a:r>
            <a:endParaRPr lang="en-US" sz="1000" dirty="0"/>
          </a:p>
          <a:p>
            <a:pPr marL="342900" indent="-342900">
              <a:lnSpc>
                <a:spcPts val="1300"/>
              </a:lnSpc>
              <a:spcAft>
                <a:spcPts val="500"/>
              </a:spcAft>
              <a:buSzPct val="100000"/>
              <a:buChar char="•"/>
            </a:pPr>
            <a:r>
              <a:rPr lang="en-US" sz="1000" dirty="0">
                <a:solidFill>
                  <a:srgbClr val="3A4453"/>
                </a:solidFill>
              </a:rPr>
              <a:t>This is the fastest cash available to the business this quarter. Nothing else comes close.</a:t>
            </a:r>
            <a:endParaRPr lang="en-US" sz="10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CUSTOMERS AND CASH</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Who owes us the most</a:t>
            </a:r>
            <a:endParaRPr lang="en-US" sz="2700" dirty="0"/>
          </a:p>
        </p:txBody>
      </p:sp>
      <p:pic>
        <p:nvPicPr>
          <p:cNvPr id="4" name="snip dso_who" descr="/home/user/Claude/deck/snips/dso_who.png">    </p:cNvPr>
          <p:cNvPicPr>
            <a:picLocks noChangeAspect="1"/>
          </p:cNvPicPr>
          <p:nvPr/>
        </p:nvPicPr>
        <p:blipFill>
          <a:blip r:embed="rId1"/>
          <a:stretch>
            <a:fillRect/>
          </a:stretch>
        </p:blipFill>
        <p:spPr>
          <a:xfrm>
            <a:off x="988263" y="1444752"/>
            <a:ext cx="4607153" cy="3090672"/>
          </a:xfrm>
          <a:prstGeom prst="rect">
            <a:avLst/>
          </a:prstGeom>
        </p:spPr>
      </p:pic>
      <p:sp>
        <p:nvSpPr>
          <p:cNvPr id="5" name="Text 2"/>
          <p:cNvSpPr txBox="1"/>
          <p:nvPr/>
        </p:nvSpPr>
        <p:spPr>
          <a:xfrm>
            <a:off x="502920" y="4608576"/>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DSO tab, the ten largest amounts owed at month end.</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300"/>
              </a:lnSpc>
              <a:spcAft>
                <a:spcPts val="500"/>
              </a:spcAft>
              <a:buSzPct val="100000"/>
              <a:buChar char="•"/>
            </a:pPr>
            <a:r>
              <a:rPr lang="en-US" sz="950" dirty="0">
                <a:solidFill>
                  <a:srgbClr val="3A4453"/>
                </a:solidFill>
              </a:rPr>
              <a:t>Aware Super owes 277,395 on its own, 33% of everything owed to us.</a:t>
            </a:r>
            <a:endParaRPr lang="en-US" sz="950" dirty="0"/>
          </a:p>
          <a:p>
            <a:pPr marL="342900" indent="-342900">
              <a:lnSpc>
                <a:spcPts val="1300"/>
              </a:lnSpc>
              <a:spcAft>
                <a:spcPts val="500"/>
              </a:spcAft>
              <a:buSzPct val="100000"/>
              <a:buChar char="•"/>
            </a:pPr>
            <a:r>
              <a:rPr lang="en-US" sz="950" dirty="0">
                <a:solidFill>
                  <a:srgbClr val="3A4453"/>
                </a:solidFill>
              </a:rPr>
              <a:t>With Deloitte Services P/L for Deloitte Services Trust at 131,575, two customers hold 49% of the book.</a:t>
            </a:r>
            <a:endParaRPr lang="en-US" sz="950" dirty="0"/>
          </a:p>
          <a:p>
            <a:pPr marL="342900" indent="-342900">
              <a:lnSpc>
                <a:spcPts val="1300"/>
              </a:lnSpc>
              <a:spcAft>
                <a:spcPts val="500"/>
              </a:spcAft>
              <a:buSzPct val="100000"/>
              <a:buChar char="•"/>
            </a:pPr>
            <a:r>
              <a:rPr lang="en-US" sz="950" dirty="0">
                <a:solidFill>
                  <a:srgbClr val="3A4453"/>
                </a:solidFill>
              </a:rPr>
              <a:t>29% of what we are owed is already late, 244,538.</a:t>
            </a:r>
            <a:endParaRPr lang="en-US" sz="950" dirty="0"/>
          </a:p>
          <a:p>
            <a:pPr marL="342900" indent="-342900">
              <a:lnSpc>
                <a:spcPts val="1300"/>
              </a:lnSpc>
              <a:spcAft>
                <a:spcPts val="500"/>
              </a:spcAft>
              <a:buSzPct val="100000"/>
              <a:buChar char="•"/>
            </a:pPr>
            <a:r>
              <a:rPr lang="en-US" sz="950" dirty="0">
                <a:solidFill>
                  <a:srgbClr val="3A4453"/>
                </a:solidFill>
              </a:rPr>
              <a:t>Chase those two first. Everything below them is small by comparison.</a:t>
            </a:r>
            <a:endParaRPr lang="en-US" sz="950" dirty="0"/>
          </a:p>
          <a:p>
            <a:pPr marL="342900" indent="-342900">
              <a:lnSpc>
                <a:spcPts val="1300"/>
              </a:lnSpc>
              <a:spcAft>
                <a:spcPts val="500"/>
              </a:spcAft>
              <a:buSzPct val="100000"/>
              <a:buChar char="•"/>
            </a:pPr>
            <a:r>
              <a:rPr lang="en-US" sz="950" dirty="0">
                <a:solidFill>
                  <a:srgbClr val="3A4453"/>
                </a:solidFill>
              </a:rPr>
              <a:t>A general collections push is not the answer. Two phone calls are.</a:t>
            </a:r>
            <a:endParaRPr lang="en-US" sz="95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divider circle"/>
          <p:cNvSpPr/>
          <p:nvPr/>
        </p:nvSpPr>
        <p:spPr>
          <a:xfrm>
            <a:off x="6446520" y="1600200"/>
            <a:ext cx="2651760" cy="2651760"/>
          </a:xfrm>
          <a:prstGeom prst="ellipse">
            <a:avLst/>
          </a:prstGeom>
          <a:solidFill>
            <a:srgbClr val="6D71FF">
              <a:alpha val="55000"/>
            </a:srgbClr>
          </a:solidFill>
          <a:ln/>
        </p:spPr>
      </p:sp>
      <p:sp>
        <p:nvSpPr>
          <p:cNvPr id="3" name="Shape 1"/>
          <p:cNvSpPr/>
          <p:nvPr/>
        </p:nvSpPr>
        <p:spPr>
          <a:xfrm>
            <a:off x="502920" y="1874520"/>
            <a:ext cx="868680" cy="868680"/>
          </a:xfrm>
          <a:prstGeom prst="rect">
            <a:avLst/>
          </a:prstGeom>
          <a:solidFill>
            <a:srgbClr val="3FD0C9"/>
          </a:solidFill>
          <a:ln/>
        </p:spPr>
      </p:sp>
      <p:sp>
        <p:nvSpPr>
          <p:cNvPr id="4" name="Text 2"/>
          <p:cNvSpPr txBox="1"/>
          <p:nvPr/>
        </p:nvSpPr>
        <p:spPr>
          <a:xfrm>
            <a:off x="502920" y="1874520"/>
            <a:ext cx="868680" cy="868680"/>
          </a:xfrm>
          <a:prstGeom prst="rect">
            <a:avLst/>
          </a:prstGeom>
          <a:noFill/>
          <a:ln/>
        </p:spPr>
        <p:txBody>
          <a:bodyPr wrap="square" lIns="0" tIns="0" rIns="0" bIns="0" rtlCol="0" anchor="ctr"/>
          <a:lstStyle/>
          <a:p>
            <a:pPr algn="ctr" indent="0" marL="0">
              <a:buNone/>
            </a:pPr>
            <a:r>
              <a:rPr lang="en-US" sz="2600" b="1" dirty="0">
                <a:solidFill>
                  <a:srgbClr val="242C39"/>
                </a:solidFill>
              </a:rPr>
              <a:t>04</a:t>
            </a:r>
            <a:endParaRPr lang="en-US" sz="2600" dirty="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indent="0" marL="0">
              <a:buNone/>
            </a:pPr>
            <a:r>
              <a:rPr lang="en-US" sz="950" b="1" spc="220" kern="0" dirty="0">
                <a:solidFill>
                  <a:srgbClr val="3FD0C9"/>
                </a:solidFill>
              </a:rPr>
              <a:t>SECTION</a:t>
            </a:r>
            <a:endParaRPr lang="en-US" sz="950" dirty="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indent="0" marL="0">
              <a:buNone/>
            </a:pPr>
            <a:r>
              <a:rPr lang="en-US" sz="2800" b="1" dirty="0">
                <a:solidFill>
                  <a:srgbClr val="FFFFFF"/>
                </a:solidFill>
              </a:rPr>
              <a:t>People and utilisation</a:t>
            </a:r>
            <a:endParaRPr lang="en-US" sz="2800" dirty="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indent="0" marL="0">
              <a:buNone/>
            </a:pPr>
            <a:r>
              <a:rPr lang="en-US" sz="1200" dirty="0">
                <a:solidFill>
                  <a:srgbClr val="C9CED6"/>
                </a:solidFill>
              </a:rPr>
              <a:t>Chargeable hours and the profit they produce</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PEOPLE AND UTILISATION</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How each department spent its hours, Sep 26</a:t>
            </a:r>
            <a:endParaRPr lang="en-US" sz="2700" dirty="0"/>
          </a:p>
        </p:txBody>
      </p:sp>
      <p:pic>
        <p:nvPicPr>
          <p:cNvPr id="4" name="snip util_chart" descr="/home/user/Claude/deck/snips/util_chart.png">    </p:cNvPr>
          <p:cNvPicPr>
            <a:picLocks noChangeAspect="1"/>
          </p:cNvPicPr>
          <p:nvPr/>
        </p:nvPicPr>
        <p:blipFill>
          <a:blip r:embed="rId1"/>
          <a:stretch>
            <a:fillRect/>
          </a:stretch>
        </p:blipFill>
        <p:spPr>
          <a:xfrm>
            <a:off x="502920" y="1444752"/>
            <a:ext cx="5577840" cy="2613700"/>
          </a:xfrm>
          <a:prstGeom prst="rect">
            <a:avLst/>
          </a:prstGeom>
        </p:spPr>
      </p:pic>
      <p:sp>
        <p:nvSpPr>
          <p:cNvPr id="5" name="Text 2"/>
          <p:cNvSpPr txBox="1"/>
          <p:nvPr/>
        </p:nvSpPr>
        <p:spPr>
          <a:xfrm>
            <a:off x="502920" y="4131604"/>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Utilisation tab, hours by department, each bar scaled to its own total.</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Each bar is scaled to that department's own hours, so you can compare the mix. Support works about a hundred times the hours Integration does.</a:t>
            </a:r>
            <a:endParaRPr lang="en-US" sz="900" dirty="0"/>
          </a:p>
          <a:p>
            <a:pPr marL="342900" indent="-342900">
              <a:lnSpc>
                <a:spcPts val="1150"/>
              </a:lnSpc>
              <a:spcAft>
                <a:spcPts val="500"/>
              </a:spcAft>
              <a:buSzPct val="100000"/>
              <a:buChar char="•"/>
            </a:pPr>
            <a:r>
              <a:rPr lang="en-US" sz="900" dirty="0">
                <a:solidFill>
                  <a:srgbClr val="3A4453"/>
                </a:solidFill>
              </a:rPr>
              <a:t>Support shows 11 hours not on jobs out of 2,143 worked. That is not credible.</a:t>
            </a:r>
            <a:endParaRPr lang="en-US" sz="900" dirty="0"/>
          </a:p>
          <a:p>
            <a:pPr marL="342900" indent="-342900">
              <a:lnSpc>
                <a:spcPts val="1150"/>
              </a:lnSpc>
              <a:spcAft>
                <a:spcPts val="500"/>
              </a:spcAft>
              <a:buSzPct val="100000"/>
              <a:buChar char="•"/>
            </a:pPr>
            <a:r>
              <a:rPr lang="en-US" sz="900" dirty="0">
                <a:solidFill>
                  <a:srgbClr val="3A4453"/>
                </a:solidFill>
              </a:rPr>
              <a:t>Events put 333 hours into leave and only 241 onto jobs. The people are there, the work is not.</a:t>
            </a:r>
            <a:endParaRPr lang="en-US" sz="900" dirty="0"/>
          </a:p>
          <a:p>
            <a:pPr marL="342900" indent="-342900">
              <a:lnSpc>
                <a:spcPts val="1150"/>
              </a:lnSpc>
              <a:spcAft>
                <a:spcPts val="500"/>
              </a:spcAft>
              <a:buSzPct val="100000"/>
              <a:buChar char="•"/>
            </a:pPr>
            <a:r>
              <a:rPr lang="en-US" sz="900" dirty="0">
                <a:solidFill>
                  <a:srgbClr val="3A4453"/>
                </a:solidFill>
              </a:rPr>
              <a:t>Consulting put 84 hours into work we cannot bill against 31 we can.</a:t>
            </a:r>
            <a:endParaRPr lang="en-US" sz="900" dirty="0"/>
          </a:p>
          <a:p>
            <a:pPr marL="342900" indent="-342900">
              <a:lnSpc>
                <a:spcPts val="1150"/>
              </a:lnSpc>
              <a:spcAft>
                <a:spcPts val="500"/>
              </a:spcAft>
              <a:buSzPct val="100000"/>
              <a:buChar char="•"/>
            </a:pPr>
            <a:r>
              <a:rPr lang="en-US" sz="900" dirty="0">
                <a:solidFill>
                  <a:srgbClr val="3A4453"/>
                </a:solidFill>
              </a:rPr>
              <a:t>We pay for every hour. We only bill the ones on jobs. The grey and light teal are the gap.</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divider circle"/>
          <p:cNvSpPr/>
          <p:nvPr/>
        </p:nvSpPr>
        <p:spPr>
          <a:xfrm>
            <a:off x="6446520" y="1600200"/>
            <a:ext cx="2651760" cy="2651760"/>
          </a:xfrm>
          <a:prstGeom prst="ellipse">
            <a:avLst/>
          </a:prstGeom>
          <a:solidFill>
            <a:srgbClr val="6D71FF">
              <a:alpha val="55000"/>
            </a:srgbClr>
          </a:solidFill>
          <a:ln/>
        </p:spPr>
      </p:sp>
      <p:sp>
        <p:nvSpPr>
          <p:cNvPr id="3" name="Shape 1"/>
          <p:cNvSpPr/>
          <p:nvPr/>
        </p:nvSpPr>
        <p:spPr>
          <a:xfrm>
            <a:off x="502920" y="1874520"/>
            <a:ext cx="868680" cy="868680"/>
          </a:xfrm>
          <a:prstGeom prst="rect">
            <a:avLst/>
          </a:prstGeom>
          <a:solidFill>
            <a:srgbClr val="3FD0C9"/>
          </a:solidFill>
          <a:ln/>
        </p:spPr>
      </p:sp>
      <p:sp>
        <p:nvSpPr>
          <p:cNvPr id="4" name="Text 2"/>
          <p:cNvSpPr txBox="1"/>
          <p:nvPr/>
        </p:nvSpPr>
        <p:spPr>
          <a:xfrm>
            <a:off x="502920" y="1874520"/>
            <a:ext cx="868680" cy="868680"/>
          </a:xfrm>
          <a:prstGeom prst="rect">
            <a:avLst/>
          </a:prstGeom>
          <a:noFill/>
          <a:ln/>
        </p:spPr>
        <p:txBody>
          <a:bodyPr wrap="square" lIns="0" tIns="0" rIns="0" bIns="0" rtlCol="0" anchor="ctr"/>
          <a:lstStyle/>
          <a:p>
            <a:pPr algn="ctr" indent="0" marL="0">
              <a:buNone/>
            </a:pPr>
            <a:r>
              <a:rPr lang="en-US" sz="2600" b="1" dirty="0">
                <a:solidFill>
                  <a:srgbClr val="242C39"/>
                </a:solidFill>
              </a:rPr>
              <a:t>05</a:t>
            </a:r>
            <a:endParaRPr lang="en-US" sz="2600" dirty="0"/>
          </a:p>
        </p:txBody>
      </p:sp>
      <p:sp>
        <p:nvSpPr>
          <p:cNvPr id="5" name="Text 3"/>
          <p:cNvSpPr txBox="1"/>
          <p:nvPr/>
        </p:nvSpPr>
        <p:spPr>
          <a:xfrm>
            <a:off x="502920" y="411480"/>
            <a:ext cx="3657600" cy="274320"/>
          </a:xfrm>
          <a:prstGeom prst="rect">
            <a:avLst/>
          </a:prstGeom>
          <a:noFill/>
          <a:ln/>
        </p:spPr>
        <p:txBody>
          <a:bodyPr wrap="square" lIns="0" tIns="0" rIns="0" bIns="0" rtlCol="0" anchor="ctr"/>
          <a:lstStyle/>
          <a:p>
            <a:pPr indent="0" marL="0">
              <a:buNone/>
            </a:pPr>
            <a:r>
              <a:rPr lang="en-US" sz="950" b="1" spc="220" kern="0" dirty="0">
                <a:solidFill>
                  <a:srgbClr val="3FD0C9"/>
                </a:solidFill>
              </a:rPr>
              <a:t>SECTION</a:t>
            </a:r>
            <a:endParaRPr lang="en-US" sz="950" dirty="0"/>
          </a:p>
        </p:txBody>
      </p:sp>
      <p:sp>
        <p:nvSpPr>
          <p:cNvPr id="6" name="Text 4"/>
          <p:cNvSpPr txBox="1"/>
          <p:nvPr/>
        </p:nvSpPr>
        <p:spPr>
          <a:xfrm>
            <a:off x="1600200" y="1874520"/>
            <a:ext cx="5943600" cy="502920"/>
          </a:xfrm>
          <a:prstGeom prst="rect">
            <a:avLst/>
          </a:prstGeom>
          <a:noFill/>
          <a:ln/>
        </p:spPr>
        <p:txBody>
          <a:bodyPr wrap="square" lIns="0" tIns="0" rIns="0" bIns="0" rtlCol="0" anchor="ctr"/>
          <a:lstStyle/>
          <a:p>
            <a:pPr indent="0" marL="0">
              <a:buNone/>
            </a:pPr>
            <a:r>
              <a:rPr lang="en-US" sz="2800" b="1" dirty="0">
                <a:solidFill>
                  <a:srgbClr val="FFFFFF"/>
                </a:solidFill>
              </a:rPr>
              <a:t>Budget and outlook</a:t>
            </a:r>
            <a:endParaRPr lang="en-US" sz="2800" dirty="0"/>
          </a:p>
        </p:txBody>
      </p:sp>
      <p:sp>
        <p:nvSpPr>
          <p:cNvPr id="7" name="Text 5"/>
          <p:cNvSpPr txBox="1"/>
          <p:nvPr/>
        </p:nvSpPr>
        <p:spPr>
          <a:xfrm>
            <a:off x="1600200" y="2395728"/>
            <a:ext cx="5943600" cy="347472"/>
          </a:xfrm>
          <a:prstGeom prst="rect">
            <a:avLst/>
          </a:prstGeom>
          <a:noFill/>
          <a:ln/>
        </p:spPr>
        <p:txBody>
          <a:bodyPr wrap="square" lIns="0" tIns="0" rIns="0" bIns="0" rtlCol="0" anchor="ctr"/>
          <a:lstStyle/>
          <a:p>
            <a:pPr indent="0" marL="0">
              <a:buNone/>
            </a:pPr>
            <a:r>
              <a:rPr lang="en-US" sz="1200" dirty="0">
                <a:solidFill>
                  <a:srgbClr val="C9CED6"/>
                </a:solidFill>
              </a:rPr>
              <a:t>What the rest of the year looks like and what we change</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BUDGET AND OUTLOOK</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Revenue by month against budget</a:t>
            </a:r>
            <a:endParaRPr lang="en-US" sz="2700" dirty="0"/>
          </a:p>
        </p:txBody>
      </p:sp>
      <p:pic>
        <p:nvPicPr>
          <p:cNvPr id="4" name="snip income_month" descr="/home/user/Claude/deck/snips/income_month.png">    </p:cNvPr>
          <p:cNvPicPr>
            <a:picLocks noChangeAspect="1"/>
          </p:cNvPicPr>
          <p:nvPr/>
        </p:nvPicPr>
        <p:blipFill>
          <a:blip r:embed="rId1"/>
          <a:stretch>
            <a:fillRect/>
          </a:stretch>
        </p:blipFill>
        <p:spPr>
          <a:xfrm>
            <a:off x="502920" y="1444752"/>
            <a:ext cx="5577840" cy="2604071"/>
          </a:xfrm>
          <a:prstGeom prst="rect">
            <a:avLst/>
          </a:prstGeom>
        </p:spPr>
      </p:pic>
      <p:sp>
        <p:nvSpPr>
          <p:cNvPr id="5" name="Text 2"/>
          <p:cNvSpPr txBox="1"/>
          <p:nvPr/>
        </p:nvSpPr>
        <p:spPr>
          <a:xfrm>
            <a:off x="502920" y="4121975"/>
            <a:ext cx="5577840" cy="237744"/>
          </a:xfrm>
          <a:prstGeom prst="rect">
            <a:avLst/>
          </a:prstGeom>
          <a:noFill/>
          <a:ln/>
        </p:spPr>
        <p:txBody>
          <a:bodyPr wrap="square" lIns="0" tIns="0" rIns="0" bIns="0" rtlCol="0" anchor="t"/>
          <a:lstStyle/>
          <a:p>
            <a:pPr indent="0" marL="0">
              <a:buNone/>
            </a:pPr>
            <a:r>
              <a:rPr lang="en-US" sz="800" i="1" dirty="0">
                <a:solidFill>
                  <a:srgbClr val="6B7585"/>
                </a:solidFill>
              </a:rPr>
              <a:t>Snipped from the Financial Controller Pack, Cost Analysis tab, total income by month, actual to date then budget.</a:t>
            </a:r>
            <a:endParaRPr lang="en-US" sz="800" dirty="0"/>
          </a:p>
        </p:txBody>
      </p:sp>
      <p:sp>
        <p:nvSpPr>
          <p:cNvPr id="6" name="commentary panel"/>
          <p:cNvSpPr/>
          <p:nvPr/>
        </p:nvSpPr>
        <p:spPr>
          <a:xfrm>
            <a:off x="6263640" y="1463040"/>
            <a:ext cx="2377440" cy="3154680"/>
          </a:xfrm>
          <a:prstGeom prst="rect">
            <a:avLst/>
          </a:prstGeom>
          <a:solidFill>
            <a:srgbClr val="E8F9F8"/>
          </a:solidFill>
          <a:ln/>
        </p:spPr>
      </p:sp>
      <p:sp>
        <p:nvSpPr>
          <p:cNvPr id="7" name="Text 4"/>
          <p:cNvSpPr txBox="1"/>
          <p:nvPr/>
        </p:nvSpPr>
        <p:spPr>
          <a:xfrm>
            <a:off x="6446520" y="1627632"/>
            <a:ext cx="2011680" cy="228600"/>
          </a:xfrm>
          <a:prstGeom prst="rect">
            <a:avLst/>
          </a:prstGeom>
          <a:noFill/>
          <a:ln/>
        </p:spPr>
        <p:txBody>
          <a:bodyPr wrap="square" lIns="0" tIns="0" rIns="0" bIns="0" rtlCol="0" anchor="ctr"/>
          <a:lstStyle/>
          <a:p>
            <a:pPr indent="0" marL="0">
              <a:buNone/>
            </a:pPr>
            <a:r>
              <a:rPr lang="en-US" sz="900" b="1" spc="180" kern="0" dirty="0">
                <a:solidFill>
                  <a:srgbClr val="005358"/>
                </a:solidFill>
              </a:rPr>
              <a:t>COMMENTARY</a:t>
            </a:r>
            <a:endParaRPr lang="en-US" sz="900" dirty="0"/>
          </a:p>
        </p:txBody>
      </p:sp>
      <p:sp>
        <p:nvSpPr>
          <p:cNvPr id="8" name="Text 5"/>
          <p:cNvSpPr txBox="1"/>
          <p:nvPr/>
        </p:nvSpPr>
        <p:spPr>
          <a:xfrm>
            <a:off x="6446520" y="1901952"/>
            <a:ext cx="2011680" cy="2551176"/>
          </a:xfrm>
          <a:prstGeom prst="rect">
            <a:avLst/>
          </a:prstGeom>
          <a:noFill/>
          <a:ln/>
        </p:spPr>
        <p:txBody>
          <a:bodyPr wrap="square" lIns="0" tIns="0" rIns="0" bIns="0" rtlCol="0" anchor="t">
            <a:normAutofit/>
          </a:bodyPr>
          <a:lstStyle/>
          <a:p>
            <a:pPr marL="342900" indent="-342900">
              <a:lnSpc>
                <a:spcPts val="1150"/>
              </a:lnSpc>
              <a:spcAft>
                <a:spcPts val="500"/>
              </a:spcAft>
              <a:buSzPct val="100000"/>
              <a:buChar char="•"/>
            </a:pPr>
            <a:r>
              <a:rPr lang="en-US" sz="900" dirty="0">
                <a:solidFill>
                  <a:srgbClr val="3A4453"/>
                </a:solidFill>
              </a:rPr>
              <a:t>Q1 came in (372)k behind on revenue, and almost all of it is Consulting and Video.</a:t>
            </a:r>
            <a:endParaRPr lang="en-US" sz="900" dirty="0"/>
          </a:p>
          <a:p>
            <a:pPr marL="342900" indent="-342900">
              <a:lnSpc>
                <a:spcPts val="1150"/>
              </a:lnSpc>
              <a:spcAft>
                <a:spcPts val="500"/>
              </a:spcAft>
              <a:buSzPct val="100000"/>
              <a:buChar char="•"/>
            </a:pPr>
            <a:r>
              <a:rPr lang="en-US" sz="900" dirty="0">
                <a:solidFill>
                  <a:srgbClr val="3A4453"/>
                </a:solidFill>
              </a:rPr>
              <a:t>The remaining nine months are untouched original budget. They are not a forecast.</a:t>
            </a:r>
            <a:endParaRPr lang="en-US" sz="900" dirty="0"/>
          </a:p>
          <a:p>
            <a:pPr marL="342900" indent="-342900">
              <a:lnSpc>
                <a:spcPts val="1150"/>
              </a:lnSpc>
              <a:spcAft>
                <a:spcPts val="500"/>
              </a:spcAft>
              <a:buSzPct val="100000"/>
              <a:buChar char="•"/>
            </a:pPr>
            <a:r>
              <a:rPr lang="en-US" sz="900" dirty="0">
                <a:solidFill>
                  <a:srgbClr val="3A4453"/>
                </a:solidFill>
              </a:rPr>
              <a:t>October alone is budgeted at 950k, nearly double our best month so far.</a:t>
            </a:r>
            <a:endParaRPr lang="en-US" sz="900" dirty="0"/>
          </a:p>
          <a:p>
            <a:pPr marL="342900" indent="-342900">
              <a:lnSpc>
                <a:spcPts val="1150"/>
              </a:lnSpc>
              <a:spcAft>
                <a:spcPts val="500"/>
              </a:spcAft>
              <a:buSzPct val="100000"/>
              <a:buChar char="•"/>
            </a:pPr>
            <a:r>
              <a:rPr lang="en-US" sz="900" dirty="0">
                <a:solidFill>
                  <a:srgbClr val="3A4453"/>
                </a:solidFill>
              </a:rPr>
              <a:t>December carries a planned loss. The business closes for two weeks, so that is correct and should stay.</a:t>
            </a:r>
            <a:endParaRPr lang="en-US" sz="900" dirty="0"/>
          </a:p>
          <a:p>
            <a:pPr marL="342900" indent="-342900">
              <a:lnSpc>
                <a:spcPts val="1150"/>
              </a:lnSpc>
              <a:spcAft>
                <a:spcPts val="500"/>
              </a:spcAft>
              <a:buSzPct val="100000"/>
              <a:buChar char="•"/>
            </a:pPr>
            <a:r>
              <a:rPr lang="en-US" sz="900" dirty="0">
                <a:solidFill>
                  <a:srgbClr val="3A4453"/>
                </a:solidFill>
              </a:rPr>
              <a:t>Recommend a Q1 rolling forecast: rebuild Consulting on real capacity and reset the margin assumptions.</a:t>
            </a:r>
            <a:endParaRPr lang="en-US" sz="900" dirty="0"/>
          </a:p>
        </p:txBody>
      </p:sp>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02920" y="365760"/>
            <a:ext cx="6400800" cy="274320"/>
          </a:xfrm>
          <a:prstGeom prst="rect">
            <a:avLst/>
          </a:prstGeom>
          <a:noFill/>
          <a:ln/>
        </p:spPr>
        <p:txBody>
          <a:bodyPr wrap="square" lIns="0" tIns="0" rIns="0" bIns="0" rtlCol="0" anchor="ctr"/>
          <a:lstStyle/>
          <a:p>
            <a:pPr indent="0" marL="0">
              <a:buNone/>
            </a:pPr>
            <a:r>
              <a:rPr lang="en-US" sz="950" b="1" spc="220" kern="0" dirty="0">
                <a:solidFill>
                  <a:srgbClr val="122B82"/>
                </a:solidFill>
              </a:rPr>
              <a:t>SUMMARY AND ACTIONS</a:t>
            </a:r>
            <a:endParaRPr lang="en-US" sz="950" dirty="0"/>
          </a:p>
        </p:txBody>
      </p:sp>
      <p:sp>
        <p:nvSpPr>
          <p:cNvPr id="3" name="Text 1"/>
          <p:cNvSpPr txBox="1"/>
          <p:nvPr/>
        </p:nvSpPr>
        <p:spPr>
          <a:xfrm>
            <a:off x="502920" y="640080"/>
            <a:ext cx="7315200" cy="685800"/>
          </a:xfrm>
          <a:prstGeom prst="rect">
            <a:avLst/>
          </a:prstGeom>
          <a:noFill/>
          <a:ln/>
        </p:spPr>
        <p:txBody>
          <a:bodyPr wrap="square" lIns="0" tIns="0" rIns="0" bIns="0" rtlCol="0" anchor="ctr"/>
          <a:lstStyle/>
          <a:p>
            <a:pPr indent="0" marL="0">
              <a:buNone/>
            </a:pPr>
            <a:r>
              <a:rPr lang="en-US" sz="2700" b="1" dirty="0">
                <a:solidFill>
                  <a:srgbClr val="242C39"/>
                </a:solidFill>
              </a:rPr>
              <a:t>What we agreed</a:t>
            </a:r>
            <a:endParaRPr lang="en-US" sz="27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444752"/>
          <a:ext cx="8138160" cy="914400"/>
        </p:xfrm>
        <a:graphic>
          <a:graphicData uri="http://schemas.openxmlformats.org/drawingml/2006/table">
            <a:tbl>
              <a:tblPr/>
              <a:tblGrid>
                <a:gridCol w="914400"/>
                <a:gridCol w="5257800"/>
                <a:gridCol w="960120"/>
                <a:gridCol w="1005840"/>
              </a:tblGrid>
              <a:tr h="0">
                <a:tc>
                  <a:txBody>
                    <a:bodyPr/>
                    <a:lstStyle/>
                    <a:p>
                      <a:pPr algn="l" indent="0" marL="0">
                        <a:buNone/>
                      </a:pPr>
                      <a:r>
                        <a:rPr lang="en-US" sz="900" b="1" dirty="0">
                          <a:solidFill>
                            <a:srgbClr val="FFFFFF"/>
                          </a:solidFill>
                        </a:rPr>
                        <a:t>Area</a:t>
                      </a:r>
                      <a:endParaRPr lang="en-US" sz="900" dirty="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algn="l" indent="0" marL="0">
                        <a:buNone/>
                      </a:pPr>
                      <a:r>
                        <a:rPr lang="en-US" sz="900" b="1" dirty="0">
                          <a:solidFill>
                            <a:srgbClr val="FFFFFF"/>
                          </a:solidFill>
                        </a:rPr>
                        <a:t>What we agreed</a:t>
                      </a:r>
                      <a:endParaRPr lang="en-US" sz="900" dirty="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algn="l" indent="0" marL="0">
                        <a:buNone/>
                      </a:pPr>
                      <a:r>
                        <a:rPr lang="en-US" sz="900" b="1" dirty="0">
                          <a:solidFill>
                            <a:srgbClr val="FFFFFF"/>
                          </a:solidFill>
                        </a:rPr>
                        <a:t>Owner</a:t>
                      </a:r>
                      <a:endParaRPr lang="en-US" sz="900" dirty="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c>
                  <a:txBody>
                    <a:bodyPr/>
                    <a:lstStyle/>
                    <a:p>
                      <a:pPr algn="l" indent="0" marL="0">
                        <a:buNone/>
                      </a:pPr>
                      <a:r>
                        <a:rPr lang="en-US" sz="900" b="1" dirty="0">
                          <a:solidFill>
                            <a:srgbClr val="FFFFFF"/>
                          </a:solidFill>
                        </a:rPr>
                        <a:t>Due</a:t>
                      </a:r>
                      <a:endParaRPr lang="en-US" sz="900" dirty="0"/>
                    </a:p>
                  </a:txBody>
                  <a:tcPr marL="63500" marR="63500" marT="38100" marB="38100"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242C39"/>
                    </a:solidFill>
                  </a:tcPr>
                </a:tc>
              </a:tr>
              <a:tr h="0">
                <a:tc>
                  <a:txBody>
                    <a:bodyPr/>
                    <a:lstStyle/>
                    <a:p>
                      <a:pPr algn="l" indent="0" marL="0">
                        <a:buNone/>
                      </a:pPr>
                      <a:r>
                        <a:rPr lang="en-US" sz="800" b="1" dirty="0">
                          <a:solidFill>
                            <a:srgbClr val="242C39"/>
                          </a:solidFill>
                        </a:rPr>
                        <a:t>P&amp;L</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Reforecast FY27 on margin, not revenue. At 38.9% gross margin break even needs 549k a month and we are running at 541k.</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GC and FC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31 Oct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Overhead keys</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Events carries 111k of overhead on 73k of revenue and cannot be profitable on that key. Test the keys for FY28, do not change them mid year.</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GC and FC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30 Nov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Consulting</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20k of running costs against 4k of fees. Decide whether the department is rebuilt, merged into Integration, or closed.</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GC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30 Nov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Customers</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Top three are 48.7% of revenue. Agree a named retention plan, and set the growth target on the second ten.</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GC and Sales</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14 Nov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Cash</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DSO 47.2 days. Getting to 30 releases 304k. Chase Aware Super and Deloitte Services P/L for Deloitte Services Trust first.</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FC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24 Oct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Utilisation</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Five more points on Support and Events is worth about 16k a month at no extra cost. Set it as a target once timesheet coding is fixed.</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Ops and FC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30 Nov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r h="0">
                <a:tc>
                  <a:txBody>
                    <a:bodyPr/>
                    <a:lstStyle/>
                    <a:p>
                      <a:pPr algn="l" indent="0" marL="0">
                        <a:buNone/>
                      </a:pPr>
                      <a:r>
                        <a:rPr lang="en-US" sz="800" b="1" dirty="0">
                          <a:solidFill>
                            <a:srgbClr val="242C39"/>
                          </a:solidFill>
                        </a:rPr>
                        <a:t>Timesheets</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Support shows 11 non-chargeable hours in a month. Correct the coding before utilisation is used to manage anyone.</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Ops and FC</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c>
                  <a:txBody>
                    <a:bodyPr/>
                    <a:lstStyle/>
                    <a:p>
                      <a:pPr algn="l" indent="0" marL="0">
                        <a:buNone/>
                      </a:pPr>
                      <a:r>
                        <a:rPr lang="en-US" sz="800" dirty="0">
                          <a:solidFill>
                            <a:srgbClr val="3A4453"/>
                          </a:solidFill>
                        </a:rPr>
                        <a:t>31 Oct 26</a:t>
                      </a:r>
                      <a:endParaRPr lang="en-US" sz="800" dirty="0"/>
                    </a:p>
                  </a:txBody>
                  <a:tcPr marL="63500" marR="63500" marT="38100" marB="38100" anchor="t">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092440" y="4736592"/>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58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closing circle 0"/>
          <p:cNvSpPr/>
          <p:nvPr/>
        </p:nvSpPr>
        <p:spPr>
          <a:xfrm>
            <a:off x="5029200" y="228600"/>
            <a:ext cx="2286000" cy="2286000"/>
          </a:xfrm>
          <a:prstGeom prst="ellipse">
            <a:avLst/>
          </a:prstGeom>
          <a:solidFill>
            <a:srgbClr val="3FD0C9">
              <a:alpha val="82000"/>
            </a:srgbClr>
          </a:solidFill>
          <a:ln/>
        </p:spPr>
      </p:sp>
      <p:sp>
        <p:nvSpPr>
          <p:cNvPr id="3" name="closing circle 1"/>
          <p:cNvSpPr/>
          <p:nvPr/>
        </p:nvSpPr>
        <p:spPr>
          <a:xfrm>
            <a:off x="6217920" y="1234440"/>
            <a:ext cx="1920240" cy="1920240"/>
          </a:xfrm>
          <a:prstGeom prst="ellipse">
            <a:avLst/>
          </a:prstGeom>
          <a:solidFill>
            <a:srgbClr val="6D71FF">
              <a:alpha val="82000"/>
            </a:srgbClr>
          </a:solidFill>
          <a:ln/>
        </p:spPr>
      </p:sp>
      <p:sp>
        <p:nvSpPr>
          <p:cNvPr id="4" name="closing circle 2"/>
          <p:cNvSpPr/>
          <p:nvPr/>
        </p:nvSpPr>
        <p:spPr>
          <a:xfrm>
            <a:off x="5303520" y="2148840"/>
            <a:ext cx="2377440" cy="2377440"/>
          </a:xfrm>
          <a:prstGeom prst="ellipse">
            <a:avLst/>
          </a:prstGeom>
          <a:solidFill>
            <a:srgbClr val="F33844">
              <a:alpha val="82000"/>
            </a:srgbClr>
          </a:solidFill>
          <a:ln/>
        </p:spPr>
      </p:sp>
      <p:sp>
        <p:nvSpPr>
          <p:cNvPr id="5" name="Text 3"/>
          <p:cNvSpPr txBox="1"/>
          <p:nvPr/>
        </p:nvSpPr>
        <p:spPr>
          <a:xfrm>
            <a:off x="502920" y="411480"/>
            <a:ext cx="1828800" cy="640080"/>
          </a:xfrm>
          <a:prstGeom prst="rect">
            <a:avLst/>
          </a:prstGeom>
          <a:noFill/>
          <a:ln/>
        </p:spPr>
        <p:txBody>
          <a:bodyPr wrap="square" lIns="0" tIns="0" rIns="0" bIns="0" rtlCol="0" anchor="ctr"/>
          <a:lstStyle/>
          <a:p>
            <a:pPr indent="0" marL="0">
              <a:buNone/>
            </a:pPr>
            <a:r>
              <a:rPr lang="en-US" sz="3400" b="1" dirty="0">
                <a:solidFill>
                  <a:srgbClr val="FFFFFF"/>
                </a:solidFill>
              </a:rPr>
              <a:t>cts</a:t>
            </a:r>
            <a:endParaRPr lang="en-US" sz="3400" dirty="0"/>
          </a:p>
        </p:txBody>
      </p:sp>
      <p:sp>
        <p:nvSpPr>
          <p:cNvPr id="6" name="Text 4"/>
          <p:cNvSpPr txBox="1"/>
          <p:nvPr/>
        </p:nvSpPr>
        <p:spPr>
          <a:xfrm>
            <a:off x="548640" y="896112"/>
            <a:ext cx="1828800" cy="228600"/>
          </a:xfrm>
          <a:prstGeom prst="rect">
            <a:avLst/>
          </a:prstGeom>
          <a:noFill/>
          <a:ln/>
        </p:spPr>
        <p:txBody>
          <a:bodyPr wrap="square" lIns="0" tIns="0" rIns="0" bIns="0" rtlCol="0" anchor="ctr"/>
          <a:lstStyle/>
          <a:p>
            <a:pPr indent="0" marL="0">
              <a:buNone/>
            </a:pPr>
            <a:r>
              <a:rPr lang="en-US" sz="850" dirty="0">
                <a:solidFill>
                  <a:srgbClr val="C9CED6"/>
                </a:solidFill>
              </a:rPr>
              <a:t>Seamless AV</a:t>
            </a:r>
            <a:endParaRPr lang="en-US" sz="850" dirty="0"/>
          </a:p>
        </p:txBody>
      </p:sp>
      <p:sp>
        <p:nvSpPr>
          <p:cNvPr id="7" name="Text 5"/>
          <p:cNvSpPr txBox="1"/>
          <p:nvPr/>
        </p:nvSpPr>
        <p:spPr>
          <a:xfrm>
            <a:off x="502920" y="2103120"/>
            <a:ext cx="4572000" cy="731520"/>
          </a:xfrm>
          <a:prstGeom prst="rect">
            <a:avLst/>
          </a:prstGeom>
          <a:noFill/>
          <a:ln/>
        </p:spPr>
        <p:txBody>
          <a:bodyPr wrap="square" lIns="0" tIns="0" rIns="0" bIns="0" rtlCol="0" anchor="ctr"/>
          <a:lstStyle/>
          <a:p>
            <a:pPr indent="0" marL="0">
              <a:buNone/>
            </a:pPr>
            <a:r>
              <a:rPr lang="en-US" sz="3800" b="1" dirty="0">
                <a:solidFill>
                  <a:srgbClr val="FFFFFF"/>
                </a:solidFill>
              </a:rPr>
              <a:t>Thank you</a:t>
            </a:r>
            <a:endParaRPr lang="en-US" sz="3800" dirty="0"/>
          </a:p>
        </p:txBody>
      </p:sp>
      <p:sp>
        <p:nvSpPr>
          <p:cNvPr id="8" name="Text 6"/>
          <p:cNvSpPr txBox="1"/>
          <p:nvPr/>
        </p:nvSpPr>
        <p:spPr>
          <a:xfrm>
            <a:off x="502920" y="2834640"/>
            <a:ext cx="4572000" cy="365760"/>
          </a:xfrm>
          <a:prstGeom prst="rect">
            <a:avLst/>
          </a:prstGeom>
          <a:noFill/>
          <a:ln/>
        </p:spPr>
        <p:txBody>
          <a:bodyPr wrap="square" lIns="0" tIns="0" rIns="0" bIns="0" rtlCol="0" anchor="ctr"/>
          <a:lstStyle/>
          <a:p>
            <a:pPr indent="0" marL="0">
              <a:buNone/>
            </a:pPr>
            <a:r>
              <a:rPr lang="en-US" sz="1300" dirty="0">
                <a:solidFill>
                  <a:srgbClr val="C9CED6"/>
                </a:solidFill>
              </a:rPr>
              <a:t>Questions and discussion</a:t>
            </a:r>
            <a:endParaRPr lang="en-US" sz="1300" dirty="0"/>
          </a:p>
        </p:txBody>
      </p:sp>
    </p:spTree>
  </p:cSld>
  <p:clrMapOvr>
    <a:masterClrMapping/>
  </p:clrMapOvr>
</p:sld>
</file>

<file path=ppt/theme/theme1.xml><?xml version="1.0" encoding="utf-8"?>
<a:theme xmlns:a="http://schemas.openxmlformats.org/drawingml/2006/main" name="CTS Seamless AV">
  <a:themeElements>
    <a:clrScheme name="CTS Seamless AV">
      <a:dk1>
        <a:srgbClr val="242C39"/>
      </a:dk1>
      <a:lt1>
        <a:srgbClr val="FFFFFF"/>
      </a:lt1>
      <a:dk2>
        <a:srgbClr val="122B82"/>
      </a:dk2>
      <a:lt2>
        <a:srgbClr val="E3E6EA"/>
      </a:lt2>
      <a:accent1>
        <a:srgbClr val="005358"/>
      </a:accent1>
      <a:accent2>
        <a:srgbClr val="3FD0C9"/>
      </a:accent2>
      <a:accent3>
        <a:srgbClr val="6D71FF"/>
      </a:accent3>
      <a:accent4>
        <a:srgbClr val="8F4AFA"/>
      </a:accent4>
      <a:accent5>
        <a:srgbClr val="F33844"/>
      </a:accent5>
      <a:accent6>
        <a:srgbClr val="A8052E"/>
      </a:accent6>
      <a:hlink>
        <a:srgbClr val="122B82"/>
      </a:hlink>
      <a:folHlink>
        <a:srgbClr val="005358"/>
      </a:folHlink>
    </a:clrScheme>
    <a:fontScheme name="CTS Seamless AV">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CTS Monthly Business Review - September 2026</dc:title>
  <dc:subject>Monthly Business Review</dc:subject>
  <dc:creator>Danica Nelson</dc:creator>
  <cp:lastModifiedBy>Danica Nelson</cp:lastModifiedBy>
  <cp:revision>1</cp:revision>
  <dcterms:created xsi:type="dcterms:W3CDTF">2026-10-18T06:34:39Z</dcterms:created>
  <dcterms:modified xsi:type="dcterms:W3CDTF">2026-10-18T06:34:39Z</dcterms:modified>
</cp:coreProperties>
</file>