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</c:v>
                </c:pt>
              </c:strCache>
            </c:strRef>
          </c:tx>
          <c:spPr>
            <a:solidFill>
              <a:srgbClr val="3FD0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210</c:v>
                </c:pt>
                <c:pt idx="1">
                  <c:v>225</c:v>
                </c:pt>
                <c:pt idx="2">
                  <c:v>180</c:v>
                </c:pt>
                <c:pt idx="3">
                  <c:v>160</c:v>
                </c:pt>
                <c:pt idx="4">
                  <c:v>240</c:v>
                </c:pt>
                <c:pt idx="5">
                  <c:v>270</c:v>
                </c:pt>
                <c:pt idx="6">
                  <c:v>255</c:v>
                </c:pt>
                <c:pt idx="7">
                  <c:v>290</c:v>
                </c:pt>
                <c:pt idx="8">
                  <c:v>320</c:v>
                </c:pt>
                <c:pt idx="9">
                  <c:v>305</c:v>
                </c:pt>
                <c:pt idx="10">
                  <c:v>330</c:v>
                </c:pt>
                <c:pt idx="1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Consulting</c:v>
                </c:pt>
              </c:strCache>
            </c:strRef>
          </c:tx>
          <c:spPr>
            <a:solidFill>
              <a:srgbClr val="6D7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120</c:v>
                </c:pt>
                <c:pt idx="1">
                  <c:v>118</c:v>
                </c:pt>
                <c:pt idx="2">
                  <c:v>125</c:v>
                </c:pt>
                <c:pt idx="3">
                  <c:v>122</c:v>
                </c:pt>
                <c:pt idx="4">
                  <c:v>128</c:v>
                </c:pt>
                <c:pt idx="5">
                  <c:v>130</c:v>
                </c:pt>
                <c:pt idx="6">
                  <c:v>126</c:v>
                </c:pt>
                <c:pt idx="7">
                  <c:v>135</c:v>
                </c:pt>
                <c:pt idx="8">
                  <c:v>138</c:v>
                </c:pt>
                <c:pt idx="9">
                  <c:v>132</c:v>
                </c:pt>
                <c:pt idx="10">
                  <c:v>140</c:v>
                </c:pt>
                <c:pt idx="11">
                  <c:v>142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F33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80</c:v>
                </c:pt>
                <c:pt idx="1">
                  <c:v>82</c:v>
                </c:pt>
                <c:pt idx="2">
                  <c:v>75</c:v>
                </c:pt>
                <c:pt idx="3">
                  <c:v>78</c:v>
                </c:pt>
                <c:pt idx="4">
                  <c:v>72</c:v>
                </c:pt>
                <c:pt idx="5">
                  <c:v>70</c:v>
                </c:pt>
                <c:pt idx="6">
                  <c:v>74</c:v>
                </c:pt>
                <c:pt idx="7">
                  <c:v>65</c:v>
                </c:pt>
                <c:pt idx="8">
                  <c:v>62</c:v>
                </c:pt>
                <c:pt idx="9">
                  <c:v>68</c:v>
                </c:pt>
                <c:pt idx="10">
                  <c:v>60</c:v>
                </c:pt>
                <c:pt idx="1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(dark). Black background, CTS Seamless AV logo, the three division colours as the motif.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(light). White with a black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(20 years). Uses the 20-year anniversary lock-up currently on ctsav.com.au.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Production cover. Black background with the Production lock-up and mint and teal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Consulting cover. Black background with the Consulting lock-up and lavender and navy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Support cover. Black background with the Support lock-up and rose and burgundy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Section (navy).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Section (light). White version of the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Division section dividers carry the division lock-up and colours.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Only. Delete the sample chart and drop in your own chart, table or image. Chart values are illustrative only. Division colours: Production mint, Consulting lavender, Support 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and Text,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and Text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Production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Consulting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Support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548640"/>
            <a:ext cx="3447288" cy="3447288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9298" y="777240"/>
            <a:ext cx="3447288" cy="3447288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73418" y="2235708"/>
            <a:ext cx="3447288" cy="3447288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pic>
        <p:nvPicPr>
          <p:cNvPr id="5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65760"/>
            <a:ext cx="2971800" cy="2971800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86650" y="1508760"/>
            <a:ext cx="2971800" cy="2971800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43650" y="2766060"/>
            <a:ext cx="2971800" cy="2971800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8" name="Text 5"/>
          <p:cNvSpPr/>
          <p:nvPr>
            <p:ph idx="106" type="body" hasCustomPrompt="1"/>
          </p:nvPr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9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0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11" name="Text 5"/>
          <p:cNvSpPr/>
          <p:nvPr>
            <p:ph idx="109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2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20 years)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2011680"/>
            <a:ext cx="4754880" cy="4754880"/>
          </a:xfrm>
          <a:prstGeom prst="ellipse">
            <a:avLst/>
          </a:prstGeom>
          <a:solidFill>
            <a:srgbClr val="122B82">
              <a:alpha val="45000"/>
            </a:srgbClr>
          </a:solidFill>
          <a:ln w="12700">
            <a:solidFill>
              <a:srgbClr val="122B82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-20yrs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3388659" cy="9601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02920" y="1828800"/>
            <a:ext cx="58521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02920" y="2148840"/>
            <a:ext cx="58521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338328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Cover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3FD0C9">
              <a:alpha val="9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005358">
              <a:alpha val="80000"/>
            </a:srgbClr>
          </a:solidFill>
          <a:ln w="12700">
            <a:solidFill>
              <a:srgbClr val="005358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product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Cover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6D71FF">
              <a:alpha val="90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122B82">
              <a:alpha val="80000"/>
            </a:srgbClr>
          </a:solidFill>
          <a:ln w="12700">
            <a:solidFill>
              <a:srgbClr val="122B82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consultin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Cover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F33844">
              <a:alpha val="9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A8052E">
              <a:alpha val="80000"/>
            </a:srgbClr>
          </a:solidFill>
          <a:ln w="12700">
            <a:solidFill>
              <a:srgbClr val="A8052E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suppo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 (navy)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3FD0C9">
              <a:alpha val="2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Section">
    <p:bg>
      <p:bgPr>
        <a:solidFill>
          <a:srgbClr val="0053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3FD0C9">
              <a:alpha val="4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product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Section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0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consultin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6D71FF"/>
          </a:solidFill>
          <a:ln w="12700">
            <a:solidFill>
              <a:srgbClr val="6D71FF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Section">
    <p:bg>
      <p:bgPr>
        <a:solidFill>
          <a:srgbClr val="A80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F33844">
              <a:alpha val="4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suppor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F33844"/>
          </a:solidFill>
          <a:ln w="12700">
            <a:solidFill>
              <a:srgbClr val="F33844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consul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consul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sup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sup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6" type="body" hasCustomPrompt="1"/>
          </p:nvPr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800" dirty="0"/>
          </a:p>
        </p:txBody>
      </p:sp>
      <p:sp>
        <p:nvSpPr>
          <p:cNvPr id="5" name="Text 5"/>
          <p:cNvSpPr/>
          <p:nvPr>
            <p:ph idx="109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02920" y="18288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02920" y="214884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years of seamless AV</a:t>
            </a:r>
            <a:endParaRPr lang="en-US" sz="4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3383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have come from and where we are heading</a:t>
            </a:r>
            <a:endParaRPr lang="en-US" sz="1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PROPOSAL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General Meeting 2026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event production, webcast and on-site technical delivery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PROPOSAL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Hub Technology Design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procurement and deployment for the new head office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REVIEW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 Quarterly Review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and remote support performance, July to September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above and beyond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every detail matters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support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always a step ahead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division,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ect">
            <a:avLst/>
          </a:prstGeom>
          <a:solidFill>
            <a:srgbClr val="E8F9F8"/>
          </a:solidFill>
          <a:ln w="12700">
            <a:solidFill>
              <a:srgbClr val="E8F9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sheet and technical plan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Production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AGM with in-room audience and secure webcast.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Three-camera vision mix with lower thirds and live polling.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Rehearsal the afternoon before, full technical check on the day.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Post-event edit delivered within two business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VISUAL DESIGN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room standards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VISUAL DESIGN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Consulting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Vendor-agnostic design across meeting rooms, boardroom and town hall space.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One-touch join on every room with a single control standard.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Procurement, deployment and commissioning managed end to end.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optimisation reviewed each quarter.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volume and response times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Support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team covering business hours with remote backup after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priority-one tickets responded to within the agreed window.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Back-up staff guarantee applied across leave and illness.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Preventative maintenance completed on every room this quarter.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2026-09-25T05:54:29Z</dcterms:created>
  <dcterms:modified xsi:type="dcterms:W3CDTF">2026-09-25T05:54:29Z</dcterms:modified>
</cp:coreProperties>
</file>