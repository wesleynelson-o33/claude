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</c:v>
                </c:pt>
              </c:strCache>
            </c:strRef>
          </c:tx>
          <c:spPr>
            <a:solidFill>
              <a:srgbClr val="3FD0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210</c:v>
                </c:pt>
                <c:pt idx="1">
                  <c:v>225</c:v>
                </c:pt>
                <c:pt idx="2">
                  <c:v>180</c:v>
                </c:pt>
                <c:pt idx="3">
                  <c:v>160</c:v>
                </c:pt>
                <c:pt idx="4">
                  <c:v>240</c:v>
                </c:pt>
                <c:pt idx="5">
                  <c:v>270</c:v>
                </c:pt>
                <c:pt idx="6">
                  <c:v>255</c:v>
                </c:pt>
                <c:pt idx="7">
                  <c:v>290</c:v>
                </c:pt>
                <c:pt idx="8">
                  <c:v>320</c:v>
                </c:pt>
                <c:pt idx="9">
                  <c:v>305</c:v>
                </c:pt>
                <c:pt idx="10">
                  <c:v>330</c:v>
                </c:pt>
                <c:pt idx="11">
                  <c:v>360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Consulting</c:v>
                </c:pt>
              </c:strCache>
            </c:strRef>
          </c:tx>
          <c:spPr>
            <a:solidFill>
              <a:srgbClr val="6D71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120</c:v>
                </c:pt>
                <c:pt idx="1">
                  <c:v>118</c:v>
                </c:pt>
                <c:pt idx="2">
                  <c:v>125</c:v>
                </c:pt>
                <c:pt idx="3">
                  <c:v>122</c:v>
                </c:pt>
                <c:pt idx="4">
                  <c:v>128</c:v>
                </c:pt>
                <c:pt idx="5">
                  <c:v>130</c:v>
                </c:pt>
                <c:pt idx="6">
                  <c:v>126</c:v>
                </c:pt>
                <c:pt idx="7">
                  <c:v>135</c:v>
                </c:pt>
                <c:pt idx="8">
                  <c:v>138</c:v>
                </c:pt>
                <c:pt idx="9">
                  <c:v>132</c:v>
                </c:pt>
                <c:pt idx="10">
                  <c:v>140</c:v>
                </c:pt>
                <c:pt idx="11">
                  <c:v>142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Support</c:v>
                </c:pt>
              </c:strCache>
            </c:strRef>
          </c:tx>
          <c:spPr>
            <a:solidFill>
              <a:srgbClr val="F338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Oct</c:v>
                  </c:pt>
                  <c:pt idx="1">
                    <c:v>Nov</c:v>
                  </c:pt>
                  <c:pt idx="2">
                    <c:v>Dec</c:v>
                  </c:pt>
                  <c:pt idx="3">
                    <c:v>Jan</c:v>
                  </c:pt>
                  <c:pt idx="4">
                    <c:v>Feb</c:v>
                  </c:pt>
                  <c:pt idx="5">
                    <c:v>Mar</c:v>
                  </c:pt>
                  <c:pt idx="6">
                    <c:v>Apr</c:v>
                  </c:pt>
                  <c:pt idx="7">
                    <c:v>May</c:v>
                  </c:pt>
                  <c:pt idx="8">
                    <c:v>Jun</c:v>
                  </c:pt>
                  <c:pt idx="9">
                    <c:v>Jul</c:v>
                  </c:pt>
                  <c:pt idx="10">
                    <c:v>Aug</c:v>
                  </c:pt>
                  <c:pt idx="11">
                    <c:v>Sep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80</c:v>
                </c:pt>
                <c:pt idx="1">
                  <c:v>82</c:v>
                </c:pt>
                <c:pt idx="2">
                  <c:v>75</c:v>
                </c:pt>
                <c:pt idx="3">
                  <c:v>78</c:v>
                </c:pt>
                <c:pt idx="4">
                  <c:v>72</c:v>
                </c:pt>
                <c:pt idx="5">
                  <c:v>70</c:v>
                </c:pt>
                <c:pt idx="6">
                  <c:v>74</c:v>
                </c:pt>
                <c:pt idx="7">
                  <c:v>65</c:v>
                </c:pt>
                <c:pt idx="8">
                  <c:v>62</c:v>
                </c:pt>
                <c:pt idx="9">
                  <c:v>68</c:v>
                </c:pt>
                <c:pt idx="10">
                  <c:v>60</c:v>
                </c:pt>
                <c:pt idx="11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6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67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Cover (dark). Charcoal background, CTS Seamless AV logo, the three division colours as the motif.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Cover (light). White with a charcoal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Cover (20 years). Uses the 20-year anniversary lock-up currently on ctsav.com.au.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Production cover. Charcoal background with the Production lock-up and mint and teal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Consulting cover. Charcoal background with the Consulting lock-up and lavender and navy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Support cover. Charcoal background with the Support lock-up and rose and burgundy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Section (navy). Change the number and title for each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Section (light). White version of the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Division section dividers carry the division lock-up and colours.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Header Only. Delete the sample chart and drop in your own chart, table or image. Chart values are illustrative only. Division colours: Production mint, Consulting lavender, Support 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Header and Text, bullet version. Keep to four or five bullets per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Header and Text with a narrower text box on the left and a callout card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Production Header Only. Empty body for a chart, table, plan or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Consulting Header Only. Empty body for a chart, table, plan or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CTS Support Header Only. Empty body for a chart, table, plan or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9-1.png"/><Relationship Id="rId2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dark)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548640"/>
            <a:ext cx="3447288" cy="3447288"/>
          </a:xfrm>
          <a:prstGeom prst="ellipse">
            <a:avLst/>
          </a:prstGeom>
          <a:solidFill>
            <a:srgbClr val="3FD0C9">
              <a:alpha val="85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9298" y="777240"/>
            <a:ext cx="3447288" cy="3447288"/>
          </a:xfrm>
          <a:prstGeom prst="ellipse">
            <a:avLst/>
          </a:prstGeom>
          <a:solidFill>
            <a:srgbClr val="6D71FF">
              <a:alpha val="7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73418" y="2235708"/>
            <a:ext cx="3447288" cy="3447288"/>
          </a:xfrm>
          <a:prstGeom prst="ellipse">
            <a:avLst/>
          </a:prstGeom>
          <a:solidFill>
            <a:srgbClr val="F33844">
              <a:alpha val="7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pic>
        <p:nvPicPr>
          <p:cNvPr id="5" name="Image 0" descr="/home/user/Claude/presentation/assets/cts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28800"/>
            <a:ext cx="56692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502920" y="2148840"/>
            <a:ext cx="56692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502920" y="338328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light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65760"/>
            <a:ext cx="2971800" cy="2971800"/>
          </a:xfrm>
          <a:prstGeom prst="ellipse">
            <a:avLst/>
          </a:prstGeom>
          <a:solidFill>
            <a:srgbClr val="3FD0C9">
              <a:alpha val="85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86650" y="1508760"/>
            <a:ext cx="2971800" cy="2971800"/>
          </a:xfrm>
          <a:prstGeom prst="ellipse">
            <a:avLst/>
          </a:prstGeom>
          <a:solidFill>
            <a:srgbClr val="6D71FF">
              <a:alpha val="7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43650" y="2766060"/>
            <a:ext cx="2971800" cy="2971800"/>
          </a:xfrm>
          <a:prstGeom prst="ellipse">
            <a:avLst/>
          </a:prstGeom>
          <a:solidFill>
            <a:srgbClr val="F33844">
              <a:alpha val="7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630936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8" name="Text 5"/>
          <p:cNvSpPr/>
          <p:nvPr>
            <p:ph idx="106" type="body" hasCustomPrompt="1"/>
          </p:nvPr>
        </p:nvSpPr>
        <p:spPr>
          <a:xfrm>
            <a:off x="502920" y="1828800"/>
            <a:ext cx="53949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502920" y="2148840"/>
            <a:ext cx="53949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10" name="Text 5"/>
          <p:cNvSpPr/>
          <p:nvPr>
            <p:ph idx="108" type="body" hasCustomPrompt="1"/>
          </p:nvPr>
        </p:nvSpPr>
        <p:spPr>
          <a:xfrm>
            <a:off x="502920" y="3383280"/>
            <a:ext cx="5394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11" name="Text 5"/>
          <p:cNvSpPr/>
          <p:nvPr>
            <p:ph idx="109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12" name="Text 5"/>
          <p:cNvSpPr/>
          <p:nvPr>
            <p:ph idx="110" type="body" hasCustomPrompt="1"/>
          </p:nvPr>
        </p:nvSpPr>
        <p:spPr>
          <a:xfrm>
            <a:off x="3840480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ver (20 years)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2011680"/>
            <a:ext cx="4754880" cy="4754880"/>
          </a:xfrm>
          <a:prstGeom prst="ellipse">
            <a:avLst/>
          </a:prstGeom>
          <a:solidFill>
            <a:srgbClr val="122B82">
              <a:alpha val="45000"/>
            </a:srgbClr>
          </a:solidFill>
          <a:ln w="12700">
            <a:solidFill>
              <a:srgbClr val="122B82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-20yrs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3388659" cy="96012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02920" y="1828800"/>
            <a:ext cx="58521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02920" y="2148840"/>
            <a:ext cx="585216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33832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8" name="Text 1"/>
          <p:cNvSpPr/>
          <p:nvPr>
            <p:ph idx="106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3FD0C9">
              <a:alpha val="9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005358">
              <a:alpha val="80000"/>
            </a:srgbClr>
          </a:solidFill>
          <a:ln w="12700">
            <a:solidFill>
              <a:srgbClr val="005358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producti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6D71FF">
              <a:alpha val="90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122B82">
              <a:alpha val="80000"/>
            </a:srgbClr>
          </a:solidFill>
          <a:ln w="12700">
            <a:solidFill>
              <a:srgbClr val="122B82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consulting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Cover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4206240" cy="4206240"/>
          </a:xfrm>
          <a:prstGeom prst="ellipse">
            <a:avLst/>
          </a:prstGeom>
          <a:solidFill>
            <a:srgbClr val="F33844">
              <a:alpha val="9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194560"/>
            <a:ext cx="3840480" cy="3840480"/>
          </a:xfrm>
          <a:prstGeom prst="ellipse">
            <a:avLst/>
          </a:prstGeom>
          <a:solidFill>
            <a:srgbClr val="A8052E">
              <a:alpha val="80000"/>
            </a:srgbClr>
          </a:solidFill>
          <a:ln w="12700">
            <a:solidFill>
              <a:srgbClr val="A8052E">
                <a:alpha val="0"/>
              </a:srgbClr>
            </a:solidFill>
            <a:prstDash val="solid"/>
          </a:ln>
        </p:spPr>
      </p:sp>
      <p:pic>
        <p:nvPicPr>
          <p:cNvPr id="4" name="Image 0" descr="/home/user/Claude/presentation/assets/cts-suppor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11480"/>
            <a:ext cx="1143440" cy="777240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b="1" spc="300" kern="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TYPE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</a:t>
            </a:r>
            <a:endParaRPr lang="en-US" sz="4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one-line description</a:t>
            </a:r>
            <a:endParaRPr lang="en-US" sz="1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Year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ection (navy)">
    <p:bg>
      <p:bgPr>
        <a:solidFill>
          <a:srgbClr val="12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6D71FF">
              <a:alpha val="45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3FD0C9"/>
          </a:solidFill>
          <a:ln w="12700">
            <a:solidFill>
              <a:srgbClr val="3FD0C9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ection (light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3FD0C9">
              <a:alpha val="2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Section">
    <p:bg>
      <p:bgPr>
        <a:solidFill>
          <a:srgbClr val="0053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3FD0C9">
              <a:alpha val="40000"/>
            </a:srgbClr>
          </a:solidFill>
          <a:ln w="12700">
            <a:solidFill>
              <a:srgbClr val="3FD0C9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production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3FD0C9"/>
          </a:solidFill>
          <a:ln w="12700">
            <a:solidFill>
              <a:srgbClr val="3FD0C9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Section">
    <p:bg>
      <p:bgPr>
        <a:solidFill>
          <a:srgbClr val="12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6D71FF">
              <a:alpha val="40000"/>
            </a:srgbClr>
          </a:solidFill>
          <a:ln w="12700">
            <a:solidFill>
              <a:srgbClr val="6D71FF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consultin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6D71FF"/>
          </a:solidFill>
          <a:ln w="12700">
            <a:solidFill>
              <a:srgbClr val="6D71FF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Section">
    <p:bg>
      <p:bgPr>
        <a:solidFill>
          <a:srgbClr val="A80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194560"/>
            <a:ext cx="4206240" cy="4206240"/>
          </a:xfrm>
          <a:prstGeom prst="ellipse">
            <a:avLst/>
          </a:prstGeom>
          <a:solidFill>
            <a:srgbClr val="F33844">
              <a:alpha val="40000"/>
            </a:srgbClr>
          </a:solidFill>
          <a:ln w="12700">
            <a:solidFill>
              <a:srgbClr val="F33844">
                <a:alpha val="0"/>
              </a:srgbClr>
            </a:solidFill>
            <a:prstDash val="solid"/>
          </a:ln>
        </p:spPr>
      </p:sp>
      <p:pic>
        <p:nvPicPr>
          <p:cNvPr id="3" name="Image 0" descr="/home/user/Claude/presentation/assets/cts-suppo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1874520"/>
            <a:ext cx="1280160" cy="1280160"/>
          </a:xfrm>
          <a:prstGeom prst="rect">
            <a:avLst/>
          </a:prstGeom>
          <a:solidFill>
            <a:srgbClr val="F33844"/>
          </a:solidFill>
          <a:ln w="12700">
            <a:solidFill>
              <a:srgbClr val="F33844"/>
            </a:solidFill>
            <a:prstDash val="solid"/>
          </a:ln>
        </p:spPr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3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describing what this section covers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Technology Services  |  Seamless AV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Production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p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Production  |  Engaging Experiences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consul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1017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Consulting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consul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Consulting  |  End to End collaboration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1018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Header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1019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TS Support Header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r>
              <a: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NAME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heading</a:t>
            </a:r>
            <a:endParaRPr lang="en-US" sz="2800" dirty="0"/>
          </a:p>
        </p:txBody>
      </p:sp>
      <p:pic>
        <p:nvPicPr>
          <p:cNvPr id="4" name="Image 0" descr="/home/user/Claude/presentation/assets/cts-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946" y="384048"/>
            <a:ext cx="807134" cy="54864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02920" y="47594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Support  |  Personalised Service</a:t>
            </a:r>
            <a:endParaRPr lang="en-US" sz="9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1020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28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REPORTING</a:t>
            </a:r>
            <a:endParaRPr lang="en-US" sz="12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502920" y="214884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Controller Pack</a:t>
            </a:r>
            <a:endParaRPr lang="en-US" sz="40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502920" y="3383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results, budget variances and the outlook for the quarter</a:t>
            </a:r>
            <a:endParaRPr lang="en-US" sz="18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6" type="body" hasCustomPrompt="1"/>
          </p:nvPr>
        </p:nvSpPr>
        <p:spPr>
          <a:xfrm>
            <a:off x="502920" y="1828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5"/>
          <p:cNvSpPr/>
          <p:nvPr>
            <p:ph idx="107" type="title" hasCustomPrompt="1"/>
          </p:nvPr>
        </p:nvSpPr>
        <p:spPr>
          <a:xfrm>
            <a:off x="502920" y="2148840"/>
            <a:ext cx="5394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 Walkthrough</a:t>
            </a:r>
            <a:endParaRPr lang="en-US" sz="3600" dirty="0"/>
          </a:p>
        </p:txBody>
      </p:sp>
      <p:sp>
        <p:nvSpPr>
          <p:cNvPr id="4" name="Text 5"/>
          <p:cNvSpPr/>
          <p:nvPr>
            <p:ph idx="108" type="body" hasCustomPrompt="1"/>
          </p:nvPr>
        </p:nvSpPr>
        <p:spPr>
          <a:xfrm>
            <a:off x="502920" y="3383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fortnightly cycle from payroll notes to bank upload</a:t>
            </a:r>
            <a:endParaRPr lang="en-US" sz="1800" dirty="0"/>
          </a:p>
        </p:txBody>
      </p:sp>
      <p:sp>
        <p:nvSpPr>
          <p:cNvPr id="5" name="Text 5"/>
          <p:cNvSpPr/>
          <p:nvPr>
            <p:ph idx="109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6" name="Text 5"/>
          <p:cNvSpPr/>
          <p:nvPr>
            <p:ph idx="110" type="body" hasCustomPrompt="1"/>
          </p:nvPr>
        </p:nvSpPr>
        <p:spPr>
          <a:xfrm>
            <a:off x="384048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02920" y="18288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UPDATE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02920" y="214884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years of seamless AV</a:t>
            </a:r>
            <a:endParaRPr lang="en-US" sz="40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2920" y="3383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have come from and where we are heading</a:t>
            </a:r>
            <a:endParaRPr lang="en-US" sz="1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6" name="Text 1"/>
          <p:cNvSpPr/>
          <p:nvPr>
            <p:ph idx="106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D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PROPOSAL</a:t>
            </a:r>
            <a:endParaRPr lang="en-US" sz="12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General Meeting 2026</a:t>
            </a:r>
            <a:endParaRPr lang="en-US" sz="4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event production, webcast and on-site technical delivery</a:t>
            </a:r>
            <a:endParaRPr lang="en-US" sz="18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PROPOSAL</a:t>
            </a:r>
            <a:endParaRPr lang="en-US" sz="12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Hub Technology Design</a:t>
            </a:r>
            <a:endParaRPr lang="en-US" sz="4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procurement and deployment for the new head office</a:t>
            </a:r>
            <a:endParaRPr lang="en-US" sz="18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338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REVIEW</a:t>
            </a:r>
            <a:endParaRPr lang="en-US" sz="12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02920" y="214884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 Quarterly Review</a:t>
            </a:r>
            <a:endParaRPr lang="en-US" sz="4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502920" y="3383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and remote support performance, July to September</a:t>
            </a:r>
            <a:endParaRPr lang="en-US" sz="18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50292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name, role</a:t>
            </a:r>
            <a:endParaRPr lang="en-US" sz="1200" dirty="0"/>
          </a:p>
        </p:txBody>
      </p:sp>
      <p:sp>
        <p:nvSpPr>
          <p:cNvPr id="6" name="Text 2"/>
          <p:cNvSpPr/>
          <p:nvPr>
            <p:ph idx="107" type="body" hasCustomPrompt="1"/>
          </p:nvPr>
        </p:nvSpPr>
        <p:spPr>
          <a:xfrm>
            <a:off x="5943600" y="4251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for the month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gross margin and overheads against budget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and next steps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next month and who owns each action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production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above and beyond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every detail matters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2920" y="18745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3"/>
          <p:cNvSpPr/>
          <p:nvPr>
            <p:ph idx="105" type="title" hasCustomPrompt="1"/>
          </p:nvPr>
        </p:nvSpPr>
        <p:spPr>
          <a:xfrm>
            <a:off x="2103120" y="18745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support</a:t>
            </a:r>
            <a:endParaRPr lang="en-US" sz="3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2103120" y="2724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always a step ahead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9CED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FOR THE MONTH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division, rolling twelve months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8138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FOR THE MONTH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take from this month</a:t>
            </a:r>
            <a:endParaRPr lang="en-US" sz="2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finished ahead of budget, driven by the top five clients.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held steady despite higher casual labour hours.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Overheads were under budget, with the largest saving in software subscriptions.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position improved as aged receivables were collected.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AND NEXT STEPS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and text with a callout card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goes here. Keep paragraphs short and lead with the point you want the audience to remember.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supporting point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supporting point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supporting point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03520" y="1554480"/>
            <a:ext cx="3337560" cy="3017520"/>
          </a:xfrm>
          <a:prstGeom prst="rect">
            <a:avLst/>
          </a:prstGeom>
          <a:solidFill>
            <a:srgbClr val="E8F9F8"/>
          </a:solidFill>
          <a:ln w="12700">
            <a:solidFill>
              <a:srgbClr val="E8F9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77840" y="18745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219456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callout, figure or quote that supports the text on the left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3977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source or note</a:t>
            </a:r>
            <a:endParaRPr lang="en-US" sz="1100" dirty="0"/>
          </a:p>
        </p:txBody>
      </p:sp>
      <p:sp>
        <p:nvSpPr>
          <p:cNvPr id="10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PRODUCTION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sheet and technical plan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PRODUCTION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CTS Production delivers</a:t>
            </a:r>
            <a:endParaRPr lang="en-US" sz="2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AGM with in-room audience and secure webcast.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Three-camera vision mix with lower thirds and live polling.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Rehearsal the afternoon before, full technical check on the day.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edit delivered within two business days.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VISUAL DESIGN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room standards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2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VISUAL DESIGN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CTS Consulting delivers</a:t>
            </a:r>
            <a:endParaRPr lang="en-US" sz="2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 design across meeting rooms, boardroom and town hall space.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One-touch join on every room with a single control standard.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deployment and commissioning managed end to end.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optimisation reviewed each quarter.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and response times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0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6400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CTS Support delivers</a:t>
            </a:r>
            <a:endParaRPr lang="en-US" sz="28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502920" y="155448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Onsite team covering business hours with remote backup after hours.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priority-one tickets responded to within the agreed window.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Back-up staff guarantee applied across leave and illness.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Preventative maintenance completed on every room this quarter.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92440" y="47594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F66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Corporate Technology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CTS Presentation Template</dc:title>
  <dc:subject>PptxGenJS Presentation</dc:subject>
  <dc:creator>Corporate Technology Services</dc:creator>
  <cp:lastModifiedBy>Corporate Technology Services</cp:lastModifiedBy>
  <cp:revision>1</cp:revision>
  <dcterms:created xsi:type="dcterms:W3CDTF">2026-10-13T04:27:22Z</dcterms:created>
  <dcterms:modified xsi:type="dcterms:W3CDTF">2026-10-13T04:27:22Z</dcterms:modified>
</cp:coreProperties>
</file>