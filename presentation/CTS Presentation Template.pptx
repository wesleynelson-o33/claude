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</c:v>
                </c:pt>
              </c:strCache>
            </c:strRef>
          </c:tx>
          <c:spPr>
            <a:solidFill>
              <a:srgbClr val="3FD0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210</c:v>
                </c:pt>
                <c:pt idx="1">
                  <c:v>225</c:v>
                </c:pt>
                <c:pt idx="2">
                  <c:v>180</c:v>
                </c:pt>
                <c:pt idx="3">
                  <c:v>160</c:v>
                </c:pt>
                <c:pt idx="4">
                  <c:v>240</c:v>
                </c:pt>
                <c:pt idx="5">
                  <c:v>270</c:v>
                </c:pt>
                <c:pt idx="6">
                  <c:v>255</c:v>
                </c:pt>
                <c:pt idx="7">
                  <c:v>290</c:v>
                </c:pt>
                <c:pt idx="8">
                  <c:v>320</c:v>
                </c:pt>
                <c:pt idx="9">
                  <c:v>305</c:v>
                </c:pt>
                <c:pt idx="10">
                  <c:v>330</c:v>
                </c:pt>
                <c:pt idx="1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Consulting</c:v>
                </c:pt>
              </c:strCache>
            </c:strRef>
          </c:tx>
          <c:spPr>
            <a:solidFill>
              <a:srgbClr val="6D7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120</c:v>
                </c:pt>
                <c:pt idx="1">
                  <c:v>118</c:v>
                </c:pt>
                <c:pt idx="2">
                  <c:v>125</c:v>
                </c:pt>
                <c:pt idx="3">
                  <c:v>122</c:v>
                </c:pt>
                <c:pt idx="4">
                  <c:v>128</c:v>
                </c:pt>
                <c:pt idx="5">
                  <c:v>130</c:v>
                </c:pt>
                <c:pt idx="6">
                  <c:v>126</c:v>
                </c:pt>
                <c:pt idx="7">
                  <c:v>135</c:v>
                </c:pt>
                <c:pt idx="8">
                  <c:v>138</c:v>
                </c:pt>
                <c:pt idx="9">
                  <c:v>132</c:v>
                </c:pt>
                <c:pt idx="10">
                  <c:v>140</c:v>
                </c:pt>
                <c:pt idx="11">
                  <c:v>142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F338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  <c:pt idx="6">
                    <c:v>Apr</c:v>
                  </c:pt>
                  <c:pt idx="7">
                    <c:v>May</c:v>
                  </c:pt>
                  <c:pt idx="8">
                    <c:v>Jun</c:v>
                  </c:pt>
                  <c:pt idx="9">
                    <c:v>Jul</c:v>
                  </c:pt>
                  <c:pt idx="10">
                    <c:v>Aug</c:v>
                  </c:pt>
                  <c:pt idx="11">
                    <c:v>Sep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80</c:v>
                </c:pt>
                <c:pt idx="1">
                  <c:v>82</c:v>
                </c:pt>
                <c:pt idx="2">
                  <c:v>75</c:v>
                </c:pt>
                <c:pt idx="3">
                  <c:v>78</c:v>
                </c:pt>
                <c:pt idx="4">
                  <c:v>72</c:v>
                </c:pt>
                <c:pt idx="5">
                  <c:v>70</c:v>
                </c:pt>
                <c:pt idx="6">
                  <c:v>74</c:v>
                </c:pt>
                <c:pt idx="7">
                  <c:v>65</c:v>
                </c:pt>
                <c:pt idx="8">
                  <c:v>62</c:v>
                </c:pt>
                <c:pt idx="9">
                  <c:v>68</c:v>
                </c:pt>
                <c:pt idx="10">
                  <c:v>60</c:v>
                </c:pt>
                <c:pt idx="11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6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(dark) layout. The CTS mark on this layout is a placeholder. Drop the real logo into presentation/assets/cts-logo.png (and cts-logo-dark.png for dark slides) and rebuild, or replace it on the Slide Master (View &gt; Slide Master).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(light) layout. The CTS mark on this layout is a placeholder. Drop the real logo into presentation/assets/cts-logo.png (and cts-logo-dark.png for dark slides) and rebuild, or replace it on the Slide Master (View &gt; Slide Master).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layout. Change the number and title for each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only layout. Delete the sample chart and drop in your own chart, table or image. Chart values are illustrative only. Division colours: Production mint, Consulting lavender, Support 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layout, bullet version. Keep to four or five bullets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and text layout with a narrower text box on the left and a callout card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dark)">
    <p:bg>
      <p:bgPr>
        <a:solidFill>
          <a:srgbClr val="12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548640"/>
            <a:ext cx="3447288" cy="3447288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99298" y="777240"/>
            <a:ext cx="3447288" cy="3447288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73418" y="2235708"/>
            <a:ext cx="3447288" cy="3447288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653796"/>
            <a:ext cx="38404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AV</a:t>
            </a:r>
            <a:endParaRPr lang="en-US" sz="1000" dirty="0"/>
          </a:p>
        </p:txBody>
      </p:sp>
      <p:sp>
        <p:nvSpPr>
          <p:cNvPr id="9" name="Text 7"/>
          <p:cNvSpPr/>
          <p:nvPr>
            <p:ph idx="107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10" name="Text 7"/>
          <p:cNvSpPr/>
          <p:nvPr>
            <p:ph idx="108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8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3" name="Text 7"/>
          <p:cNvSpPr/>
          <p:nvPr>
            <p:ph idx="111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Cover (light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2834640" cy="51435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65760"/>
            <a:ext cx="2971800" cy="2971800"/>
          </a:xfrm>
          <a:prstGeom prst="ellipse">
            <a:avLst/>
          </a:prstGeom>
          <a:solidFill>
            <a:srgbClr val="3FD0C9">
              <a:alpha val="85000"/>
            </a:srgbClr>
          </a:solidFill>
          <a:ln w="12700">
            <a:solidFill>
              <a:srgbClr val="3FD0C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86650" y="1508760"/>
            <a:ext cx="2971800" cy="2971800"/>
          </a:xfrm>
          <a:prstGeom prst="ellipse">
            <a:avLst/>
          </a:prstGeom>
          <a:solidFill>
            <a:srgbClr val="6D71FF">
              <a:alpha val="7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43650" y="2766060"/>
            <a:ext cx="2971800" cy="2971800"/>
          </a:xfrm>
          <a:prstGeom prst="ellipse">
            <a:avLst/>
          </a:prstGeom>
          <a:solidFill>
            <a:srgbClr val="F33844">
              <a:alpha val="70000"/>
            </a:srgbClr>
          </a:solidFill>
          <a:ln w="12700">
            <a:solidFill>
              <a:srgbClr val="F3384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630936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1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393192"/>
            <a:ext cx="3840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653796"/>
            <a:ext cx="38404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AV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TYPE</a:t>
            </a:r>
            <a:endParaRPr lang="en-US" sz="12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13" name="Text 9"/>
          <p:cNvSpPr/>
          <p:nvPr>
            <p:ph idx="111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or one-line description</a:t>
            </a:r>
            <a:endParaRPr lang="en-US" sz="1600" dirty="0"/>
          </a:p>
        </p:txBody>
      </p:sp>
      <p:sp>
        <p:nvSpPr>
          <p:cNvPr id="14" name="Text 9"/>
          <p:cNvSpPr/>
          <p:nvPr>
            <p:ph idx="112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role</a:t>
            </a:r>
            <a:endParaRPr lang="en-US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Year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Section">
    <p:bg>
      <p:bgPr>
        <a:solidFill>
          <a:srgbClr val="122B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194560"/>
            <a:ext cx="4206240" cy="4206240"/>
          </a:xfrm>
          <a:prstGeom prst="ellipse">
            <a:avLst/>
          </a:prstGeom>
          <a:solidFill>
            <a:srgbClr val="6D71FF">
              <a:alpha val="45000"/>
            </a:srgbClr>
          </a:solidFill>
          <a:ln w="12700">
            <a:solidFill>
              <a:srgbClr val="6D71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1280160" cy="1280160"/>
          </a:xfrm>
          <a:prstGeom prst="rect">
            <a:avLst/>
          </a:prstGeom>
          <a:solidFill>
            <a:srgbClr val="3FD0C9"/>
          </a:solidFill>
          <a:ln w="12700">
            <a:solidFill>
              <a:srgbClr val="3FD0C9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3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describing what this section covers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TS Header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heading</a:t>
            </a:r>
            <a:endParaRPr lang="en-US" sz="2800" dirty="0"/>
          </a:p>
        </p:txBody>
      </p:sp>
      <p:sp>
        <p:nvSpPr>
          <p:cNvPr id="4" name="Shape 0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solidFill>
            <a:srgbClr val="121820"/>
          </a:solidFill>
          <a:ln w="12700">
            <a:solidFill>
              <a:srgbClr val="121820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8257032" y="384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092" dirty="0"/>
          </a:p>
        </p:txBody>
      </p:sp>
      <p:sp>
        <p:nvSpPr>
          <p:cNvPr id="6" name="Text 2"/>
          <p:cNvSpPr/>
          <p:nvPr/>
        </p:nvSpPr>
        <p:spPr>
          <a:xfrm>
            <a:off x="502920" y="47594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Technology Services  |  Seamless AV</a:t>
            </a:r>
            <a:endParaRPr lang="en-US" sz="9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7"/>
          <p:cNvSpPr/>
          <p:nvPr>
            <p:ph idx="107" type="body" hasCustomPrompt="1"/>
          </p:nvPr>
        </p:nvSpPr>
        <p:spPr>
          <a:xfrm>
            <a:off x="5029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D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REPORTING</a:t>
            </a:r>
            <a:endParaRPr lang="en-US" sz="1200" dirty="0"/>
          </a:p>
        </p:txBody>
      </p:sp>
      <p:sp>
        <p:nvSpPr>
          <p:cNvPr id="3" name="Text 7"/>
          <p:cNvSpPr/>
          <p:nvPr>
            <p:ph idx="108" type="title" hasCustomPrompt="1"/>
          </p:nvPr>
        </p:nvSpPr>
        <p:spPr>
          <a:xfrm>
            <a:off x="502920" y="21488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Controller Pack</a:t>
            </a:r>
            <a:endParaRPr lang="en-US" sz="4000" dirty="0"/>
          </a:p>
        </p:txBody>
      </p:sp>
      <p:sp>
        <p:nvSpPr>
          <p:cNvPr id="4" name="Text 7"/>
          <p:cNvSpPr/>
          <p:nvPr>
            <p:ph idx="109" type="body" hasCustomPrompt="1"/>
          </p:nvPr>
        </p:nvSpPr>
        <p:spPr>
          <a:xfrm>
            <a:off x="502920" y="3383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results, budget variances and the outlook for the quarter</a:t>
            </a:r>
            <a:endParaRPr lang="en-US" sz="1800" dirty="0"/>
          </a:p>
        </p:txBody>
      </p:sp>
      <p:sp>
        <p:nvSpPr>
          <p:cNvPr id="5" name="Text 7"/>
          <p:cNvSpPr/>
          <p:nvPr>
            <p:ph idx="110" type="body" hasCustomPrompt="1"/>
          </p:nvPr>
        </p:nvSpPr>
        <p:spPr>
          <a:xfrm>
            <a:off x="502920" y="4251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7"/>
          <p:cNvSpPr/>
          <p:nvPr>
            <p:ph idx="111" type="body" hasCustomPrompt="1"/>
          </p:nvPr>
        </p:nvSpPr>
        <p:spPr>
          <a:xfrm>
            <a:off x="594360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2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02920" y="2148840"/>
            <a:ext cx="5394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 Walkthrough</a:t>
            </a:r>
            <a:endParaRPr lang="en-US" sz="3600" dirty="0"/>
          </a:p>
        </p:txBody>
      </p:sp>
      <p:sp>
        <p:nvSpPr>
          <p:cNvPr id="4" name="Text 9"/>
          <p:cNvSpPr/>
          <p:nvPr>
            <p:ph idx="111" type="body" hasCustomPrompt="1"/>
          </p:nvPr>
        </p:nvSpPr>
        <p:spPr>
          <a:xfrm>
            <a:off x="502920" y="3383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fortnightly cycle from payroll notes to bank upload</a:t>
            </a:r>
            <a:endParaRPr lang="en-US" sz="1600" dirty="0"/>
          </a:p>
        </p:txBody>
      </p:sp>
      <p:sp>
        <p:nvSpPr>
          <p:cNvPr id="5" name="Text 9"/>
          <p:cNvSpPr/>
          <p:nvPr>
            <p:ph idx="112" type="body" hasCustomPrompt="1"/>
          </p:nvPr>
        </p:nvSpPr>
        <p:spPr>
          <a:xfrm>
            <a:off x="502920" y="4251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name, Finance</a:t>
            </a:r>
            <a:endParaRPr lang="en-US" sz="1200" dirty="0"/>
          </a:p>
        </p:txBody>
      </p:sp>
      <p:sp>
        <p:nvSpPr>
          <p:cNvPr id="6" name="Text 9"/>
          <p:cNvSpPr/>
          <p:nvPr>
            <p:ph idx="113" type="body" hasCustomPrompt="1"/>
          </p:nvPr>
        </p:nvSpPr>
        <p:spPr>
          <a:xfrm>
            <a:off x="3840480" y="4251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gross margin and overheads against budget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02920" y="18745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210312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3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2103120" y="27249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next month and who owns each action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9CED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division, rolling twelve months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54480"/>
          <a:ext cx="81381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NAME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only, empty body for your content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THE MONTH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from this month</a:t>
            </a:r>
            <a:endParaRPr lang="en-US" sz="2800" dirty="0"/>
          </a:p>
        </p:txBody>
      </p:sp>
      <p:sp>
        <p:nvSpPr>
          <p:cNvPr id="4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finished ahead of budget, driven by the top five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held steady despite higher casual labour hours.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Overheads were under budget, with the largest saving in software subscriptions.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improved as aged receivables were collected.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02920" y="365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22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NEXT STEPS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and text with a callout card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text goes here. Keep paragraphs short and lead with the point you want the audience to remember.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supporting point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supporting point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03520" y="1554480"/>
            <a:ext cx="3337560" cy="3017520"/>
          </a:xfrm>
          <a:prstGeom prst="rect">
            <a:avLst/>
          </a:prstGeom>
          <a:solidFill>
            <a:srgbClr val="E8F9F8"/>
          </a:solidFill>
          <a:ln w="12700">
            <a:solidFill>
              <a:srgbClr val="E8F9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77840" y="1874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5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945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callout, figure or quote that supports the text on the left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39776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source or note</a:t>
            </a:r>
            <a:endParaRPr lang="en-US" sz="1100" dirty="0"/>
          </a:p>
        </p:txBody>
      </p:sp>
      <p:sp>
        <p:nvSpPr>
          <p:cNvPr id="10" name="Text 3"/>
          <p:cNvSpPr/>
          <p:nvPr>
            <p:ph idx="105" type="body" hasCustomPrompt="1"/>
          </p:nvPr>
        </p:nvSpPr>
        <p:spPr>
          <a:xfrm>
            <a:off x="502920" y="155448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92440" y="47594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Corporate Technology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CTS Presentation Template</dc:title>
  <dc:subject>PptxGenJS Presentation</dc:subject>
  <dc:creator>Corporate Technology Services</dc:creator>
  <cp:lastModifiedBy>Corporate Technology Services</cp:lastModifiedBy>
  <cp:revision>1</cp:revision>
  <dcterms:created xsi:type="dcterms:W3CDTF">2026-09-25T05:28:42Z</dcterms:created>
  <dcterms:modified xsi:type="dcterms:W3CDTF">2026-09-25T05:28:42Z</dcterms:modified>
</cp:coreProperties>
</file>