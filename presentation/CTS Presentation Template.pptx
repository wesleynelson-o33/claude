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959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410</c:v>
                </c:pt>
                <c:pt idx="1">
                  <c:v>425</c:v>
                </c:pt>
                <c:pt idx="2">
                  <c:v>380</c:v>
                </c:pt>
                <c:pt idx="3">
                  <c:v>360</c:v>
                </c:pt>
                <c:pt idx="4">
                  <c:v>440</c:v>
                </c:pt>
                <c:pt idx="5">
                  <c:v>470</c:v>
                </c:pt>
                <c:pt idx="6">
                  <c:v>455</c:v>
                </c:pt>
                <c:pt idx="7">
                  <c:v>490</c:v>
                </c:pt>
                <c:pt idx="8">
                  <c:v>520</c:v>
                </c:pt>
                <c:pt idx="9">
                  <c:v>505</c:v>
                </c:pt>
                <c:pt idx="10">
                  <c:v>530</c:v>
                </c:pt>
                <c:pt idx="11">
                  <c:v>560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959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1E6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(dark) layout. The CTS mark on this layout is a placeholder. Replace it with the real logo file on the Slide Master (View &gt; Slide Master).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(light) layout. The CTS mark on this layout is a placeholder. Replace it with the real logo file on the Slide Master (View &gt; Slide Master).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layout. Change the number and title for each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only layout. Delete the sample chart and drop in your own chart, table or image. Chart values are illustrative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and text layout, bullet version. Keep to four or five bullets per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and text layout with a narrower text box on the left and a callout card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dark)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3840480" cy="3840480"/>
          </a:xfrm>
          <a:prstGeom prst="ellipse">
            <a:avLst/>
          </a:prstGeom>
          <a:solidFill>
            <a:srgbClr val="2E74B5">
              <a:alpha val="35000"/>
            </a:srgbClr>
          </a:solidFill>
          <a:ln w="12700">
            <a:solidFill>
              <a:srgbClr val="2E74B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06640" y="3566160"/>
            <a:ext cx="3108960" cy="3108960"/>
          </a:xfrm>
          <a:prstGeom prst="ellipse">
            <a:avLst/>
          </a:prstGeom>
          <a:solidFill>
            <a:srgbClr val="2E74B5">
              <a:alpha val="22000"/>
            </a:srgbClr>
          </a:solidFill>
          <a:ln w="12700">
            <a:solidFill>
              <a:srgbClr val="2E74B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11480"/>
            <a:ext cx="4572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11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4114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</a:t>
            </a:r>
            <a:endParaRPr lang="en-US" sz="1300" dirty="0"/>
          </a:p>
        </p:txBody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02920" y="1828800"/>
            <a:ext cx="64008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02920" y="2148840"/>
            <a:ext cx="658368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9" name="Text 5"/>
          <p:cNvSpPr/>
          <p:nvPr>
            <p:ph idx="107" type="body" hasCustomPrompt="1"/>
          </p:nvPr>
        </p:nvSpPr>
        <p:spPr>
          <a:xfrm>
            <a:off x="502920" y="33832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10" name="Text 5"/>
          <p:cNvSpPr/>
          <p:nvPr>
            <p:ph idx="108" type="body" hasCustomPrompt="1"/>
          </p:nvPr>
        </p:nvSpPr>
        <p:spPr>
          <a:xfrm>
            <a:off x="502920" y="4251960"/>
            <a:ext cx="41148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1" name="Text 5"/>
          <p:cNvSpPr/>
          <p:nvPr>
            <p:ph idx="109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light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2834640" cy="51435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394960" y="822960"/>
            <a:ext cx="2743200" cy="2743200"/>
          </a:xfrm>
          <a:prstGeom prst="ellipse">
            <a:avLst/>
          </a:prstGeom>
          <a:solidFill>
            <a:srgbClr val="2E74B5">
              <a:alpha val="45000"/>
            </a:srgbClr>
          </a:solidFill>
          <a:ln w="12700">
            <a:solidFill>
              <a:srgbClr val="2E74B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3108960"/>
            <a:ext cx="2560320" cy="2560320"/>
          </a:xfrm>
          <a:prstGeom prst="ellipse">
            <a:avLst/>
          </a:prstGeom>
          <a:solidFill>
            <a:srgbClr val="D9E2F3">
              <a:alpha val="25000"/>
            </a:srgbClr>
          </a:solidFill>
          <a:ln w="12700">
            <a:solidFill>
              <a:srgbClr val="D9E2F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630936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411480"/>
            <a:ext cx="457200" cy="457200"/>
          </a:xfrm>
          <a:prstGeom prst="rect">
            <a:avLst>
              <a:gd name="adj" fmla="val 20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11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4114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</a:t>
            </a:r>
            <a:endParaRPr lang="en-US" sz="1300" dirty="0"/>
          </a:p>
        </p:txBody>
      </p:sp>
      <p:sp>
        <p:nvSpPr>
          <p:cNvPr id="9" name="Text 7"/>
          <p:cNvSpPr/>
          <p:nvPr>
            <p:ph idx="107" type="body" hasCustomPrompt="1"/>
          </p:nvPr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10" name="Text 7"/>
          <p:cNvSpPr/>
          <p:nvPr>
            <p:ph idx="108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600" dirty="0"/>
          </a:p>
        </p:txBody>
      </p:sp>
      <p:sp>
        <p:nvSpPr>
          <p:cNvPr id="12" name="Text 7"/>
          <p:cNvSpPr/>
          <p:nvPr>
            <p:ph idx="110" type="body" hasCustomPrompt="1"/>
          </p:nvPr>
        </p:nvSpPr>
        <p:spPr>
          <a:xfrm>
            <a:off x="502920" y="4251960"/>
            <a:ext cx="31089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3" name="Text 7"/>
          <p:cNvSpPr/>
          <p:nvPr>
            <p:ph idx="111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ection">
    <p:bg>
      <p:bgPr>
        <a:solidFill>
          <a:srgbClr val="D9E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2377440"/>
            <a:ext cx="4023360" cy="4023360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57032" y="384048"/>
            <a:ext cx="384048" cy="384048"/>
          </a:xfrm>
          <a:prstGeom prst="rect">
            <a:avLst>
              <a:gd name="adj" fmla="val 20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092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1280160" cy="1280160"/>
          </a:xfrm>
          <a:prstGeom prst="rect">
            <a:avLst>
              <a:gd name="adj" fmla="val 20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9" name="Text 5"/>
          <p:cNvSpPr/>
          <p:nvPr>
            <p:ph idx="107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502920" y="47594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sp>
        <p:nvSpPr>
          <p:cNvPr id="4" name="Shape 0"/>
          <p:cNvSpPr/>
          <p:nvPr/>
        </p:nvSpPr>
        <p:spPr>
          <a:xfrm>
            <a:off x="8257032" y="384048"/>
            <a:ext cx="384048" cy="384048"/>
          </a:xfrm>
          <a:prstGeom prst="rect">
            <a:avLst>
              <a:gd name="adj" fmla="val 20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092" dirty="0"/>
          </a:p>
        </p:txBody>
      </p:sp>
      <p:sp>
        <p:nvSpPr>
          <p:cNvPr id="6" name="Text 2"/>
          <p:cNvSpPr/>
          <p:nvPr/>
        </p:nvSpPr>
        <p:spPr>
          <a:xfrm>
            <a:off x="502920" y="47594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sp>
        <p:nvSpPr>
          <p:cNvPr id="4" name="Shape 0"/>
          <p:cNvSpPr/>
          <p:nvPr/>
        </p:nvSpPr>
        <p:spPr>
          <a:xfrm>
            <a:off x="8257032" y="384048"/>
            <a:ext cx="384048" cy="384048"/>
          </a:xfrm>
          <a:prstGeom prst="rect">
            <a:avLst>
              <a:gd name="adj" fmla="val 20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092" dirty="0"/>
          </a:p>
        </p:txBody>
      </p:sp>
      <p:sp>
        <p:nvSpPr>
          <p:cNvPr id="6" name="Text 2"/>
          <p:cNvSpPr/>
          <p:nvPr/>
        </p:nvSpPr>
        <p:spPr>
          <a:xfrm>
            <a:off x="502920" y="47594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</a:t>
            </a:r>
            <a:endParaRPr lang="en-US" sz="9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02920" y="18288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REPORTING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02920" y="214884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Controller Pack</a:t>
            </a:r>
            <a:endParaRPr lang="en-US" sz="40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502920" y="33832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results, budget variances and the outlook for the quarter</a:t>
            </a:r>
            <a:endParaRPr lang="en-US" sz="1800" dirty="0"/>
          </a:p>
        </p:txBody>
      </p:sp>
      <p:sp>
        <p:nvSpPr>
          <p:cNvPr id="5" name="Text 5"/>
          <p:cNvSpPr/>
          <p:nvPr>
            <p:ph idx="108" type="body" hasCustomPrompt="1"/>
          </p:nvPr>
        </p:nvSpPr>
        <p:spPr>
          <a:xfrm>
            <a:off x="502920" y="42519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Finance</a:t>
            </a:r>
            <a:endParaRPr lang="en-US" sz="1200" dirty="0"/>
          </a:p>
        </p:txBody>
      </p:sp>
      <p:sp>
        <p:nvSpPr>
          <p:cNvPr id="6" name="Text 5"/>
          <p:cNvSpPr/>
          <p:nvPr>
            <p:ph idx="109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D9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7"/>
          <p:cNvSpPr/>
          <p:nvPr>
            <p:ph idx="107" type="body" hasCustomPrompt="1"/>
          </p:nvPr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200" dirty="0"/>
          </a:p>
        </p:txBody>
      </p:sp>
      <p:sp>
        <p:nvSpPr>
          <p:cNvPr id="3" name="Text 7"/>
          <p:cNvSpPr/>
          <p:nvPr>
            <p:ph idx="108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Processing Walkthrough</a:t>
            </a:r>
            <a:endParaRPr lang="en-US" sz="3600" dirty="0"/>
          </a:p>
        </p:txBody>
      </p:sp>
      <p:sp>
        <p:nvSpPr>
          <p:cNvPr id="4" name="Text 7"/>
          <p:cNvSpPr/>
          <p:nvPr>
            <p:ph idx="109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fortnightly cycle from payroll notes to bank upload</a:t>
            </a:r>
            <a:endParaRPr lang="en-US" sz="1600" dirty="0"/>
          </a:p>
        </p:txBody>
      </p:sp>
      <p:sp>
        <p:nvSpPr>
          <p:cNvPr id="5" name="Text 7"/>
          <p:cNvSpPr/>
          <p:nvPr>
            <p:ph idx="110" type="body" hasCustomPrompt="1"/>
          </p:nvPr>
        </p:nvSpPr>
        <p:spPr>
          <a:xfrm>
            <a:off x="502920" y="4251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Finance</a:t>
            </a:r>
            <a:endParaRPr lang="en-US" sz="1200" dirty="0"/>
          </a:p>
        </p:txBody>
      </p:sp>
      <p:sp>
        <p:nvSpPr>
          <p:cNvPr id="6" name="Text 7"/>
          <p:cNvSpPr/>
          <p:nvPr>
            <p:ph idx="111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3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gross margin and overheads against budget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3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next month and who owns each action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client, rolling twelve months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54480"/>
          <a:ext cx="81381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only, empty body for your content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take from this month</a:t>
            </a:r>
            <a:endParaRPr lang="en-US" sz="2800" dirty="0"/>
          </a:p>
        </p:txBody>
      </p:sp>
      <p:sp>
        <p:nvSpPr>
          <p:cNvPr id="4" name="Text 3"/>
          <p:cNvSpPr/>
          <p:nvPr>
            <p:ph idx="105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finished ahead of budget, driven by the top five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held steady despite higher casual labour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Overheads were under budget, with the largest saving in software subscriptions.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position improved as aged receivables were collected.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and text with a callout card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 goes here. Keep paragraphs short and lead with the point you want the audience to remember.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supporting point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03520" y="155448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D9E2F3"/>
          </a:solidFill>
          <a:ln w="12700">
            <a:solidFill>
              <a:srgbClr val="D9E2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77840" y="1874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1945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callout, figure or quote that supports the text on the left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39776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source or note</a:t>
            </a:r>
            <a:endParaRPr lang="en-US" sz="1100" dirty="0"/>
          </a:p>
        </p:txBody>
      </p:sp>
      <p:sp>
        <p:nvSpPr>
          <p:cNvPr id="10" name="Text 3"/>
          <p:cNvSpPr/>
          <p:nvPr>
            <p:ph idx="105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9595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Corporate Technology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CTS Presentation Template</dc:title>
  <dc:subject>PptxGenJS Presentation</dc:subject>
  <dc:creator>Corporate Technology Services</dc:creator>
  <cp:lastModifiedBy>Corporate Technology Services</cp:lastModifiedBy>
  <cp:revision>1</cp:revision>
  <dcterms:created xsi:type="dcterms:W3CDTF">2026-09-25T05:15:19Z</dcterms:created>
  <dcterms:modified xsi:type="dcterms:W3CDTF">2026-09-25T05:15:19Z</dcterms:modified>
</cp:coreProperties>
</file>