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4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5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6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22B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5F667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Apr</c:v>
                  </c:pt>
                  <c:pt idx="1">
                    <c:v>May</c:v>
                  </c:pt>
                  <c:pt idx="2">
                    <c:v>Jun</c:v>
                  </c:pt>
                  <c:pt idx="3">
                    <c:v>Jul</c:v>
                  </c:pt>
                  <c:pt idx="4">
                    <c:v>Aug</c:v>
                  </c:pt>
                  <c:pt idx="5">
                    <c:v>Sep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1310</c:v>
                </c:pt>
                <c:pt idx="1">
                  <c:v>1365</c:v>
                </c:pt>
                <c:pt idx="2">
                  <c:v>1440</c:v>
                </c:pt>
                <c:pt idx="3">
                  <c:v>1372</c:v>
                </c:pt>
                <c:pt idx="4">
                  <c:v>1456</c:v>
                </c:pt>
                <c:pt idx="5">
                  <c:v>1482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EBITDA</c:v>
                </c:pt>
              </c:strCache>
            </c:strRef>
          </c:tx>
          <c:spPr>
            <a:solidFill>
              <a:srgbClr val="3FD0C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5F667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Apr</c:v>
                  </c:pt>
                  <c:pt idx="1">
                    <c:v>May</c:v>
                  </c:pt>
                  <c:pt idx="2">
                    <c:v>Jun</c:v>
                  </c:pt>
                  <c:pt idx="3">
                    <c:v>Jul</c:v>
                  </c:pt>
                  <c:pt idx="4">
                    <c:v>Aug</c:v>
                  </c:pt>
                  <c:pt idx="5">
                    <c:v>Sep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118</c:v>
                </c:pt>
                <c:pt idx="1">
                  <c:v>126</c:v>
                </c:pt>
                <c:pt idx="2">
                  <c:v>149</c:v>
                </c:pt>
                <c:pt idx="3">
                  <c:v>112</c:v>
                </c:pt>
                <c:pt idx="4">
                  <c:v>131</c:v>
                </c:pt>
                <c:pt idx="5">
                  <c:v>162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5F6670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F667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6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F667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
              <a:solidFill>
                <a:srgbClr val="5F6670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22B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5F667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Onsite</c:v>
                  </c:pt>
                  <c:pt idx="1">
                    <c:v>Production</c:v>
                  </c:pt>
                  <c:pt idx="2">
                    <c:v>Video</c:v>
                  </c:pt>
                  <c:pt idx="3">
                    <c:v>Integration</c:v>
                  </c:pt>
                  <c:pt idx="4">
                    <c:v>Consulting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520</c:v>
                </c:pt>
                <c:pt idx="1">
                  <c:v>468</c:v>
                </c:pt>
                <c:pt idx="2">
                  <c:v>158</c:v>
                </c:pt>
                <c:pt idx="3">
                  <c:v>214</c:v>
                </c:pt>
                <c:pt idx="4">
                  <c:v>122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Budget revenue</c:v>
                </c:pt>
              </c:strCache>
            </c:strRef>
          </c:tx>
          <c:spPr>
            <a:solidFill>
              <a:srgbClr val="C9CE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5F667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Onsite</c:v>
                  </c:pt>
                  <c:pt idx="1">
                    <c:v>Production</c:v>
                  </c:pt>
                  <c:pt idx="2">
                    <c:v>Video</c:v>
                  </c:pt>
                  <c:pt idx="3">
                    <c:v>Integration</c:v>
                  </c:pt>
                  <c:pt idx="4">
                    <c:v>Consulting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505</c:v>
                </c:pt>
                <c:pt idx="1">
                  <c:v>440</c:v>
                </c:pt>
                <c:pt idx="2">
                  <c:v>170</c:v>
                </c:pt>
                <c:pt idx="3">
                  <c:v>190</c:v>
                </c:pt>
                <c:pt idx="4">
                  <c:v>115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Contribution</c:v>
                </c:pt>
              </c:strCache>
            </c:strRef>
          </c:tx>
          <c:spPr>
            <a:solidFill>
              <a:srgbClr val="3FD0C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5F667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Onsite</c:v>
                  </c:pt>
                  <c:pt idx="1">
                    <c:v>Production</c:v>
                  </c:pt>
                  <c:pt idx="2">
                    <c:v>Video</c:v>
                  </c:pt>
                  <c:pt idx="3">
                    <c:v>Integration</c:v>
                  </c:pt>
                  <c:pt idx="4">
                    <c:v>Consulting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134</c:v>
                </c:pt>
                <c:pt idx="1">
                  <c:v>141</c:v>
                </c:pt>
                <c:pt idx="2">
                  <c:v>39</c:v>
                </c:pt>
                <c:pt idx="3">
                  <c:v>47</c:v>
                </c:pt>
                <c:pt idx="4">
                  <c:v>32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5F667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F667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6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F667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5F6670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Contract</c:v>
                </c:pt>
              </c:strCache>
            </c:strRef>
          </c:tx>
          <c:spPr>
            <a:solidFill>
              <a:srgbClr val="00535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Onsite</c:v>
                  </c:pt>
                  <c:pt idx="1">
                    <c:v>Production</c:v>
                  </c:pt>
                  <c:pt idx="2">
                    <c:v>Video</c:v>
                  </c:pt>
                  <c:pt idx="3">
                    <c:v>Integration</c:v>
                  </c:pt>
                  <c:pt idx="4">
                    <c:v>Consulting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455</c:v>
                </c:pt>
                <c:pt idx="1">
                  <c:v>110</c:v>
                </c:pt>
                <c:pt idx="2">
                  <c:v>40</c:v>
                </c:pt>
                <c:pt idx="3">
                  <c:v>60</c:v>
                </c:pt>
                <c:pt idx="4">
                  <c:v>35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Non-contract</c:v>
                </c:pt>
              </c:strCache>
            </c:strRef>
          </c:tx>
          <c:spPr>
            <a:solidFill>
              <a:srgbClr val="F338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Onsite</c:v>
                  </c:pt>
                  <c:pt idx="1">
                    <c:v>Production</c:v>
                  </c:pt>
                  <c:pt idx="2">
                    <c:v>Video</c:v>
                  </c:pt>
                  <c:pt idx="3">
                    <c:v>Integration</c:v>
                  </c:pt>
                  <c:pt idx="4">
                    <c:v>Consulting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65</c:v>
                </c:pt>
                <c:pt idx="1">
                  <c:v>358</c:v>
                </c:pt>
                <c:pt idx="2">
                  <c:v>118</c:v>
                </c:pt>
                <c:pt idx="3">
                  <c:v>154</c:v>
                </c:pt>
                <c:pt idx="4">
                  <c:v>87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FFFFFF"/>
                  </a:solidFill>
                  <a:latin typeface="Calibri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F667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3E6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F667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
              <a:solidFill>
                <a:srgbClr val="5F6670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DSO</c:v>
                </c:pt>
              </c:strCache>
            </c:strRef>
          </c:tx>
          <c:spPr>
            <a:solidFill>
              <a:srgbClr val="122B82"/>
            </a:solidFill>
            <a:ln w="25400" cap="flat">
              <a:solidFill>
                <a:srgbClr val="122B8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5F667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22B82"/>
              </a:solidFill>
              <a:ln w="9525" cap="flat">
                <a:solidFill>
                  <a:srgbClr val="122B8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Apr</c:v>
                  </c:pt>
                  <c:pt idx="1">
                    <c:v>May</c:v>
                  </c:pt>
                  <c:pt idx="2">
                    <c:v>Jun</c:v>
                  </c:pt>
                  <c:pt idx="3">
                    <c:v>Jul</c:v>
                  </c:pt>
                  <c:pt idx="4">
                    <c:v>Aug</c:v>
                  </c:pt>
                  <c:pt idx="5">
                    <c:v>Sep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41</c:v>
                </c:pt>
                <c:pt idx="1">
                  <c:v>39</c:v>
                </c:pt>
                <c:pt idx="2">
                  <c:v>44</c:v>
                </c:pt>
                <c:pt idx="3">
                  <c:v>38</c:v>
                </c:pt>
                <c:pt idx="4">
                  <c:v>36</c:v>
                </c:pt>
                <c:pt idx="5">
                  <c:v>35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F33844"/>
            </a:solidFill>
            <a:ln w="25400" cap="flat">
              <a:solidFill>
                <a:srgbClr val="F3384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5F667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F33844"/>
              </a:solidFill>
              <a:ln w="9525" cap="flat">
                <a:solidFill>
                  <a:srgbClr val="F3384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Apr</c:v>
                  </c:pt>
                  <c:pt idx="1">
                    <c:v>May</c:v>
                  </c:pt>
                  <c:pt idx="2">
                    <c:v>Jun</c:v>
                  </c:pt>
                  <c:pt idx="3">
                    <c:v>Jul</c:v>
                  </c:pt>
                  <c:pt idx="4">
                    <c:v>Aug</c:v>
                  </c:pt>
                  <c:pt idx="5">
                    <c:v>Sep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30</c:v>
                </c:pt>
                <c:pt idx="1">
                  <c:v>30</c:v>
                </c:pt>
                <c:pt idx="2">
                  <c:v>30</c:v>
                </c:pt>
                <c:pt idx="3">
                  <c:v>30</c:v>
                </c:pt>
                <c:pt idx="4">
                  <c:v>30</c:v>
                </c:pt>
                <c:pt idx="5">
                  <c:v>30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5F6670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F667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6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F667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5F6670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FY27 YTD</c:v>
                </c:pt>
              </c:strCache>
            </c:strRef>
          </c:tx>
          <c:spPr>
            <a:solidFill>
              <a:srgbClr val="122B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5F667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Client A</c:v>
                  </c:pt>
                  <c:pt idx="1">
                    <c:v>Client B</c:v>
                  </c:pt>
                  <c:pt idx="2">
                    <c:v>Client C</c:v>
                  </c:pt>
                  <c:pt idx="3">
                    <c:v>Client D</c:v>
                  </c:pt>
                  <c:pt idx="4">
                    <c:v>Client E</c:v>
                  </c:pt>
                  <c:pt idx="5">
                    <c:v>Client F</c:v>
                  </c:pt>
                  <c:pt idx="6">
                    <c:v>Client G</c:v>
                  </c:pt>
                  <c:pt idx="7">
                    <c:v>Client H</c:v>
                  </c:pt>
                  <c:pt idx="8">
                    <c:v>Client I</c:v>
                  </c:pt>
                  <c:pt idx="9">
                    <c:v>Client J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612</c:v>
                </c:pt>
                <c:pt idx="1">
                  <c:v>540</c:v>
                </c:pt>
                <c:pt idx="2">
                  <c:v>488</c:v>
                </c:pt>
                <c:pt idx="3">
                  <c:v>410</c:v>
                </c:pt>
                <c:pt idx="4">
                  <c:v>365</c:v>
                </c:pt>
                <c:pt idx="5">
                  <c:v>298</c:v>
                </c:pt>
                <c:pt idx="6">
                  <c:v>255</c:v>
                </c:pt>
                <c:pt idx="7">
                  <c:v>230</c:v>
                </c:pt>
                <c:pt idx="8">
                  <c:v>210</c:v>
                </c:pt>
                <c:pt idx="9">
                  <c:v>188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FY26 YTD</c:v>
                </c:pt>
              </c:strCache>
            </c:strRef>
          </c:tx>
          <c:spPr>
            <a:solidFill>
              <a:srgbClr val="C9CE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5F667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Client A</c:v>
                  </c:pt>
                  <c:pt idx="1">
                    <c:v>Client B</c:v>
                  </c:pt>
                  <c:pt idx="2">
                    <c:v>Client C</c:v>
                  </c:pt>
                  <c:pt idx="3">
                    <c:v>Client D</c:v>
                  </c:pt>
                  <c:pt idx="4">
                    <c:v>Client E</c:v>
                  </c:pt>
                  <c:pt idx="5">
                    <c:v>Client F</c:v>
                  </c:pt>
                  <c:pt idx="6">
                    <c:v>Client G</c:v>
                  </c:pt>
                  <c:pt idx="7">
                    <c:v>Client H</c:v>
                  </c:pt>
                  <c:pt idx="8">
                    <c:v>Client I</c:v>
                  </c:pt>
                  <c:pt idx="9">
                    <c:v>Client J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580</c:v>
                </c:pt>
                <c:pt idx="1">
                  <c:v>505</c:v>
                </c:pt>
                <c:pt idx="2">
                  <c:v>410</c:v>
                </c:pt>
                <c:pt idx="3">
                  <c:v>430</c:v>
                </c:pt>
                <c:pt idx="4">
                  <c:v>300</c:v>
                </c:pt>
                <c:pt idx="5">
                  <c:v>310</c:v>
                </c:pt>
                <c:pt idx="6">
                  <c:v>180</c:v>
                </c:pt>
                <c:pt idx="7">
                  <c:v>240</c:v>
                </c:pt>
                <c:pt idx="8">
                  <c:v>150</c:v>
                </c:pt>
                <c:pt idx="9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5F6670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F667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6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F667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5F6670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Utilisation</c:v>
                </c:pt>
              </c:strCache>
            </c:strRef>
          </c:tx>
          <c:spPr>
            <a:solidFill>
              <a:srgbClr val="3FD0C9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5F667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Onsite</c:v>
                  </c:pt>
                  <c:pt idx="1">
                    <c:v>Production</c:v>
                  </c:pt>
                  <c:pt idx="2">
                    <c:v>Video</c:v>
                  </c:pt>
                  <c:pt idx="3">
                    <c:v>Integration</c:v>
                  </c:pt>
                  <c:pt idx="4">
                    <c:v>Consulting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80.2</c:v>
                </c:pt>
                <c:pt idx="1">
                  <c:v>72.6</c:v>
                </c:pt>
                <c:pt idx="2">
                  <c:v>65.9</c:v>
                </c:pt>
                <c:pt idx="3">
                  <c:v>73.5</c:v>
                </c:pt>
                <c:pt idx="4">
                  <c:v>73.9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C9CED6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5F667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Onsite</c:v>
                  </c:pt>
                  <c:pt idx="1">
                    <c:v>Production</c:v>
                  </c:pt>
                  <c:pt idx="2">
                    <c:v>Video</c:v>
                  </c:pt>
                  <c:pt idx="3">
                    <c:v>Integration</c:v>
                  </c:pt>
                  <c:pt idx="4">
                    <c:v>Consulting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75</c:v>
                </c:pt>
                <c:pt idx="1">
                  <c:v>75</c:v>
                </c:pt>
                <c:pt idx="2">
                  <c:v>75</c:v>
                </c:pt>
                <c:pt idx="3">
                  <c:v>75</c:v>
                </c:pt>
                <c:pt idx="4">
                  <c:v>75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800" u="none">
                  <a:solidFill>
                    <a:srgbClr val="5F667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F667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6350" cap="flat">
              <a:solidFill>
                <a:srgbClr val="E3E6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F667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
              <a:solidFill>
                <a:srgbClr val="5F6670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Monthly Business Review. All figures in the data file are illustrative until replaced with the month's actuals.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Commentary: What drove the month against budget | YTD position and the run-rate to full year | One-offs or timing to call out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Commentary: Which departments beat or missed budget, and why | Margin movement by department | Overhead changes worth noting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Commentary: Where the mix of revenue is shifting | Departments running below contribution expectations | What changes next month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Commentary: How much of next quarter is already contracted | Non-contract revenue: pipeline cover and conversion | Flagged lines: cause and action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Commentary: Movements in the top 10 and why | Concentration risk: how dependent we are on the top three | New or lost customers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Commentary: Largest overdue accounts and collection status | Why DSO moved this month | Cash actions before next month end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Commentary: Customers growing year on year and what is driving it | Customers in decline and the recovery plan | New logos replacing lost revenue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Utilisation % = chargeable hours / (FTE x 22 working days x 8 hours). Target 75%.Commentary: Departments under target and the reason: bench time, leave, training | Overtime or casual hours masking low utilisation | Hiring or roster changes planned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Commentary: Where a point of utilisation is worth the most | Rate pressure: charge rate vs loaded cost | Actions to lift chargeable hours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Carry the commentary from each sheet into this table during the review so the actions and owners are recorded in one place.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7-1.png"/><Relationship Id="rId2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8-1.png"/><Relationship Id="rId2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9-1.png"/><Relationship Id="rId2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0-1.png"/><Relationship Id="rId2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1-1.png"/><Relationship Id="rId2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2-1.png"/><Relationship Id="rId2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3-1.png"/><Relationship Id="rId2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4-1.png"/><Relationship Id="rId2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5-1.png"/><Relationship Id="rId2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6-1.png"/><Relationship Id="rId2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7-1.png"/><Relationship Id="rId2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8-1.png"/><Relationship Id="rId2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9-1.png"/><Relationship Id="rId2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20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TS Cover (dark)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548640"/>
            <a:ext cx="3447288" cy="3447288"/>
          </a:xfrm>
          <a:prstGeom prst="ellipse">
            <a:avLst/>
          </a:prstGeom>
          <a:solidFill>
            <a:srgbClr val="3FD0C9">
              <a:alpha val="85000"/>
            </a:srgbClr>
          </a:solidFill>
          <a:ln w="12700">
            <a:solidFill>
              <a:srgbClr val="3FD0C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99298" y="777240"/>
            <a:ext cx="3447288" cy="3447288"/>
          </a:xfrm>
          <a:prstGeom prst="ellipse">
            <a:avLst/>
          </a:prstGeom>
          <a:solidFill>
            <a:srgbClr val="6D71FF">
              <a:alpha val="75000"/>
            </a:srgbClr>
          </a:solidFill>
          <a:ln w="12700">
            <a:solidFill>
              <a:srgbClr val="6D71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73418" y="2235708"/>
            <a:ext cx="3447288" cy="3447288"/>
          </a:xfrm>
          <a:prstGeom prst="ellipse">
            <a:avLst/>
          </a:prstGeom>
          <a:solidFill>
            <a:srgbClr val="F33844">
              <a:alpha val="70000"/>
            </a:srgbClr>
          </a:solidFill>
          <a:ln w="12700">
            <a:solidFill>
              <a:srgbClr val="F33844">
                <a:alpha val="0"/>
              </a:srgbClr>
            </a:solidFill>
            <a:prstDash val="solid"/>
          </a:ln>
        </p:spPr>
      </p:sp>
      <p:pic>
        <p:nvPicPr>
          <p:cNvPr id="5" name="Image 0" descr="/home/user/Claude/presentation/assets/cts-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11480"/>
            <a:ext cx="1143440" cy="777240"/>
          </a:xfrm>
          <a:prstGeom prst="rect">
            <a:avLst/>
          </a:prstGeom>
        </p:spPr>
      </p:pic>
      <p:sp>
        <p:nvSpPr>
          <p:cNvPr id="6" name="Text 3"/>
          <p:cNvSpPr/>
          <p:nvPr>
            <p:ph idx="104" type="body" hasCustomPrompt="1"/>
          </p:nvPr>
        </p:nvSpPr>
        <p:spPr>
          <a:xfrm>
            <a:off x="502920" y="1828800"/>
            <a:ext cx="566928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300" kern="0" dirty="0">
                <a:solidFill>
                  <a:srgbClr val="3FD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r>
              <a:rPr lang="en-US" sz="1200" b="1" spc="300" kern="0" dirty="0">
                <a:solidFill>
                  <a:srgbClr val="3FD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TYPE</a:t>
            </a:r>
            <a:endParaRPr lang="en-US" sz="1200" dirty="0"/>
          </a:p>
        </p:txBody>
      </p:sp>
      <p:sp>
        <p:nvSpPr>
          <p:cNvPr id="7" name="Text 3"/>
          <p:cNvSpPr/>
          <p:nvPr>
            <p:ph idx="105" type="title" hasCustomPrompt="1"/>
          </p:nvPr>
        </p:nvSpPr>
        <p:spPr>
          <a:xfrm>
            <a:off x="502920" y="2148840"/>
            <a:ext cx="5669280" cy="12344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title</a:t>
            </a:r>
            <a:endParaRPr lang="en-US" sz="4000" dirty="0"/>
          </a:p>
        </p:txBody>
      </p:sp>
      <p:sp>
        <p:nvSpPr>
          <p:cNvPr id="8" name="Text 3"/>
          <p:cNvSpPr/>
          <p:nvPr>
            <p:ph idx="106" type="body" hasCustomPrompt="1"/>
          </p:nvPr>
        </p:nvSpPr>
        <p:spPr>
          <a:xfrm>
            <a:off x="502920" y="3383280"/>
            <a:ext cx="566928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Subtitle or one-line description</a:t>
            </a:r>
            <a:endParaRPr lang="en-US" sz="1800" dirty="0"/>
          </a:p>
        </p:txBody>
      </p:sp>
      <p:sp>
        <p:nvSpPr>
          <p:cNvPr id="9" name="Text 3"/>
          <p:cNvSpPr/>
          <p:nvPr>
            <p:ph idx="107" type="body" hasCustomPrompt="1"/>
          </p:nvPr>
        </p:nvSpPr>
        <p:spPr>
          <a:xfrm>
            <a:off x="502920" y="4251960"/>
            <a:ext cx="365760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r>
              <a:rPr lang="en-US" sz="12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name, role</a:t>
            </a:r>
            <a:endParaRPr lang="en-US" sz="1200" dirty="0"/>
          </a:p>
        </p:txBody>
      </p:sp>
      <p:sp>
        <p:nvSpPr>
          <p:cNvPr id="10" name="Text 3"/>
          <p:cNvSpPr/>
          <p:nvPr>
            <p:ph idx="108" type="body" hasCustomPrompt="1"/>
          </p:nvPr>
        </p:nvSpPr>
        <p:spPr>
          <a:xfrm>
            <a:off x="5943600" y="4251960"/>
            <a:ext cx="269748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2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r" indent="0" marL="0">
              <a:buNone/>
            </a:pPr>
            <a:r>
              <a:rPr lang="en-US" sz="12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Year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TS Cover (light)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0"/>
            <a:ext cx="2834640" cy="51435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365760"/>
            <a:ext cx="2971800" cy="2971800"/>
          </a:xfrm>
          <a:prstGeom prst="ellipse">
            <a:avLst/>
          </a:prstGeom>
          <a:solidFill>
            <a:srgbClr val="3FD0C9">
              <a:alpha val="85000"/>
            </a:srgbClr>
          </a:solidFill>
          <a:ln w="12700">
            <a:solidFill>
              <a:srgbClr val="3FD0C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86650" y="1508760"/>
            <a:ext cx="2971800" cy="2971800"/>
          </a:xfrm>
          <a:prstGeom prst="ellipse">
            <a:avLst/>
          </a:prstGeom>
          <a:solidFill>
            <a:srgbClr val="6D71FF">
              <a:alpha val="75000"/>
            </a:srgbClr>
          </a:solidFill>
          <a:ln w="12700">
            <a:solidFill>
              <a:srgbClr val="6D71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343650" y="2766060"/>
            <a:ext cx="2971800" cy="2971800"/>
          </a:xfrm>
          <a:prstGeom prst="ellipse">
            <a:avLst/>
          </a:prstGeom>
          <a:solidFill>
            <a:srgbClr val="F33844">
              <a:alpha val="70000"/>
            </a:srgbClr>
          </a:solidFill>
          <a:ln w="12700">
            <a:solidFill>
              <a:srgbClr val="F33844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0"/>
            <a:ext cx="630936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0" descr="/home/user/Claude/presentation/assets/cts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11480"/>
            <a:ext cx="1143440" cy="777240"/>
          </a:xfrm>
          <a:prstGeom prst="rect">
            <a:avLst/>
          </a:prstGeom>
        </p:spPr>
      </p:pic>
      <p:sp>
        <p:nvSpPr>
          <p:cNvPr id="8" name="Text 5"/>
          <p:cNvSpPr/>
          <p:nvPr>
            <p:ph idx="106" type="body" hasCustomPrompt="1"/>
          </p:nvPr>
        </p:nvSpPr>
        <p:spPr>
          <a:xfrm>
            <a:off x="502920" y="1828800"/>
            <a:ext cx="539496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300" kern="0" dirty="0">
                <a:solidFill>
                  <a:srgbClr val="12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r>
              <a:rPr lang="en-US" sz="1200" b="1" spc="300" kern="0" dirty="0">
                <a:solidFill>
                  <a:srgbClr val="12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TYPE</a:t>
            </a:r>
            <a:endParaRPr lang="en-US" sz="1200" dirty="0"/>
          </a:p>
        </p:txBody>
      </p:sp>
      <p:sp>
        <p:nvSpPr>
          <p:cNvPr id="9" name="Text 5"/>
          <p:cNvSpPr/>
          <p:nvPr>
            <p:ph idx="107" type="title" hasCustomPrompt="1"/>
          </p:nvPr>
        </p:nvSpPr>
        <p:spPr>
          <a:xfrm>
            <a:off x="502920" y="2148840"/>
            <a:ext cx="5394960" cy="12344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title</a:t>
            </a:r>
            <a:endParaRPr lang="en-US" sz="3600" dirty="0"/>
          </a:p>
        </p:txBody>
      </p:sp>
      <p:sp>
        <p:nvSpPr>
          <p:cNvPr id="10" name="Text 5"/>
          <p:cNvSpPr/>
          <p:nvPr>
            <p:ph idx="108" type="body" hasCustomPrompt="1"/>
          </p:nvPr>
        </p:nvSpPr>
        <p:spPr>
          <a:xfrm>
            <a:off x="502920" y="3383280"/>
            <a:ext cx="539496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Subtitle or one-line description</a:t>
            </a:r>
            <a:endParaRPr lang="en-US" sz="1800" dirty="0"/>
          </a:p>
        </p:txBody>
      </p:sp>
      <p:sp>
        <p:nvSpPr>
          <p:cNvPr id="11" name="Text 5"/>
          <p:cNvSpPr/>
          <p:nvPr>
            <p:ph idx="109" type="body" hasCustomPrompt="1"/>
          </p:nvPr>
        </p:nvSpPr>
        <p:spPr>
          <a:xfrm>
            <a:off x="502920" y="4251960"/>
            <a:ext cx="365760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r>
              <a:rPr lang="en-US" sz="120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name, role</a:t>
            </a:r>
            <a:endParaRPr lang="en-US" sz="1200" dirty="0"/>
          </a:p>
        </p:txBody>
      </p:sp>
      <p:sp>
        <p:nvSpPr>
          <p:cNvPr id="12" name="Text 5"/>
          <p:cNvSpPr/>
          <p:nvPr>
            <p:ph idx="110" type="body" hasCustomPrompt="1"/>
          </p:nvPr>
        </p:nvSpPr>
        <p:spPr>
          <a:xfrm>
            <a:off x="3840480" y="4251960"/>
            <a:ext cx="219456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20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r" indent="0" marL="0">
              <a:buNone/>
            </a:pPr>
            <a:r>
              <a:rPr lang="en-US" sz="120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Year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TS Cover (20 years)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2011680"/>
            <a:ext cx="4754880" cy="4754880"/>
          </a:xfrm>
          <a:prstGeom prst="ellipse">
            <a:avLst/>
          </a:prstGeom>
          <a:solidFill>
            <a:srgbClr val="122B82">
              <a:alpha val="45000"/>
            </a:srgbClr>
          </a:solidFill>
          <a:ln w="12700">
            <a:solidFill>
              <a:srgbClr val="122B82">
                <a:alpha val="0"/>
              </a:srgbClr>
            </a:solidFill>
            <a:prstDash val="solid"/>
          </a:ln>
        </p:spPr>
      </p:sp>
      <p:pic>
        <p:nvPicPr>
          <p:cNvPr id="3" name="Image 0" descr="/home/user/Claude/presentation/assets/cts-logo-20yrs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57200"/>
            <a:ext cx="3388659" cy="960120"/>
          </a:xfrm>
          <a:prstGeom prst="rect">
            <a:avLst/>
          </a:prstGeom>
        </p:spPr>
      </p:pic>
      <p:sp>
        <p:nvSpPr>
          <p:cNvPr id="4" name="Text 1"/>
          <p:cNvSpPr/>
          <p:nvPr>
            <p:ph idx="102" type="body" hasCustomPrompt="1"/>
          </p:nvPr>
        </p:nvSpPr>
        <p:spPr>
          <a:xfrm>
            <a:off x="502920" y="1828800"/>
            <a:ext cx="585216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300" kern="0" dirty="0">
                <a:solidFill>
                  <a:srgbClr val="3FD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r>
              <a:rPr lang="en-US" sz="1200" b="1" spc="300" kern="0" dirty="0">
                <a:solidFill>
                  <a:srgbClr val="3FD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TYPE</a:t>
            </a:r>
            <a:endParaRPr lang="en-US" sz="12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502920" y="2148840"/>
            <a:ext cx="5852160" cy="12344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title</a:t>
            </a:r>
            <a:endParaRPr lang="en-US" sz="4000" dirty="0"/>
          </a:p>
        </p:txBody>
      </p:sp>
      <p:sp>
        <p:nvSpPr>
          <p:cNvPr id="6" name="Text 1"/>
          <p:cNvSpPr/>
          <p:nvPr>
            <p:ph idx="104" type="body" hasCustomPrompt="1"/>
          </p:nvPr>
        </p:nvSpPr>
        <p:spPr>
          <a:xfrm>
            <a:off x="502920" y="3383280"/>
            <a:ext cx="585216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Subtitle or one-line description</a:t>
            </a:r>
            <a:endParaRPr lang="en-US" sz="1800" dirty="0"/>
          </a:p>
        </p:txBody>
      </p:sp>
      <p:sp>
        <p:nvSpPr>
          <p:cNvPr id="7" name="Text 1"/>
          <p:cNvSpPr/>
          <p:nvPr>
            <p:ph idx="105" type="body" hasCustomPrompt="1"/>
          </p:nvPr>
        </p:nvSpPr>
        <p:spPr>
          <a:xfrm>
            <a:off x="502920" y="4251960"/>
            <a:ext cx="365760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r>
              <a:rPr lang="en-US" sz="12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name, role</a:t>
            </a:r>
            <a:endParaRPr lang="en-US" sz="1200" dirty="0"/>
          </a:p>
        </p:txBody>
      </p:sp>
      <p:sp>
        <p:nvSpPr>
          <p:cNvPr id="8" name="Text 1"/>
          <p:cNvSpPr/>
          <p:nvPr>
            <p:ph idx="106" type="body" hasCustomPrompt="1"/>
          </p:nvPr>
        </p:nvSpPr>
        <p:spPr>
          <a:xfrm>
            <a:off x="5943600" y="4251960"/>
            <a:ext cx="269748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2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r" indent="0" marL="0">
              <a:buNone/>
            </a:pPr>
            <a:r>
              <a:rPr lang="en-US" sz="12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Year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TS Production Cover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0" y="-1463040"/>
            <a:ext cx="4206240" cy="4206240"/>
          </a:xfrm>
          <a:prstGeom prst="ellipse">
            <a:avLst/>
          </a:prstGeom>
          <a:solidFill>
            <a:srgbClr val="3FD0C9">
              <a:alpha val="90000"/>
            </a:srgbClr>
          </a:solidFill>
          <a:ln w="12700">
            <a:solidFill>
              <a:srgbClr val="3FD0C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2194560"/>
            <a:ext cx="3840480" cy="3840480"/>
          </a:xfrm>
          <a:prstGeom prst="ellipse">
            <a:avLst/>
          </a:prstGeom>
          <a:solidFill>
            <a:srgbClr val="005358">
              <a:alpha val="80000"/>
            </a:srgbClr>
          </a:solidFill>
          <a:ln w="12700">
            <a:solidFill>
              <a:srgbClr val="005358">
                <a:alpha val="0"/>
              </a:srgbClr>
            </a:solidFill>
            <a:prstDash val="solid"/>
          </a:ln>
        </p:spPr>
      </p:sp>
      <p:pic>
        <p:nvPicPr>
          <p:cNvPr id="4" name="Image 0" descr="/home/user/Claude/presentation/assets/cts-production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11480"/>
            <a:ext cx="1143440" cy="777240"/>
          </a:xfrm>
          <a:prstGeom prst="rect">
            <a:avLst/>
          </a:prstGeom>
        </p:spPr>
      </p:pic>
      <p:sp>
        <p:nvSpPr>
          <p:cNvPr id="5" name="Text 2"/>
          <p:cNvSpPr/>
          <p:nvPr>
            <p:ph idx="103" type="body" hasCustomPrompt="1"/>
          </p:nvPr>
        </p:nvSpPr>
        <p:spPr>
          <a:xfrm>
            <a:off x="502920" y="1828800"/>
            <a:ext cx="54864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300" kern="0" dirty="0">
                <a:solidFill>
                  <a:srgbClr val="3FD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r>
              <a:rPr lang="en-US" sz="1200" b="1" spc="300" kern="0" dirty="0">
                <a:solidFill>
                  <a:srgbClr val="3FD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TYPE</a:t>
            </a:r>
            <a:endParaRPr lang="en-US" sz="1200" dirty="0"/>
          </a:p>
        </p:txBody>
      </p:sp>
      <p:sp>
        <p:nvSpPr>
          <p:cNvPr id="6" name="Text 2"/>
          <p:cNvSpPr/>
          <p:nvPr>
            <p:ph idx="104" type="title" hasCustomPrompt="1"/>
          </p:nvPr>
        </p:nvSpPr>
        <p:spPr>
          <a:xfrm>
            <a:off x="502920" y="2148840"/>
            <a:ext cx="5486400" cy="12344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title</a:t>
            </a:r>
            <a:endParaRPr lang="en-US" sz="4000" dirty="0"/>
          </a:p>
        </p:txBody>
      </p:sp>
      <p:sp>
        <p:nvSpPr>
          <p:cNvPr id="7" name="Text 2"/>
          <p:cNvSpPr/>
          <p:nvPr>
            <p:ph idx="105" type="body" hasCustomPrompt="1"/>
          </p:nvPr>
        </p:nvSpPr>
        <p:spPr>
          <a:xfrm>
            <a:off x="502920" y="3383280"/>
            <a:ext cx="54864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Subtitle or one-line description</a:t>
            </a:r>
            <a:endParaRPr lang="en-US" sz="1800" dirty="0"/>
          </a:p>
        </p:txBody>
      </p:sp>
      <p:sp>
        <p:nvSpPr>
          <p:cNvPr id="8" name="Text 2"/>
          <p:cNvSpPr/>
          <p:nvPr>
            <p:ph idx="106" type="body" hasCustomPrompt="1"/>
          </p:nvPr>
        </p:nvSpPr>
        <p:spPr>
          <a:xfrm>
            <a:off x="502920" y="4251960"/>
            <a:ext cx="365760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r>
              <a:rPr lang="en-US" sz="12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name, role</a:t>
            </a:r>
            <a:endParaRPr lang="en-US" sz="1200" dirty="0"/>
          </a:p>
        </p:txBody>
      </p:sp>
      <p:sp>
        <p:nvSpPr>
          <p:cNvPr id="9" name="Text 2"/>
          <p:cNvSpPr/>
          <p:nvPr>
            <p:ph idx="107" type="body" hasCustomPrompt="1"/>
          </p:nvPr>
        </p:nvSpPr>
        <p:spPr>
          <a:xfrm>
            <a:off x="5943600" y="4251960"/>
            <a:ext cx="269748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2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r" indent="0" marL="0">
              <a:buNone/>
            </a:pPr>
            <a:r>
              <a:rPr lang="en-US" sz="12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Year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TS Consulting Cover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0" y="-1463040"/>
            <a:ext cx="4206240" cy="4206240"/>
          </a:xfrm>
          <a:prstGeom prst="ellipse">
            <a:avLst/>
          </a:prstGeom>
          <a:solidFill>
            <a:srgbClr val="6D71FF">
              <a:alpha val="90000"/>
            </a:srgbClr>
          </a:solidFill>
          <a:ln w="12700">
            <a:solidFill>
              <a:srgbClr val="6D71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2194560"/>
            <a:ext cx="3840480" cy="3840480"/>
          </a:xfrm>
          <a:prstGeom prst="ellipse">
            <a:avLst/>
          </a:prstGeom>
          <a:solidFill>
            <a:srgbClr val="122B82">
              <a:alpha val="80000"/>
            </a:srgbClr>
          </a:solidFill>
          <a:ln w="12700">
            <a:solidFill>
              <a:srgbClr val="122B82">
                <a:alpha val="0"/>
              </a:srgbClr>
            </a:solidFill>
            <a:prstDash val="solid"/>
          </a:ln>
        </p:spPr>
      </p:sp>
      <p:pic>
        <p:nvPicPr>
          <p:cNvPr id="4" name="Image 0" descr="/home/user/Claude/presentation/assets/cts-consulting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11480"/>
            <a:ext cx="1143440" cy="777240"/>
          </a:xfrm>
          <a:prstGeom prst="rect">
            <a:avLst/>
          </a:prstGeom>
        </p:spPr>
      </p:pic>
      <p:sp>
        <p:nvSpPr>
          <p:cNvPr id="5" name="Text 2"/>
          <p:cNvSpPr/>
          <p:nvPr>
            <p:ph idx="103" type="body" hasCustomPrompt="1"/>
          </p:nvPr>
        </p:nvSpPr>
        <p:spPr>
          <a:xfrm>
            <a:off x="502920" y="1828800"/>
            <a:ext cx="54864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300" kern="0" dirty="0">
                <a:solidFill>
                  <a:srgbClr val="6D7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r>
              <a:rPr lang="en-US" sz="1200" b="1" spc="300" kern="0" dirty="0">
                <a:solidFill>
                  <a:srgbClr val="6D7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TYPE</a:t>
            </a:r>
            <a:endParaRPr lang="en-US" sz="1200" dirty="0"/>
          </a:p>
        </p:txBody>
      </p:sp>
      <p:sp>
        <p:nvSpPr>
          <p:cNvPr id="6" name="Text 2"/>
          <p:cNvSpPr/>
          <p:nvPr>
            <p:ph idx="104" type="title" hasCustomPrompt="1"/>
          </p:nvPr>
        </p:nvSpPr>
        <p:spPr>
          <a:xfrm>
            <a:off x="502920" y="2148840"/>
            <a:ext cx="5486400" cy="12344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title</a:t>
            </a:r>
            <a:endParaRPr lang="en-US" sz="4000" dirty="0"/>
          </a:p>
        </p:txBody>
      </p:sp>
      <p:sp>
        <p:nvSpPr>
          <p:cNvPr id="7" name="Text 2"/>
          <p:cNvSpPr/>
          <p:nvPr>
            <p:ph idx="105" type="body" hasCustomPrompt="1"/>
          </p:nvPr>
        </p:nvSpPr>
        <p:spPr>
          <a:xfrm>
            <a:off x="502920" y="3383280"/>
            <a:ext cx="54864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Subtitle or one-line description</a:t>
            </a:r>
            <a:endParaRPr lang="en-US" sz="1800" dirty="0"/>
          </a:p>
        </p:txBody>
      </p:sp>
      <p:sp>
        <p:nvSpPr>
          <p:cNvPr id="8" name="Text 2"/>
          <p:cNvSpPr/>
          <p:nvPr>
            <p:ph idx="106" type="body" hasCustomPrompt="1"/>
          </p:nvPr>
        </p:nvSpPr>
        <p:spPr>
          <a:xfrm>
            <a:off x="502920" y="4251960"/>
            <a:ext cx="365760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r>
              <a:rPr lang="en-US" sz="12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name, role</a:t>
            </a:r>
            <a:endParaRPr lang="en-US" sz="1200" dirty="0"/>
          </a:p>
        </p:txBody>
      </p:sp>
      <p:sp>
        <p:nvSpPr>
          <p:cNvPr id="9" name="Text 2"/>
          <p:cNvSpPr/>
          <p:nvPr>
            <p:ph idx="107" type="body" hasCustomPrompt="1"/>
          </p:nvPr>
        </p:nvSpPr>
        <p:spPr>
          <a:xfrm>
            <a:off x="5943600" y="4251960"/>
            <a:ext cx="269748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2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r" indent="0" marL="0">
              <a:buNone/>
            </a:pPr>
            <a:r>
              <a:rPr lang="en-US" sz="12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Year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TS Support Cover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0" y="-1463040"/>
            <a:ext cx="4206240" cy="4206240"/>
          </a:xfrm>
          <a:prstGeom prst="ellipse">
            <a:avLst/>
          </a:prstGeom>
          <a:solidFill>
            <a:srgbClr val="F33844">
              <a:alpha val="90000"/>
            </a:srgbClr>
          </a:solidFill>
          <a:ln w="12700">
            <a:solidFill>
              <a:srgbClr val="F3384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2194560"/>
            <a:ext cx="3840480" cy="3840480"/>
          </a:xfrm>
          <a:prstGeom prst="ellipse">
            <a:avLst/>
          </a:prstGeom>
          <a:solidFill>
            <a:srgbClr val="A8052E">
              <a:alpha val="80000"/>
            </a:srgbClr>
          </a:solidFill>
          <a:ln w="12700">
            <a:solidFill>
              <a:srgbClr val="A8052E">
                <a:alpha val="0"/>
              </a:srgbClr>
            </a:solidFill>
            <a:prstDash val="solid"/>
          </a:ln>
        </p:spPr>
      </p:sp>
      <p:pic>
        <p:nvPicPr>
          <p:cNvPr id="4" name="Image 0" descr="/home/user/Claude/presentation/assets/cts-support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11480"/>
            <a:ext cx="1143440" cy="777240"/>
          </a:xfrm>
          <a:prstGeom prst="rect">
            <a:avLst/>
          </a:prstGeom>
        </p:spPr>
      </p:pic>
      <p:sp>
        <p:nvSpPr>
          <p:cNvPr id="5" name="Text 2"/>
          <p:cNvSpPr/>
          <p:nvPr>
            <p:ph idx="103" type="body" hasCustomPrompt="1"/>
          </p:nvPr>
        </p:nvSpPr>
        <p:spPr>
          <a:xfrm>
            <a:off x="502920" y="1828800"/>
            <a:ext cx="54864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300" kern="0" dirty="0">
                <a:solidFill>
                  <a:srgbClr val="F33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r>
              <a:rPr lang="en-US" sz="1200" b="1" spc="300" kern="0" dirty="0">
                <a:solidFill>
                  <a:srgbClr val="F33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TYPE</a:t>
            </a:r>
            <a:endParaRPr lang="en-US" sz="1200" dirty="0"/>
          </a:p>
        </p:txBody>
      </p:sp>
      <p:sp>
        <p:nvSpPr>
          <p:cNvPr id="6" name="Text 2"/>
          <p:cNvSpPr/>
          <p:nvPr>
            <p:ph idx="104" type="title" hasCustomPrompt="1"/>
          </p:nvPr>
        </p:nvSpPr>
        <p:spPr>
          <a:xfrm>
            <a:off x="502920" y="2148840"/>
            <a:ext cx="5486400" cy="12344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title</a:t>
            </a:r>
            <a:endParaRPr lang="en-US" sz="4000" dirty="0"/>
          </a:p>
        </p:txBody>
      </p:sp>
      <p:sp>
        <p:nvSpPr>
          <p:cNvPr id="7" name="Text 2"/>
          <p:cNvSpPr/>
          <p:nvPr>
            <p:ph idx="105" type="body" hasCustomPrompt="1"/>
          </p:nvPr>
        </p:nvSpPr>
        <p:spPr>
          <a:xfrm>
            <a:off x="502920" y="3383280"/>
            <a:ext cx="54864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Subtitle or one-line description</a:t>
            </a:r>
            <a:endParaRPr lang="en-US" sz="1800" dirty="0"/>
          </a:p>
        </p:txBody>
      </p:sp>
      <p:sp>
        <p:nvSpPr>
          <p:cNvPr id="8" name="Text 2"/>
          <p:cNvSpPr/>
          <p:nvPr>
            <p:ph idx="106" type="body" hasCustomPrompt="1"/>
          </p:nvPr>
        </p:nvSpPr>
        <p:spPr>
          <a:xfrm>
            <a:off x="502920" y="4251960"/>
            <a:ext cx="365760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r>
              <a:rPr lang="en-US" sz="12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name, role</a:t>
            </a:r>
            <a:endParaRPr lang="en-US" sz="1200" dirty="0"/>
          </a:p>
        </p:txBody>
      </p:sp>
      <p:sp>
        <p:nvSpPr>
          <p:cNvPr id="9" name="Text 2"/>
          <p:cNvSpPr/>
          <p:nvPr>
            <p:ph idx="107" type="body" hasCustomPrompt="1"/>
          </p:nvPr>
        </p:nvSpPr>
        <p:spPr>
          <a:xfrm>
            <a:off x="5943600" y="4251960"/>
            <a:ext cx="269748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2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r" indent="0" marL="0">
              <a:buNone/>
            </a:pPr>
            <a:r>
              <a:rPr lang="en-US" sz="12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Year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TS Section (navy)">
    <p:bg>
      <p:bgPr>
        <a:solidFill>
          <a:srgbClr val="122B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2194560"/>
            <a:ext cx="4206240" cy="4206240"/>
          </a:xfrm>
          <a:prstGeom prst="ellipse">
            <a:avLst/>
          </a:prstGeom>
          <a:solidFill>
            <a:srgbClr val="6D71FF">
              <a:alpha val="45000"/>
            </a:srgbClr>
          </a:solidFill>
          <a:ln w="12700">
            <a:solidFill>
              <a:srgbClr val="6D71FF">
                <a:alpha val="0"/>
              </a:srgbClr>
            </a:solidFill>
            <a:prstDash val="solid"/>
          </a:ln>
        </p:spPr>
      </p:sp>
      <p:pic>
        <p:nvPicPr>
          <p:cNvPr id="3" name="Image 0" descr="/home/user/Claude/presentation/assets/cts-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33946" y="384048"/>
            <a:ext cx="807134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411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FD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502920" y="1874520"/>
            <a:ext cx="1280160" cy="1280160"/>
          </a:xfrm>
          <a:prstGeom prst="rect">
            <a:avLst/>
          </a:prstGeom>
          <a:solidFill>
            <a:srgbClr val="3FD0C9"/>
          </a:solidFill>
          <a:ln w="12700">
            <a:solidFill>
              <a:srgbClr val="3FD0C9"/>
            </a:solidFill>
            <a:prstDash val="solid"/>
          </a:ln>
        </p:spPr>
      </p:sp>
      <p:sp>
        <p:nvSpPr>
          <p:cNvPr id="6" name="Text 3"/>
          <p:cNvSpPr/>
          <p:nvPr>
            <p:ph idx="104" type="body" hasCustomPrompt="1"/>
          </p:nvPr>
        </p:nvSpPr>
        <p:spPr>
          <a:xfrm>
            <a:off x="502920" y="1874520"/>
            <a:ext cx="128016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4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4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800" dirty="0"/>
          </a:p>
        </p:txBody>
      </p:sp>
      <p:sp>
        <p:nvSpPr>
          <p:cNvPr id="7" name="Text 3"/>
          <p:cNvSpPr/>
          <p:nvPr>
            <p:ph idx="105" type="title" hasCustomPrompt="1"/>
          </p:nvPr>
        </p:nvSpPr>
        <p:spPr>
          <a:xfrm>
            <a:off x="2103120" y="1874520"/>
            <a:ext cx="60350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title</a:t>
            </a:r>
            <a:endParaRPr lang="en-US" sz="3600" dirty="0"/>
          </a:p>
        </p:txBody>
      </p:sp>
      <p:sp>
        <p:nvSpPr>
          <p:cNvPr id="8" name="Text 3"/>
          <p:cNvSpPr/>
          <p:nvPr>
            <p:ph idx="106" type="body" hasCustomPrompt="1"/>
          </p:nvPr>
        </p:nvSpPr>
        <p:spPr>
          <a:xfrm>
            <a:off x="2103120" y="2724912"/>
            <a:ext cx="603504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 describing what this section covers</a:t>
            </a:r>
            <a:endParaRPr lang="en-US" sz="1600" dirty="0"/>
          </a:p>
        </p:txBody>
      </p:sp>
      <p:sp>
        <p:nvSpPr>
          <p:cNvPr id="9" name="Text 3"/>
          <p:cNvSpPr/>
          <p:nvPr/>
        </p:nvSpPr>
        <p:spPr>
          <a:xfrm>
            <a:off x="502920" y="47594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Technology Services  |  Seamless AV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92440" y="47594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9CED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TS Section (light)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2194560"/>
            <a:ext cx="4206240" cy="4206240"/>
          </a:xfrm>
          <a:prstGeom prst="ellipse">
            <a:avLst/>
          </a:prstGeom>
          <a:solidFill>
            <a:srgbClr val="3FD0C9">
              <a:alpha val="20000"/>
            </a:srgbClr>
          </a:solidFill>
          <a:ln w="12700">
            <a:solidFill>
              <a:srgbClr val="3FD0C9">
                <a:alpha val="0"/>
              </a:srgbClr>
            </a:solidFill>
            <a:prstDash val="solid"/>
          </a:ln>
        </p:spPr>
      </p:sp>
      <p:pic>
        <p:nvPicPr>
          <p:cNvPr id="3" name="Image 0" descr="/home/user/Claude/presentation/assets/cts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33946" y="384048"/>
            <a:ext cx="807134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411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2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502920" y="1874520"/>
            <a:ext cx="1280160" cy="128016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6" name="Text 3"/>
          <p:cNvSpPr/>
          <p:nvPr>
            <p:ph idx="104" type="body" hasCustomPrompt="1"/>
          </p:nvPr>
        </p:nvSpPr>
        <p:spPr>
          <a:xfrm>
            <a:off x="502920" y="1874520"/>
            <a:ext cx="128016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800" dirty="0"/>
          </a:p>
        </p:txBody>
      </p:sp>
      <p:sp>
        <p:nvSpPr>
          <p:cNvPr id="7" name="Text 3"/>
          <p:cNvSpPr/>
          <p:nvPr>
            <p:ph idx="105" type="title" hasCustomPrompt="1"/>
          </p:nvPr>
        </p:nvSpPr>
        <p:spPr>
          <a:xfrm>
            <a:off x="2103120" y="1874520"/>
            <a:ext cx="60350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title</a:t>
            </a:r>
            <a:endParaRPr lang="en-US" sz="3600" dirty="0"/>
          </a:p>
        </p:txBody>
      </p:sp>
      <p:sp>
        <p:nvSpPr>
          <p:cNvPr id="8" name="Text 3"/>
          <p:cNvSpPr/>
          <p:nvPr>
            <p:ph idx="106" type="body" hasCustomPrompt="1"/>
          </p:nvPr>
        </p:nvSpPr>
        <p:spPr>
          <a:xfrm>
            <a:off x="2103120" y="2724912"/>
            <a:ext cx="603504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 describing what this section covers</a:t>
            </a:r>
            <a:endParaRPr lang="en-US" sz="1600" dirty="0"/>
          </a:p>
        </p:txBody>
      </p:sp>
      <p:sp>
        <p:nvSpPr>
          <p:cNvPr id="9" name="Text 3"/>
          <p:cNvSpPr/>
          <p:nvPr/>
        </p:nvSpPr>
        <p:spPr>
          <a:xfrm>
            <a:off x="502920" y="47594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Technology Services  |  Seamless AV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92440" y="47594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6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1009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TS Production Section">
    <p:bg>
      <p:bgPr>
        <a:solidFill>
          <a:srgbClr val="0053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2194560"/>
            <a:ext cx="4206240" cy="4206240"/>
          </a:xfrm>
          <a:prstGeom prst="ellipse">
            <a:avLst/>
          </a:prstGeom>
          <a:solidFill>
            <a:srgbClr val="3FD0C9">
              <a:alpha val="40000"/>
            </a:srgbClr>
          </a:solidFill>
          <a:ln w="12700">
            <a:solidFill>
              <a:srgbClr val="3FD0C9">
                <a:alpha val="0"/>
              </a:srgbClr>
            </a:solidFill>
            <a:prstDash val="solid"/>
          </a:ln>
        </p:spPr>
      </p:sp>
      <p:pic>
        <p:nvPicPr>
          <p:cNvPr id="3" name="Image 0" descr="/home/user/Claude/presentation/assets/cts-production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33946" y="384048"/>
            <a:ext cx="807134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411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FD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502920" y="1874520"/>
            <a:ext cx="1280160" cy="1280160"/>
          </a:xfrm>
          <a:prstGeom prst="rect">
            <a:avLst/>
          </a:prstGeom>
          <a:solidFill>
            <a:srgbClr val="3FD0C9"/>
          </a:solidFill>
          <a:ln w="12700">
            <a:solidFill>
              <a:srgbClr val="3FD0C9"/>
            </a:solidFill>
            <a:prstDash val="solid"/>
          </a:ln>
        </p:spPr>
      </p:sp>
      <p:sp>
        <p:nvSpPr>
          <p:cNvPr id="6" name="Text 3"/>
          <p:cNvSpPr/>
          <p:nvPr>
            <p:ph idx="104" type="body" hasCustomPrompt="1"/>
          </p:nvPr>
        </p:nvSpPr>
        <p:spPr>
          <a:xfrm>
            <a:off x="502920" y="1874520"/>
            <a:ext cx="128016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4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4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800" dirty="0"/>
          </a:p>
        </p:txBody>
      </p:sp>
      <p:sp>
        <p:nvSpPr>
          <p:cNvPr id="7" name="Text 3"/>
          <p:cNvSpPr/>
          <p:nvPr>
            <p:ph idx="105" type="title" hasCustomPrompt="1"/>
          </p:nvPr>
        </p:nvSpPr>
        <p:spPr>
          <a:xfrm>
            <a:off x="2103120" y="1874520"/>
            <a:ext cx="60350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title</a:t>
            </a:r>
            <a:endParaRPr lang="en-US" sz="3600" dirty="0"/>
          </a:p>
        </p:txBody>
      </p:sp>
      <p:sp>
        <p:nvSpPr>
          <p:cNvPr id="8" name="Text 3"/>
          <p:cNvSpPr/>
          <p:nvPr>
            <p:ph idx="106" type="body" hasCustomPrompt="1"/>
          </p:nvPr>
        </p:nvSpPr>
        <p:spPr>
          <a:xfrm>
            <a:off x="2103120" y="2724912"/>
            <a:ext cx="603504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 describing what this section covers</a:t>
            </a:r>
            <a:endParaRPr lang="en-US" sz="1600" dirty="0"/>
          </a:p>
        </p:txBody>
      </p:sp>
      <p:sp>
        <p:nvSpPr>
          <p:cNvPr id="9" name="Text 3"/>
          <p:cNvSpPr/>
          <p:nvPr/>
        </p:nvSpPr>
        <p:spPr>
          <a:xfrm>
            <a:off x="502920" y="47594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CTS Production  |  Engaging Experiences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92440" y="47594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9CED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1010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TS Consulting Section">
    <p:bg>
      <p:bgPr>
        <a:solidFill>
          <a:srgbClr val="122B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2194560"/>
            <a:ext cx="4206240" cy="4206240"/>
          </a:xfrm>
          <a:prstGeom prst="ellipse">
            <a:avLst/>
          </a:prstGeom>
          <a:solidFill>
            <a:srgbClr val="6D71FF">
              <a:alpha val="40000"/>
            </a:srgbClr>
          </a:solidFill>
          <a:ln w="12700">
            <a:solidFill>
              <a:srgbClr val="6D71FF">
                <a:alpha val="0"/>
              </a:srgbClr>
            </a:solidFill>
            <a:prstDash val="solid"/>
          </a:ln>
        </p:spPr>
      </p:sp>
      <p:pic>
        <p:nvPicPr>
          <p:cNvPr id="3" name="Image 0" descr="/home/user/Claude/presentation/assets/cts-consulting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33946" y="384048"/>
            <a:ext cx="807134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411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D7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502920" y="1874520"/>
            <a:ext cx="1280160" cy="1280160"/>
          </a:xfrm>
          <a:prstGeom prst="rect">
            <a:avLst/>
          </a:prstGeom>
          <a:solidFill>
            <a:srgbClr val="6D71FF"/>
          </a:solidFill>
          <a:ln w="12700">
            <a:solidFill>
              <a:srgbClr val="6D71FF"/>
            </a:solidFill>
            <a:prstDash val="solid"/>
          </a:ln>
        </p:spPr>
      </p:sp>
      <p:sp>
        <p:nvSpPr>
          <p:cNvPr id="6" name="Text 3"/>
          <p:cNvSpPr/>
          <p:nvPr>
            <p:ph idx="104" type="body" hasCustomPrompt="1"/>
          </p:nvPr>
        </p:nvSpPr>
        <p:spPr>
          <a:xfrm>
            <a:off x="502920" y="1874520"/>
            <a:ext cx="128016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4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4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800" dirty="0"/>
          </a:p>
        </p:txBody>
      </p:sp>
      <p:sp>
        <p:nvSpPr>
          <p:cNvPr id="7" name="Text 3"/>
          <p:cNvSpPr/>
          <p:nvPr>
            <p:ph idx="105" type="title" hasCustomPrompt="1"/>
          </p:nvPr>
        </p:nvSpPr>
        <p:spPr>
          <a:xfrm>
            <a:off x="2103120" y="1874520"/>
            <a:ext cx="60350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title</a:t>
            </a:r>
            <a:endParaRPr lang="en-US" sz="3600" dirty="0"/>
          </a:p>
        </p:txBody>
      </p:sp>
      <p:sp>
        <p:nvSpPr>
          <p:cNvPr id="8" name="Text 3"/>
          <p:cNvSpPr/>
          <p:nvPr>
            <p:ph idx="106" type="body" hasCustomPrompt="1"/>
          </p:nvPr>
        </p:nvSpPr>
        <p:spPr>
          <a:xfrm>
            <a:off x="2103120" y="2724912"/>
            <a:ext cx="603504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 describing what this section covers</a:t>
            </a:r>
            <a:endParaRPr lang="en-US" sz="1600" dirty="0"/>
          </a:p>
        </p:txBody>
      </p:sp>
      <p:sp>
        <p:nvSpPr>
          <p:cNvPr id="9" name="Text 3"/>
          <p:cNvSpPr/>
          <p:nvPr/>
        </p:nvSpPr>
        <p:spPr>
          <a:xfrm>
            <a:off x="502920" y="47594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CTS Consulting  |  End to End collaboration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92440" y="47594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9CED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1011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TS Support Section">
    <p:bg>
      <p:bgPr>
        <a:solidFill>
          <a:srgbClr val="A805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2194560"/>
            <a:ext cx="4206240" cy="4206240"/>
          </a:xfrm>
          <a:prstGeom prst="ellipse">
            <a:avLst/>
          </a:prstGeom>
          <a:solidFill>
            <a:srgbClr val="F33844">
              <a:alpha val="40000"/>
            </a:srgbClr>
          </a:solidFill>
          <a:ln w="12700">
            <a:solidFill>
              <a:srgbClr val="F33844">
                <a:alpha val="0"/>
              </a:srgbClr>
            </a:solidFill>
            <a:prstDash val="solid"/>
          </a:ln>
        </p:spPr>
      </p:sp>
      <p:pic>
        <p:nvPicPr>
          <p:cNvPr id="3" name="Image 0" descr="/home/user/Claude/presentation/assets/cts-support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33946" y="384048"/>
            <a:ext cx="807134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411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33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502920" y="1874520"/>
            <a:ext cx="1280160" cy="1280160"/>
          </a:xfrm>
          <a:prstGeom prst="rect">
            <a:avLst/>
          </a:prstGeom>
          <a:solidFill>
            <a:srgbClr val="F33844"/>
          </a:solidFill>
          <a:ln w="12700">
            <a:solidFill>
              <a:srgbClr val="F33844"/>
            </a:solidFill>
            <a:prstDash val="solid"/>
          </a:ln>
        </p:spPr>
      </p:sp>
      <p:sp>
        <p:nvSpPr>
          <p:cNvPr id="6" name="Text 3"/>
          <p:cNvSpPr/>
          <p:nvPr>
            <p:ph idx="104" type="body" hasCustomPrompt="1"/>
          </p:nvPr>
        </p:nvSpPr>
        <p:spPr>
          <a:xfrm>
            <a:off x="502920" y="1874520"/>
            <a:ext cx="128016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4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4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800" dirty="0"/>
          </a:p>
        </p:txBody>
      </p:sp>
      <p:sp>
        <p:nvSpPr>
          <p:cNvPr id="7" name="Text 3"/>
          <p:cNvSpPr/>
          <p:nvPr>
            <p:ph idx="105" type="title" hasCustomPrompt="1"/>
          </p:nvPr>
        </p:nvSpPr>
        <p:spPr>
          <a:xfrm>
            <a:off x="2103120" y="1874520"/>
            <a:ext cx="60350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title</a:t>
            </a:r>
            <a:endParaRPr lang="en-US" sz="3600" dirty="0"/>
          </a:p>
        </p:txBody>
      </p:sp>
      <p:sp>
        <p:nvSpPr>
          <p:cNvPr id="8" name="Text 3"/>
          <p:cNvSpPr/>
          <p:nvPr>
            <p:ph idx="106" type="body" hasCustomPrompt="1"/>
          </p:nvPr>
        </p:nvSpPr>
        <p:spPr>
          <a:xfrm>
            <a:off x="2103120" y="2724912"/>
            <a:ext cx="603504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 describing what this section covers</a:t>
            </a:r>
            <a:endParaRPr lang="en-US" sz="1600" dirty="0"/>
          </a:p>
        </p:txBody>
      </p:sp>
      <p:sp>
        <p:nvSpPr>
          <p:cNvPr id="9" name="Text 3"/>
          <p:cNvSpPr/>
          <p:nvPr/>
        </p:nvSpPr>
        <p:spPr>
          <a:xfrm>
            <a:off x="502920" y="47594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CTS Support  |  Personalised Service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92440" y="47594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9CED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1012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TS Header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02920" y="365760"/>
            <a:ext cx="64008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b="1" spc="300" kern="0" dirty="0">
                <a:solidFill>
                  <a:srgbClr val="12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r>
              <a:rPr lang="en-US" sz="1000" b="1" spc="300" kern="0" dirty="0">
                <a:solidFill>
                  <a:srgbClr val="12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NAME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02920" y="640080"/>
            <a:ext cx="69494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heading</a:t>
            </a:r>
            <a:endParaRPr lang="en-US" sz="2800" dirty="0"/>
          </a:p>
        </p:txBody>
      </p:sp>
      <p:pic>
        <p:nvPicPr>
          <p:cNvPr id="4" name="Image 0" descr="/home/user/Claude/presentation/assets/cts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33946" y="384048"/>
            <a:ext cx="807134" cy="54864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02920" y="47594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Technology Services  |  Seamless AV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92440" y="47594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6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1013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TS Header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02920" y="365760"/>
            <a:ext cx="64008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b="1" spc="300" kern="0" dirty="0">
                <a:solidFill>
                  <a:srgbClr val="12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r>
              <a:rPr lang="en-US" sz="1000" b="1" spc="300" kern="0" dirty="0">
                <a:solidFill>
                  <a:srgbClr val="12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NAME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02920" y="640080"/>
            <a:ext cx="69494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heading</a:t>
            </a:r>
            <a:endParaRPr lang="en-US" sz="2800" dirty="0"/>
          </a:p>
        </p:txBody>
      </p:sp>
      <p:pic>
        <p:nvPicPr>
          <p:cNvPr id="4" name="Image 0" descr="/home/user/Claude/presentation/assets/cts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33946" y="384048"/>
            <a:ext cx="807134" cy="54864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02920" y="47594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Technology Services  |  Seamless AV</a:t>
            </a:r>
            <a:endParaRPr lang="en-US" sz="900" dirty="0"/>
          </a:p>
        </p:txBody>
      </p:sp>
      <p:sp>
        <p:nvSpPr>
          <p:cNvPr id="6" name="Text 1"/>
          <p:cNvSpPr/>
          <p:nvPr>
            <p:ph idx="104" type="body" hasCustomPrompt="1"/>
          </p:nvPr>
        </p:nvSpPr>
        <p:spPr>
          <a:xfrm>
            <a:off x="502920" y="1554480"/>
            <a:ext cx="8138160" cy="3017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228600" indent="-228600">
              <a:spcAft>
                <a:spcPts val="800"/>
              </a:spcAft>
              <a:buSzPct val="100000"/>
              <a:buChar char="•"/>
              <a:def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text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92440" y="47594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6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1014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TS Production Header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02920" y="365760"/>
            <a:ext cx="64008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b="1" spc="300" kern="0" dirty="0">
                <a:solidFill>
                  <a:srgbClr val="005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r>
              <a:rPr lang="en-US" sz="1000" b="1" spc="300" kern="0" dirty="0">
                <a:solidFill>
                  <a:srgbClr val="005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NAME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02920" y="640080"/>
            <a:ext cx="69494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heading</a:t>
            </a:r>
            <a:endParaRPr lang="en-US" sz="2800" dirty="0"/>
          </a:p>
        </p:txBody>
      </p:sp>
      <p:pic>
        <p:nvPicPr>
          <p:cNvPr id="4" name="Image 0" descr="/home/user/Claude/presentation/assets/cts-produc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33946" y="384048"/>
            <a:ext cx="807134" cy="54864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02920" y="47594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CTS Production  |  Engaging Experiences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92440" y="47594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6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1015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TS Production Header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02920" y="365760"/>
            <a:ext cx="64008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b="1" spc="300" kern="0" dirty="0">
                <a:solidFill>
                  <a:srgbClr val="005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r>
              <a:rPr lang="en-US" sz="1000" b="1" spc="300" kern="0" dirty="0">
                <a:solidFill>
                  <a:srgbClr val="005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NAME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02920" y="640080"/>
            <a:ext cx="69494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heading</a:t>
            </a:r>
            <a:endParaRPr lang="en-US" sz="2800" dirty="0"/>
          </a:p>
        </p:txBody>
      </p:sp>
      <p:pic>
        <p:nvPicPr>
          <p:cNvPr id="4" name="Image 0" descr="/home/user/Claude/presentation/assets/cts-produc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33946" y="384048"/>
            <a:ext cx="807134" cy="54864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02920" y="47594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CTS Production  |  Engaging Experiences</a:t>
            </a:r>
            <a:endParaRPr lang="en-US" sz="900" dirty="0"/>
          </a:p>
        </p:txBody>
      </p:sp>
      <p:sp>
        <p:nvSpPr>
          <p:cNvPr id="6" name="Text 1"/>
          <p:cNvSpPr/>
          <p:nvPr>
            <p:ph idx="104" type="body" hasCustomPrompt="1"/>
          </p:nvPr>
        </p:nvSpPr>
        <p:spPr>
          <a:xfrm>
            <a:off x="502920" y="1554480"/>
            <a:ext cx="8138160" cy="3017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228600" indent="-228600">
              <a:spcAft>
                <a:spcPts val="800"/>
              </a:spcAft>
              <a:buSzPct val="100000"/>
              <a:buChar char="•"/>
              <a:def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text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92440" y="47594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6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1016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TS Consulting Header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02920" y="365760"/>
            <a:ext cx="64008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b="1" spc="300" kern="0" dirty="0">
                <a:solidFill>
                  <a:srgbClr val="12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r>
              <a:rPr lang="en-US" sz="1000" b="1" spc="300" kern="0" dirty="0">
                <a:solidFill>
                  <a:srgbClr val="12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NAME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02920" y="640080"/>
            <a:ext cx="69494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heading</a:t>
            </a:r>
            <a:endParaRPr lang="en-US" sz="2800" dirty="0"/>
          </a:p>
        </p:txBody>
      </p:sp>
      <p:pic>
        <p:nvPicPr>
          <p:cNvPr id="4" name="Image 0" descr="/home/user/Claude/presentation/assets/cts-consult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33946" y="384048"/>
            <a:ext cx="807134" cy="54864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02920" y="47594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CTS Consulting  |  End to End collaboration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92440" y="47594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6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1017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TS Consulting Header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02920" y="365760"/>
            <a:ext cx="64008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b="1" spc="300" kern="0" dirty="0">
                <a:solidFill>
                  <a:srgbClr val="12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r>
              <a:rPr lang="en-US" sz="1000" b="1" spc="300" kern="0" dirty="0">
                <a:solidFill>
                  <a:srgbClr val="12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NAME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02920" y="640080"/>
            <a:ext cx="69494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heading</a:t>
            </a:r>
            <a:endParaRPr lang="en-US" sz="2800" dirty="0"/>
          </a:p>
        </p:txBody>
      </p:sp>
      <p:pic>
        <p:nvPicPr>
          <p:cNvPr id="4" name="Image 0" descr="/home/user/Claude/presentation/assets/cts-consult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33946" y="384048"/>
            <a:ext cx="807134" cy="54864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02920" y="47594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CTS Consulting  |  End to End collaboration</a:t>
            </a:r>
            <a:endParaRPr lang="en-US" sz="900" dirty="0"/>
          </a:p>
        </p:txBody>
      </p:sp>
      <p:sp>
        <p:nvSpPr>
          <p:cNvPr id="6" name="Text 1"/>
          <p:cNvSpPr/>
          <p:nvPr>
            <p:ph idx="104" type="body" hasCustomPrompt="1"/>
          </p:nvPr>
        </p:nvSpPr>
        <p:spPr>
          <a:xfrm>
            <a:off x="502920" y="1554480"/>
            <a:ext cx="8138160" cy="3017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228600" indent="-228600">
              <a:spcAft>
                <a:spcPts val="800"/>
              </a:spcAft>
              <a:buSzPct val="100000"/>
              <a:buChar char="•"/>
              <a:def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text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92440" y="47594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6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1018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TS Support Header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02920" y="365760"/>
            <a:ext cx="64008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b="1" spc="300" kern="0" dirty="0">
                <a:solidFill>
                  <a:srgbClr val="A80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r>
              <a:rPr lang="en-US" sz="1000" b="1" spc="300" kern="0" dirty="0">
                <a:solidFill>
                  <a:srgbClr val="A80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NAME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02920" y="640080"/>
            <a:ext cx="69494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heading</a:t>
            </a:r>
            <a:endParaRPr lang="en-US" sz="2800" dirty="0"/>
          </a:p>
        </p:txBody>
      </p:sp>
      <p:pic>
        <p:nvPicPr>
          <p:cNvPr id="4" name="Image 0" descr="/home/user/Claude/presentation/assets/cts-suppo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33946" y="384048"/>
            <a:ext cx="807134" cy="54864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02920" y="47594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CTS Support  |  Personalised Service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92440" y="47594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6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1019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TS Support Header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02920" y="365760"/>
            <a:ext cx="64008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b="1" spc="300" kern="0" dirty="0">
                <a:solidFill>
                  <a:srgbClr val="A80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r>
              <a:rPr lang="en-US" sz="1000" b="1" spc="300" kern="0" dirty="0">
                <a:solidFill>
                  <a:srgbClr val="A80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NAME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02920" y="640080"/>
            <a:ext cx="69494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heading</a:t>
            </a:r>
            <a:endParaRPr lang="en-US" sz="2800" dirty="0"/>
          </a:p>
        </p:txBody>
      </p:sp>
      <p:pic>
        <p:nvPicPr>
          <p:cNvPr id="4" name="Image 0" descr="/home/user/Claude/presentation/assets/cts-suppo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33946" y="384048"/>
            <a:ext cx="807134" cy="54864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02920" y="47594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CTS Support  |  Personalised Service</a:t>
            </a:r>
            <a:endParaRPr lang="en-US" sz="900" dirty="0"/>
          </a:p>
        </p:txBody>
      </p:sp>
      <p:sp>
        <p:nvSpPr>
          <p:cNvPr id="6" name="Text 1"/>
          <p:cNvSpPr/>
          <p:nvPr>
            <p:ph idx="104" type="body" hasCustomPrompt="1"/>
          </p:nvPr>
        </p:nvSpPr>
        <p:spPr>
          <a:xfrm>
            <a:off x="502920" y="1554480"/>
            <a:ext cx="8138160" cy="3017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228600" indent="-228600">
              <a:spcAft>
                <a:spcPts val="800"/>
              </a:spcAft>
              <a:buSzPct val="100000"/>
              <a:buChar char="•"/>
              <a:def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text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92440" y="47594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6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1020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92440" y="47594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9CED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4" type="body" hasCustomPrompt="1"/>
          </p:nvPr>
        </p:nvSpPr>
        <p:spPr>
          <a:xfrm>
            <a:off x="502920" y="182880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FD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BUSINESS REVIEW</a:t>
            </a:r>
            <a:endParaRPr lang="en-US" sz="1200" dirty="0"/>
          </a:p>
        </p:txBody>
      </p:sp>
      <p:sp>
        <p:nvSpPr>
          <p:cNvPr id="3" name="Text 3"/>
          <p:cNvSpPr/>
          <p:nvPr>
            <p:ph idx="105" type="title" hasCustomPrompt="1"/>
          </p:nvPr>
        </p:nvSpPr>
        <p:spPr>
          <a:xfrm>
            <a:off x="502920" y="2148840"/>
            <a:ext cx="5669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4000" dirty="0"/>
          </a:p>
        </p:txBody>
      </p:sp>
      <p:sp>
        <p:nvSpPr>
          <p:cNvPr id="4" name="Text 3"/>
          <p:cNvSpPr/>
          <p:nvPr>
            <p:ph idx="106" type="body" hasCustomPrompt="1"/>
          </p:nvPr>
        </p:nvSpPr>
        <p:spPr>
          <a:xfrm>
            <a:off x="502920" y="338328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Results, risk revenue, customers, cash and utilisation</a:t>
            </a:r>
            <a:endParaRPr lang="en-US" sz="1800" dirty="0"/>
          </a:p>
        </p:txBody>
      </p:sp>
      <p:sp>
        <p:nvSpPr>
          <p:cNvPr id="5" name="Text 3"/>
          <p:cNvSpPr/>
          <p:nvPr>
            <p:ph idx="107" type="body" hasCustomPrompt="1"/>
          </p:nvPr>
        </p:nvSpPr>
        <p:spPr>
          <a:xfrm>
            <a:off x="502920" y="42519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Controller</a:t>
            </a:r>
            <a:endParaRPr lang="en-US" sz="1200" dirty="0"/>
          </a:p>
        </p:txBody>
      </p:sp>
      <p:sp>
        <p:nvSpPr>
          <p:cNvPr id="6" name="Text 3"/>
          <p:cNvSpPr/>
          <p:nvPr>
            <p:ph idx="108" type="body" hasCustomPrompt="1"/>
          </p:nvPr>
        </p:nvSpPr>
        <p:spPr>
          <a:xfrm>
            <a:off x="5943600" y="425196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02920" y="365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2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02920" y="64008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will cover</a:t>
            </a:r>
            <a:endParaRPr lang="en-US" sz="28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502920" y="1554480"/>
            <a:ext cx="8138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performance: P&amp;L summary, P&amp;L per department, risk revenue profile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and cash: top 10 customers, DSO and receivables, top customers year on year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and utilisation: utilisation by department, profit based on utilisation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and actions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92440" y="47594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6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4" type="body" hasCustomPrompt="1"/>
          </p:nvPr>
        </p:nvSpPr>
        <p:spPr>
          <a:xfrm>
            <a:off x="502920" y="187452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800" dirty="0"/>
          </a:p>
        </p:txBody>
      </p:sp>
      <p:sp>
        <p:nvSpPr>
          <p:cNvPr id="3" name="Text 3"/>
          <p:cNvSpPr/>
          <p:nvPr>
            <p:ph idx="105" type="title" hasCustomPrompt="1"/>
          </p:nvPr>
        </p:nvSpPr>
        <p:spPr>
          <a:xfrm>
            <a:off x="2103120" y="187452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performance</a:t>
            </a:r>
            <a:endParaRPr lang="en-US" sz="3600" dirty="0"/>
          </a:p>
        </p:txBody>
      </p:sp>
      <p:sp>
        <p:nvSpPr>
          <p:cNvPr id="4" name="Text 3"/>
          <p:cNvSpPr/>
          <p:nvPr>
            <p:ph idx="106" type="body" hasCustomPrompt="1"/>
          </p:nvPr>
        </p:nvSpPr>
        <p:spPr>
          <a:xfrm>
            <a:off x="2103120" y="2724912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 for September 2026 and YTD (Jul to Sep)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92440" y="47594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9CED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02920" y="365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2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PERFORMANCE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02920" y="64008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 summary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55778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603504"/>
                <a:gridCol w="603504"/>
                <a:gridCol w="603504"/>
                <a:gridCol w="603504"/>
                <a:gridCol w="603504"/>
                <a:gridCol w="603504"/>
                <a:gridCol w="585216"/>
              </a:tblGrid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A$ thousands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YTD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 Sep 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1,482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1,420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053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4,310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4,200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053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1,355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of sales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(918)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(880)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A805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(2,690)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(2,610)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A805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-80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(842)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profit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053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1,620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1,590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053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margin 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38.1%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+0.1%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37.6%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37.9%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-0.3%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37.9%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Overheads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(402)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(410)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053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(1,215)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(1,230)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053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(385)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EBITDA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053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053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EBITDA margin 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10.9%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9.2%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+1.7%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9.4%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8.6%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+0.8%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9.4%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02920" y="3547872"/>
            <a:ext cx="5577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and EBITDA, last six months</a:t>
            </a:r>
            <a:endParaRPr lang="en-US" sz="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02920" y="3730752"/>
          <a:ext cx="5577840" cy="88696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3"/>
          <p:cNvSpPr/>
          <p:nvPr/>
        </p:nvSpPr>
        <p:spPr>
          <a:xfrm>
            <a:off x="6263640" y="1463040"/>
            <a:ext cx="2377440" cy="3154680"/>
          </a:xfrm>
          <a:prstGeom prst="rect">
            <a:avLst/>
          </a:prstGeom>
          <a:solidFill>
            <a:srgbClr val="E8F9F8"/>
          </a:solidFill>
          <a:ln w="12700">
            <a:solidFill>
              <a:srgbClr val="E8F9F8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446520" y="16276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5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COMMENTARY</a:t>
            </a:r>
            <a:endParaRPr lang="en-US" sz="900" dirty="0"/>
          </a:p>
        </p:txBody>
      </p:sp>
      <p:sp>
        <p:nvSpPr>
          <p:cNvPr id="9" name="Text 5"/>
          <p:cNvSpPr txBox="1"/>
          <p:nvPr/>
        </p:nvSpPr>
        <p:spPr>
          <a:xfrm>
            <a:off x="6446520" y="1901952"/>
            <a:ext cx="20116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drove the month against budget</a:t>
            </a:r>
            <a:endParaRPr lang="en-US" sz="10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position and the run-rate to full year</a:t>
            </a:r>
            <a:endParaRPr lang="en-US" sz="10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One-offs or timing to call out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92440" y="47594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6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02920" y="365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2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PERFORMANCE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02920" y="64008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 per department, Sep 26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55778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640080"/>
                <a:gridCol w="640080"/>
                <a:gridCol w="548640"/>
                <a:gridCol w="713232"/>
                <a:gridCol w="548640"/>
                <a:gridCol w="640080"/>
                <a:gridCol w="749808"/>
              </a:tblGrid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A$ thousands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profit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GM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Overheads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Contribution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Onsite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053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(48)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053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41.9%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(55)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A805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38.6%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(22)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053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(30)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Consulting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053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(16)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(231)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A805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(231)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1,482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1,420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053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(402)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02920" y="3547872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Overheads are the department's direct overheads; Admin carries the shared overheads. Contribution is gross profit less overheads, and the CTS row is EBITDA.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6263640" y="1463040"/>
            <a:ext cx="2377440" cy="3154680"/>
          </a:xfrm>
          <a:prstGeom prst="rect">
            <a:avLst/>
          </a:prstGeom>
          <a:solidFill>
            <a:srgbClr val="E8F9F8"/>
          </a:solidFill>
          <a:ln w="12700">
            <a:solidFill>
              <a:srgbClr val="E8F9F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46520" y="16276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5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COMMENTARY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6446520" y="1901952"/>
            <a:ext cx="20116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departments beat or missed budget, and why</a:t>
            </a:r>
            <a:endParaRPr lang="en-US" sz="10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movement by department</a:t>
            </a:r>
            <a:endParaRPr lang="en-US" sz="10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Overhead changes worth noting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92440" y="47594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6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02920" y="365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2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PERFORMANCE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02920" y="64008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and contribution by department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463040"/>
          <a:ext cx="5577840" cy="3154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263640" y="1463040"/>
            <a:ext cx="2377440" cy="3154680"/>
          </a:xfrm>
          <a:prstGeom prst="rect">
            <a:avLst/>
          </a:prstGeom>
          <a:solidFill>
            <a:srgbClr val="E8F9F8"/>
          </a:solidFill>
          <a:ln w="12700">
            <a:solidFill>
              <a:srgbClr val="E8F9F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46520" y="16276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5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COMMENTARY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446520" y="1901952"/>
            <a:ext cx="20116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mix of revenue is shifting</a:t>
            </a:r>
            <a:endParaRPr lang="en-US" sz="10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Departments running below contribution expectations</a:t>
            </a:r>
            <a:endParaRPr lang="en-US" sz="10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next month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92440" y="47594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6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02920" y="365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2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PERFORMANCE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02920" y="64008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revenue profile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1737360" cy="64008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554480"/>
            <a:ext cx="1463040" cy="33284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5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47%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59890"/>
            <a:ext cx="1463040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Contracted revenue, secured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377440" y="1463040"/>
            <a:ext cx="1737360" cy="64008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14600" y="1554480"/>
            <a:ext cx="1463040" cy="33284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A80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53%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2514600" y="1859890"/>
            <a:ext cx="1463040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Non-contract revenue, at risk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251960" y="1463040"/>
            <a:ext cx="1828800" cy="64008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389120" y="1554480"/>
            <a:ext cx="1554480" cy="33284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389120" y="1859890"/>
            <a:ext cx="1554480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lines flagged Medium or High</a:t>
            </a:r>
            <a:endParaRPr lang="en-US" sz="9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502920" y="2194560"/>
          <a:ext cx="5577840" cy="1188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474720"/>
          <a:ext cx="55778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658368"/>
                <a:gridCol w="658368"/>
                <a:gridCol w="566928"/>
                <a:gridCol w="658368"/>
                <a:gridCol w="749808"/>
              </a:tblGrid>
              <a:tr h="1874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line vs budget, A$ thousands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 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Production: Non contract income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0053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+19.3%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A805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Integration: Non contract income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0053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+18.5%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22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Video: Non contract income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A805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-13.2%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22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Onsite: Contract income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0053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+3.4%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5F6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Consulting: Non contract income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0053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+8.8%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5F6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Shape 11"/>
          <p:cNvSpPr/>
          <p:nvPr/>
        </p:nvSpPr>
        <p:spPr>
          <a:xfrm>
            <a:off x="6263640" y="1463040"/>
            <a:ext cx="2377440" cy="3154680"/>
          </a:xfrm>
          <a:prstGeom prst="rect">
            <a:avLst/>
          </a:prstGeom>
          <a:solidFill>
            <a:srgbClr val="E8F9F8"/>
          </a:solidFill>
          <a:ln w="12700">
            <a:solidFill>
              <a:srgbClr val="E8F9F8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6446520" y="16276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5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COMMENTARY</a:t>
            </a:r>
            <a:endParaRPr lang="en-US" sz="900" dirty="0"/>
          </a:p>
        </p:txBody>
      </p:sp>
      <p:sp>
        <p:nvSpPr>
          <p:cNvPr id="17" name="Text 13"/>
          <p:cNvSpPr txBox="1"/>
          <p:nvPr/>
        </p:nvSpPr>
        <p:spPr>
          <a:xfrm>
            <a:off x="6446520" y="1901952"/>
            <a:ext cx="20116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of next quarter is already contracted</a:t>
            </a:r>
            <a:endParaRPr lang="en-US" sz="10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Non-contract revenue: pipeline cover and conversion</a:t>
            </a:r>
            <a:endParaRPr lang="en-US" sz="10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lines: cause and action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92440" y="47594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6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4" type="body" hasCustomPrompt="1"/>
          </p:nvPr>
        </p:nvSpPr>
        <p:spPr>
          <a:xfrm>
            <a:off x="502920" y="187452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4800" dirty="0"/>
          </a:p>
        </p:txBody>
      </p:sp>
      <p:sp>
        <p:nvSpPr>
          <p:cNvPr id="3" name="Text 3"/>
          <p:cNvSpPr/>
          <p:nvPr>
            <p:ph idx="105" type="title" hasCustomPrompt="1"/>
          </p:nvPr>
        </p:nvSpPr>
        <p:spPr>
          <a:xfrm>
            <a:off x="2103120" y="187452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and cash</a:t>
            </a:r>
            <a:endParaRPr lang="en-US" sz="3600" dirty="0"/>
          </a:p>
        </p:txBody>
      </p:sp>
      <p:sp>
        <p:nvSpPr>
          <p:cNvPr id="4" name="Text 3"/>
          <p:cNvSpPr/>
          <p:nvPr>
            <p:ph idx="106" type="body" hasCustomPrompt="1"/>
          </p:nvPr>
        </p:nvSpPr>
        <p:spPr>
          <a:xfrm>
            <a:off x="2103120" y="2724912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customers, receivables and days sales outstanding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92440" y="47594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9CED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02920" y="365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2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AND CASH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02920" y="64008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customers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55778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731520"/>
                <a:gridCol w="731520"/>
                <a:gridCol w="822960"/>
                <a:gridCol w="822960"/>
                <a:gridCol w="731520"/>
              </a:tblGrid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Client, A$ thousands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YTD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of YTD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FY26 YTD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 Client 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053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 Client 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053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 Client 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053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 Client 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A805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 Client 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053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 Client 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A805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  Client 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053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  Client 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A805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  Client 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053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  Client J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053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1,204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3,596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3,105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053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+16%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02920" y="4352544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customers are 83% of YTD (Jul to Sep) revenue. Client names come from the Clients sheet in the Financial Controller Pack.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6263640" y="1463040"/>
            <a:ext cx="2377440" cy="3154680"/>
          </a:xfrm>
          <a:prstGeom prst="rect">
            <a:avLst/>
          </a:prstGeom>
          <a:solidFill>
            <a:srgbClr val="E8F9F8"/>
          </a:solidFill>
          <a:ln w="12700">
            <a:solidFill>
              <a:srgbClr val="E8F9F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46520" y="16276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5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COMMENTARY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6446520" y="1901952"/>
            <a:ext cx="20116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Movements in the top 10 and why</a:t>
            </a:r>
            <a:endParaRPr lang="en-US" sz="10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 risk: how dependent we are on the top three</a:t>
            </a:r>
            <a:endParaRPr lang="en-US" sz="10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or lost customers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92440" y="47594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6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02920" y="365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2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AND CASH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02920" y="64008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Receivables and days sales outstanding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1737360" cy="77724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554480"/>
            <a:ext cx="146304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A80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days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44929"/>
            <a:ext cx="1463040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DSO, target 30 days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377440" y="1463040"/>
            <a:ext cx="1737360" cy="77724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14600" y="1554480"/>
            <a:ext cx="146304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$1.64m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2514600" y="1944929"/>
            <a:ext cx="1463040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receivables at month end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251960" y="1463040"/>
            <a:ext cx="1828800" cy="77724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389120" y="1554480"/>
            <a:ext cx="155448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A80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$90k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389120" y="1944929"/>
            <a:ext cx="1554480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60 days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237744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DSO, last six months</a:t>
            </a:r>
            <a:endParaRPr lang="en-US" sz="90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502920" y="2560320"/>
          <a:ext cx="2926080" cy="2057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5" name="Text 12"/>
          <p:cNvSpPr txBox="1"/>
          <p:nvPr/>
        </p:nvSpPr>
        <p:spPr>
          <a:xfrm>
            <a:off x="3611880" y="237744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Aged receivables, A$ thousands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11880" y="2606040"/>
          <a:ext cx="246888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548640"/>
                <a:gridCol w="548640"/>
              </a:tblGrid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Bucket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A$k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to 30 days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 to 60 days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 to 90 days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 90 days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1,640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  <p:sp>
        <p:nvSpPr>
          <p:cNvPr id="17" name="Text 13"/>
          <p:cNvSpPr txBox="1"/>
          <p:nvPr/>
        </p:nvSpPr>
        <p:spPr>
          <a:xfrm>
            <a:off x="3611880" y="43434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DSO = receivables / (last three months revenue / 92 days).</a:t>
            </a:r>
            <a:endParaRPr lang="en-US" sz="800" dirty="0"/>
          </a:p>
        </p:txBody>
      </p:sp>
      <p:sp>
        <p:nvSpPr>
          <p:cNvPr id="18" name="Shape 14"/>
          <p:cNvSpPr/>
          <p:nvPr/>
        </p:nvSpPr>
        <p:spPr>
          <a:xfrm>
            <a:off x="6263640" y="1463040"/>
            <a:ext cx="2377440" cy="3154680"/>
          </a:xfrm>
          <a:prstGeom prst="rect">
            <a:avLst/>
          </a:prstGeom>
          <a:solidFill>
            <a:srgbClr val="E8F9F8"/>
          </a:solidFill>
          <a:ln w="12700">
            <a:solidFill>
              <a:srgbClr val="E8F9F8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446520" y="16276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5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COMMENTARY</a:t>
            </a:r>
            <a:endParaRPr lang="en-US" sz="900" dirty="0"/>
          </a:p>
        </p:txBody>
      </p:sp>
      <p:sp>
        <p:nvSpPr>
          <p:cNvPr id="20" name="Text 16"/>
          <p:cNvSpPr txBox="1"/>
          <p:nvPr/>
        </p:nvSpPr>
        <p:spPr>
          <a:xfrm>
            <a:off x="6446520" y="1901952"/>
            <a:ext cx="20116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overdue accounts and collection status</a:t>
            </a:r>
            <a:endParaRPr lang="en-US" sz="10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DSO moved this month</a:t>
            </a:r>
            <a:endParaRPr lang="en-US" sz="10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actions before next month end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92440" y="47594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6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02920" y="365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2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AND CASH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02920" y="64008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customers, FY27 vs FY26 year to date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463040"/>
          <a:ext cx="557784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02920" y="434340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A$ thousands, same period last year. Customers ranked by current year to date.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6263640" y="1463040"/>
            <a:ext cx="2377440" cy="3154680"/>
          </a:xfrm>
          <a:prstGeom prst="rect">
            <a:avLst/>
          </a:prstGeom>
          <a:solidFill>
            <a:srgbClr val="E8F9F8"/>
          </a:solidFill>
          <a:ln w="12700">
            <a:solidFill>
              <a:srgbClr val="E8F9F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46520" y="16276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5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COMMENTARY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6446520" y="1901952"/>
            <a:ext cx="20116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growing year on year and what is driving it</a:t>
            </a:r>
            <a:endParaRPr lang="en-US" sz="10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in decline and the recovery plan</a:t>
            </a:r>
            <a:endParaRPr lang="en-US" sz="10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logos replacing lost revenue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92440" y="47594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6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4" type="body" hasCustomPrompt="1"/>
          </p:nvPr>
        </p:nvSpPr>
        <p:spPr>
          <a:xfrm>
            <a:off x="502920" y="187452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4800" dirty="0"/>
          </a:p>
        </p:txBody>
      </p:sp>
      <p:sp>
        <p:nvSpPr>
          <p:cNvPr id="3" name="Text 3"/>
          <p:cNvSpPr/>
          <p:nvPr>
            <p:ph idx="105" type="title" hasCustomPrompt="1"/>
          </p:nvPr>
        </p:nvSpPr>
        <p:spPr>
          <a:xfrm>
            <a:off x="2103120" y="187452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and utilisation</a:t>
            </a:r>
            <a:endParaRPr lang="en-US" sz="3600" dirty="0"/>
          </a:p>
        </p:txBody>
      </p:sp>
      <p:sp>
        <p:nvSpPr>
          <p:cNvPr id="4" name="Text 3"/>
          <p:cNvSpPr/>
          <p:nvPr>
            <p:ph idx="106" type="body" hasCustomPrompt="1"/>
          </p:nvPr>
        </p:nvSpPr>
        <p:spPr>
          <a:xfrm>
            <a:off x="2103120" y="2724912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Chargeable hours, utilisation and the profit they produce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92440" y="47594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9CED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02920" y="365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2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AND UTILISATION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02920" y="64008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Utilisation by department, Sep 26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557784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457200"/>
                <a:gridCol w="777240"/>
                <a:gridCol w="868680"/>
                <a:gridCol w="594360"/>
                <a:gridCol w="640080"/>
                <a:gridCol w="594360"/>
                <a:gridCol w="594360"/>
              </a:tblGrid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Chargeable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Non-chargeable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Leave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Util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 target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Onsite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2,540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053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053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+5.2%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1,790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A805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72.6%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A805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A805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A805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-9.1%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A805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71.0%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A805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Consulting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A805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A805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6,335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1,550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A805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A805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Chart 0" descr=""/>
          <p:cNvGraphicFramePr/>
          <p:nvPr/>
        </p:nvGraphicFramePr>
        <p:xfrm>
          <a:off x="502920" y="3264408"/>
          <a:ext cx="5577840" cy="135331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2"/>
          <p:cNvSpPr/>
          <p:nvPr/>
        </p:nvSpPr>
        <p:spPr>
          <a:xfrm>
            <a:off x="6263640" y="1463040"/>
            <a:ext cx="2377440" cy="3154680"/>
          </a:xfrm>
          <a:prstGeom prst="rect">
            <a:avLst/>
          </a:prstGeom>
          <a:solidFill>
            <a:srgbClr val="E8F9F8"/>
          </a:solidFill>
          <a:ln w="12700">
            <a:solidFill>
              <a:srgbClr val="E8F9F8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6446520" y="16276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5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COMMENTARY</a:t>
            </a:r>
            <a:endParaRPr lang="en-US" sz="900" dirty="0"/>
          </a:p>
        </p:txBody>
      </p:sp>
      <p:sp>
        <p:nvSpPr>
          <p:cNvPr id="9" name="Text 4"/>
          <p:cNvSpPr txBox="1"/>
          <p:nvPr/>
        </p:nvSpPr>
        <p:spPr>
          <a:xfrm>
            <a:off x="6446520" y="1901952"/>
            <a:ext cx="20116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Departments under target and the reason: bench time, leave, training</a:t>
            </a:r>
            <a:endParaRPr lang="en-US" sz="10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Overtime or casual hours masking low utilisation</a:t>
            </a:r>
            <a:endParaRPr lang="en-US" sz="10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or roster changes planned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92440" y="47594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6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02920" y="365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2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AND UTILISATION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02920" y="64008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based on utilisation</a:t>
            </a:r>
            <a:endParaRPr lang="en-US" sz="2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557784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548640"/>
                <a:gridCol w="640080"/>
                <a:gridCol w="502920"/>
                <a:gridCol w="731520"/>
                <a:gridCol w="685800"/>
                <a:gridCol w="640080"/>
                <a:gridCol w="457200"/>
                <a:gridCol w="457200"/>
              </a:tblGrid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A$ thousands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Util 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Charge hrs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Labour rev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Labour cost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Labour profit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hr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 pts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Onsite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2,540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(165)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53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1,790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(143)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53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(53)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53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(68)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53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Consulting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(53)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53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6,335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(481)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053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3264408"/>
            <a:ext cx="2651760" cy="1353312"/>
          </a:xfrm>
          <a:prstGeom prst="rect">
            <a:avLst/>
          </a:prstGeom>
          <a:solidFill>
            <a:srgbClr val="E8F9F8"/>
          </a:solidFill>
          <a:ln w="12700">
            <a:solidFill>
              <a:srgbClr val="E8F9F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3355848"/>
            <a:ext cx="2377440" cy="70372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5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+$55k a month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4103461"/>
            <a:ext cx="2377440" cy="460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more points of utilisation at current charge rates, before any extra cost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3291840" y="3264408"/>
            <a:ext cx="278892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Labour revenue = chargeable hours x average charge rate. Labour cost = FTE x working hours x loaded cost per hour, so it includes the cost of non-chargeable and leave hours. Per hr = labour profit per chargeable hour. Rates come from the pack's Setup and Utilisation sheets.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6263640" y="1463040"/>
            <a:ext cx="2377440" cy="3154680"/>
          </a:xfrm>
          <a:prstGeom prst="rect">
            <a:avLst/>
          </a:prstGeom>
          <a:solidFill>
            <a:srgbClr val="E8F9F8"/>
          </a:solidFill>
          <a:ln w="12700">
            <a:solidFill>
              <a:srgbClr val="E8F9F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46520" y="16276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5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COMMENTARY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6446520" y="1901952"/>
            <a:ext cx="20116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 point of utilisation is worth the most</a:t>
            </a:r>
            <a:endParaRPr lang="en-US" sz="10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pressure: charge rate vs loaded cost</a:t>
            </a:r>
            <a:endParaRPr lang="en-US" sz="10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to lift chargeable hours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92440" y="47594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6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4" type="body" hasCustomPrompt="1"/>
          </p:nvPr>
        </p:nvSpPr>
        <p:spPr>
          <a:xfrm>
            <a:off x="502920" y="187452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4800" dirty="0"/>
          </a:p>
        </p:txBody>
      </p:sp>
      <p:sp>
        <p:nvSpPr>
          <p:cNvPr id="3" name="Text 3"/>
          <p:cNvSpPr/>
          <p:nvPr>
            <p:ph idx="105" type="title" hasCustomPrompt="1"/>
          </p:nvPr>
        </p:nvSpPr>
        <p:spPr>
          <a:xfrm>
            <a:off x="2103120" y="187452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and actions</a:t>
            </a:r>
            <a:endParaRPr lang="en-US" sz="3600" dirty="0"/>
          </a:p>
        </p:txBody>
      </p:sp>
      <p:sp>
        <p:nvSpPr>
          <p:cNvPr id="4" name="Text 3"/>
          <p:cNvSpPr/>
          <p:nvPr>
            <p:ph idx="106" type="body" hasCustomPrompt="1"/>
          </p:nvPr>
        </p:nvSpPr>
        <p:spPr>
          <a:xfrm>
            <a:off x="2103120" y="2724912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commentary from each sheet, with an owner and a date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92440" y="47594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6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02920" y="365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2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AND ACTIONS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02920" y="64008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Commentary and actions from this review</a:t>
            </a:r>
            <a:endParaRPr lang="en-US" sz="28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81381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4937760"/>
                <a:gridCol w="914400"/>
                <a:gridCol w="91440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Commentary and agreed action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P&amp;L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F6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the commentary agreed in the meeting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F6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F6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revenue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F6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the commentary agreed in the meeting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F6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F6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Customers and DSO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F6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the commentary agreed in the meeting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F6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F6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Utilisation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F6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the commentary agreed in the meeting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F6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F6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92440" y="47594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6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Corporate Technology Services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CTS Monthly Business Review September 2026</dc:title>
  <dc:subject>PptxGenJS Presentation</dc:subject>
  <dc:creator>Corporate Technology Services</dc:creator>
  <cp:lastModifiedBy>Corporate Technology Services</cp:lastModifiedBy>
  <cp:revision>1</cp:revision>
  <dcterms:created xsi:type="dcterms:W3CDTF">2026-10-13T04:28:56Z</dcterms:created>
  <dcterms:modified xsi:type="dcterms:W3CDTF">2026-10-13T04:28:56Z</dcterms:modified>
</cp:coreProperties>
</file>